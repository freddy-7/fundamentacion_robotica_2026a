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33"/>
  </p:notesMasterIdLst>
  <p:sldIdLst>
    <p:sldId id="256" r:id="rId2"/>
    <p:sldId id="357" r:id="rId3"/>
    <p:sldId id="358" r:id="rId4"/>
    <p:sldId id="518" r:id="rId5"/>
    <p:sldId id="499" r:id="rId6"/>
    <p:sldId id="498" r:id="rId7"/>
    <p:sldId id="512" r:id="rId8"/>
    <p:sldId id="524" r:id="rId9"/>
    <p:sldId id="513" r:id="rId10"/>
    <p:sldId id="514" r:id="rId11"/>
    <p:sldId id="505" r:id="rId12"/>
    <p:sldId id="521" r:id="rId13"/>
    <p:sldId id="472" r:id="rId14"/>
    <p:sldId id="529" r:id="rId15"/>
    <p:sldId id="473" r:id="rId16"/>
    <p:sldId id="528" r:id="rId17"/>
    <p:sldId id="530" r:id="rId18"/>
    <p:sldId id="531" r:id="rId19"/>
    <p:sldId id="532" r:id="rId20"/>
    <p:sldId id="475" r:id="rId21"/>
    <p:sldId id="477" r:id="rId22"/>
    <p:sldId id="481" r:id="rId23"/>
    <p:sldId id="482" r:id="rId24"/>
    <p:sldId id="503" r:id="rId25"/>
    <p:sldId id="504" r:id="rId26"/>
    <p:sldId id="525" r:id="rId27"/>
    <p:sldId id="526" r:id="rId28"/>
    <p:sldId id="527" r:id="rId29"/>
    <p:sldId id="389" r:id="rId30"/>
    <p:sldId id="515" r:id="rId31"/>
    <p:sldId id="280" r:id="rId32"/>
  </p:sldIdLst>
  <p:sldSz cx="9144000" cy="5143500" type="screen16x9"/>
  <p:notesSz cx="6858000" cy="9144000"/>
  <p:embeddedFontLst>
    <p:embeddedFont>
      <p:font typeface="Advent Pro Light" panose="020B0604020202020204" charset="0"/>
      <p:regular r:id="rId34"/>
      <p:bold r:id="rId35"/>
    </p:embeddedFont>
    <p:embeddedFont>
      <p:font typeface="Anton" pitchFamily="2" charset="0"/>
      <p:regular r:id="rId36"/>
    </p:embeddedFont>
    <p:embeddedFont>
      <p:font typeface="Cambria Math" panose="02040503050406030204" pitchFamily="18" charset="0"/>
      <p:regular r:id="rId37"/>
    </p:embeddedFont>
    <p:embeddedFont>
      <p:font typeface="Fira Sans Condensed Light" panose="020B0403050000020004" pitchFamily="34" charset="0"/>
      <p:regular r:id="rId38"/>
      <p:bold r:id="rId39"/>
      <p:italic r:id="rId40"/>
      <p:boldItalic r:id="rId41"/>
    </p:embeddedFont>
    <p:embeddedFont>
      <p:font typeface="Fira Sans Extra Condensed Light" panose="020B0403050000020004" pitchFamily="34" charset="0"/>
      <p:regular r:id="rId42"/>
    </p:embeddedFont>
    <p:embeddedFont>
      <p:font typeface="Rajdhani" panose="020B0604020202020204" charset="0"/>
      <p:regular r:id="rId43"/>
      <p:bold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09" autoAdjust="0"/>
  </p:normalViewPr>
  <p:slideViewPr>
    <p:cSldViewPr snapToGrid="0">
      <p:cViewPr varScale="1">
        <p:scale>
          <a:sx n="98" d="100"/>
          <a:sy n="98" d="100"/>
        </p:scale>
        <p:origin x="576"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36FF357-2574-6847-2FD0-0FDE9ED293C5}"/>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C0AFAB1F-3057-DBCA-406A-861380E10A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34E53DE2-1A47-CF43-A3F8-9997293145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0445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37527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92145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75575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44653415-09AA-CECF-B743-FEFAF243FBA0}"/>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42870733-5CD7-2E44-7D76-57C647E7CE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39A4BD7C-5660-F80D-DD74-36DBB7B438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97490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4436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1064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7A69F5DC-B637-87C5-459D-BC5B56914ED1}"/>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3103E47C-82C0-3866-AB15-8F84EDD95C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B79D7CE9-35D5-C46F-15DF-2DCD73CC8E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769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8DB431FA-5254-6D03-B3D2-CD8CAB30F13D}"/>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7D946D34-4F86-6C9C-ECDC-89F40A2F90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0D9EE7F5-E6D2-47A8-030B-8B6DF154BE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5332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64625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ABCC6167-E8B8-5E81-7603-519A377CD791}"/>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92A1C713-154A-D9F1-5DAE-6A5C01A544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64A9A7DA-0E02-6FAC-F8ED-D40B3AD591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84584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5943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028EF216-D986-132A-2342-1470915B0D8A}"/>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BBF3C057-4D6E-6057-5F47-FBE73AE221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11DD0AAF-0085-BBB5-ED28-AF20749D86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82450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984791BF-1999-2A2D-104B-B4651E7B03E1}"/>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531FCCE0-F21D-575B-D74F-FE9EE0CDB9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1F055B00-1A35-856F-FF5D-8BC9B26F7B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552226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832F7771-2569-4D24-5794-44EBC76A9E8E}"/>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CF102B69-0B6C-23B2-A03D-B9D4A4CBD3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2A764545-45C6-4480-86C6-707E693D56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088655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71C028F4-4DE6-F91C-33E1-AE7866B05E32}"/>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6ACCB642-9B19-4489-E3E1-7A37229D85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C0BDEAEE-B497-CD98-22D5-6082C1D95A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878114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3910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236225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701720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7795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748216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9504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090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53821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570210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44706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1" r:id="rId7"/>
    <p:sldLayoutId id="2147483672"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1.jpe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5.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3.jpe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4.jpe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6.jpe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0.emf"/></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TE3001B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Fundamentos de Robótica</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05 de Marzo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4" descr="Análisis del papel de la automatización de procesos industriales hoy y  mañana">
            <a:extLst>
              <a:ext uri="{FF2B5EF4-FFF2-40B4-BE49-F238E27FC236}">
                <a16:creationId xmlns:a16="http://schemas.microsoft.com/office/drawing/2014/main" id="{AC008B2B-6883-2457-17DE-D01F4ACEF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565" y="1264349"/>
            <a:ext cx="3931839" cy="28152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“Un modelo matemático de un sistema dinámico es un conjunto de ecuaciones que representan la dinámica del sistema con precisión.”   </a:t>
            </a:r>
          </a:p>
          <a:p>
            <a:pPr algn="l"/>
            <a:r>
              <a:rPr lang="es-ES" dirty="0"/>
              <a:t>       </a:t>
            </a:r>
          </a:p>
          <a:p>
            <a:pPr algn="l"/>
            <a:r>
              <a:rPr lang="es-ES" dirty="0"/>
              <a:t>                                               –</a:t>
            </a:r>
            <a:r>
              <a:rPr lang="es-ES" dirty="0" err="1"/>
              <a:t>Katsuhiko</a:t>
            </a:r>
            <a:r>
              <a:rPr lang="es-ES" dirty="0"/>
              <a:t> Ogata</a:t>
            </a:r>
          </a:p>
          <a:p>
            <a:pPr algn="l"/>
            <a:br>
              <a:rPr lang="es-ES" dirty="0"/>
            </a:br>
            <a:endParaRPr dirty="0"/>
          </a:p>
        </p:txBody>
      </p:sp>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descr="Robots industriales en cifras: así ha aumentado su stock mundial y densidad  por región · THE LOGISTICS WORLD | Conéctate e inspírate.">
            <a:extLst>
              <a:ext uri="{FF2B5EF4-FFF2-40B4-BE49-F238E27FC236}">
                <a16:creationId xmlns:a16="http://schemas.microsoft.com/office/drawing/2014/main" id="{2B53735F-DDFD-1DF0-302F-152E3F9809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271" y="1468611"/>
            <a:ext cx="3935582" cy="26237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F5028745-B6F7-C472-C00F-4A0C1CD82E99}"/>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9BBCD1EB-93D6-FFE9-657B-EBEDBF78C894}"/>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a:extLst>
              <a:ext uri="{FF2B5EF4-FFF2-40B4-BE49-F238E27FC236}">
                <a16:creationId xmlns:a16="http://schemas.microsoft.com/office/drawing/2014/main" id="{865DC224-1C76-A803-E374-D5A6868CEE85}"/>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indent="0">
              <a:buSzPts val="1300"/>
            </a:pPr>
            <a:r>
              <a:rPr lang="es-ES" dirty="0"/>
              <a:t>- Solución de la Evaluación</a:t>
            </a:r>
          </a:p>
          <a:p>
            <a:pPr marL="146050" indent="0">
              <a:buSzPts val="1300"/>
            </a:pPr>
            <a:r>
              <a:rPr lang="es-ES" dirty="0"/>
              <a:t>- Introducción a Dinámica</a:t>
            </a:r>
          </a:p>
          <a:p>
            <a:pPr marL="146050" indent="0">
              <a:buSzPts val="1300"/>
            </a:pPr>
            <a:r>
              <a:rPr lang="es-ES" dirty="0"/>
              <a:t>- Fuerzas</a:t>
            </a:r>
          </a:p>
          <a:p>
            <a:pPr marL="431800" indent="-285750">
              <a:buSzPts val="1300"/>
              <a:buFontTx/>
              <a:buChar char="-"/>
            </a:pPr>
            <a:endParaRPr lang="es-ES" dirty="0"/>
          </a:p>
          <a:p>
            <a:pPr marL="146050" lvl="0" indent="0">
              <a:buSzPts val="1300"/>
            </a:pPr>
            <a:r>
              <a:rPr lang="es-ES" dirty="0"/>
              <a:t> </a:t>
            </a:r>
            <a:endParaRPr dirty="0"/>
          </a:p>
        </p:txBody>
      </p:sp>
      <p:sp>
        <p:nvSpPr>
          <p:cNvPr id="176" name="Google Shape;176;p30">
            <a:extLst>
              <a:ext uri="{FF2B5EF4-FFF2-40B4-BE49-F238E27FC236}">
                <a16:creationId xmlns:a16="http://schemas.microsoft.com/office/drawing/2014/main" id="{8FED9E29-096C-0772-53B9-94A60750D071}"/>
              </a:ext>
            </a:extLst>
          </p:cNvPr>
          <p:cNvSpPr txBox="1">
            <a:spLocks noGrp="1"/>
          </p:cNvSpPr>
          <p:nvPr>
            <p:ph type="title" idx="2"/>
          </p:nvPr>
        </p:nvSpPr>
        <p:spPr>
          <a:xfrm>
            <a:off x="4849170" y="1001125"/>
            <a:ext cx="2208122"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11</a:t>
            </a:r>
            <a:endParaRPr dirty="0"/>
          </a:p>
        </p:txBody>
      </p:sp>
      <p:cxnSp>
        <p:nvCxnSpPr>
          <p:cNvPr id="177" name="Google Shape;177;p30">
            <a:extLst>
              <a:ext uri="{FF2B5EF4-FFF2-40B4-BE49-F238E27FC236}">
                <a16:creationId xmlns:a16="http://schemas.microsoft.com/office/drawing/2014/main" id="{341DDB48-3E06-6868-C818-BD446B737C5D}"/>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172EC4A9-9DC4-5CC7-C931-C80DA26851A9}"/>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BF6838E2-6783-9C52-D21C-A4D18E89EEB6}"/>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529565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Energía Cinética</a:t>
            </a: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7945" y="1435444"/>
            <a:ext cx="2547383"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la energía cinética?</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237945" y="1700718"/>
            <a:ext cx="4349338"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La energía cinética de un cuerpo es aquella energía que posee debido a su movimiento relativo. Se define como el trabajo necesario para acelerar un cuerpo de una masa determinada (cualquier objeto) desde el reposo hasta la velocidad indicada. Una vez conseguida esta energía durante la aceleración, el cuerpo mantiene su energía cinética salvo que cambie su velocidad. Para que el cuerpo regrese a su estado de reposo se requiere un trabajo negativo de la misma magnitud que su energía física.</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2050" name="Picture 2" descr="Energía cinética y potencial: características, diferencias e importancia |  Renovables Verdes">
            <a:extLst>
              <a:ext uri="{FF2B5EF4-FFF2-40B4-BE49-F238E27FC236}">
                <a16:creationId xmlns:a16="http://schemas.microsoft.com/office/drawing/2014/main" id="{C2977886-885E-928A-BE0D-E31C7F1029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4943" y="1898936"/>
            <a:ext cx="3823650" cy="2344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37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Energía Cinética</a:t>
            </a: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7945" y="1763688"/>
            <a:ext cx="2547383"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Energía cinética rotacional</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237945" y="2028962"/>
            <a:ext cx="4349338"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En el campo de la física, la energía cinética de rotación o energía rotacional es la energía cinética de un cuerpo rígido, que gira en torno a un eje fijo. Esta energía depende del momento de inercia y de la velocidad angular del cuerpo.</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1026" name="Picture 2" descr="🥇▷【 Correspondencia entre la energía cinética de traslación y la energía  cinética de rotación - Trabajo y Energía 】">
            <a:extLst>
              <a:ext uri="{FF2B5EF4-FFF2-40B4-BE49-F238E27FC236}">
                <a16:creationId xmlns:a16="http://schemas.microsoft.com/office/drawing/2014/main" id="{9EF1BC04-104A-4475-E022-B47620D3B5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0060" y="1659753"/>
            <a:ext cx="3579097" cy="2721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406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Energía Cinética</a:t>
            </a: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7945" y="1986425"/>
            <a:ext cx="2547383"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Energía potencial</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237945" y="2251699"/>
            <a:ext cx="4349338"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La energía potencial es la energía almacenada en un objeto o sistema de objetos. Puede estar relacionada con su posición, los enlaces de su estructura química, su potencial de desintegración radioactiva o incluso su forma, por poner algunos ejemplos.</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3074" name="Picture 2" descr="Hoop and Cylinder Motion">
            <a:extLst>
              <a:ext uri="{FF2B5EF4-FFF2-40B4-BE49-F238E27FC236}">
                <a16:creationId xmlns:a16="http://schemas.microsoft.com/office/drawing/2014/main" id="{24F89FC5-8E9B-21EF-5C43-156685EE4B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7312" y="1116947"/>
            <a:ext cx="3852778" cy="18941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 ¿Qué es la Energía Potencial? Definición, Fórmula, Ejemplos y Más">
            <a:extLst>
              <a:ext uri="{FF2B5EF4-FFF2-40B4-BE49-F238E27FC236}">
                <a16:creationId xmlns:a16="http://schemas.microsoft.com/office/drawing/2014/main" id="{13BF04CF-A557-F35C-E0F1-9588164F1C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8574" y="3138966"/>
            <a:ext cx="2843041" cy="189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857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BD4AD8BC-6140-6193-64A6-E93FCB93F749}"/>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9E6070D6-194A-D15B-F261-D6CF94E68F7A}"/>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4D189C4C-A563-A616-5884-7860D2B00A8A}"/>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Velocidad Lineal en rotación</a:t>
            </a:r>
          </a:p>
        </p:txBody>
      </p:sp>
      <p:cxnSp>
        <p:nvCxnSpPr>
          <p:cNvPr id="152" name="Google Shape;258;p31">
            <a:extLst>
              <a:ext uri="{FF2B5EF4-FFF2-40B4-BE49-F238E27FC236}">
                <a16:creationId xmlns:a16="http://schemas.microsoft.com/office/drawing/2014/main" id="{FB3B0E01-0DF2-CC7A-B167-E35E4783EC34}"/>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a:extLst>
              <a:ext uri="{FF2B5EF4-FFF2-40B4-BE49-F238E27FC236}">
                <a16:creationId xmlns:a16="http://schemas.microsoft.com/office/drawing/2014/main" id="{86249754-E76B-52A0-21AB-882371D36194}"/>
              </a:ext>
            </a:extLst>
          </p:cNvPr>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827E8B31-FC62-95C8-2527-D098812F667B}"/>
              </a:ext>
            </a:extLst>
          </p:cNvPr>
          <p:cNvSpPr txBox="1"/>
          <p:nvPr/>
        </p:nvSpPr>
        <p:spPr>
          <a:xfrm>
            <a:off x="120714" y="1971000"/>
            <a:ext cx="4346162"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Velocidad lineal en el movimiento circular </a:t>
            </a:r>
          </a:p>
        </p:txBody>
      </p:sp>
      <p:sp>
        <p:nvSpPr>
          <p:cNvPr id="10" name="Google Shape;1603;p42">
            <a:extLst>
              <a:ext uri="{FF2B5EF4-FFF2-40B4-BE49-F238E27FC236}">
                <a16:creationId xmlns:a16="http://schemas.microsoft.com/office/drawing/2014/main" id="{40C75A38-14D7-E0FD-C32F-BC94BA626427}"/>
              </a:ext>
            </a:extLst>
          </p:cNvPr>
          <p:cNvSpPr txBox="1"/>
          <p:nvPr/>
        </p:nvSpPr>
        <p:spPr>
          <a:xfrm>
            <a:off x="120714" y="2276122"/>
            <a:ext cx="4349338"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La velocidad lineal de un objeto en movimiento circular está relacionada con el radio de la trayectoria y la velocidad angular. La velocidad lineal se calcula como el producto cruz del radio y la velocidad angular: v = </a:t>
            </a:r>
            <a:r>
              <a:rPr lang="es-ES" sz="1600" dirty="0" err="1">
                <a:solidFill>
                  <a:schemeClr val="accent4"/>
                </a:solidFill>
                <a:latin typeface="Fira Sans Condensed Light" panose="020B0604020202020204" charset="0"/>
                <a:cs typeface="Times New Roman" panose="02020603050405020304" pitchFamily="18" charset="0"/>
              </a:rPr>
              <a:t>Rω</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1028" name="Picture 4" descr="Movimiento circular — Hive">
            <a:extLst>
              <a:ext uri="{FF2B5EF4-FFF2-40B4-BE49-F238E27FC236}">
                <a16:creationId xmlns:a16="http://schemas.microsoft.com/office/drawing/2014/main" id="{4BC48578-B3CE-4F33-AB55-971E610DE6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0547" y="1436136"/>
            <a:ext cx="4544084" cy="3346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6139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Centro de masa</a:t>
            </a: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7945" y="1986425"/>
            <a:ext cx="2547383"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Centro de masa</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237945" y="2251699"/>
            <a:ext cx="4349338"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El centro de masa es una posición definida en relación a un objeto o a un sistema de objetos. Es el promedio de la posición de todas las partes del sistema, ponderadas de acuerdo a sus masas.</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4098" name="Picture 2" descr="What Is a Barycenter? | NASA Space Place – NASA Science for Kids">
            <a:extLst>
              <a:ext uri="{FF2B5EF4-FFF2-40B4-BE49-F238E27FC236}">
                <a16:creationId xmlns:a16="http://schemas.microsoft.com/office/drawing/2014/main" id="{4B2967D1-3A4A-0031-D6A0-974B70FCF2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5414" y="1269451"/>
            <a:ext cx="3122807" cy="108012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Examen Final (Robotica 2016-1)">
            <a:extLst>
              <a:ext uri="{FF2B5EF4-FFF2-40B4-BE49-F238E27FC236}">
                <a16:creationId xmlns:a16="http://schemas.microsoft.com/office/drawing/2014/main" id="{B7AF19EF-B1CB-FD98-B021-2D116B8B2C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9998" y="2571750"/>
            <a:ext cx="3293640" cy="2319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195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Función tic </a:t>
            </a: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toc</a:t>
            </a: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t>
            </a: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7945" y="1986425"/>
            <a:ext cx="2547383"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Temporizador </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237945" y="2251699"/>
            <a:ext cx="4349338" cy="59125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accent4"/>
                </a:solidFill>
                <a:latin typeface="Fira Sans Condensed Light" panose="020B0604020202020204" charset="0"/>
                <a:cs typeface="Times New Roman" panose="02020603050405020304" pitchFamily="18" charset="0"/>
              </a:rPr>
              <a:t>tic</a:t>
            </a:r>
            <a:r>
              <a:rPr lang="es-ES" sz="1600" dirty="0">
                <a:solidFill>
                  <a:schemeClr val="accent4"/>
                </a:solidFill>
                <a:latin typeface="Fira Sans Condensed Light" panose="020B0604020202020204" charset="0"/>
                <a:cs typeface="Times New Roman" panose="02020603050405020304" pitchFamily="18" charset="0"/>
              </a:rPr>
              <a:t> opera con la función </a:t>
            </a:r>
            <a:r>
              <a:rPr lang="es-ES" sz="1600" b="1" dirty="0" err="1">
                <a:solidFill>
                  <a:schemeClr val="accent4"/>
                </a:solidFill>
                <a:latin typeface="Fira Sans Condensed Light" panose="020B0604020202020204" charset="0"/>
                <a:cs typeface="Times New Roman" panose="02020603050405020304" pitchFamily="18" charset="0"/>
              </a:rPr>
              <a:t>toc</a:t>
            </a:r>
            <a:r>
              <a:rPr lang="es-ES" sz="1600" b="1" dirty="0">
                <a:solidFill>
                  <a:schemeClr val="accent4"/>
                </a:solidFill>
                <a:latin typeface="Fira Sans Condensed Light" panose="020B0604020202020204" charset="0"/>
                <a:cs typeface="Times New Roman" panose="02020603050405020304" pitchFamily="18" charset="0"/>
              </a:rPr>
              <a:t> </a:t>
            </a:r>
            <a:r>
              <a:rPr lang="es-ES" sz="1600" dirty="0">
                <a:solidFill>
                  <a:schemeClr val="accent4"/>
                </a:solidFill>
                <a:latin typeface="Fira Sans Condensed Light" panose="020B0604020202020204" charset="0"/>
                <a:cs typeface="Times New Roman" panose="02020603050405020304" pitchFamily="18" charset="0"/>
              </a:rPr>
              <a:t>para medir el tiempo transcurrido. La función tic registra el tiempo actual y la función </a:t>
            </a:r>
            <a:r>
              <a:rPr lang="es-ES" sz="1600" dirty="0" err="1">
                <a:solidFill>
                  <a:schemeClr val="accent4"/>
                </a:solidFill>
                <a:latin typeface="Fira Sans Condensed Light" panose="020B0604020202020204" charset="0"/>
                <a:cs typeface="Times New Roman" panose="02020603050405020304" pitchFamily="18" charset="0"/>
              </a:rPr>
              <a:t>toc</a:t>
            </a:r>
            <a:r>
              <a:rPr lang="es-ES" sz="1600" dirty="0">
                <a:solidFill>
                  <a:schemeClr val="accent4"/>
                </a:solidFill>
                <a:latin typeface="Fira Sans Condensed Light" panose="020B0604020202020204" charset="0"/>
                <a:cs typeface="Times New Roman" panose="02020603050405020304" pitchFamily="18" charset="0"/>
              </a:rPr>
              <a:t> utiliza el valor registrado para calcular el tiempo transcurrido.</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1028" name="Picture 4" descr="Icono de reloj de arena. reloj de arena con temporizador de arena como  ilustración de cuenta regresiva | Vector Premium">
            <a:extLst>
              <a:ext uri="{FF2B5EF4-FFF2-40B4-BE49-F238E27FC236}">
                <a16:creationId xmlns:a16="http://schemas.microsoft.com/office/drawing/2014/main" id="{49326F25-4D6E-51DE-8F9D-98FCA78781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8464" y="1558261"/>
            <a:ext cx="2496805" cy="299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063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15959AEC-ED10-5002-121D-FB7B069B1975}"/>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1D0E53B3-D8BB-0C7F-1330-C7D51AB4655C}"/>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a:extLst>
              <a:ext uri="{FF2B5EF4-FFF2-40B4-BE49-F238E27FC236}">
                <a16:creationId xmlns:a16="http://schemas.microsoft.com/office/drawing/2014/main" id="{961459BA-6F88-A406-79EA-45A0F09329D7}"/>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indent="0">
              <a:buSzPts val="1300"/>
            </a:pPr>
            <a:r>
              <a:rPr lang="es-ES" dirty="0"/>
              <a:t>- Modelo de Energía y </a:t>
            </a:r>
            <a:r>
              <a:rPr lang="es-ES" dirty="0" err="1"/>
              <a:t>Lagrangiano</a:t>
            </a:r>
            <a:endParaRPr lang="es-ES" dirty="0"/>
          </a:p>
          <a:p>
            <a:pPr marL="146050" indent="0">
              <a:buSzPts val="1300"/>
            </a:pPr>
            <a:endParaRPr lang="es-ES" dirty="0"/>
          </a:p>
          <a:p>
            <a:pPr marL="146050" lvl="0" indent="0">
              <a:buSzPts val="1300"/>
            </a:pPr>
            <a:r>
              <a:rPr lang="es-ES" dirty="0"/>
              <a:t> </a:t>
            </a:r>
            <a:endParaRPr dirty="0"/>
          </a:p>
        </p:txBody>
      </p:sp>
      <p:sp>
        <p:nvSpPr>
          <p:cNvPr id="176" name="Google Shape;176;p30">
            <a:extLst>
              <a:ext uri="{FF2B5EF4-FFF2-40B4-BE49-F238E27FC236}">
                <a16:creationId xmlns:a16="http://schemas.microsoft.com/office/drawing/2014/main" id="{4E41D1DB-05F2-5096-9D08-6FCE9E5AE4CF}"/>
              </a:ext>
            </a:extLst>
          </p:cNvPr>
          <p:cNvSpPr txBox="1">
            <a:spLocks noGrp="1"/>
          </p:cNvSpPr>
          <p:nvPr>
            <p:ph type="title" idx="2"/>
          </p:nvPr>
        </p:nvSpPr>
        <p:spPr>
          <a:xfrm>
            <a:off x="4849170" y="1001125"/>
            <a:ext cx="2208122"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12</a:t>
            </a:r>
            <a:endParaRPr dirty="0"/>
          </a:p>
        </p:txBody>
      </p:sp>
      <p:cxnSp>
        <p:nvCxnSpPr>
          <p:cNvPr id="177" name="Google Shape;177;p30">
            <a:extLst>
              <a:ext uri="{FF2B5EF4-FFF2-40B4-BE49-F238E27FC236}">
                <a16:creationId xmlns:a16="http://schemas.microsoft.com/office/drawing/2014/main" id="{3BCBC381-6379-A1CF-C866-4474B08B68FE}"/>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61F0BFD9-D5DC-A514-57C3-375634FF9B50}"/>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D18A5BAE-B433-45BE-DA8F-CE4E19B78497}"/>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471717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46514EE1-78C5-B485-FC87-1AB2015BD884}"/>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278E79AB-4997-A586-931E-4724474B2EB9}"/>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7C20305D-FE30-D3F4-0F1E-DED1E243D0B4}"/>
              </a:ext>
            </a:extLst>
          </p:cNvPr>
          <p:cNvSpPr txBox="1">
            <a:spLocks/>
          </p:cNvSpPr>
          <p:nvPr/>
        </p:nvSpPr>
        <p:spPr>
          <a:xfrm>
            <a:off x="378521" y="768707"/>
            <a:ext cx="7511109"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Revisión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energía</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cinética</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del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péndulo</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2885C87B-6162-2671-686A-4D8F86CF3A18}"/>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a:extLst>
              <a:ext uri="{FF2B5EF4-FFF2-40B4-BE49-F238E27FC236}">
                <a16:creationId xmlns:a16="http://schemas.microsoft.com/office/drawing/2014/main" id="{324571CA-7B8E-B078-3C22-0E3ED41394D3}"/>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F23252A-5350-2585-314E-2A26FC8C896B}"/>
                  </a:ext>
                </a:extLst>
              </p:cNvPr>
              <p:cNvSpPr txBox="1"/>
              <p:nvPr/>
            </p:nvSpPr>
            <p:spPr>
              <a:xfrm>
                <a:off x="4291600" y="2177804"/>
                <a:ext cx="1590372" cy="276999"/>
              </a:xfrm>
              <a:prstGeom prst="rect">
                <a:avLst/>
              </a:prstGeom>
              <a:noFill/>
            </p:spPr>
            <p:txBody>
              <a:bodyPr wrap="none" lIns="0" tIns="0" rIns="0" bIns="0" rtlCol="0">
                <a:spAutoFit/>
              </a:bodyPr>
              <a:lstStyle/>
              <a:p>
                <a14:m>
                  <m:oMath xmlns:m="http://schemas.openxmlformats.org/officeDocument/2006/math">
                    <m:d>
                      <m:dPr>
                        <m:begChr m:val="["/>
                        <m:endChr m:val="]"/>
                        <m:ctrlPr>
                          <a:rPr lang="es-MX" sz="1800" i="1" smtClean="0">
                            <a:solidFill>
                              <a:schemeClr val="tx2"/>
                            </a:solidFill>
                            <a:latin typeface="Cambria Math" panose="02040503050406030204" pitchFamily="18" charset="0"/>
                          </a:rPr>
                        </m:ctrlPr>
                      </m:dPr>
                      <m:e>
                        <m:m>
                          <m:mPr>
                            <m:mcs>
                              <m:mc>
                                <m:mcPr>
                                  <m:count m:val="3"/>
                                  <m:mcJc m:val="center"/>
                                </m:mcPr>
                              </m:mc>
                            </m:mcs>
                            <m:ctrlPr>
                              <a:rPr lang="es-MX" sz="1800" i="1">
                                <a:solidFill>
                                  <a:schemeClr val="tx2"/>
                                </a:solidFill>
                                <a:latin typeface="Cambria Math" panose="02040503050406030204" pitchFamily="18" charset="0"/>
                              </a:rPr>
                            </m:ctrlPr>
                          </m:mPr>
                          <m:mr>
                            <m:e>
                              <m:r>
                                <m:rPr>
                                  <m:brk m:alnAt="7"/>
                                </m:rPr>
                                <a:rPr lang="es-ES" sz="1800" i="1">
                                  <a:solidFill>
                                    <a:schemeClr val="tx2"/>
                                  </a:solidFill>
                                  <a:latin typeface="Cambria Math" panose="02040503050406030204" pitchFamily="18" charset="0"/>
                                </a:rPr>
                                <m:t>𝑉</m:t>
                              </m:r>
                              <m:r>
                                <a:rPr lang="es-ES" sz="1800" i="1">
                                  <a:solidFill>
                                    <a:schemeClr val="tx2"/>
                                  </a:solidFill>
                                  <a:latin typeface="Cambria Math" panose="02040503050406030204" pitchFamily="18" charset="0"/>
                                </a:rPr>
                                <m:t>𝑥</m:t>
                              </m:r>
                            </m:e>
                            <m:e>
                              <m:r>
                                <a:rPr lang="es-ES" sz="1800" i="1">
                                  <a:solidFill>
                                    <a:schemeClr val="tx2"/>
                                  </a:solidFill>
                                  <a:latin typeface="Cambria Math" panose="02040503050406030204" pitchFamily="18" charset="0"/>
                                </a:rPr>
                                <m:t>𝑉𝑦</m:t>
                              </m:r>
                            </m:e>
                            <m:e>
                              <m:r>
                                <a:rPr lang="es-ES" sz="1800" i="1">
                                  <a:solidFill>
                                    <a:schemeClr val="tx2"/>
                                  </a:solidFill>
                                  <a:latin typeface="Cambria Math" panose="02040503050406030204" pitchFamily="18" charset="0"/>
                                </a:rPr>
                                <m:t>𝑉𝑧</m:t>
                              </m:r>
                            </m:e>
                          </m:mr>
                        </m:m>
                      </m:e>
                    </m:d>
                  </m:oMath>
                </a14:m>
                <a:r>
                  <a:rPr lang="es-MX" sz="1800" dirty="0">
                    <a:solidFill>
                      <a:schemeClr val="tx2"/>
                    </a:solidFill>
                  </a:rPr>
                  <a:t> *</a:t>
                </a:r>
              </a:p>
            </p:txBody>
          </p:sp>
        </mc:Choice>
        <mc:Fallback xmlns="">
          <p:sp>
            <p:nvSpPr>
              <p:cNvPr id="9" name="CuadroTexto 8">
                <a:extLst>
                  <a:ext uri="{FF2B5EF4-FFF2-40B4-BE49-F238E27FC236}">
                    <a16:creationId xmlns:a16="http://schemas.microsoft.com/office/drawing/2014/main" id="{BF23252A-5350-2585-314E-2A26FC8C896B}"/>
                  </a:ext>
                </a:extLst>
              </p:cNvPr>
              <p:cNvSpPr txBox="1">
                <a:spLocks noRot="1" noChangeAspect="1" noMove="1" noResize="1" noEditPoints="1" noAdjustHandles="1" noChangeArrowheads="1" noChangeShapeType="1" noTextEdit="1"/>
              </p:cNvSpPr>
              <p:nvPr/>
            </p:nvSpPr>
            <p:spPr>
              <a:xfrm>
                <a:off x="4291600" y="2177804"/>
                <a:ext cx="1590372" cy="276999"/>
              </a:xfrm>
              <a:prstGeom prst="rect">
                <a:avLst/>
              </a:prstGeom>
              <a:blipFill>
                <a:blip r:embed="rId4"/>
                <a:stretch>
                  <a:fillRect t="-28261" r="-8046" b="-500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7E5CB77D-460C-913E-1F19-E681DD005244}"/>
                  </a:ext>
                </a:extLst>
              </p:cNvPr>
              <p:cNvSpPr txBox="1"/>
              <p:nvPr/>
            </p:nvSpPr>
            <p:spPr>
              <a:xfrm>
                <a:off x="5874971" y="2177804"/>
                <a:ext cx="526363" cy="7366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800" i="1" smtClean="0">
                              <a:solidFill>
                                <a:schemeClr val="tx2"/>
                              </a:solidFill>
                              <a:latin typeface="Cambria Math" panose="02040503050406030204" pitchFamily="18" charset="0"/>
                            </a:rPr>
                          </m:ctrlPr>
                        </m:dPr>
                        <m:e>
                          <m:m>
                            <m:mPr>
                              <m:mcs>
                                <m:mc>
                                  <m:mcPr>
                                    <m:count m:val="1"/>
                                    <m:mcJc m:val="center"/>
                                  </m:mcPr>
                                </m:mc>
                              </m:mcs>
                              <m:ctrlPr>
                                <a:rPr lang="es-MX" sz="1800" i="1" smtClean="0">
                                  <a:solidFill>
                                    <a:schemeClr val="tx2"/>
                                  </a:solidFill>
                                  <a:latin typeface="Cambria Math" panose="02040503050406030204" pitchFamily="18" charset="0"/>
                                </a:rPr>
                              </m:ctrlPr>
                            </m:mPr>
                            <m:mr>
                              <m:e>
                                <m:r>
                                  <m:rPr>
                                    <m:brk m:alnAt="7"/>
                                  </m:rPr>
                                  <a:rPr lang="es-ES" sz="1800" b="0" i="1" smtClean="0">
                                    <a:solidFill>
                                      <a:schemeClr val="tx2"/>
                                    </a:solidFill>
                                    <a:latin typeface="Cambria Math" panose="02040503050406030204" pitchFamily="18" charset="0"/>
                                  </a:rPr>
                                  <m:t>𝑉</m:t>
                                </m:r>
                                <m:r>
                                  <a:rPr lang="es-ES" sz="1800" b="0" i="1" smtClean="0">
                                    <a:solidFill>
                                      <a:schemeClr val="tx2"/>
                                    </a:solidFill>
                                    <a:latin typeface="Cambria Math" panose="02040503050406030204" pitchFamily="18" charset="0"/>
                                  </a:rPr>
                                  <m:t>𝑥</m:t>
                                </m:r>
                              </m:e>
                            </m:mr>
                            <m:mr>
                              <m:e>
                                <m:r>
                                  <a:rPr lang="es-ES" sz="1800" b="0" i="1" smtClean="0">
                                    <a:solidFill>
                                      <a:schemeClr val="tx2"/>
                                    </a:solidFill>
                                    <a:latin typeface="Cambria Math" panose="02040503050406030204" pitchFamily="18" charset="0"/>
                                  </a:rPr>
                                  <m:t>𝑉𝑦</m:t>
                                </m:r>
                              </m:e>
                            </m:mr>
                            <m:mr>
                              <m:e>
                                <m:r>
                                  <a:rPr lang="es-ES" sz="1800" b="0" i="1" smtClean="0">
                                    <a:solidFill>
                                      <a:schemeClr val="tx2"/>
                                    </a:solidFill>
                                    <a:latin typeface="Cambria Math" panose="02040503050406030204" pitchFamily="18" charset="0"/>
                                  </a:rPr>
                                  <m:t>𝑉𝑧</m:t>
                                </m:r>
                              </m:e>
                            </m:mr>
                          </m:m>
                        </m:e>
                      </m:d>
                    </m:oMath>
                  </m:oMathPara>
                </a14:m>
                <a:endParaRPr lang="es-MX" sz="1800" dirty="0">
                  <a:solidFill>
                    <a:schemeClr val="tx2"/>
                  </a:solidFill>
                </a:endParaRPr>
              </a:p>
            </p:txBody>
          </p:sp>
        </mc:Choice>
        <mc:Fallback xmlns="">
          <p:sp>
            <p:nvSpPr>
              <p:cNvPr id="12" name="CuadroTexto 11">
                <a:extLst>
                  <a:ext uri="{FF2B5EF4-FFF2-40B4-BE49-F238E27FC236}">
                    <a16:creationId xmlns:a16="http://schemas.microsoft.com/office/drawing/2014/main" id="{7E5CB77D-460C-913E-1F19-E681DD005244}"/>
                  </a:ext>
                </a:extLst>
              </p:cNvPr>
              <p:cNvSpPr txBox="1">
                <a:spLocks noRot="1" noChangeAspect="1" noMove="1" noResize="1" noEditPoints="1" noAdjustHandles="1" noChangeArrowheads="1" noChangeShapeType="1" noTextEdit="1"/>
              </p:cNvSpPr>
              <p:nvPr/>
            </p:nvSpPr>
            <p:spPr>
              <a:xfrm>
                <a:off x="5874971" y="2177804"/>
                <a:ext cx="526363" cy="736677"/>
              </a:xfrm>
              <a:prstGeom prst="rect">
                <a:avLst/>
              </a:prstGeom>
              <a:blipFill>
                <a:blip r:embed="rId5"/>
                <a:stretch>
                  <a:fillRect/>
                </a:stretch>
              </a:blipFill>
            </p:spPr>
            <p:txBody>
              <a:bodyPr/>
              <a:lstStyle/>
              <a:p>
                <a:r>
                  <a:rPr lang="es-MX">
                    <a:noFill/>
                  </a:rPr>
                  <a:t> </a:t>
                </a:r>
              </a:p>
            </p:txBody>
          </p:sp>
        </mc:Fallback>
      </mc:AlternateContent>
      <p:sp>
        <p:nvSpPr>
          <p:cNvPr id="14" name="Google Shape;1603;p42">
            <a:extLst>
              <a:ext uri="{FF2B5EF4-FFF2-40B4-BE49-F238E27FC236}">
                <a16:creationId xmlns:a16="http://schemas.microsoft.com/office/drawing/2014/main" id="{49D6AE8A-224F-F41C-C95C-BB077CDA3445}"/>
              </a:ext>
            </a:extLst>
          </p:cNvPr>
          <p:cNvSpPr txBox="1"/>
          <p:nvPr/>
        </p:nvSpPr>
        <p:spPr>
          <a:xfrm>
            <a:off x="4291600" y="1559897"/>
            <a:ext cx="1360170" cy="59125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V Transpuesta</a:t>
            </a:r>
          </a:p>
        </p:txBody>
      </p:sp>
      <p:sp>
        <p:nvSpPr>
          <p:cNvPr id="15" name="Google Shape;1603;p42">
            <a:extLst>
              <a:ext uri="{FF2B5EF4-FFF2-40B4-BE49-F238E27FC236}">
                <a16:creationId xmlns:a16="http://schemas.microsoft.com/office/drawing/2014/main" id="{C528D23E-D4C6-255B-B6EE-27FF90531850}"/>
              </a:ext>
            </a:extLst>
          </p:cNvPr>
          <p:cNvSpPr txBox="1"/>
          <p:nvPr/>
        </p:nvSpPr>
        <p:spPr>
          <a:xfrm>
            <a:off x="5973208" y="1559897"/>
            <a:ext cx="329887" cy="59125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V</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A62A6B3-63BC-9705-3968-B67DDD86C641}"/>
                  </a:ext>
                </a:extLst>
              </p:cNvPr>
              <p:cNvSpPr txBox="1"/>
              <p:nvPr/>
            </p:nvSpPr>
            <p:spPr>
              <a:xfrm>
                <a:off x="3716086" y="2151153"/>
                <a:ext cx="508152" cy="391133"/>
              </a:xfrm>
              <a:prstGeom prst="rect">
                <a:avLst/>
              </a:prstGeom>
              <a:noFill/>
            </p:spPr>
            <p:txBody>
              <a:bodyPr wrap="none" lIns="0" tIns="0" rIns="0" bIns="0" rtlCol="0">
                <a:spAutoFit/>
              </a:bodyPr>
              <a:lstStyle/>
              <a:p>
                <a14:m>
                  <m:oMath xmlns:m="http://schemas.openxmlformats.org/officeDocument/2006/math">
                    <m:f>
                      <m:fPr>
                        <m:ctrlPr>
                          <a:rPr lang="es-MX" sz="1800" i="1" smtClean="0">
                            <a:solidFill>
                              <a:schemeClr val="tx2"/>
                            </a:solidFill>
                            <a:latin typeface="Cambria Math" panose="02040503050406030204" pitchFamily="18" charset="0"/>
                          </a:rPr>
                        </m:ctrlPr>
                      </m:fPr>
                      <m:num>
                        <m:r>
                          <a:rPr lang="es-ES" sz="1800" b="0" i="1" smtClean="0">
                            <a:solidFill>
                              <a:schemeClr val="tx2"/>
                            </a:solidFill>
                            <a:latin typeface="Cambria Math" panose="02040503050406030204" pitchFamily="18" charset="0"/>
                          </a:rPr>
                          <m:t>1</m:t>
                        </m:r>
                      </m:num>
                      <m:den>
                        <m:r>
                          <a:rPr lang="es-ES" sz="1800" b="0" i="1" smtClean="0">
                            <a:solidFill>
                              <a:schemeClr val="tx2"/>
                            </a:solidFill>
                            <a:latin typeface="Cambria Math" panose="02040503050406030204" pitchFamily="18" charset="0"/>
                          </a:rPr>
                          <m:t>2</m:t>
                        </m:r>
                      </m:den>
                    </m:f>
                  </m:oMath>
                </a14:m>
                <a:r>
                  <a:rPr lang="es-MX" sz="1800" dirty="0">
                    <a:solidFill>
                      <a:schemeClr val="tx2"/>
                    </a:solidFill>
                  </a:rPr>
                  <a:t> m *</a:t>
                </a:r>
                <a:endParaRPr lang="es-MX" dirty="0"/>
              </a:p>
            </p:txBody>
          </p:sp>
        </mc:Choice>
        <mc:Fallback xmlns="">
          <p:sp>
            <p:nvSpPr>
              <p:cNvPr id="17" name="CuadroTexto 16">
                <a:extLst>
                  <a:ext uri="{FF2B5EF4-FFF2-40B4-BE49-F238E27FC236}">
                    <a16:creationId xmlns:a16="http://schemas.microsoft.com/office/drawing/2014/main" id="{0A62A6B3-63BC-9705-3968-B67DDD86C641}"/>
                  </a:ext>
                </a:extLst>
              </p:cNvPr>
              <p:cNvSpPr txBox="1">
                <a:spLocks noRot="1" noChangeAspect="1" noMove="1" noResize="1" noEditPoints="1" noAdjustHandles="1" noChangeArrowheads="1" noChangeShapeType="1" noTextEdit="1"/>
              </p:cNvSpPr>
              <p:nvPr/>
            </p:nvSpPr>
            <p:spPr>
              <a:xfrm>
                <a:off x="3716086" y="2151153"/>
                <a:ext cx="508152" cy="391133"/>
              </a:xfrm>
              <a:prstGeom prst="rect">
                <a:avLst/>
              </a:prstGeom>
              <a:blipFill>
                <a:blip r:embed="rId6"/>
                <a:stretch>
                  <a:fillRect l="-12048" t="-6250" r="-27711" b="-20313"/>
                </a:stretch>
              </a:blipFill>
            </p:spPr>
            <p:txBody>
              <a:bodyPr/>
              <a:lstStyle/>
              <a:p>
                <a:r>
                  <a:rPr lang="es-MX">
                    <a:noFill/>
                  </a:rPr>
                  <a:t> </a:t>
                </a:r>
              </a:p>
            </p:txBody>
          </p:sp>
        </mc:Fallback>
      </mc:AlternateContent>
      <p:sp>
        <p:nvSpPr>
          <p:cNvPr id="20" name="Google Shape;1603;p42">
            <a:extLst>
              <a:ext uri="{FF2B5EF4-FFF2-40B4-BE49-F238E27FC236}">
                <a16:creationId xmlns:a16="http://schemas.microsoft.com/office/drawing/2014/main" id="{1D125207-8EF1-14FD-F75C-BFE5F7DBFCC6}"/>
              </a:ext>
            </a:extLst>
          </p:cNvPr>
          <p:cNvSpPr txBox="1"/>
          <p:nvPr/>
        </p:nvSpPr>
        <p:spPr>
          <a:xfrm>
            <a:off x="917446" y="2051091"/>
            <a:ext cx="2717874" cy="59125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Energía Cinética Traslacional =</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4CC3981-40FC-0C46-4913-CF36B8BBA9C6}"/>
                  </a:ext>
                </a:extLst>
              </p:cNvPr>
              <p:cNvSpPr txBox="1"/>
              <p:nvPr/>
            </p:nvSpPr>
            <p:spPr>
              <a:xfrm>
                <a:off x="4130849" y="3924949"/>
                <a:ext cx="1816395" cy="276999"/>
              </a:xfrm>
              <a:prstGeom prst="rect">
                <a:avLst/>
              </a:prstGeom>
              <a:noFill/>
            </p:spPr>
            <p:txBody>
              <a:bodyPr wrap="none" lIns="0" tIns="0" rIns="0" bIns="0" rtlCol="0">
                <a:spAutoFit/>
              </a:bodyPr>
              <a:lstStyle/>
              <a:p>
                <a14:m>
                  <m:oMath xmlns:m="http://schemas.openxmlformats.org/officeDocument/2006/math">
                    <m:d>
                      <m:dPr>
                        <m:begChr m:val="["/>
                        <m:endChr m:val="]"/>
                        <m:ctrlPr>
                          <a:rPr lang="es-MX" sz="1800" i="1" smtClean="0">
                            <a:solidFill>
                              <a:schemeClr val="tx2"/>
                            </a:solidFill>
                            <a:latin typeface="Cambria Math" panose="02040503050406030204" pitchFamily="18" charset="0"/>
                          </a:rPr>
                        </m:ctrlPr>
                      </m:dPr>
                      <m:e>
                        <m:m>
                          <m:mPr>
                            <m:mcs>
                              <m:mc>
                                <m:mcPr>
                                  <m:count m:val="3"/>
                                  <m:mcJc m:val="center"/>
                                </m:mcPr>
                              </m:mc>
                            </m:mcs>
                            <m:ctrlPr>
                              <a:rPr lang="es-MX" sz="1800" i="1">
                                <a:solidFill>
                                  <a:schemeClr val="tx2"/>
                                </a:solidFill>
                                <a:latin typeface="Cambria Math" panose="02040503050406030204" pitchFamily="18" charset="0"/>
                              </a:rPr>
                            </m:ctrlPr>
                          </m:mPr>
                          <m:mr>
                            <m:e>
                              <m:r>
                                <a:rPr lang="es-ES" sz="1800" b="0" i="1" smtClean="0">
                                  <a:solidFill>
                                    <a:schemeClr val="tx2"/>
                                  </a:solidFill>
                                  <a:latin typeface="Cambria Math" panose="02040503050406030204" pitchFamily="18" charset="0"/>
                                </a:rPr>
                                <m:t>𝑊𝑥</m:t>
                              </m:r>
                            </m:e>
                            <m:e>
                              <m:r>
                                <a:rPr lang="es-ES" sz="1800" b="0" i="1" smtClean="0">
                                  <a:solidFill>
                                    <a:schemeClr val="tx2"/>
                                  </a:solidFill>
                                  <a:latin typeface="Cambria Math" panose="02040503050406030204" pitchFamily="18" charset="0"/>
                                </a:rPr>
                                <m:t>𝑊</m:t>
                              </m:r>
                              <m:r>
                                <a:rPr lang="es-ES" sz="1800" i="1">
                                  <a:solidFill>
                                    <a:schemeClr val="tx2"/>
                                  </a:solidFill>
                                  <a:latin typeface="Cambria Math" panose="02040503050406030204" pitchFamily="18" charset="0"/>
                                </a:rPr>
                                <m:t>𝑦</m:t>
                              </m:r>
                            </m:e>
                            <m:e>
                              <m:r>
                                <a:rPr lang="es-ES" sz="1800" b="0" i="1" smtClean="0">
                                  <a:solidFill>
                                    <a:schemeClr val="tx2"/>
                                  </a:solidFill>
                                  <a:latin typeface="Cambria Math" panose="02040503050406030204" pitchFamily="18" charset="0"/>
                                </a:rPr>
                                <m:t>𝑊</m:t>
                              </m:r>
                              <m:r>
                                <a:rPr lang="es-ES" sz="1800" i="1">
                                  <a:solidFill>
                                    <a:schemeClr val="tx2"/>
                                  </a:solidFill>
                                  <a:latin typeface="Cambria Math" panose="02040503050406030204" pitchFamily="18" charset="0"/>
                                </a:rPr>
                                <m:t>𝑧</m:t>
                              </m:r>
                            </m:e>
                          </m:mr>
                        </m:m>
                      </m:e>
                    </m:d>
                  </m:oMath>
                </a14:m>
                <a:r>
                  <a:rPr lang="es-MX" sz="1800" dirty="0">
                    <a:solidFill>
                      <a:schemeClr val="tx2"/>
                    </a:solidFill>
                  </a:rPr>
                  <a:t> *</a:t>
                </a:r>
              </a:p>
            </p:txBody>
          </p:sp>
        </mc:Choice>
        <mc:Fallback xmlns="">
          <p:sp>
            <p:nvSpPr>
              <p:cNvPr id="22" name="CuadroTexto 21">
                <a:extLst>
                  <a:ext uri="{FF2B5EF4-FFF2-40B4-BE49-F238E27FC236}">
                    <a16:creationId xmlns:a16="http://schemas.microsoft.com/office/drawing/2014/main" id="{94CC3981-40FC-0C46-4913-CF36B8BBA9C6}"/>
                  </a:ext>
                </a:extLst>
              </p:cNvPr>
              <p:cNvSpPr txBox="1">
                <a:spLocks noRot="1" noChangeAspect="1" noMove="1" noResize="1" noEditPoints="1" noAdjustHandles="1" noChangeArrowheads="1" noChangeShapeType="1" noTextEdit="1"/>
              </p:cNvSpPr>
              <p:nvPr/>
            </p:nvSpPr>
            <p:spPr>
              <a:xfrm>
                <a:off x="4130849" y="3924949"/>
                <a:ext cx="1816395" cy="276999"/>
              </a:xfrm>
              <a:prstGeom prst="rect">
                <a:avLst/>
              </a:prstGeom>
              <a:blipFill>
                <a:blip r:embed="rId7"/>
                <a:stretch>
                  <a:fillRect l="-336" t="-28889" r="-6711" b="-5111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0680F780-7592-7161-E56F-89A2C4D58DF3}"/>
                  </a:ext>
                </a:extLst>
              </p:cNvPr>
              <p:cNvSpPr txBox="1"/>
              <p:nvPr/>
            </p:nvSpPr>
            <p:spPr>
              <a:xfrm>
                <a:off x="7442475" y="3927025"/>
                <a:ext cx="598305" cy="7366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800" i="1" smtClean="0">
                              <a:solidFill>
                                <a:schemeClr val="tx2"/>
                              </a:solidFill>
                              <a:latin typeface="Cambria Math" panose="02040503050406030204" pitchFamily="18" charset="0"/>
                            </a:rPr>
                          </m:ctrlPr>
                        </m:dPr>
                        <m:e>
                          <m:m>
                            <m:mPr>
                              <m:mcs>
                                <m:mc>
                                  <m:mcPr>
                                    <m:count m:val="1"/>
                                    <m:mcJc m:val="center"/>
                                  </m:mcPr>
                                </m:mc>
                              </m:mcs>
                              <m:ctrlPr>
                                <a:rPr lang="es-MX" sz="1800" i="1" smtClean="0">
                                  <a:solidFill>
                                    <a:schemeClr val="tx2"/>
                                  </a:solidFill>
                                  <a:latin typeface="Cambria Math" panose="02040503050406030204" pitchFamily="18" charset="0"/>
                                </a:rPr>
                              </m:ctrlPr>
                            </m:mPr>
                            <m:mr>
                              <m:e>
                                <m:r>
                                  <m:rPr>
                                    <m:brk m:alnAt="7"/>
                                  </m:rPr>
                                  <a:rPr lang="es-ES" sz="1800" b="0" i="1" smtClean="0">
                                    <a:solidFill>
                                      <a:schemeClr val="tx2"/>
                                    </a:solidFill>
                                    <a:latin typeface="Cambria Math" panose="02040503050406030204" pitchFamily="18" charset="0"/>
                                  </a:rPr>
                                  <m:t>𝑊</m:t>
                                </m:r>
                                <m:r>
                                  <a:rPr lang="es-ES" sz="1800" b="0" i="1" smtClean="0">
                                    <a:solidFill>
                                      <a:schemeClr val="tx2"/>
                                    </a:solidFill>
                                    <a:latin typeface="Cambria Math" panose="02040503050406030204" pitchFamily="18" charset="0"/>
                                  </a:rPr>
                                  <m:t>𝑥</m:t>
                                </m:r>
                              </m:e>
                            </m:mr>
                            <m:mr>
                              <m:e>
                                <m:r>
                                  <a:rPr lang="es-ES" sz="1800" b="0" i="1" smtClean="0">
                                    <a:solidFill>
                                      <a:schemeClr val="tx2"/>
                                    </a:solidFill>
                                    <a:latin typeface="Cambria Math" panose="02040503050406030204" pitchFamily="18" charset="0"/>
                                  </a:rPr>
                                  <m:t>𝑊𝑦</m:t>
                                </m:r>
                              </m:e>
                            </m:mr>
                            <m:mr>
                              <m:e>
                                <m:r>
                                  <a:rPr lang="es-ES" sz="1800" b="0" i="1" smtClean="0">
                                    <a:solidFill>
                                      <a:schemeClr val="tx2"/>
                                    </a:solidFill>
                                    <a:latin typeface="Cambria Math" panose="02040503050406030204" pitchFamily="18" charset="0"/>
                                  </a:rPr>
                                  <m:t>𝑊𝑧</m:t>
                                </m:r>
                              </m:e>
                            </m:mr>
                          </m:m>
                        </m:e>
                      </m:d>
                    </m:oMath>
                  </m:oMathPara>
                </a14:m>
                <a:endParaRPr lang="es-MX" sz="1800" dirty="0">
                  <a:solidFill>
                    <a:schemeClr val="tx2"/>
                  </a:solidFill>
                </a:endParaRPr>
              </a:p>
            </p:txBody>
          </p:sp>
        </mc:Choice>
        <mc:Fallback xmlns="">
          <p:sp>
            <p:nvSpPr>
              <p:cNvPr id="24" name="CuadroTexto 23">
                <a:extLst>
                  <a:ext uri="{FF2B5EF4-FFF2-40B4-BE49-F238E27FC236}">
                    <a16:creationId xmlns:a16="http://schemas.microsoft.com/office/drawing/2014/main" id="{0680F780-7592-7161-E56F-89A2C4D58DF3}"/>
                  </a:ext>
                </a:extLst>
              </p:cNvPr>
              <p:cNvSpPr txBox="1">
                <a:spLocks noRot="1" noChangeAspect="1" noMove="1" noResize="1" noEditPoints="1" noAdjustHandles="1" noChangeArrowheads="1" noChangeShapeType="1" noTextEdit="1"/>
              </p:cNvSpPr>
              <p:nvPr/>
            </p:nvSpPr>
            <p:spPr>
              <a:xfrm>
                <a:off x="7442475" y="3927025"/>
                <a:ext cx="598305" cy="736677"/>
              </a:xfrm>
              <a:prstGeom prst="rect">
                <a:avLst/>
              </a:prstGeom>
              <a:blipFill>
                <a:blip r:embed="rId8"/>
                <a:stretch>
                  <a:fillRect/>
                </a:stretch>
              </a:blipFill>
            </p:spPr>
            <p:txBody>
              <a:bodyPr/>
              <a:lstStyle/>
              <a:p>
                <a:r>
                  <a:rPr lang="es-MX">
                    <a:noFill/>
                  </a:rPr>
                  <a:t> </a:t>
                </a:r>
              </a:p>
            </p:txBody>
          </p:sp>
        </mc:Fallback>
      </mc:AlternateContent>
      <p:sp>
        <p:nvSpPr>
          <p:cNvPr id="25" name="Google Shape;1603;p42">
            <a:extLst>
              <a:ext uri="{FF2B5EF4-FFF2-40B4-BE49-F238E27FC236}">
                <a16:creationId xmlns:a16="http://schemas.microsoft.com/office/drawing/2014/main" id="{9EF88E3D-EABE-FF1A-220E-7006FC08866F}"/>
              </a:ext>
            </a:extLst>
          </p:cNvPr>
          <p:cNvSpPr txBox="1"/>
          <p:nvPr/>
        </p:nvSpPr>
        <p:spPr>
          <a:xfrm>
            <a:off x="4358961" y="3210838"/>
            <a:ext cx="1428995" cy="59125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W Transpuesta</a:t>
            </a:r>
          </a:p>
        </p:txBody>
      </p:sp>
      <p:sp>
        <p:nvSpPr>
          <p:cNvPr id="26" name="Google Shape;1603;p42">
            <a:extLst>
              <a:ext uri="{FF2B5EF4-FFF2-40B4-BE49-F238E27FC236}">
                <a16:creationId xmlns:a16="http://schemas.microsoft.com/office/drawing/2014/main" id="{344A06A1-8E98-1252-ABDC-299102BB476D}"/>
              </a:ext>
            </a:extLst>
          </p:cNvPr>
          <p:cNvSpPr txBox="1"/>
          <p:nvPr/>
        </p:nvSpPr>
        <p:spPr>
          <a:xfrm>
            <a:off x="7559743" y="3239782"/>
            <a:ext cx="329887" cy="59125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W</a:t>
            </a:r>
          </a:p>
        </p:txBody>
      </p:sp>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3FAA0168-E336-51E7-2190-E3BBCFCA1690}"/>
                  </a:ext>
                </a:extLst>
              </p:cNvPr>
              <p:cNvSpPr txBox="1"/>
              <p:nvPr/>
            </p:nvSpPr>
            <p:spPr>
              <a:xfrm>
                <a:off x="3805860" y="3930533"/>
                <a:ext cx="251672" cy="391133"/>
              </a:xfrm>
              <a:prstGeom prst="rect">
                <a:avLst/>
              </a:prstGeom>
              <a:noFill/>
            </p:spPr>
            <p:txBody>
              <a:bodyPr wrap="none" lIns="0" tIns="0" rIns="0" bIns="0" rtlCol="0">
                <a:spAutoFit/>
              </a:bodyPr>
              <a:lstStyle/>
              <a:p>
                <a14:m>
                  <m:oMath xmlns:m="http://schemas.openxmlformats.org/officeDocument/2006/math">
                    <m:f>
                      <m:fPr>
                        <m:ctrlPr>
                          <a:rPr lang="es-MX" sz="1800" i="1" smtClean="0">
                            <a:solidFill>
                              <a:schemeClr val="tx2"/>
                            </a:solidFill>
                            <a:latin typeface="Cambria Math" panose="02040503050406030204" pitchFamily="18" charset="0"/>
                          </a:rPr>
                        </m:ctrlPr>
                      </m:fPr>
                      <m:num>
                        <m:r>
                          <a:rPr lang="es-ES" sz="1800" b="0" i="1" smtClean="0">
                            <a:solidFill>
                              <a:schemeClr val="tx2"/>
                            </a:solidFill>
                            <a:latin typeface="Cambria Math" panose="02040503050406030204" pitchFamily="18" charset="0"/>
                          </a:rPr>
                          <m:t>1</m:t>
                        </m:r>
                      </m:num>
                      <m:den>
                        <m:r>
                          <a:rPr lang="es-ES" sz="1800" b="0" i="1" smtClean="0">
                            <a:solidFill>
                              <a:schemeClr val="tx2"/>
                            </a:solidFill>
                            <a:latin typeface="Cambria Math" panose="02040503050406030204" pitchFamily="18" charset="0"/>
                          </a:rPr>
                          <m:t>2</m:t>
                        </m:r>
                      </m:den>
                    </m:f>
                  </m:oMath>
                </a14:m>
                <a:r>
                  <a:rPr lang="es-MX" sz="1800" dirty="0">
                    <a:solidFill>
                      <a:schemeClr val="tx2"/>
                    </a:solidFill>
                  </a:rPr>
                  <a:t> *</a:t>
                </a:r>
                <a:endParaRPr lang="es-MX" dirty="0"/>
              </a:p>
            </p:txBody>
          </p:sp>
        </mc:Choice>
        <mc:Fallback xmlns="">
          <p:sp>
            <p:nvSpPr>
              <p:cNvPr id="27" name="CuadroTexto 26">
                <a:extLst>
                  <a:ext uri="{FF2B5EF4-FFF2-40B4-BE49-F238E27FC236}">
                    <a16:creationId xmlns:a16="http://schemas.microsoft.com/office/drawing/2014/main" id="{3FAA0168-E336-51E7-2190-E3BBCFCA1690}"/>
                  </a:ext>
                </a:extLst>
              </p:cNvPr>
              <p:cNvSpPr txBox="1">
                <a:spLocks noRot="1" noChangeAspect="1" noMove="1" noResize="1" noEditPoints="1" noAdjustHandles="1" noChangeArrowheads="1" noChangeShapeType="1" noTextEdit="1"/>
              </p:cNvSpPr>
              <p:nvPr/>
            </p:nvSpPr>
            <p:spPr>
              <a:xfrm>
                <a:off x="3805860" y="3930533"/>
                <a:ext cx="251672" cy="391133"/>
              </a:xfrm>
              <a:prstGeom prst="rect">
                <a:avLst/>
              </a:prstGeom>
              <a:blipFill>
                <a:blip r:embed="rId9"/>
                <a:stretch>
                  <a:fillRect l="-21429" t="-6250" r="-54762" b="-20313"/>
                </a:stretch>
              </a:blipFill>
            </p:spPr>
            <p:txBody>
              <a:bodyPr/>
              <a:lstStyle/>
              <a:p>
                <a:r>
                  <a:rPr lang="es-MX">
                    <a:noFill/>
                  </a:rPr>
                  <a:t> </a:t>
                </a:r>
              </a:p>
            </p:txBody>
          </p:sp>
        </mc:Fallback>
      </mc:AlternateContent>
      <p:sp>
        <p:nvSpPr>
          <p:cNvPr id="28" name="Google Shape;1603;p42">
            <a:extLst>
              <a:ext uri="{FF2B5EF4-FFF2-40B4-BE49-F238E27FC236}">
                <a16:creationId xmlns:a16="http://schemas.microsoft.com/office/drawing/2014/main" id="{0446CFA1-B597-B025-7237-BDB0AA5A528C}"/>
              </a:ext>
            </a:extLst>
          </p:cNvPr>
          <p:cNvSpPr txBox="1"/>
          <p:nvPr/>
        </p:nvSpPr>
        <p:spPr>
          <a:xfrm>
            <a:off x="984808" y="3702032"/>
            <a:ext cx="2717874" cy="59125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Energía Cinética Rotacional =</a:t>
            </a:r>
          </a:p>
        </p:txBody>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3612CA59-780F-B847-0F4A-5D1DA37015D5}"/>
                  </a:ext>
                </a:extLst>
              </p:cNvPr>
              <p:cNvSpPr txBox="1"/>
              <p:nvPr/>
            </p:nvSpPr>
            <p:spPr>
              <a:xfrm>
                <a:off x="5874970" y="3876956"/>
                <a:ext cx="1663965" cy="832664"/>
              </a:xfrm>
              <a:prstGeom prst="rect">
                <a:avLst/>
              </a:prstGeom>
              <a:noFill/>
            </p:spPr>
            <p:txBody>
              <a:bodyPr wrap="square">
                <a:spAutoFit/>
              </a:bodyPr>
              <a:lstStyle/>
              <a:p>
                <a14:m>
                  <m:oMath xmlns:m="http://schemas.openxmlformats.org/officeDocument/2006/math">
                    <m:d>
                      <m:dPr>
                        <m:begChr m:val="["/>
                        <m:endChr m:val="]"/>
                        <m:ctrlPr>
                          <a:rPr lang="es-MX" sz="1800" i="1" dirty="0" smtClean="0">
                            <a:solidFill>
                              <a:schemeClr val="tx2"/>
                            </a:solidFill>
                            <a:latin typeface="Cambria Math" panose="02040503050406030204" pitchFamily="18" charset="0"/>
                          </a:rPr>
                        </m:ctrlPr>
                      </m:dPr>
                      <m:e>
                        <m:m>
                          <m:mPr>
                            <m:mcs>
                              <m:mc>
                                <m:mcPr>
                                  <m:count m:val="3"/>
                                  <m:mcJc m:val="center"/>
                                </m:mcPr>
                              </m:mc>
                            </m:mcs>
                            <m:ctrlPr>
                              <a:rPr lang="es-MX" sz="1800" i="1" dirty="0">
                                <a:solidFill>
                                  <a:schemeClr val="tx2"/>
                                </a:solidFill>
                                <a:latin typeface="Cambria Math" panose="02040503050406030204" pitchFamily="18" charset="0"/>
                              </a:rPr>
                            </m:ctrlPr>
                          </m:mPr>
                          <m:mr>
                            <m:e>
                              <m:r>
                                <m:rPr>
                                  <m:brk m:alnAt="7"/>
                                </m:rPr>
                                <a:rPr lang="es-ES" sz="1800" b="0" i="1" dirty="0" smtClean="0">
                                  <a:solidFill>
                                    <a:schemeClr val="tx2"/>
                                  </a:solidFill>
                                  <a:latin typeface="Cambria Math" panose="02040503050406030204" pitchFamily="18" charset="0"/>
                                </a:rPr>
                                <m:t>𝐼</m:t>
                              </m:r>
                              <m:r>
                                <a:rPr lang="es-ES" sz="1800" b="0" i="1" dirty="0" smtClean="0">
                                  <a:solidFill>
                                    <a:schemeClr val="tx2"/>
                                  </a:solidFill>
                                  <a:latin typeface="Cambria Math" panose="02040503050406030204" pitchFamily="18" charset="0"/>
                                </a:rPr>
                                <m:t>𝑥</m:t>
                              </m:r>
                            </m:e>
                            <m:e>
                              <m:r>
                                <a:rPr lang="es-ES" sz="1800" b="0" i="1" dirty="0" smtClean="0">
                                  <a:solidFill>
                                    <a:schemeClr val="tx2"/>
                                  </a:solidFill>
                                  <a:latin typeface="Cambria Math" panose="02040503050406030204" pitchFamily="18" charset="0"/>
                                </a:rPr>
                                <m:t>0</m:t>
                              </m:r>
                            </m:e>
                            <m:e>
                              <m:r>
                                <a:rPr lang="es-ES" sz="1800" b="0" i="1" dirty="0" smtClean="0">
                                  <a:solidFill>
                                    <a:schemeClr val="tx2"/>
                                  </a:solidFill>
                                  <a:latin typeface="Cambria Math" panose="02040503050406030204" pitchFamily="18" charset="0"/>
                                </a:rPr>
                                <m:t>0</m:t>
                              </m:r>
                            </m:e>
                          </m:mr>
                          <m:mr>
                            <m:e>
                              <m:r>
                                <a:rPr lang="es-ES" sz="1800" b="0" i="1" dirty="0" smtClean="0">
                                  <a:solidFill>
                                    <a:schemeClr val="tx2"/>
                                  </a:solidFill>
                                  <a:latin typeface="Cambria Math" panose="02040503050406030204" pitchFamily="18" charset="0"/>
                                </a:rPr>
                                <m:t>0</m:t>
                              </m:r>
                            </m:e>
                            <m:e>
                              <m:r>
                                <a:rPr lang="es-ES" sz="1800" b="0" i="1" dirty="0" smtClean="0">
                                  <a:solidFill>
                                    <a:schemeClr val="tx2"/>
                                  </a:solidFill>
                                  <a:latin typeface="Cambria Math" panose="02040503050406030204" pitchFamily="18" charset="0"/>
                                </a:rPr>
                                <m:t>𝐼𝑦</m:t>
                              </m:r>
                            </m:e>
                            <m:e>
                              <m:r>
                                <a:rPr lang="es-ES" sz="1800" b="0" i="1" dirty="0" smtClean="0">
                                  <a:solidFill>
                                    <a:schemeClr val="tx2"/>
                                  </a:solidFill>
                                  <a:latin typeface="Cambria Math" panose="02040503050406030204" pitchFamily="18" charset="0"/>
                                </a:rPr>
                                <m:t>0</m:t>
                              </m:r>
                            </m:e>
                          </m:mr>
                          <m:mr>
                            <m:e>
                              <m:r>
                                <a:rPr lang="es-ES" sz="1800" b="0" i="1" dirty="0" smtClean="0">
                                  <a:solidFill>
                                    <a:schemeClr val="tx2"/>
                                  </a:solidFill>
                                  <a:latin typeface="Cambria Math" panose="02040503050406030204" pitchFamily="18" charset="0"/>
                                </a:rPr>
                                <m:t>0</m:t>
                              </m:r>
                            </m:e>
                            <m:e>
                              <m:r>
                                <a:rPr lang="es-ES" sz="1800" b="0" i="1" dirty="0" smtClean="0">
                                  <a:solidFill>
                                    <a:schemeClr val="tx2"/>
                                  </a:solidFill>
                                  <a:latin typeface="Cambria Math" panose="02040503050406030204" pitchFamily="18" charset="0"/>
                                </a:rPr>
                                <m:t>0</m:t>
                              </m:r>
                            </m:e>
                            <m:e>
                              <m:r>
                                <a:rPr lang="es-ES" sz="1800" b="0" i="1" dirty="0" smtClean="0">
                                  <a:solidFill>
                                    <a:schemeClr val="tx2"/>
                                  </a:solidFill>
                                  <a:latin typeface="Cambria Math" panose="02040503050406030204" pitchFamily="18" charset="0"/>
                                </a:rPr>
                                <m:t>𝐼𝑧</m:t>
                              </m:r>
                            </m:e>
                          </m:mr>
                        </m:m>
                      </m:e>
                    </m:d>
                  </m:oMath>
                </a14:m>
                <a:r>
                  <a:rPr lang="es-MX" sz="1800" dirty="0"/>
                  <a:t> </a:t>
                </a:r>
                <a:r>
                  <a:rPr lang="es-MX" sz="1800" dirty="0">
                    <a:solidFill>
                      <a:schemeClr val="tx2"/>
                    </a:solidFill>
                  </a:rPr>
                  <a:t>*</a:t>
                </a:r>
              </a:p>
            </p:txBody>
          </p:sp>
        </mc:Choice>
        <mc:Fallback xmlns="">
          <p:sp>
            <p:nvSpPr>
              <p:cNvPr id="32" name="CuadroTexto 31">
                <a:extLst>
                  <a:ext uri="{FF2B5EF4-FFF2-40B4-BE49-F238E27FC236}">
                    <a16:creationId xmlns:a16="http://schemas.microsoft.com/office/drawing/2014/main" id="{3612CA59-780F-B847-0F4A-5D1DA37015D5}"/>
                  </a:ext>
                </a:extLst>
              </p:cNvPr>
              <p:cNvSpPr txBox="1">
                <a:spLocks noRot="1" noChangeAspect="1" noMove="1" noResize="1" noEditPoints="1" noAdjustHandles="1" noChangeArrowheads="1" noChangeShapeType="1" noTextEdit="1"/>
              </p:cNvSpPr>
              <p:nvPr/>
            </p:nvSpPr>
            <p:spPr>
              <a:xfrm>
                <a:off x="5874970" y="3876956"/>
                <a:ext cx="1663965" cy="832664"/>
              </a:xfrm>
              <a:prstGeom prst="rect">
                <a:avLst/>
              </a:prstGeom>
              <a:blipFill>
                <a:blip r:embed="rId10"/>
                <a:stretch>
                  <a:fillRect/>
                </a:stretch>
              </a:blipFill>
            </p:spPr>
            <p:txBody>
              <a:bodyPr/>
              <a:lstStyle/>
              <a:p>
                <a:r>
                  <a:rPr lang="es-MX">
                    <a:noFill/>
                  </a:rPr>
                  <a:t> </a:t>
                </a:r>
              </a:p>
            </p:txBody>
          </p:sp>
        </mc:Fallback>
      </mc:AlternateContent>
      <p:sp>
        <p:nvSpPr>
          <p:cNvPr id="33" name="Google Shape;1603;p42">
            <a:extLst>
              <a:ext uri="{FF2B5EF4-FFF2-40B4-BE49-F238E27FC236}">
                <a16:creationId xmlns:a16="http://schemas.microsoft.com/office/drawing/2014/main" id="{732CE742-0F0B-822B-9EAF-B164420F6322}"/>
              </a:ext>
            </a:extLst>
          </p:cNvPr>
          <p:cNvSpPr txBox="1"/>
          <p:nvPr/>
        </p:nvSpPr>
        <p:spPr>
          <a:xfrm>
            <a:off x="6401334" y="3239782"/>
            <a:ext cx="329887" cy="59125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I</a:t>
            </a:r>
          </a:p>
        </p:txBody>
      </p:sp>
    </p:spTree>
    <p:extLst>
      <p:ext uri="{BB962C8B-B14F-4D97-AF65-F5344CB8AC3E}">
        <p14:creationId xmlns:p14="http://schemas.microsoft.com/office/powerpoint/2010/main" val="113939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fill="hold"/>
                                        <p:tgtEl>
                                          <p:spTgt spid="26"/>
                                        </p:tgtEl>
                                        <p:attrNameLst>
                                          <p:attrName>ppt_x</p:attrName>
                                        </p:attrNameLst>
                                      </p:cBhvr>
                                      <p:tavLst>
                                        <p:tav tm="0">
                                          <p:val>
                                            <p:strVal val="#ppt_x"/>
                                          </p:val>
                                        </p:tav>
                                        <p:tav tm="100000">
                                          <p:val>
                                            <p:strVal val="#ppt_x"/>
                                          </p:val>
                                        </p:tav>
                                      </p:tavLst>
                                    </p:anim>
                                    <p:anim calcmode="lin" valueType="num">
                                      <p:cBhvr additive="base">
                                        <p:cTn id="3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additive="base">
                                        <p:cTn id="37" dur="500" fill="hold"/>
                                        <p:tgtEl>
                                          <p:spTgt spid="28"/>
                                        </p:tgtEl>
                                        <p:attrNameLst>
                                          <p:attrName>ppt_x</p:attrName>
                                        </p:attrNameLst>
                                      </p:cBhvr>
                                      <p:tavLst>
                                        <p:tav tm="0">
                                          <p:val>
                                            <p:strVal val="#ppt_x"/>
                                          </p:val>
                                        </p:tav>
                                        <p:tav tm="100000">
                                          <p:val>
                                            <p:strVal val="#ppt_x"/>
                                          </p:val>
                                        </p:tav>
                                      </p:tavLst>
                                    </p:anim>
                                    <p:anim calcmode="lin" valueType="num">
                                      <p:cBhvr additive="base">
                                        <p:cTn id="3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 calcmode="lin" valueType="num">
                                      <p:cBhvr additive="base">
                                        <p:cTn id="43" dur="500" fill="hold"/>
                                        <p:tgtEl>
                                          <p:spTgt spid="33"/>
                                        </p:tgtEl>
                                        <p:attrNameLst>
                                          <p:attrName>ppt_x</p:attrName>
                                        </p:attrNameLst>
                                      </p:cBhvr>
                                      <p:tavLst>
                                        <p:tav tm="0">
                                          <p:val>
                                            <p:strVal val="#ppt_x"/>
                                          </p:val>
                                        </p:tav>
                                        <p:tav tm="100000">
                                          <p:val>
                                            <p:strVal val="#ppt_x"/>
                                          </p:val>
                                        </p:tav>
                                      </p:tavLst>
                                    </p:anim>
                                    <p:anim calcmode="lin" valueType="num">
                                      <p:cBhvr additive="base">
                                        <p:cTn id="4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20" grpId="0"/>
      <p:bldP spid="25" grpId="0"/>
      <p:bldP spid="26" grpId="0"/>
      <p:bldP spid="28" grpId="0"/>
      <p:bldP spid="3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Fuerzas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3138E399-58F1-33A8-B083-58D01353E1EE}"/>
              </a:ext>
            </a:extLst>
          </p:cNvPr>
          <p:cNvSpPr txBox="1"/>
          <p:nvPr/>
        </p:nvSpPr>
        <p:spPr>
          <a:xfrm>
            <a:off x="229092" y="1550783"/>
            <a:ext cx="4080859"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Introducción</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Un </a:t>
            </a:r>
            <a:r>
              <a:rPr lang="es-ES" sz="1600" b="1" dirty="0">
                <a:solidFill>
                  <a:schemeClr val="accent4"/>
                </a:solidFill>
                <a:latin typeface="Fira Sans Condensed Light" panose="020B0604020202020204" charset="0"/>
                <a:cs typeface="Times New Roman" panose="02020603050405020304" pitchFamily="18" charset="0"/>
              </a:rPr>
              <a:t>robot manipulador </a:t>
            </a:r>
            <a:r>
              <a:rPr lang="es-ES" sz="1600" dirty="0">
                <a:solidFill>
                  <a:schemeClr val="accent4"/>
                </a:solidFill>
                <a:latin typeface="Fira Sans Condensed Light" panose="020B0604020202020204" charset="0"/>
                <a:cs typeface="Times New Roman" panose="02020603050405020304" pitchFamily="18" charset="0"/>
              </a:rPr>
              <a:t>es un sistema mecánico muy complejo cuya descripción analítica requiere de ecuaciones diferenciales. El modelo dinámico del robot manipulador permite explicar todos los fenómenos físicos que actúan en su estructura mecánica, tales como: </a:t>
            </a:r>
            <a:r>
              <a:rPr lang="es-ES" sz="1600" b="1" dirty="0">
                <a:solidFill>
                  <a:schemeClr val="accent4"/>
                </a:solidFill>
                <a:latin typeface="Fira Sans Condensed Light" panose="020B0604020202020204" charset="0"/>
                <a:cs typeface="Times New Roman" panose="02020603050405020304" pitchFamily="18" charset="0"/>
              </a:rPr>
              <a:t>efectos inerciales, fuerzas centrípetas y de Coriolis, par gravitacional y fricción</a:t>
            </a:r>
            <a:r>
              <a:rPr lang="es-ES" sz="1600" dirty="0">
                <a:solidFill>
                  <a:schemeClr val="accent4"/>
                </a:solidFill>
                <a:latin typeface="Fira Sans Condensed Light" panose="020B0604020202020204" charset="0"/>
                <a:cs typeface="Times New Roman" panose="02020603050405020304" pitchFamily="18" charset="0"/>
              </a:rPr>
              <a:t>, los cuales son fenómenos físicos intrínsecos o propios de la naturaleza del robot.</a:t>
            </a:r>
            <a:r>
              <a:rPr lang="es-ES" sz="1600" b="1" dirty="0">
                <a:solidFill>
                  <a:schemeClr val="accent4"/>
                </a:solidFill>
                <a:latin typeface="Fira Sans Condensed Light" panose="020B0604020202020204" charset="0"/>
                <a:cs typeface="Times New Roman" panose="02020603050405020304" pitchFamily="18" charset="0"/>
              </a:rPr>
              <a:t> </a:t>
            </a:r>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1026" name="Picture 2" descr="▷ Brazos Mecánicos » Los Brazos Robóticos Más Avanzados">
            <a:extLst>
              <a:ext uri="{FF2B5EF4-FFF2-40B4-BE49-F238E27FC236}">
                <a16:creationId xmlns:a16="http://schemas.microsoft.com/office/drawing/2014/main" id="{331AB946-8570-5968-BF2C-1FB21241D0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4062" y="1729644"/>
            <a:ext cx="3938606" cy="2209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77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87934563-E3B0-3B18-632C-FDDAED58B5B1}"/>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E7EBEFC7-0D95-5C32-FAE1-AAA06CA41DF6}"/>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75DB2E55-5DD6-A16E-E881-4FFFBED91AC1}"/>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7367DEC2-CCF2-8CDC-18E2-3963602C6AF0}"/>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a:extLst>
              <a:ext uri="{FF2B5EF4-FFF2-40B4-BE49-F238E27FC236}">
                <a16:creationId xmlns:a16="http://schemas.microsoft.com/office/drawing/2014/main" id="{EB1ED9F1-DA4F-939B-6CA1-01F37B3C871D}"/>
              </a:ext>
            </a:extLst>
          </p:cNvPr>
          <p:cNvSpPr txBox="1">
            <a:spLocks/>
          </p:cNvSpPr>
          <p:nvPr/>
        </p:nvSpPr>
        <p:spPr>
          <a:xfrm>
            <a:off x="-29184" y="501033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3F50835B-0FE1-CAA6-1028-5A75A7E2BD47}"/>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A06297F0-6800-2BE2-AD47-17B9912DC432}"/>
              </a:ext>
            </a:extLst>
          </p:cNvPr>
          <p:cNvSpPr txBox="1"/>
          <p:nvPr/>
        </p:nvSpPr>
        <p:spPr>
          <a:xfrm>
            <a:off x="373910" y="3083246"/>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254B91AF-50CA-424A-1384-AF25541ABD28}"/>
              </a:ext>
            </a:extLst>
          </p:cNvPr>
          <p:cNvPicPr>
            <a:picLocks noChangeAspect="1"/>
          </p:cNvPicPr>
          <p:nvPr/>
        </p:nvPicPr>
        <p:blipFill>
          <a:blip r:embed="rId4"/>
          <a:stretch>
            <a:fillRect/>
          </a:stretch>
        </p:blipFill>
        <p:spPr>
          <a:xfrm>
            <a:off x="2310602" y="2903555"/>
            <a:ext cx="4061015" cy="359382"/>
          </a:xfrm>
          <a:prstGeom prst="rect">
            <a:avLst/>
          </a:prstGeom>
        </p:spPr>
      </p:pic>
      <mc:AlternateContent xmlns:mc="http://schemas.openxmlformats.org/markup-compatibility/2006">
        <mc:Choice xmlns:a14="http://schemas.microsoft.com/office/drawing/2010/main" Requires="a14">
          <p:sp>
            <p:nvSpPr>
              <p:cNvPr id="11" name="Google Shape;1603;p42">
                <a:extLst>
                  <a:ext uri="{FF2B5EF4-FFF2-40B4-BE49-F238E27FC236}">
                    <a16:creationId xmlns:a16="http://schemas.microsoft.com/office/drawing/2014/main" id="{D7973415-6803-C38B-7B6E-BB452E73CF50}"/>
                  </a:ext>
                </a:extLst>
              </p:cNvPr>
              <p:cNvSpPr txBox="1"/>
              <p:nvPr/>
            </p:nvSpPr>
            <p:spPr>
              <a:xfrm>
                <a:off x="522782" y="3377685"/>
                <a:ext cx="8621218" cy="2018388"/>
              </a:xfrm>
              <a:prstGeom prst="rect">
                <a:avLst/>
              </a:prstGeom>
              <a:noFill/>
              <a:ln>
                <a:noFill/>
              </a:ln>
            </p:spPr>
            <p:txBody>
              <a:bodyPr spcFirstLastPara="1" wrap="square" lIns="91425" tIns="182875" rIns="91425" bIns="0" anchor="t" anchorCtr="0">
                <a:noAutofit/>
              </a:bodyPr>
              <a:lstStyle/>
              <a:p>
                <a:r>
                  <a:rPr lang="es-MX" sz="1600" b="1" dirty="0">
                    <a:solidFill>
                      <a:schemeClr val="tx2"/>
                    </a:solidFill>
                    <a:latin typeface="Fira Sans Condensed Light" panose="020B0403050000020004" pitchFamily="34" charset="0"/>
                  </a:rPr>
                  <a:t>Las variables articulares son:</a:t>
                </a:r>
              </a:p>
              <a:p>
                <a:r>
                  <a:rPr lang="es-MX" sz="1600" dirty="0">
                    <a:solidFill>
                      <a:schemeClr val="tx2"/>
                    </a:solidFill>
                    <a:latin typeface="Fira Sans Condensed Light" panose="020B0403050000020004" pitchFamily="34" charset="0"/>
                  </a:rPr>
                  <a:t>Posición articular                              </a:t>
                </a:r>
                <a14:m>
                  <m:oMath xmlns:m="http://schemas.openxmlformats.org/officeDocument/2006/math">
                    <m:r>
                      <a:rPr lang="es-MX" sz="1600" b="1" i="1">
                        <a:solidFill>
                          <a:schemeClr val="tx2"/>
                        </a:solidFill>
                      </a:rPr>
                      <m:t>𝒒</m:t>
                    </m:r>
                    <m:r>
                      <a:rPr lang="es-MX" sz="1600" b="1">
                        <a:solidFill>
                          <a:schemeClr val="tx2"/>
                        </a:solidFill>
                      </a:rPr>
                      <m:t>=</m:t>
                    </m:r>
                    <m:d>
                      <m:dPr>
                        <m:begChr m:val="["/>
                        <m:endChr m:val=","/>
                        <m:sepChr m:val=","/>
                        <m:ctrlPr>
                          <a:rPr lang="ar-AE" sz="1600" b="1" i="1">
                            <a:solidFill>
                              <a:schemeClr val="tx2"/>
                            </a:solidFill>
                          </a:rPr>
                        </m:ctrlPr>
                      </m:dPr>
                      <m:e>
                        <m:sSub>
                          <m:sSubPr>
                            <m:ctrlPr>
                              <a:rPr lang="ar-AE" sz="1600" b="1" i="1">
                                <a:solidFill>
                                  <a:schemeClr val="tx2"/>
                                </a:solidFill>
                              </a:rPr>
                            </m:ctrlPr>
                          </m:sSubPr>
                          <m:e>
                            <m:r>
                              <a:rPr lang="ar-AE" sz="1600" b="1" i="1">
                                <a:solidFill>
                                  <a:schemeClr val="tx2"/>
                                </a:solidFill>
                              </a:rPr>
                              <m:t>𝒒</m:t>
                            </m:r>
                          </m:e>
                          <m:sub>
                            <m:r>
                              <a:rPr lang="ar-AE" sz="1600" b="1" i="1">
                                <a:solidFill>
                                  <a:schemeClr val="tx2"/>
                                </a:solidFill>
                              </a:rPr>
                              <m:t>𝟏</m:t>
                            </m:r>
                          </m:sub>
                        </m:sSub>
                      </m:e>
                      <m:e>
                        <m:sSub>
                          <m:sSubPr>
                            <m:ctrlPr>
                              <a:rPr lang="ar-AE" sz="1600" b="1" i="1">
                                <a:solidFill>
                                  <a:schemeClr val="tx2"/>
                                </a:solidFill>
                              </a:rPr>
                            </m:ctrlPr>
                          </m:sSubPr>
                          <m:e>
                            <m:r>
                              <a:rPr lang="ar-AE" sz="1600" b="1" i="1">
                                <a:solidFill>
                                  <a:schemeClr val="tx2"/>
                                </a:solidFill>
                              </a:rPr>
                              <m:t>𝒒</m:t>
                            </m:r>
                          </m:e>
                          <m:sub>
                            <m:r>
                              <a:rPr lang="ar-AE" sz="1600" b="1" i="1">
                                <a:solidFill>
                                  <a:schemeClr val="tx2"/>
                                </a:solidFill>
                              </a:rPr>
                              <m:t>𝟐</m:t>
                            </m:r>
                          </m:sub>
                        </m:sSub>
                      </m:e>
                      <m:e>
                        <m:r>
                          <a:rPr lang="ar-AE" sz="1600" b="1">
                            <a:solidFill>
                              <a:schemeClr val="tx2"/>
                            </a:solidFill>
                          </a:rPr>
                          <m:t>...</m:t>
                        </m:r>
                        <m:sSub>
                          <m:sSubPr>
                            <m:ctrlPr>
                              <a:rPr lang="ar-AE" sz="1600" b="1" i="1">
                                <a:solidFill>
                                  <a:schemeClr val="tx2"/>
                                </a:solidFill>
                              </a:rPr>
                            </m:ctrlPr>
                          </m:sSubPr>
                          <m:e>
                            <m:r>
                              <a:rPr lang="ar-AE" sz="1600" b="1" i="1">
                                <a:solidFill>
                                  <a:schemeClr val="tx2"/>
                                </a:solidFill>
                              </a:rPr>
                              <m:t>𝒒</m:t>
                            </m:r>
                          </m:e>
                          <m:sub>
                            <m:r>
                              <a:rPr lang="ar-AE" sz="1600" b="1" i="1">
                                <a:solidFill>
                                  <a:schemeClr val="tx2"/>
                                </a:solidFill>
                              </a:rPr>
                              <m:t>𝒏</m:t>
                            </m:r>
                          </m:sub>
                        </m:sSub>
                        <m:sSup>
                          <m:sSupPr>
                            <m:ctrlPr>
                              <a:rPr lang="ar-AE" sz="1600" b="1" i="1">
                                <a:solidFill>
                                  <a:schemeClr val="tx2"/>
                                </a:solidFill>
                              </a:rPr>
                            </m:ctrlPr>
                          </m:sSupPr>
                          <m:e>
                            <m:d>
                              <m:dPr>
                                <m:begChr m:val=""/>
                                <m:endChr m:val=""/>
                                <m:ctrlPr>
                                  <a:rPr lang="ar-AE" sz="1600" b="1" i="1">
                                    <a:solidFill>
                                      <a:schemeClr val="tx2"/>
                                    </a:solidFill>
                                  </a:rPr>
                                </m:ctrlPr>
                              </m:dPr>
                              <m:e>
                                <m:r>
                                  <a:rPr lang="ar-AE" sz="1600" b="1">
                                    <a:solidFill>
                                      <a:schemeClr val="tx2"/>
                                    </a:solidFill>
                                  </a:rPr>
                                  <m:t>]</m:t>
                                </m:r>
                              </m:e>
                            </m:d>
                          </m:e>
                          <m:sup>
                            <m:r>
                              <a:rPr lang="ar-AE" sz="1600" b="1" i="1">
                                <a:solidFill>
                                  <a:schemeClr val="tx2"/>
                                </a:solidFill>
                              </a:rPr>
                              <m:t>𝑻</m:t>
                            </m:r>
                          </m:sup>
                        </m:sSup>
                      </m:e>
                    </m:d>
                  </m:oMath>
                </a14:m>
                <a:endParaRPr lang="ar-AE" sz="1600" b="1" dirty="0">
                  <a:solidFill>
                    <a:schemeClr val="tx2"/>
                  </a:solidFill>
                  <a:latin typeface="Fira Sans Condensed Light" panose="020B0403050000020004" pitchFamily="34" charset="0"/>
                </a:endParaRPr>
              </a:p>
              <a:p>
                <a:r>
                  <a:rPr lang="es-MX" sz="1600" dirty="0">
                    <a:solidFill>
                      <a:schemeClr val="tx2"/>
                    </a:solidFill>
                    <a:latin typeface="Fira Sans Condensed Light" panose="020B0403050000020004" pitchFamily="34" charset="0"/>
                  </a:rPr>
                  <a:t>Velocidad articular  </a:t>
                </a:r>
                <a:r>
                  <a:rPr lang="es-MX" sz="1600" b="1" dirty="0">
                    <a:solidFill>
                      <a:schemeClr val="tx2"/>
                    </a:solidFill>
                    <a:latin typeface="Fira Sans Condensed Light" panose="020B0403050000020004" pitchFamily="34" charset="0"/>
                  </a:rPr>
                  <a:t>                          </a:t>
                </a:r>
                <a14:m>
                  <m:oMath xmlns:m="http://schemas.openxmlformats.org/officeDocument/2006/math">
                    <m:acc>
                      <m:accPr>
                        <m:chr m:val="̇"/>
                        <m:ctrlPr>
                          <a:rPr lang="ar-AE" sz="1600" b="1">
                            <a:solidFill>
                              <a:schemeClr val="tx2"/>
                            </a:solidFill>
                          </a:rPr>
                        </m:ctrlPr>
                      </m:accPr>
                      <m:e>
                        <m:r>
                          <a:rPr lang="ar-AE" sz="1600" b="1" i="1">
                            <a:solidFill>
                              <a:schemeClr val="tx2"/>
                            </a:solidFill>
                          </a:rPr>
                          <m:t>𝒒</m:t>
                        </m:r>
                      </m:e>
                    </m:acc>
                  </m:oMath>
                </a14:m>
                <a:r>
                  <a:rPr lang="es-MX" sz="1600" b="1" dirty="0">
                    <a:solidFill>
                      <a:schemeClr val="tx2"/>
                    </a:solidFill>
                    <a:latin typeface="Fira Sans Condensed Light" panose="020B0403050000020004" pitchFamily="34" charset="0"/>
                  </a:rPr>
                  <a:t> </a:t>
                </a:r>
                <a:endParaRPr lang="ar-AE" sz="1600" b="1" dirty="0">
                  <a:solidFill>
                    <a:schemeClr val="tx2"/>
                  </a:solidFill>
                  <a:latin typeface="Fira Sans Condensed Light" panose="020B0403050000020004" pitchFamily="34" charset="0"/>
                </a:endParaRPr>
              </a:p>
              <a:p>
                <a:r>
                  <a:rPr lang="es-MX" sz="1600" dirty="0">
                    <a:solidFill>
                      <a:schemeClr val="tx2"/>
                    </a:solidFill>
                    <a:latin typeface="Fira Sans Condensed Light" panose="020B0403050000020004" pitchFamily="34" charset="0"/>
                  </a:rPr>
                  <a:t>Aceleración articular</a:t>
                </a:r>
                <a:r>
                  <a:rPr lang="es-MX" sz="1600" b="1" dirty="0">
                    <a:solidFill>
                      <a:schemeClr val="tx2"/>
                    </a:solidFill>
                    <a:latin typeface="Fira Sans Condensed Light" panose="020B0403050000020004" pitchFamily="34" charset="0"/>
                  </a:rPr>
                  <a:t>                         </a:t>
                </a:r>
                <a14:m>
                  <m:oMath xmlns:m="http://schemas.openxmlformats.org/officeDocument/2006/math">
                    <m:acc>
                      <m:accPr>
                        <m:chr m:val="̈"/>
                        <m:ctrlPr>
                          <a:rPr lang="ar-AE" sz="1600" b="1">
                            <a:solidFill>
                              <a:schemeClr val="tx2"/>
                            </a:solidFill>
                          </a:rPr>
                        </m:ctrlPr>
                      </m:accPr>
                      <m:e>
                        <m:r>
                          <a:rPr lang="ar-AE" sz="1600" b="1" i="1">
                            <a:solidFill>
                              <a:schemeClr val="tx2"/>
                            </a:solidFill>
                          </a:rPr>
                          <m:t>𝒒</m:t>
                        </m:r>
                      </m:e>
                    </m:acc>
                  </m:oMath>
                </a14:m>
                <a:endParaRPr lang="ar-AE" sz="1600" b="1" dirty="0">
                  <a:latin typeface="Fira Sans Condensed Light" panose="020B0403050000020004" pitchFamily="34" charset="0"/>
                </a:endParaRPr>
              </a:p>
            </p:txBody>
          </p:sp>
        </mc:Choice>
        <mc:Fallback>
          <p:sp>
            <p:nvSpPr>
              <p:cNvPr id="11" name="Google Shape;1603;p42">
                <a:extLst>
                  <a:ext uri="{FF2B5EF4-FFF2-40B4-BE49-F238E27FC236}">
                    <a16:creationId xmlns:a16="http://schemas.microsoft.com/office/drawing/2014/main" id="{D7973415-6803-C38B-7B6E-BB452E73CF50}"/>
                  </a:ext>
                </a:extLst>
              </p:cNvPr>
              <p:cNvSpPr txBox="1">
                <a:spLocks noRot="1" noChangeAspect="1" noMove="1" noResize="1" noEditPoints="1" noAdjustHandles="1" noChangeArrowheads="1" noChangeShapeType="1" noTextEdit="1"/>
              </p:cNvSpPr>
              <p:nvPr/>
            </p:nvSpPr>
            <p:spPr>
              <a:xfrm>
                <a:off x="522782" y="3377685"/>
                <a:ext cx="8621218" cy="2018388"/>
              </a:xfrm>
              <a:prstGeom prst="rect">
                <a:avLst/>
              </a:prstGeom>
              <a:blipFill>
                <a:blip r:embed="rId5"/>
                <a:stretch>
                  <a:fillRect l="-424"/>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2063994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3138E399-58F1-33A8-B083-58D01353E1EE}"/>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85D1AA7E-56FD-6926-19B0-6A2B8D66E35D}"/>
              </a:ext>
            </a:extLst>
          </p:cNvPr>
          <p:cNvSpPr txBox="1"/>
          <p:nvPr/>
        </p:nvSpPr>
        <p:spPr>
          <a:xfrm>
            <a:off x="373910" y="3083246"/>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CB13D93F-7DA5-8936-25A1-8D157CDC0899}"/>
              </a:ext>
            </a:extLst>
          </p:cNvPr>
          <p:cNvPicPr>
            <a:picLocks noChangeAspect="1"/>
          </p:cNvPicPr>
          <p:nvPr/>
        </p:nvPicPr>
        <p:blipFill>
          <a:blip r:embed="rId4"/>
          <a:stretch>
            <a:fillRect/>
          </a:stretch>
        </p:blipFill>
        <p:spPr>
          <a:xfrm>
            <a:off x="2310602" y="2903555"/>
            <a:ext cx="4061015" cy="359382"/>
          </a:xfrm>
          <a:prstGeom prst="rect">
            <a:avLst/>
          </a:prstGeom>
        </p:spPr>
      </p:pic>
      <mc:AlternateContent xmlns:mc="http://schemas.openxmlformats.org/markup-compatibility/2006">
        <mc:Choice xmlns:a14="http://schemas.microsoft.com/office/drawing/2010/main" Requires="a14">
          <p:sp>
            <p:nvSpPr>
              <p:cNvPr id="11" name="Google Shape;1603;p42">
                <a:extLst>
                  <a:ext uri="{FF2B5EF4-FFF2-40B4-BE49-F238E27FC236}">
                    <a16:creationId xmlns:a16="http://schemas.microsoft.com/office/drawing/2014/main" id="{C269C44D-6B08-CE19-0040-2244FC66E8B5}"/>
                  </a:ext>
                </a:extLst>
              </p:cNvPr>
              <p:cNvSpPr txBox="1"/>
              <p:nvPr/>
            </p:nvSpPr>
            <p:spPr>
              <a:xfrm>
                <a:off x="522782" y="3387946"/>
                <a:ext cx="8621218" cy="1623496"/>
              </a:xfrm>
              <a:prstGeom prst="rect">
                <a:avLst/>
              </a:prstGeom>
              <a:noFill/>
              <a:ln>
                <a:noFill/>
              </a:ln>
            </p:spPr>
            <p:txBody>
              <a:bodyPr spcFirstLastPara="1" wrap="square" lIns="91425" tIns="182875" rIns="91425" bIns="0" anchor="t" anchorCtr="0">
                <a:noAutofit/>
              </a:bodyPr>
              <a:lstStyle/>
              <a:p>
                <a14:m>
                  <m:oMath xmlns:m="http://schemas.openxmlformats.org/officeDocument/2006/math">
                    <m:r>
                      <a:rPr lang="es-MX" sz="1600" b="1" i="1" smtClean="0">
                        <a:solidFill>
                          <a:schemeClr val="tx2"/>
                        </a:solidFill>
                        <a:latin typeface="Cambria Math" panose="02040503050406030204" pitchFamily="18" charset="0"/>
                      </a:rPr>
                      <m:t>𝝉</m:t>
                    </m:r>
                  </m:oMath>
                </a14:m>
                <a:r>
                  <a:rPr lang="es-MX" sz="1600" b="1" dirty="0">
                    <a:solidFill>
                      <a:schemeClr val="tx2"/>
                    </a:solidFill>
                    <a:latin typeface="Fira Sans Condensed Light" panose="020B0403050000020004" pitchFamily="34" charset="0"/>
                  </a:rPr>
                  <a:t> </a:t>
                </a:r>
                <a:r>
                  <a:rPr lang="el-GR" sz="1600" b="1" dirty="0">
                    <a:solidFill>
                      <a:schemeClr val="tx2"/>
                    </a:solidFill>
                    <a:latin typeface="Fira Sans Condensed Light" panose="020B0403050000020004" pitchFamily="34" charset="0"/>
                  </a:rPr>
                  <a:t>— </a:t>
                </a:r>
                <a:r>
                  <a:rPr lang="es-MX" sz="1600" b="1" dirty="0">
                    <a:solidFill>
                      <a:schemeClr val="tx2"/>
                    </a:solidFill>
                    <a:latin typeface="Fira Sans Condensed Light" panose="020B0403050000020004" pitchFamily="34" charset="0"/>
                  </a:rPr>
                  <a:t>Vector de torques o fuerzas articulares</a:t>
                </a:r>
              </a:p>
              <a:p>
                <a:r>
                  <a:rPr lang="es-MX" sz="1600" dirty="0">
                    <a:solidFill>
                      <a:schemeClr val="tx2"/>
                    </a:solidFill>
                    <a:latin typeface="Fira Sans Condensed Light" panose="020B0403050000020004" pitchFamily="34" charset="0"/>
                  </a:rPr>
                  <a:t>Representa los torques (o fuerzas) que aplican los actuadores en cada articulación del robot.</a:t>
                </a:r>
              </a:p>
              <a:p>
                <a:r>
                  <a:rPr lang="es-MX" sz="1600" dirty="0">
                    <a:solidFill>
                      <a:schemeClr val="tx2"/>
                    </a:solidFill>
                    <a:latin typeface="Fira Sans Condensed Light" panose="020B0403050000020004" pitchFamily="34" charset="0"/>
                  </a:rPr>
                  <a:t>Es un vector de dimensión </a:t>
                </a:r>
                <a14:m>
                  <m:oMath xmlns:m="http://schemas.openxmlformats.org/officeDocument/2006/math">
                    <m:r>
                      <a:rPr lang="es-MX" sz="1600" b="0" i="1">
                        <a:solidFill>
                          <a:schemeClr val="tx2"/>
                        </a:solidFill>
                      </a:rPr>
                      <m:t>𝑛</m:t>
                    </m:r>
                  </m:oMath>
                </a14:m>
                <a:r>
                  <a:rPr lang="es-MX" sz="1600" dirty="0">
                    <a:solidFill>
                      <a:schemeClr val="tx2"/>
                    </a:solidFill>
                    <a:latin typeface="Fira Sans Condensed Light" panose="020B0403050000020004" pitchFamily="34" charset="0"/>
                  </a:rPr>
                  <a:t> si el robot tiene </a:t>
                </a:r>
                <a14:m>
                  <m:oMath xmlns:m="http://schemas.openxmlformats.org/officeDocument/2006/math">
                    <m:r>
                      <a:rPr lang="es-MX" sz="1600" b="0" i="1">
                        <a:solidFill>
                          <a:schemeClr val="tx2"/>
                        </a:solidFill>
                      </a:rPr>
                      <m:t>𝑛</m:t>
                    </m:r>
                  </m:oMath>
                </a14:m>
                <a:r>
                  <a:rPr lang="es-MX" sz="1600" dirty="0">
                    <a:solidFill>
                      <a:schemeClr val="tx2"/>
                    </a:solidFill>
                    <a:latin typeface="Fira Sans Condensed Light" panose="020B0403050000020004" pitchFamily="34" charset="0"/>
                  </a:rPr>
                  <a:t> grados de libertad (GDL).</a:t>
                </a:r>
              </a:p>
              <a:p>
                <a:r>
                  <a:rPr lang="es-MX" sz="1600" dirty="0">
                    <a:solidFill>
                      <a:schemeClr val="tx2"/>
                    </a:solidFill>
                    <a:latin typeface="Fira Sans Condensed Light" panose="020B0403050000020004" pitchFamily="34" charset="0"/>
                  </a:rPr>
                  <a:t>Es la entrada del sistema dinámico.</a:t>
                </a:r>
                <a:endParaRPr lang="es-MX" sz="1600" b="1" dirty="0">
                  <a:solidFill>
                    <a:schemeClr val="tx2"/>
                  </a:solidFill>
                  <a:latin typeface="Fira Sans Condensed Light" panose="020B0403050000020004" pitchFamily="34" charset="0"/>
                </a:endParaRPr>
              </a:p>
              <a:p>
                <a14:m>
                  <m:oMathPara xmlns:m="http://schemas.openxmlformats.org/officeDocument/2006/math">
                    <m:oMathParaPr>
                      <m:jc m:val="centerGroup"/>
                    </m:oMathParaPr>
                    <m:oMath xmlns:m="http://schemas.openxmlformats.org/officeDocument/2006/math">
                      <m:r>
                        <a:rPr lang="es-MX" sz="1600" b="1" i="1" smtClean="0">
                          <a:solidFill>
                            <a:schemeClr val="tx2"/>
                          </a:solidFill>
                        </a:rPr>
                        <m:t>𝝉</m:t>
                      </m:r>
                      <m:r>
                        <a:rPr lang="es-MX" sz="1600" b="1">
                          <a:solidFill>
                            <a:schemeClr val="tx2"/>
                          </a:solidFill>
                        </a:rPr>
                        <m:t>=</m:t>
                      </m:r>
                      <m:d>
                        <m:dPr>
                          <m:begChr m:val="["/>
                          <m:endChr m:val=","/>
                          <m:sepChr m:val=","/>
                          <m:ctrlPr>
                            <a:rPr lang="ar-AE" sz="1600" b="1" i="1">
                              <a:solidFill>
                                <a:schemeClr val="tx2"/>
                              </a:solidFill>
                            </a:rPr>
                          </m:ctrlPr>
                        </m:dPr>
                        <m:e>
                          <m:sSub>
                            <m:sSubPr>
                              <m:ctrlPr>
                                <a:rPr lang="ar-AE" sz="1600" b="1" i="1">
                                  <a:solidFill>
                                    <a:schemeClr val="tx2"/>
                                  </a:solidFill>
                                </a:rPr>
                              </m:ctrlPr>
                            </m:sSubPr>
                            <m:e>
                              <m:r>
                                <a:rPr lang="ar-AE" sz="1600" b="1" i="1">
                                  <a:solidFill>
                                    <a:schemeClr val="tx2"/>
                                  </a:solidFill>
                                </a:rPr>
                                <m:t>𝝉</m:t>
                              </m:r>
                            </m:e>
                            <m:sub>
                              <m:r>
                                <a:rPr lang="ar-AE" sz="1600" b="1" i="1">
                                  <a:solidFill>
                                    <a:schemeClr val="tx2"/>
                                  </a:solidFill>
                                </a:rPr>
                                <m:t>𝟏</m:t>
                              </m:r>
                            </m:sub>
                          </m:sSub>
                        </m:e>
                        <m:e>
                          <m:sSub>
                            <m:sSubPr>
                              <m:ctrlPr>
                                <a:rPr lang="ar-AE" sz="1600" b="1" i="1">
                                  <a:solidFill>
                                    <a:schemeClr val="tx2"/>
                                  </a:solidFill>
                                </a:rPr>
                              </m:ctrlPr>
                            </m:sSubPr>
                            <m:e>
                              <m:r>
                                <a:rPr lang="ar-AE" sz="1600" b="1" i="1">
                                  <a:solidFill>
                                    <a:schemeClr val="tx2"/>
                                  </a:solidFill>
                                </a:rPr>
                                <m:t>𝝉</m:t>
                              </m:r>
                            </m:e>
                            <m:sub>
                              <m:r>
                                <a:rPr lang="ar-AE" sz="1600" b="1" i="1">
                                  <a:solidFill>
                                    <a:schemeClr val="tx2"/>
                                  </a:solidFill>
                                </a:rPr>
                                <m:t>𝟐</m:t>
                              </m:r>
                            </m:sub>
                          </m:sSub>
                        </m:e>
                        <m:e>
                          <m:r>
                            <a:rPr lang="ar-AE" sz="1600" b="1">
                              <a:solidFill>
                                <a:schemeClr val="tx2"/>
                              </a:solidFill>
                            </a:rPr>
                            <m:t>...</m:t>
                          </m:r>
                          <m:sSub>
                            <m:sSubPr>
                              <m:ctrlPr>
                                <a:rPr lang="ar-AE" sz="1600" b="1" i="1">
                                  <a:solidFill>
                                    <a:schemeClr val="tx2"/>
                                  </a:solidFill>
                                </a:rPr>
                              </m:ctrlPr>
                            </m:sSubPr>
                            <m:e>
                              <m:r>
                                <a:rPr lang="ar-AE" sz="1600" b="1" i="1">
                                  <a:solidFill>
                                    <a:schemeClr val="tx2"/>
                                  </a:solidFill>
                                </a:rPr>
                                <m:t>𝝉</m:t>
                              </m:r>
                            </m:e>
                            <m:sub>
                              <m:r>
                                <a:rPr lang="ar-AE" sz="1600" b="1" i="1">
                                  <a:solidFill>
                                    <a:schemeClr val="tx2"/>
                                  </a:solidFill>
                                </a:rPr>
                                <m:t>𝒏</m:t>
                              </m:r>
                            </m:sub>
                          </m:sSub>
                          <m:sSup>
                            <m:sSupPr>
                              <m:ctrlPr>
                                <a:rPr lang="ar-AE" sz="1600" b="1" i="1">
                                  <a:solidFill>
                                    <a:schemeClr val="tx2"/>
                                  </a:solidFill>
                                </a:rPr>
                              </m:ctrlPr>
                            </m:sSupPr>
                            <m:e>
                              <m:d>
                                <m:dPr>
                                  <m:begChr m:val=""/>
                                  <m:endChr m:val=""/>
                                  <m:ctrlPr>
                                    <a:rPr lang="ar-AE" sz="1600" b="1" i="1">
                                      <a:solidFill>
                                        <a:schemeClr val="tx2"/>
                                      </a:solidFill>
                                    </a:rPr>
                                  </m:ctrlPr>
                                </m:dPr>
                                <m:e>
                                  <m:r>
                                    <a:rPr lang="ar-AE" sz="1600" b="1">
                                      <a:solidFill>
                                        <a:schemeClr val="tx2"/>
                                      </a:solidFill>
                                    </a:rPr>
                                    <m:t>]</m:t>
                                  </m:r>
                                </m:e>
                              </m:d>
                            </m:e>
                            <m:sup>
                              <m:r>
                                <a:rPr lang="ar-AE" sz="1600" b="1" i="1">
                                  <a:solidFill>
                                    <a:schemeClr val="tx2"/>
                                  </a:solidFill>
                                </a:rPr>
                                <m:t>𝑻</m:t>
                              </m:r>
                            </m:sup>
                          </m:sSup>
                        </m:e>
                      </m:d>
                    </m:oMath>
                  </m:oMathPara>
                </a14:m>
                <a:endParaRPr lang="ar-AE" sz="1600" b="1" dirty="0">
                  <a:solidFill>
                    <a:schemeClr val="tx2"/>
                  </a:solidFill>
                  <a:latin typeface="Fira Sans Extra Condensed Light" panose="020F0502020204030204" pitchFamily="34" charset="0"/>
                </a:endParaRPr>
              </a:p>
            </p:txBody>
          </p:sp>
        </mc:Choice>
        <mc:Fallback>
          <p:sp>
            <p:nvSpPr>
              <p:cNvPr id="11" name="Google Shape;1603;p42">
                <a:extLst>
                  <a:ext uri="{FF2B5EF4-FFF2-40B4-BE49-F238E27FC236}">
                    <a16:creationId xmlns:a16="http://schemas.microsoft.com/office/drawing/2014/main" id="{C269C44D-6B08-CE19-0040-2244FC66E8B5}"/>
                  </a:ext>
                </a:extLst>
              </p:cNvPr>
              <p:cNvSpPr txBox="1">
                <a:spLocks noRot="1" noChangeAspect="1" noMove="1" noResize="1" noEditPoints="1" noAdjustHandles="1" noChangeArrowheads="1" noChangeShapeType="1" noTextEdit="1"/>
              </p:cNvSpPr>
              <p:nvPr/>
            </p:nvSpPr>
            <p:spPr>
              <a:xfrm>
                <a:off x="522782" y="3387946"/>
                <a:ext cx="8621218" cy="1623496"/>
              </a:xfrm>
              <a:prstGeom prst="rect">
                <a:avLst/>
              </a:prstGeom>
              <a:blipFill>
                <a:blip r:embed="rId5"/>
                <a:stretch>
                  <a:fillRect l="-424"/>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1468922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4224208E-7CA5-9000-DF4B-97325B136521}"/>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C24DF6D1-0FFA-4CC6-AA41-80F42FFF3B98}"/>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32C1B910-7605-0083-B1F5-CEFFCE8196A9}"/>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F53C871B-D9FF-6610-3DFB-7163510C8BCB}"/>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a:extLst>
              <a:ext uri="{FF2B5EF4-FFF2-40B4-BE49-F238E27FC236}">
                <a16:creationId xmlns:a16="http://schemas.microsoft.com/office/drawing/2014/main" id="{49241047-2475-1488-F7B9-4686E13BCCE1}"/>
              </a:ext>
            </a:extLst>
          </p:cNvPr>
          <p:cNvSpPr txBox="1">
            <a:spLocks/>
          </p:cNvSpPr>
          <p:nvPr/>
        </p:nvSpPr>
        <p:spPr>
          <a:xfrm>
            <a:off x="-29184" y="501033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77A1FB24-2904-D873-6CB8-EC52B9F95C62}"/>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77573B7B-D47F-FFED-363B-54DCB635445E}"/>
              </a:ext>
            </a:extLst>
          </p:cNvPr>
          <p:cNvSpPr txBox="1"/>
          <p:nvPr/>
        </p:nvSpPr>
        <p:spPr>
          <a:xfrm>
            <a:off x="373910" y="3083246"/>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8D3D365E-4E07-CB78-F5A4-CA5B3261DEAF}"/>
              </a:ext>
            </a:extLst>
          </p:cNvPr>
          <p:cNvPicPr>
            <a:picLocks noChangeAspect="1"/>
          </p:cNvPicPr>
          <p:nvPr/>
        </p:nvPicPr>
        <p:blipFill>
          <a:blip r:embed="rId4"/>
          <a:stretch>
            <a:fillRect/>
          </a:stretch>
        </p:blipFill>
        <p:spPr>
          <a:xfrm>
            <a:off x="2310602" y="2903555"/>
            <a:ext cx="4061015" cy="359382"/>
          </a:xfrm>
          <a:prstGeom prst="rect">
            <a:avLst/>
          </a:prstGeom>
        </p:spPr>
      </p:pic>
      <mc:AlternateContent xmlns:mc="http://schemas.openxmlformats.org/markup-compatibility/2006">
        <mc:Choice xmlns:a14="http://schemas.microsoft.com/office/drawing/2010/main" Requires="a14">
          <p:sp>
            <p:nvSpPr>
              <p:cNvPr id="11" name="Google Shape;1603;p42">
                <a:extLst>
                  <a:ext uri="{FF2B5EF4-FFF2-40B4-BE49-F238E27FC236}">
                    <a16:creationId xmlns:a16="http://schemas.microsoft.com/office/drawing/2014/main" id="{6B907731-A853-A4D3-9360-5C64763CBA8C}"/>
                  </a:ext>
                </a:extLst>
              </p:cNvPr>
              <p:cNvSpPr txBox="1"/>
              <p:nvPr/>
            </p:nvSpPr>
            <p:spPr>
              <a:xfrm>
                <a:off x="522782" y="3409646"/>
                <a:ext cx="8621218" cy="1623496"/>
              </a:xfrm>
              <a:prstGeom prst="rect">
                <a:avLst/>
              </a:prstGeom>
              <a:noFill/>
              <a:ln>
                <a:noFill/>
              </a:ln>
            </p:spPr>
            <p:txBody>
              <a:bodyPr spcFirstLastPara="1" wrap="square" lIns="91425" tIns="182875" rIns="91425" bIns="0" anchor="t" anchorCtr="0">
                <a:noAutofit/>
              </a:bodyPr>
              <a:lstStyle/>
              <a:p>
                <a:r>
                  <a:rPr lang="es-MX" sz="1600" b="1" dirty="0">
                    <a:solidFill>
                      <a:schemeClr val="tx2"/>
                    </a:solidFill>
                    <a:latin typeface="Fira Sans Condensed Light" panose="020B0403050000020004" pitchFamily="34" charset="0"/>
                  </a:rPr>
                  <a:t>M(q)</a:t>
                </a:r>
                <a14:m>
                  <m:oMath xmlns:m="http://schemas.openxmlformats.org/officeDocument/2006/math">
                    <m:acc>
                      <m:accPr>
                        <m:chr m:val="̈"/>
                        <m:ctrlPr>
                          <a:rPr lang="es-MX" sz="1600" b="1" i="1" smtClean="0">
                            <a:solidFill>
                              <a:schemeClr val="tx2"/>
                            </a:solidFill>
                            <a:latin typeface="Cambria Math" panose="02040503050406030204" pitchFamily="18" charset="0"/>
                          </a:rPr>
                        </m:ctrlPr>
                      </m:accPr>
                      <m:e>
                        <m:r>
                          <a:rPr lang="es-MX" sz="1600" b="1" i="1" smtClean="0">
                            <a:solidFill>
                              <a:schemeClr val="tx2"/>
                            </a:solidFill>
                            <a:latin typeface="Cambria Math" panose="02040503050406030204" pitchFamily="18" charset="0"/>
                          </a:rPr>
                          <m:t>𝒒</m:t>
                        </m:r>
                      </m:e>
                    </m:acc>
                  </m:oMath>
                </a14:m>
                <a:r>
                  <a:rPr lang="es-MX" sz="1600" b="1" dirty="0">
                    <a:solidFill>
                      <a:schemeClr val="tx2"/>
                    </a:solidFill>
                    <a:latin typeface="Fira Sans Condensed Light" panose="020B0403050000020004" pitchFamily="34" charset="0"/>
                  </a:rPr>
                  <a:t>​ — Término de inercia</a:t>
                </a:r>
              </a:p>
              <a:p>
                <a14:m>
                  <m:oMath xmlns:m="http://schemas.openxmlformats.org/officeDocument/2006/math">
                    <m:r>
                      <a:rPr lang="es-MX" sz="1600" b="0" i="1">
                        <a:solidFill>
                          <a:schemeClr val="tx2"/>
                        </a:solidFill>
                      </a:rPr>
                      <m:t>𝑀</m:t>
                    </m:r>
                    <m:d>
                      <m:dPr>
                        <m:ctrlPr>
                          <a:rPr lang="ar-AE" sz="1600" i="1">
                            <a:solidFill>
                              <a:schemeClr val="tx2"/>
                            </a:solidFill>
                          </a:rPr>
                        </m:ctrlPr>
                      </m:dPr>
                      <m:e>
                        <m:r>
                          <a:rPr lang="ar-AE" sz="1600" b="0" i="1">
                            <a:solidFill>
                              <a:schemeClr val="tx2"/>
                            </a:solidFill>
                          </a:rPr>
                          <m:t>𝑞</m:t>
                        </m:r>
                      </m:e>
                    </m:d>
                  </m:oMath>
                </a14:m>
                <a:r>
                  <a:rPr lang="es-MX" sz="1600" dirty="0">
                    <a:solidFill>
                      <a:schemeClr val="tx2"/>
                    </a:solidFill>
                    <a:latin typeface="Fira Sans Condensed Light" panose="020B0403050000020004" pitchFamily="34" charset="0"/>
                  </a:rPr>
                  <a:t>es la matriz de inercia del robot.</a:t>
                </a:r>
              </a:p>
              <a:p>
                <a:r>
                  <a:rPr lang="es-MX" sz="1600" dirty="0">
                    <a:solidFill>
                      <a:schemeClr val="tx2"/>
                    </a:solidFill>
                    <a:latin typeface="Fira Sans Condensed Light" panose="020B0403050000020004" pitchFamily="34" charset="0"/>
                  </a:rPr>
                  <a:t>Depende de la configuración articular </a:t>
                </a:r>
                <a14:m>
                  <m:oMath xmlns:m="http://schemas.openxmlformats.org/officeDocument/2006/math">
                    <m:r>
                      <a:rPr lang="es-MX" sz="1600" b="0" i="1">
                        <a:solidFill>
                          <a:schemeClr val="tx2"/>
                        </a:solidFill>
                      </a:rPr>
                      <m:t>𝑞</m:t>
                    </m:r>
                  </m:oMath>
                </a14:m>
                <a:r>
                  <a:rPr lang="es-MX" sz="1600" dirty="0">
                    <a:solidFill>
                      <a:schemeClr val="tx2"/>
                    </a:solidFill>
                    <a:latin typeface="Fira Sans Condensed Light" panose="020B0403050000020004" pitchFamily="34" charset="0"/>
                  </a:rPr>
                  <a:t>.</a:t>
                </a:r>
              </a:p>
              <a:p>
                <a:r>
                  <a:rPr lang="es-MX" sz="1600" dirty="0">
                    <a:solidFill>
                      <a:schemeClr val="tx2"/>
                    </a:solidFill>
                    <a:latin typeface="Fira Sans Condensed Light" panose="020B0403050000020004" pitchFamily="34" charset="0"/>
                  </a:rPr>
                  <a:t>Es una matriz simétrica y definida positiva.</a:t>
                </a:r>
                <a:endParaRPr lang="es-MX" sz="1600" b="1" dirty="0">
                  <a:solidFill>
                    <a:schemeClr val="tx2"/>
                  </a:solidFill>
                  <a:latin typeface="Fira Sans Condensed Light" panose="020B0403050000020004" pitchFamily="34" charset="0"/>
                </a:endParaRPr>
              </a:p>
              <a:p>
                <a14:m>
                  <m:oMathPara xmlns:m="http://schemas.openxmlformats.org/officeDocument/2006/math">
                    <m:oMathParaPr>
                      <m:jc m:val="centerGroup"/>
                    </m:oMathParaPr>
                    <m:oMath xmlns:m="http://schemas.openxmlformats.org/officeDocument/2006/math">
                      <m:r>
                        <a:rPr lang="es-MX" sz="1600" b="1" i="1">
                          <a:solidFill>
                            <a:schemeClr val="tx2"/>
                          </a:solidFill>
                        </a:rPr>
                        <m:t>𝑴</m:t>
                      </m:r>
                      <m:d>
                        <m:dPr>
                          <m:ctrlPr>
                            <a:rPr lang="ar-AE" sz="1600" b="1" i="1">
                              <a:solidFill>
                                <a:schemeClr val="tx2"/>
                              </a:solidFill>
                            </a:rPr>
                          </m:ctrlPr>
                        </m:dPr>
                        <m:e>
                          <m:r>
                            <a:rPr lang="ar-AE" sz="1600" b="1" i="1">
                              <a:solidFill>
                                <a:schemeClr val="tx2"/>
                              </a:solidFill>
                            </a:rPr>
                            <m:t>𝒒</m:t>
                          </m:r>
                        </m:e>
                      </m:d>
                      <m:r>
                        <a:rPr lang="ar-AE" sz="1600" b="1">
                          <a:solidFill>
                            <a:schemeClr val="tx2"/>
                          </a:solidFill>
                        </a:rPr>
                        <m:t>∈</m:t>
                      </m:r>
                      <m:sSup>
                        <m:sSupPr>
                          <m:ctrlPr>
                            <a:rPr lang="ar-AE" sz="1600" b="1" i="1">
                              <a:solidFill>
                                <a:schemeClr val="tx2"/>
                              </a:solidFill>
                            </a:rPr>
                          </m:ctrlPr>
                        </m:sSupPr>
                        <m:e>
                          <m:r>
                            <a:rPr lang="ar-AE" sz="1600" b="1">
                              <a:solidFill>
                                <a:schemeClr val="tx2"/>
                              </a:solidFill>
                            </a:rPr>
                            <m:t>ℝ</m:t>
                          </m:r>
                        </m:e>
                        <m:sup>
                          <m:r>
                            <a:rPr lang="ar-AE" sz="1600" b="1" i="1">
                              <a:solidFill>
                                <a:schemeClr val="tx2"/>
                              </a:solidFill>
                            </a:rPr>
                            <m:t>𝒏</m:t>
                          </m:r>
                          <m:r>
                            <a:rPr lang="ar-AE" sz="1600" b="1">
                              <a:solidFill>
                                <a:schemeClr val="tx2"/>
                              </a:solidFill>
                            </a:rPr>
                            <m:t>×</m:t>
                          </m:r>
                          <m:r>
                            <a:rPr lang="ar-AE" sz="1600" b="1" i="1">
                              <a:solidFill>
                                <a:schemeClr val="tx2"/>
                              </a:solidFill>
                            </a:rPr>
                            <m:t>𝒏</m:t>
                          </m:r>
                        </m:sup>
                      </m:sSup>
                    </m:oMath>
                  </m:oMathPara>
                </a14:m>
                <a:endParaRPr lang="ar-AE" sz="1600" b="1" dirty="0">
                  <a:solidFill>
                    <a:schemeClr val="tx2"/>
                  </a:solidFill>
                  <a:latin typeface="Fira Sans Condensed Light" panose="020B0403050000020004" pitchFamily="34" charset="0"/>
                </a:endParaRPr>
              </a:p>
            </p:txBody>
          </p:sp>
        </mc:Choice>
        <mc:Fallback>
          <p:sp>
            <p:nvSpPr>
              <p:cNvPr id="11" name="Google Shape;1603;p42">
                <a:extLst>
                  <a:ext uri="{FF2B5EF4-FFF2-40B4-BE49-F238E27FC236}">
                    <a16:creationId xmlns:a16="http://schemas.microsoft.com/office/drawing/2014/main" id="{6B907731-A853-A4D3-9360-5C64763CBA8C}"/>
                  </a:ext>
                </a:extLst>
              </p:cNvPr>
              <p:cNvSpPr txBox="1">
                <a:spLocks noRot="1" noChangeAspect="1" noMove="1" noResize="1" noEditPoints="1" noAdjustHandles="1" noChangeArrowheads="1" noChangeShapeType="1" noTextEdit="1"/>
              </p:cNvSpPr>
              <p:nvPr/>
            </p:nvSpPr>
            <p:spPr>
              <a:xfrm>
                <a:off x="522782" y="3409646"/>
                <a:ext cx="8621218" cy="1623496"/>
              </a:xfrm>
              <a:prstGeom prst="rect">
                <a:avLst/>
              </a:prstGeom>
              <a:blipFill>
                <a:blip r:embed="rId5"/>
                <a:stretch>
                  <a:fillRect l="-424"/>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307081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40F499E0-CD0F-EE5E-8166-8D3F084E7B38}"/>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8A1C3D26-E15F-3DC2-12DA-1A654D597D6E}"/>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C858581E-6E4A-BA40-1AF5-713C867D8B1B}"/>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6B19B88F-9C4D-60CD-24A0-5721F393D595}"/>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a:extLst>
              <a:ext uri="{FF2B5EF4-FFF2-40B4-BE49-F238E27FC236}">
                <a16:creationId xmlns:a16="http://schemas.microsoft.com/office/drawing/2014/main" id="{70E15B12-BC86-B99B-3496-5F149E599900}"/>
              </a:ext>
            </a:extLst>
          </p:cNvPr>
          <p:cNvSpPr txBox="1">
            <a:spLocks/>
          </p:cNvSpPr>
          <p:nvPr/>
        </p:nvSpPr>
        <p:spPr>
          <a:xfrm>
            <a:off x="-29184" y="501033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2D4A2803-CA6E-1440-9C51-8687B6F698A3}"/>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2B774F90-46B7-6E4B-5E88-525F646F9553}"/>
              </a:ext>
            </a:extLst>
          </p:cNvPr>
          <p:cNvSpPr txBox="1"/>
          <p:nvPr/>
        </p:nvSpPr>
        <p:spPr>
          <a:xfrm>
            <a:off x="373910" y="3083246"/>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FD1815A3-8142-FE07-0DB2-FCE193C846A3}"/>
              </a:ext>
            </a:extLst>
          </p:cNvPr>
          <p:cNvPicPr>
            <a:picLocks noChangeAspect="1"/>
          </p:cNvPicPr>
          <p:nvPr/>
        </p:nvPicPr>
        <p:blipFill>
          <a:blip r:embed="rId4"/>
          <a:stretch>
            <a:fillRect/>
          </a:stretch>
        </p:blipFill>
        <p:spPr>
          <a:xfrm>
            <a:off x="2310602" y="2903555"/>
            <a:ext cx="4061015" cy="359382"/>
          </a:xfrm>
          <a:prstGeom prst="rect">
            <a:avLst/>
          </a:prstGeom>
        </p:spPr>
      </p:pic>
      <mc:AlternateContent xmlns:mc="http://schemas.openxmlformats.org/markup-compatibility/2006">
        <mc:Choice xmlns:a14="http://schemas.microsoft.com/office/drawing/2010/main" Requires="a14">
          <p:sp>
            <p:nvSpPr>
              <p:cNvPr id="11" name="Google Shape;1603;p42">
                <a:extLst>
                  <a:ext uri="{FF2B5EF4-FFF2-40B4-BE49-F238E27FC236}">
                    <a16:creationId xmlns:a16="http://schemas.microsoft.com/office/drawing/2014/main" id="{E2C425E5-7085-9F4B-53A2-2FEDC10F9D9A}"/>
                  </a:ext>
                </a:extLst>
              </p:cNvPr>
              <p:cNvSpPr txBox="1"/>
              <p:nvPr/>
            </p:nvSpPr>
            <p:spPr>
              <a:xfrm>
                <a:off x="522782" y="3324888"/>
                <a:ext cx="8621218" cy="1623496"/>
              </a:xfrm>
              <a:prstGeom prst="rect">
                <a:avLst/>
              </a:prstGeom>
              <a:noFill/>
              <a:ln>
                <a:noFill/>
              </a:ln>
            </p:spPr>
            <p:txBody>
              <a:bodyPr spcFirstLastPara="1" wrap="square" lIns="91425" tIns="182875" rIns="91425" bIns="0" anchor="t" anchorCtr="0">
                <a:noAutofit/>
              </a:bodyPr>
              <a:lstStyle/>
              <a:p>
                <a14:m>
                  <m:oMath xmlns:m="http://schemas.openxmlformats.org/officeDocument/2006/math">
                    <m:r>
                      <a:rPr lang="ar-AE" sz="1600" b="1" i="1" smtClean="0">
                        <a:solidFill>
                          <a:schemeClr val="tx2"/>
                        </a:solidFill>
                      </a:rPr>
                      <m:t>𝑪</m:t>
                    </m:r>
                    <m:d>
                      <m:dPr>
                        <m:sepChr m:val=","/>
                        <m:ctrlPr>
                          <a:rPr lang="ar-AE" sz="1600" b="1" i="1">
                            <a:solidFill>
                              <a:schemeClr val="tx2"/>
                            </a:solidFill>
                          </a:rPr>
                        </m:ctrlPr>
                      </m:dPr>
                      <m:e>
                        <m:r>
                          <a:rPr lang="ar-AE" sz="1600" b="1" i="1">
                            <a:solidFill>
                              <a:schemeClr val="tx2"/>
                            </a:solidFill>
                          </a:rPr>
                          <m:t>𝒒</m:t>
                        </m:r>
                      </m:e>
                      <m:e>
                        <m:acc>
                          <m:accPr>
                            <m:chr m:val="̇"/>
                            <m:ctrlPr>
                              <a:rPr lang="ar-AE" sz="1600" b="1" i="1">
                                <a:solidFill>
                                  <a:schemeClr val="tx2"/>
                                </a:solidFill>
                              </a:rPr>
                            </m:ctrlPr>
                          </m:accPr>
                          <m:e>
                            <m:r>
                              <a:rPr lang="ar-AE" sz="1600" b="1" i="1">
                                <a:solidFill>
                                  <a:schemeClr val="tx2"/>
                                </a:solidFill>
                              </a:rPr>
                              <m:t>𝒒</m:t>
                            </m:r>
                          </m:e>
                        </m:acc>
                      </m:e>
                    </m:d>
                    <m:acc>
                      <m:accPr>
                        <m:chr m:val="̇"/>
                        <m:ctrlPr>
                          <a:rPr lang="ar-AE" sz="1600" b="1" i="1">
                            <a:solidFill>
                              <a:schemeClr val="tx2"/>
                            </a:solidFill>
                          </a:rPr>
                        </m:ctrlPr>
                      </m:accPr>
                      <m:e>
                        <m:r>
                          <a:rPr lang="ar-AE" sz="1600" b="1" i="1">
                            <a:solidFill>
                              <a:schemeClr val="tx2"/>
                            </a:solidFill>
                          </a:rPr>
                          <m:t>𝒒</m:t>
                        </m:r>
                      </m:e>
                    </m:acc>
                  </m:oMath>
                </a14:m>
                <a:r>
                  <a:rPr lang="ar-AE" sz="1600" b="1" dirty="0">
                    <a:solidFill>
                      <a:schemeClr val="tx2"/>
                    </a:solidFill>
                    <a:latin typeface="Fira Sans Condensed Light" panose="020B0403050000020004" pitchFamily="34" charset="0"/>
                  </a:rPr>
                  <a:t>— </a:t>
                </a:r>
                <a:r>
                  <a:rPr lang="es-MX" sz="1600" b="1" dirty="0">
                    <a:solidFill>
                      <a:schemeClr val="tx2"/>
                    </a:solidFill>
                    <a:latin typeface="Fira Sans Condensed Light" panose="020B0403050000020004" pitchFamily="34" charset="0"/>
                  </a:rPr>
                  <a:t>Fuerzas centrífugos y de Coriolis</a:t>
                </a:r>
              </a:p>
              <a:p>
                <a14:m>
                  <m:oMath xmlns:m="http://schemas.openxmlformats.org/officeDocument/2006/math">
                    <m:r>
                      <a:rPr lang="es-MX" sz="1600" b="0" i="1">
                        <a:solidFill>
                          <a:schemeClr val="tx2"/>
                        </a:solidFill>
                      </a:rPr>
                      <m:t>𝐶</m:t>
                    </m:r>
                    <m:d>
                      <m:dPr>
                        <m:sepChr m:val=","/>
                        <m:ctrlPr>
                          <a:rPr lang="ar-AE" sz="1600" i="1">
                            <a:solidFill>
                              <a:schemeClr val="tx2"/>
                            </a:solidFill>
                          </a:rPr>
                        </m:ctrlPr>
                      </m:dPr>
                      <m:e>
                        <m:r>
                          <a:rPr lang="ar-AE" sz="1600" b="0" i="1">
                            <a:solidFill>
                              <a:schemeClr val="tx2"/>
                            </a:solidFill>
                          </a:rPr>
                          <m:t>𝑞</m:t>
                        </m:r>
                      </m:e>
                      <m:e>
                        <m:acc>
                          <m:accPr>
                            <m:chr m:val="̇"/>
                            <m:ctrlPr>
                              <a:rPr lang="ar-AE" sz="1600" i="1">
                                <a:solidFill>
                                  <a:schemeClr val="tx2"/>
                                </a:solidFill>
                              </a:rPr>
                            </m:ctrlPr>
                          </m:accPr>
                          <m:e>
                            <m:r>
                              <a:rPr lang="ar-AE" sz="1600" b="0" i="1">
                                <a:solidFill>
                                  <a:schemeClr val="tx2"/>
                                </a:solidFill>
                              </a:rPr>
                              <m:t>𝑞</m:t>
                            </m:r>
                          </m:e>
                        </m:acc>
                      </m:e>
                    </m:d>
                  </m:oMath>
                </a14:m>
                <a:r>
                  <a:rPr lang="es-MX" sz="1600" dirty="0">
                    <a:solidFill>
                      <a:schemeClr val="tx2"/>
                    </a:solidFill>
                    <a:latin typeface="Fira Sans Condensed Light" panose="020B0403050000020004" pitchFamily="34" charset="0"/>
                  </a:rPr>
                  <a:t>es la matriz de Coriolis y fuerzas centrífugas.</a:t>
                </a:r>
              </a:p>
              <a:p>
                <a:r>
                  <a:rPr lang="es-MX" sz="1600" dirty="0">
                    <a:solidFill>
                      <a:schemeClr val="tx2"/>
                    </a:solidFill>
                    <a:latin typeface="Fira Sans Condensed Light" panose="020B0403050000020004" pitchFamily="34" charset="0"/>
                  </a:rPr>
                  <a:t>Depende de:</a:t>
                </a:r>
              </a:p>
              <a:p>
                <a:pPr lvl="1"/>
                <a:r>
                  <a:rPr lang="es-MX" sz="1600" dirty="0">
                    <a:solidFill>
                      <a:schemeClr val="tx2"/>
                    </a:solidFill>
                    <a:latin typeface="Fira Sans Condensed Light" panose="020B0403050000020004" pitchFamily="34" charset="0"/>
                  </a:rPr>
                  <a:t>la posición articular </a:t>
                </a:r>
                <a14:m>
                  <m:oMath xmlns:m="http://schemas.openxmlformats.org/officeDocument/2006/math">
                    <m:r>
                      <a:rPr lang="es-MX" sz="1600" b="0" i="1">
                        <a:solidFill>
                          <a:schemeClr val="tx2"/>
                        </a:solidFill>
                      </a:rPr>
                      <m:t>𝑞</m:t>
                    </m:r>
                  </m:oMath>
                </a14:m>
                <a:endParaRPr lang="es-MX" sz="1600" dirty="0">
                  <a:solidFill>
                    <a:schemeClr val="tx2"/>
                  </a:solidFill>
                  <a:latin typeface="Fira Sans Condensed Light" panose="020B0403050000020004" pitchFamily="34" charset="0"/>
                </a:endParaRPr>
              </a:p>
              <a:p>
                <a:pPr lvl="1"/>
                <a:r>
                  <a:rPr lang="es-MX" sz="1600" dirty="0">
                    <a:solidFill>
                      <a:schemeClr val="tx2"/>
                    </a:solidFill>
                    <a:latin typeface="Fira Sans Condensed Light" panose="020B0403050000020004" pitchFamily="34" charset="0"/>
                  </a:rPr>
                  <a:t>la velocidad articular </a:t>
                </a:r>
                <a14:m>
                  <m:oMath xmlns:m="http://schemas.openxmlformats.org/officeDocument/2006/math">
                    <m:acc>
                      <m:accPr>
                        <m:chr m:val="̇"/>
                        <m:ctrlPr>
                          <a:rPr lang="ar-AE" sz="1600">
                            <a:solidFill>
                              <a:schemeClr val="tx2"/>
                            </a:solidFill>
                          </a:rPr>
                        </m:ctrlPr>
                      </m:accPr>
                      <m:e>
                        <m:r>
                          <a:rPr lang="ar-AE" sz="1600" b="0" i="1">
                            <a:solidFill>
                              <a:schemeClr val="tx2"/>
                            </a:solidFill>
                          </a:rPr>
                          <m:t>𝑞</m:t>
                        </m:r>
                      </m:e>
                    </m:acc>
                  </m:oMath>
                </a14:m>
                <a:endParaRPr lang="ar-AE" sz="1600" dirty="0">
                  <a:solidFill>
                    <a:schemeClr val="tx2"/>
                  </a:solidFill>
                  <a:latin typeface="Fira Sans Condensed Light" panose="020B0403050000020004" pitchFamily="34" charset="0"/>
                </a:endParaRPr>
              </a:p>
              <a:p>
                <a14:m>
                  <m:oMathPara xmlns:m="http://schemas.openxmlformats.org/officeDocument/2006/math">
                    <m:oMathParaPr>
                      <m:jc m:val="centerGroup"/>
                    </m:oMathParaPr>
                    <m:oMath xmlns:m="http://schemas.openxmlformats.org/officeDocument/2006/math">
                      <m:r>
                        <a:rPr lang="ar-AE" sz="1600" b="1" i="1">
                          <a:solidFill>
                            <a:schemeClr val="tx2"/>
                          </a:solidFill>
                        </a:rPr>
                        <m:t>𝑪</m:t>
                      </m:r>
                      <m:d>
                        <m:dPr>
                          <m:sepChr m:val=","/>
                          <m:ctrlPr>
                            <a:rPr lang="ar-AE" sz="1600" b="1" i="1">
                              <a:solidFill>
                                <a:schemeClr val="tx2"/>
                              </a:solidFill>
                            </a:rPr>
                          </m:ctrlPr>
                        </m:dPr>
                        <m:e>
                          <m:r>
                            <a:rPr lang="ar-AE" sz="1600" b="1" i="1">
                              <a:solidFill>
                                <a:schemeClr val="tx2"/>
                              </a:solidFill>
                            </a:rPr>
                            <m:t>𝒒</m:t>
                          </m:r>
                        </m:e>
                        <m:e>
                          <m:acc>
                            <m:accPr>
                              <m:chr m:val="̇"/>
                              <m:ctrlPr>
                                <a:rPr lang="ar-AE" sz="1600" b="1" i="1">
                                  <a:solidFill>
                                    <a:schemeClr val="tx2"/>
                                  </a:solidFill>
                                </a:rPr>
                              </m:ctrlPr>
                            </m:accPr>
                            <m:e>
                              <m:r>
                                <a:rPr lang="ar-AE" sz="1600" b="1" i="1">
                                  <a:solidFill>
                                    <a:schemeClr val="tx2"/>
                                  </a:solidFill>
                                </a:rPr>
                                <m:t>𝒒</m:t>
                              </m:r>
                            </m:e>
                          </m:acc>
                        </m:e>
                      </m:d>
                      <m:acc>
                        <m:accPr>
                          <m:chr m:val="̇"/>
                          <m:ctrlPr>
                            <a:rPr lang="ar-AE" sz="1600" b="1" i="1">
                              <a:solidFill>
                                <a:schemeClr val="tx2"/>
                              </a:solidFill>
                            </a:rPr>
                          </m:ctrlPr>
                        </m:accPr>
                        <m:e>
                          <m:r>
                            <a:rPr lang="ar-AE" sz="1600" b="1" i="1">
                              <a:solidFill>
                                <a:schemeClr val="tx2"/>
                              </a:solidFill>
                            </a:rPr>
                            <m:t>𝒒</m:t>
                          </m:r>
                        </m:e>
                      </m:acc>
                    </m:oMath>
                  </m:oMathPara>
                </a14:m>
                <a:endParaRPr lang="ar-AE" sz="1600" b="1" dirty="0">
                  <a:solidFill>
                    <a:schemeClr val="tx2"/>
                  </a:solidFill>
                  <a:latin typeface="Fira Sans Condensed Light" panose="020B0403050000020004" pitchFamily="34" charset="0"/>
                </a:endParaRPr>
              </a:p>
            </p:txBody>
          </p:sp>
        </mc:Choice>
        <mc:Fallback>
          <p:sp>
            <p:nvSpPr>
              <p:cNvPr id="11" name="Google Shape;1603;p42">
                <a:extLst>
                  <a:ext uri="{FF2B5EF4-FFF2-40B4-BE49-F238E27FC236}">
                    <a16:creationId xmlns:a16="http://schemas.microsoft.com/office/drawing/2014/main" id="{E2C425E5-7085-9F4B-53A2-2FEDC10F9D9A}"/>
                  </a:ext>
                </a:extLst>
              </p:cNvPr>
              <p:cNvSpPr txBox="1">
                <a:spLocks noRot="1" noChangeAspect="1" noMove="1" noResize="1" noEditPoints="1" noAdjustHandles="1" noChangeArrowheads="1" noChangeShapeType="1" noTextEdit="1"/>
              </p:cNvSpPr>
              <p:nvPr/>
            </p:nvSpPr>
            <p:spPr>
              <a:xfrm>
                <a:off x="522782" y="3324888"/>
                <a:ext cx="8621218" cy="1623496"/>
              </a:xfrm>
              <a:prstGeom prst="rect">
                <a:avLst/>
              </a:prstGeom>
              <a:blipFill>
                <a:blip r:embed="rId5"/>
                <a:stretch>
                  <a:fillRect l="-424" b="-5243"/>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1350045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02723E90-3B12-266D-DA93-BD3E0E1583C1}"/>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54AD99AE-20DF-ADA4-671B-C7D2890C1F8F}"/>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07C0AF45-1F33-9327-ADAC-31D2BF335214}"/>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6C59609B-B99C-B07A-6FBC-3E2D48F6AF6E}"/>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a:extLst>
              <a:ext uri="{FF2B5EF4-FFF2-40B4-BE49-F238E27FC236}">
                <a16:creationId xmlns:a16="http://schemas.microsoft.com/office/drawing/2014/main" id="{77D3B63E-DE7F-C36F-A0AF-CAEACECBCF9C}"/>
              </a:ext>
            </a:extLst>
          </p:cNvPr>
          <p:cNvSpPr txBox="1">
            <a:spLocks/>
          </p:cNvSpPr>
          <p:nvPr/>
        </p:nvSpPr>
        <p:spPr>
          <a:xfrm>
            <a:off x="-29184" y="501033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E257DDA-C384-32C0-ABDD-0EE8EB1A1F5A}"/>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C1FD6AED-694F-1BE3-0849-DC3443A4CEFD}"/>
              </a:ext>
            </a:extLst>
          </p:cNvPr>
          <p:cNvSpPr txBox="1"/>
          <p:nvPr/>
        </p:nvSpPr>
        <p:spPr>
          <a:xfrm>
            <a:off x="373910" y="3083246"/>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EC90F483-9900-CA1F-FC54-F7831BE74095}"/>
              </a:ext>
            </a:extLst>
          </p:cNvPr>
          <p:cNvPicPr>
            <a:picLocks noChangeAspect="1"/>
          </p:cNvPicPr>
          <p:nvPr/>
        </p:nvPicPr>
        <p:blipFill>
          <a:blip r:embed="rId4"/>
          <a:stretch>
            <a:fillRect/>
          </a:stretch>
        </p:blipFill>
        <p:spPr>
          <a:xfrm>
            <a:off x="2310602" y="2903555"/>
            <a:ext cx="4061015" cy="359382"/>
          </a:xfrm>
          <a:prstGeom prst="rect">
            <a:avLst/>
          </a:prstGeom>
        </p:spPr>
      </p:pic>
      <mc:AlternateContent xmlns:mc="http://schemas.openxmlformats.org/markup-compatibility/2006">
        <mc:Choice xmlns:a14="http://schemas.microsoft.com/office/drawing/2010/main" Requires="a14">
          <p:sp>
            <p:nvSpPr>
              <p:cNvPr id="11" name="Google Shape;1603;p42">
                <a:extLst>
                  <a:ext uri="{FF2B5EF4-FFF2-40B4-BE49-F238E27FC236}">
                    <a16:creationId xmlns:a16="http://schemas.microsoft.com/office/drawing/2014/main" id="{54A3CC56-6A5E-262D-1C75-E1E5057C8693}"/>
                  </a:ext>
                </a:extLst>
              </p:cNvPr>
              <p:cNvSpPr txBox="1"/>
              <p:nvPr/>
            </p:nvSpPr>
            <p:spPr>
              <a:xfrm>
                <a:off x="522782" y="3386840"/>
                <a:ext cx="8621218" cy="1623496"/>
              </a:xfrm>
              <a:prstGeom prst="rect">
                <a:avLst/>
              </a:prstGeom>
              <a:noFill/>
              <a:ln>
                <a:noFill/>
              </a:ln>
            </p:spPr>
            <p:txBody>
              <a:bodyPr spcFirstLastPara="1" wrap="square" lIns="91425" tIns="182875" rIns="91425" bIns="0" anchor="t" anchorCtr="0">
                <a:noAutofit/>
              </a:bodyPr>
              <a:lstStyle/>
              <a:p>
                <a:r>
                  <a:rPr lang="es-MX" sz="1600" b="1" dirty="0">
                    <a:solidFill>
                      <a:schemeClr val="tx2"/>
                    </a:solidFill>
                    <a:latin typeface="Fira Sans Condensed Light" panose="020B0403050000020004" pitchFamily="34" charset="0"/>
                  </a:rPr>
                  <a:t>g(q) — Vector de gravedad</a:t>
                </a:r>
              </a:p>
              <a:p>
                <a:r>
                  <a:rPr lang="es-MX" sz="1600" dirty="0">
                    <a:solidFill>
                      <a:schemeClr val="tx2"/>
                    </a:solidFill>
                    <a:latin typeface="Fira Sans Condensed Light" panose="020B0403050000020004" pitchFamily="34" charset="0"/>
                  </a:rPr>
                  <a:t>Representa los torques causados por la gravedad sobre cada eslabón.</a:t>
                </a:r>
              </a:p>
              <a:p>
                <a:r>
                  <a:rPr lang="es-MX" sz="1600" dirty="0">
                    <a:solidFill>
                      <a:schemeClr val="tx2"/>
                    </a:solidFill>
                    <a:latin typeface="Fira Sans Condensed Light" panose="020B0403050000020004" pitchFamily="34" charset="0"/>
                  </a:rPr>
                  <a:t>Depende únicamente de:</a:t>
                </a:r>
              </a:p>
              <a:p>
                <a14:m>
                  <m:oMathPara xmlns:m="http://schemas.openxmlformats.org/officeDocument/2006/math">
                    <m:oMathParaPr>
                      <m:jc m:val="centerGroup"/>
                    </m:oMathParaPr>
                    <m:oMath xmlns:m="http://schemas.openxmlformats.org/officeDocument/2006/math">
                      <m:r>
                        <a:rPr lang="es-MX" sz="1600" b="1" i="1">
                          <a:solidFill>
                            <a:schemeClr val="tx2"/>
                          </a:solidFill>
                        </a:rPr>
                        <m:t>𝒒</m:t>
                      </m:r>
                    </m:oMath>
                  </m:oMathPara>
                </a14:m>
                <a:endParaRPr lang="es-MX" sz="1600" b="1" dirty="0">
                  <a:solidFill>
                    <a:schemeClr val="tx2"/>
                  </a:solidFill>
                  <a:latin typeface="Fira Sans Condensed Light" panose="020B0403050000020004" pitchFamily="34" charset="0"/>
                </a:endParaRPr>
              </a:p>
            </p:txBody>
          </p:sp>
        </mc:Choice>
        <mc:Fallback>
          <p:sp>
            <p:nvSpPr>
              <p:cNvPr id="11" name="Google Shape;1603;p42">
                <a:extLst>
                  <a:ext uri="{FF2B5EF4-FFF2-40B4-BE49-F238E27FC236}">
                    <a16:creationId xmlns:a16="http://schemas.microsoft.com/office/drawing/2014/main" id="{54A3CC56-6A5E-262D-1C75-E1E5057C8693}"/>
                  </a:ext>
                </a:extLst>
              </p:cNvPr>
              <p:cNvSpPr txBox="1">
                <a:spLocks noRot="1" noChangeAspect="1" noMove="1" noResize="1" noEditPoints="1" noAdjustHandles="1" noChangeArrowheads="1" noChangeShapeType="1" noTextEdit="1"/>
              </p:cNvSpPr>
              <p:nvPr/>
            </p:nvSpPr>
            <p:spPr>
              <a:xfrm>
                <a:off x="522782" y="3386840"/>
                <a:ext cx="8621218" cy="1623496"/>
              </a:xfrm>
              <a:prstGeom prst="rect">
                <a:avLst/>
              </a:prstGeom>
              <a:blipFill>
                <a:blip r:embed="rId5"/>
                <a:stretch>
                  <a:fillRect l="-424"/>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759175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5D861F1B-929B-26FC-316F-52694A6ADB32}"/>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08DCA23F-CCA8-731A-F2A9-D478CA20F5EB}"/>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936ABA43-0496-3796-DA60-E6D2F64975C5}"/>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CB1DA039-94B4-1230-F126-CB5BF81D4335}"/>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3" name="Google Shape;1603;p42">
            <a:extLst>
              <a:ext uri="{FF2B5EF4-FFF2-40B4-BE49-F238E27FC236}">
                <a16:creationId xmlns:a16="http://schemas.microsoft.com/office/drawing/2014/main" id="{F9E1AEDD-9A06-3FCC-A76D-D1B8055B9CE6}"/>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7F2FE31A-62B4-1A9D-A4E9-67AD7D2976ED}"/>
              </a:ext>
            </a:extLst>
          </p:cNvPr>
          <p:cNvSpPr txBox="1"/>
          <p:nvPr/>
        </p:nvSpPr>
        <p:spPr>
          <a:xfrm>
            <a:off x="373910" y="2876324"/>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731028FA-2B6F-3C75-3E7D-581F13D224DE}"/>
              </a:ext>
            </a:extLst>
          </p:cNvPr>
          <p:cNvPicPr>
            <a:picLocks noChangeAspect="1"/>
          </p:cNvPicPr>
          <p:nvPr/>
        </p:nvPicPr>
        <p:blipFill>
          <a:blip r:embed="rId4"/>
          <a:stretch>
            <a:fillRect/>
          </a:stretch>
        </p:blipFill>
        <p:spPr>
          <a:xfrm>
            <a:off x="2320330" y="2814897"/>
            <a:ext cx="4061015" cy="359382"/>
          </a:xfrm>
          <a:prstGeom prst="rect">
            <a:avLst/>
          </a:prstGeom>
        </p:spPr>
      </p:pic>
      <mc:AlternateContent xmlns:mc="http://schemas.openxmlformats.org/markup-compatibility/2006">
        <mc:Choice xmlns:a14="http://schemas.microsoft.com/office/drawing/2010/main" Requires="a14">
          <p:sp>
            <p:nvSpPr>
              <p:cNvPr id="11" name="Google Shape;1603;p42">
                <a:extLst>
                  <a:ext uri="{FF2B5EF4-FFF2-40B4-BE49-F238E27FC236}">
                    <a16:creationId xmlns:a16="http://schemas.microsoft.com/office/drawing/2014/main" id="{3A3250C1-4417-843F-06E1-DC74404F74E8}"/>
                  </a:ext>
                </a:extLst>
              </p:cNvPr>
              <p:cNvSpPr txBox="1"/>
              <p:nvPr/>
            </p:nvSpPr>
            <p:spPr>
              <a:xfrm>
                <a:off x="373910" y="3216412"/>
                <a:ext cx="8850310" cy="1623496"/>
              </a:xfrm>
              <a:prstGeom prst="rect">
                <a:avLst/>
              </a:prstGeom>
              <a:noFill/>
              <a:ln>
                <a:noFill/>
              </a:ln>
            </p:spPr>
            <p:txBody>
              <a:bodyPr spcFirstLastPara="1" wrap="square" lIns="91425" tIns="182875" rIns="91425" bIns="0" anchor="t" anchorCtr="0">
                <a:noAutofit/>
              </a:bodyPr>
              <a:lstStyle/>
              <a:p>
                <a14:m>
                  <m:oMath xmlns:m="http://schemas.openxmlformats.org/officeDocument/2006/math">
                    <m:sSub>
                      <m:sSubPr>
                        <m:ctrlPr>
                          <a:rPr lang="ar-AE" sz="1600" b="1" i="1" smtClean="0">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𝒇</m:t>
                        </m:r>
                      </m:e>
                      <m:sub>
                        <m:r>
                          <a:rPr lang="es-MX" sz="1600" b="1" i="1" smtClean="0">
                            <a:solidFill>
                              <a:schemeClr val="tx2"/>
                            </a:solidFill>
                            <a:latin typeface="Cambria Math" panose="02040503050406030204" pitchFamily="18" charset="0"/>
                          </a:rPr>
                          <m:t>𝒇</m:t>
                        </m:r>
                      </m:sub>
                    </m:sSub>
                    <m:r>
                      <a:rPr lang="ar-AE" sz="1600" b="1" i="1">
                        <a:solidFill>
                          <a:schemeClr val="tx2"/>
                        </a:solidFill>
                        <a:latin typeface="Cambria Math" panose="02040503050406030204" pitchFamily="18" charset="0"/>
                      </a:rPr>
                      <m:t> </m:t>
                    </m:r>
                  </m:oMath>
                </a14:m>
                <a:r>
                  <a:rPr lang="es-MX" sz="1600" b="1" dirty="0">
                    <a:solidFill>
                      <a:schemeClr val="tx2"/>
                    </a:solidFill>
                    <a:latin typeface="Fira Sans Condensed Light" panose="020B0403050000020004" pitchFamily="34" charset="0"/>
                  </a:rPr>
                  <a:t>​(</a:t>
                </a:r>
                <a14:m>
                  <m:oMath xmlns:m="http://schemas.openxmlformats.org/officeDocument/2006/math">
                    <m:acc>
                      <m:accPr>
                        <m:chr m:val="̇"/>
                        <m:ctrlPr>
                          <a:rPr lang="ar-AE" sz="1600" b="1" i="1">
                            <a:solidFill>
                              <a:schemeClr val="tx2"/>
                            </a:solidFill>
                            <a:latin typeface="Cambria Math" panose="02040503050406030204" pitchFamily="18" charset="0"/>
                          </a:rPr>
                        </m:ctrlPr>
                      </m:accPr>
                      <m:e>
                        <m:r>
                          <a:rPr lang="ar-AE" sz="1600" b="1" i="1">
                            <a:solidFill>
                              <a:schemeClr val="tx2"/>
                            </a:solidFill>
                            <a:latin typeface="Cambria Math" panose="02040503050406030204" pitchFamily="18" charset="0"/>
                          </a:rPr>
                          <m:t>𝒒</m:t>
                        </m:r>
                      </m:e>
                    </m:acc>
                  </m:oMath>
                </a14:m>
                <a:r>
                  <a:rPr lang="es-MX" sz="1600" b="1" dirty="0">
                    <a:solidFill>
                      <a:schemeClr val="tx2"/>
                    </a:solidFill>
                    <a:latin typeface="Fira Sans Condensed Light" panose="020B0403050000020004" pitchFamily="34" charset="0"/>
                  </a:rPr>
                  <a:t>,</a:t>
                </a:r>
                <a:r>
                  <a:rPr lang="ar-AE" sz="1600" b="1" dirty="0">
                    <a:solidFill>
                      <a:schemeClr val="tx2"/>
                    </a:solidFill>
                  </a:rPr>
                  <a:t> </a:t>
                </a:r>
                <a14:m>
                  <m:oMath xmlns:m="http://schemas.openxmlformats.org/officeDocument/2006/math">
                    <m:sSub>
                      <m:sSubPr>
                        <m:ctrlPr>
                          <a:rPr lang="ar-AE" sz="1600" b="1" i="1">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𝒇</m:t>
                        </m:r>
                      </m:e>
                      <m:sub>
                        <m:r>
                          <a:rPr lang="ar-AE" sz="1600" b="1" i="1">
                            <a:solidFill>
                              <a:schemeClr val="tx2"/>
                            </a:solidFill>
                            <a:latin typeface="Cambria Math" panose="02040503050406030204" pitchFamily="18" charset="0"/>
                          </a:rPr>
                          <m:t>𝒆</m:t>
                        </m:r>
                      </m:sub>
                    </m:sSub>
                    <m:r>
                      <a:rPr lang="ar-AE" sz="1600" b="1" i="1">
                        <a:solidFill>
                          <a:schemeClr val="tx2"/>
                        </a:solidFill>
                        <a:latin typeface="Cambria Math" panose="02040503050406030204" pitchFamily="18" charset="0"/>
                      </a:rPr>
                      <m:t> </m:t>
                    </m:r>
                  </m:oMath>
                </a14:m>
                <a:r>
                  <a:rPr lang="es-MX" sz="1600" b="1" dirty="0">
                    <a:solidFill>
                      <a:schemeClr val="tx2"/>
                    </a:solidFill>
                    <a:latin typeface="Fira Sans Condensed Light" panose="020B0403050000020004" pitchFamily="34" charset="0"/>
                  </a:rPr>
                  <a:t>​) — Fricción y fuerzas externas</a:t>
                </a:r>
                <a:r>
                  <a:rPr lang="es-MX" sz="1600" dirty="0">
                    <a:solidFill>
                      <a:schemeClr val="tx2"/>
                    </a:solidFill>
                    <a:latin typeface="Fira Sans Condensed Light" panose="020B0403050000020004" pitchFamily="34" charset="0"/>
                  </a:rPr>
                  <a:t>. Este término modela efectos no ideales. Incluye principalmente:</a:t>
                </a:r>
              </a:p>
              <a:p>
                <a:r>
                  <a:rPr lang="es-MX" sz="1600" dirty="0">
                    <a:solidFill>
                      <a:schemeClr val="tx2"/>
                    </a:solidFill>
                    <a:latin typeface="Fira Sans Condensed Light" panose="020B0403050000020004" pitchFamily="34" charset="0"/>
                  </a:rPr>
                  <a:t>Fricción en articulaciones</a:t>
                </a:r>
              </a:p>
              <a:p>
                <a:r>
                  <a:rPr lang="es-MX" sz="1600" dirty="0">
                    <a:solidFill>
                      <a:schemeClr val="tx2"/>
                    </a:solidFill>
                    <a:latin typeface="Fira Sans Condensed Light" panose="020B0403050000020004" pitchFamily="34" charset="0"/>
                  </a:rPr>
                  <a:t>Fricción viscosa                                                 </a:t>
                </a:r>
                <a14:m>
                  <m:oMath xmlns:m="http://schemas.openxmlformats.org/officeDocument/2006/math">
                    <m:sSub>
                      <m:sSubPr>
                        <m:ctrlPr>
                          <a:rPr lang="ar-AE" sz="1600" b="1">
                            <a:solidFill>
                              <a:schemeClr val="tx2"/>
                            </a:solidFill>
                          </a:rPr>
                        </m:ctrlPr>
                      </m:sSubPr>
                      <m:e>
                        <m:r>
                          <a:rPr lang="ar-AE" sz="1600" b="1" i="1">
                            <a:solidFill>
                              <a:schemeClr val="tx2"/>
                            </a:solidFill>
                          </a:rPr>
                          <m:t>𝒇</m:t>
                        </m:r>
                      </m:e>
                      <m:sub>
                        <m:r>
                          <a:rPr lang="ar-AE" sz="1600" b="1" i="1">
                            <a:solidFill>
                              <a:schemeClr val="tx2"/>
                            </a:solidFill>
                          </a:rPr>
                          <m:t>𝒗</m:t>
                        </m:r>
                      </m:sub>
                    </m:sSub>
                    <m:r>
                      <a:rPr lang="ar-AE" sz="1600" b="1">
                        <a:solidFill>
                          <a:schemeClr val="tx2"/>
                        </a:solidFill>
                      </a:rPr>
                      <m:t>=</m:t>
                    </m:r>
                    <m:r>
                      <a:rPr lang="ar-AE" sz="1600" b="1" i="1">
                        <a:solidFill>
                          <a:schemeClr val="tx2"/>
                        </a:solidFill>
                      </a:rPr>
                      <m:t>𝑩</m:t>
                    </m:r>
                    <m:acc>
                      <m:accPr>
                        <m:chr m:val="̇"/>
                        <m:ctrlPr>
                          <a:rPr lang="ar-AE" sz="1600" b="1" i="1">
                            <a:solidFill>
                              <a:schemeClr val="tx2"/>
                            </a:solidFill>
                          </a:rPr>
                        </m:ctrlPr>
                      </m:accPr>
                      <m:e>
                        <m:r>
                          <a:rPr lang="ar-AE" sz="1600" b="1" i="1">
                            <a:solidFill>
                              <a:schemeClr val="tx2"/>
                            </a:solidFill>
                          </a:rPr>
                          <m:t>𝒒</m:t>
                        </m:r>
                      </m:e>
                    </m:acc>
                  </m:oMath>
                </a14:m>
                <a:endParaRPr lang="ar-AE" sz="1600" b="1" dirty="0">
                  <a:solidFill>
                    <a:schemeClr val="tx2"/>
                  </a:solidFill>
                  <a:latin typeface="Fira Sans Condensed Light" panose="020B0403050000020004" pitchFamily="34" charset="0"/>
                </a:endParaRPr>
              </a:p>
              <a:p>
                <a:r>
                  <a:rPr lang="es-MX" sz="1600" dirty="0">
                    <a:solidFill>
                      <a:schemeClr val="tx2"/>
                    </a:solidFill>
                    <a:latin typeface="Fira Sans Condensed Light" panose="020B0403050000020004" pitchFamily="34" charset="0"/>
                  </a:rPr>
                  <a:t>Fricción de Coulomb                                         </a:t>
                </a:r>
                <a14:m>
                  <m:oMath xmlns:m="http://schemas.openxmlformats.org/officeDocument/2006/math">
                    <m:sSub>
                      <m:sSubPr>
                        <m:ctrlPr>
                          <a:rPr lang="ar-AE" sz="1600" b="1">
                            <a:solidFill>
                              <a:schemeClr val="tx2"/>
                            </a:solidFill>
                          </a:rPr>
                        </m:ctrlPr>
                      </m:sSubPr>
                      <m:e>
                        <m:r>
                          <a:rPr lang="ar-AE" sz="1600" b="1" i="1">
                            <a:solidFill>
                              <a:schemeClr val="tx2"/>
                            </a:solidFill>
                          </a:rPr>
                          <m:t>𝒇</m:t>
                        </m:r>
                      </m:e>
                      <m:sub>
                        <m:r>
                          <a:rPr lang="ar-AE" sz="1600" b="1" i="1">
                            <a:solidFill>
                              <a:schemeClr val="tx2"/>
                            </a:solidFill>
                          </a:rPr>
                          <m:t>𝒄</m:t>
                        </m:r>
                      </m:sub>
                    </m:sSub>
                    <m:r>
                      <a:rPr lang="ar-AE" sz="1600" b="1">
                        <a:solidFill>
                          <a:schemeClr val="tx2"/>
                        </a:solidFill>
                      </a:rPr>
                      <m:t>=</m:t>
                    </m:r>
                    <m:r>
                      <m:rPr>
                        <m:nor/>
                      </m:rPr>
                      <a:rPr lang="es-MX" sz="1600" b="1" i="1">
                        <a:solidFill>
                          <a:schemeClr val="tx2"/>
                        </a:solidFill>
                        <a:latin typeface="Fira Sans Condensed Light" panose="020B0403050000020004" pitchFamily="34" charset="0"/>
                      </a:rPr>
                      <m:t>sign</m:t>
                    </m:r>
                    <m:d>
                      <m:dPr>
                        <m:ctrlPr>
                          <a:rPr lang="ar-AE" sz="1600" b="1" i="1">
                            <a:solidFill>
                              <a:schemeClr val="tx2"/>
                            </a:solidFill>
                          </a:rPr>
                        </m:ctrlPr>
                      </m:dPr>
                      <m:e>
                        <m:acc>
                          <m:accPr>
                            <m:chr m:val="̇"/>
                            <m:ctrlPr>
                              <a:rPr lang="ar-AE" sz="1600" b="1" i="1">
                                <a:solidFill>
                                  <a:schemeClr val="tx2"/>
                                </a:solidFill>
                              </a:rPr>
                            </m:ctrlPr>
                          </m:accPr>
                          <m:e>
                            <m:r>
                              <a:rPr lang="ar-AE" sz="1600" b="1" i="1">
                                <a:solidFill>
                                  <a:schemeClr val="tx2"/>
                                </a:solidFill>
                              </a:rPr>
                              <m:t>𝒒</m:t>
                            </m:r>
                          </m:e>
                        </m:acc>
                      </m:e>
                    </m:d>
                  </m:oMath>
                </a14:m>
                <a:endParaRPr lang="ar-AE" sz="1600" b="1" dirty="0">
                  <a:solidFill>
                    <a:schemeClr val="tx2"/>
                  </a:solidFill>
                  <a:latin typeface="Fira Sans Condensed Light" panose="020B0403050000020004" pitchFamily="34" charset="0"/>
                </a:endParaRPr>
              </a:p>
              <a:p>
                <a:r>
                  <a:rPr lang="es-MX" sz="1600" dirty="0">
                    <a:solidFill>
                      <a:schemeClr val="tx2"/>
                    </a:solidFill>
                    <a:latin typeface="Fira Sans Condensed Light" panose="020B0403050000020004" pitchFamily="34" charset="0"/>
                  </a:rPr>
                  <a:t>Fuerzas externas                                              </a:t>
                </a:r>
                <a:r>
                  <a:rPr lang="es-MX" sz="1600" b="1" dirty="0">
                    <a:solidFill>
                      <a:schemeClr val="tx2"/>
                    </a:solidFill>
                    <a:latin typeface="Fira Sans Condensed Light" panose="020B0403050000020004" pitchFamily="34" charset="0"/>
                  </a:rPr>
                  <a:t> </a:t>
                </a:r>
                <a14:m>
                  <m:oMath xmlns:m="http://schemas.openxmlformats.org/officeDocument/2006/math">
                    <m:sSub>
                      <m:sSubPr>
                        <m:ctrlPr>
                          <a:rPr lang="ar-AE" sz="1600" b="1">
                            <a:solidFill>
                              <a:schemeClr val="tx2"/>
                            </a:solidFill>
                          </a:rPr>
                        </m:ctrlPr>
                      </m:sSubPr>
                      <m:e>
                        <m:r>
                          <a:rPr lang="ar-AE" sz="1600" b="1" i="1">
                            <a:solidFill>
                              <a:schemeClr val="tx2"/>
                            </a:solidFill>
                          </a:rPr>
                          <m:t>𝒇</m:t>
                        </m:r>
                      </m:e>
                      <m:sub>
                        <m:r>
                          <a:rPr lang="ar-AE" sz="1600" b="1" i="1">
                            <a:solidFill>
                              <a:schemeClr val="tx2"/>
                            </a:solidFill>
                          </a:rPr>
                          <m:t>𝒆</m:t>
                        </m:r>
                      </m:sub>
                    </m:sSub>
                  </m:oMath>
                </a14:m>
                <a:endParaRPr lang="ar-AE" sz="1600" b="1" dirty="0">
                  <a:solidFill>
                    <a:schemeClr val="tx2"/>
                  </a:solidFill>
                  <a:latin typeface="Fira Sans Condensed Light" panose="020B0403050000020004" pitchFamily="34" charset="0"/>
                </a:endParaRPr>
              </a:p>
              <a:p>
                <a:r>
                  <a:rPr lang="es-MX" sz="1600" dirty="0">
                    <a:solidFill>
                      <a:schemeClr val="tx2"/>
                    </a:solidFill>
                    <a:latin typeface="Fira Sans Condensed Light" panose="020B0403050000020004" pitchFamily="34" charset="0"/>
                  </a:rPr>
                  <a:t>Fuerzas que actúan desde el entorno: contacto con objetos, interacción humano-robot y fuerzas de herramientas</a:t>
                </a:r>
              </a:p>
              <a:p>
                <a:pPr/>
                <a14:m>
                  <m:oMathPara xmlns:m="http://schemas.openxmlformats.org/officeDocument/2006/math">
                    <m:oMathParaPr>
                      <m:jc m:val="centerGroup"/>
                    </m:oMathParaPr>
                    <m:oMath xmlns:m="http://schemas.openxmlformats.org/officeDocument/2006/math">
                      <m:r>
                        <a:rPr lang="es-MX" sz="1600" b="1" i="1">
                          <a:solidFill>
                            <a:schemeClr val="tx2"/>
                          </a:solidFill>
                          <a:latin typeface="Cambria Math" panose="02040503050406030204" pitchFamily="18" charset="0"/>
                        </a:rPr>
                        <m:t>𝒒</m:t>
                      </m:r>
                    </m:oMath>
                  </m:oMathPara>
                </a14:m>
                <a:endParaRPr lang="es-MX" sz="1600" b="1" dirty="0">
                  <a:solidFill>
                    <a:schemeClr val="tx2"/>
                  </a:solidFill>
                  <a:latin typeface="Fira Sans Condensed Light" panose="020B0403050000020004" pitchFamily="34" charset="0"/>
                </a:endParaRPr>
              </a:p>
            </p:txBody>
          </p:sp>
        </mc:Choice>
        <mc:Fallback>
          <p:sp>
            <p:nvSpPr>
              <p:cNvPr id="11" name="Google Shape;1603;p42">
                <a:extLst>
                  <a:ext uri="{FF2B5EF4-FFF2-40B4-BE49-F238E27FC236}">
                    <a16:creationId xmlns:a16="http://schemas.microsoft.com/office/drawing/2014/main" id="{3A3250C1-4417-843F-06E1-DC74404F74E8}"/>
                  </a:ext>
                </a:extLst>
              </p:cNvPr>
              <p:cNvSpPr txBox="1">
                <a:spLocks noRot="1" noChangeAspect="1" noMove="1" noResize="1" noEditPoints="1" noAdjustHandles="1" noChangeArrowheads="1" noChangeShapeType="1" noTextEdit="1"/>
              </p:cNvSpPr>
              <p:nvPr/>
            </p:nvSpPr>
            <p:spPr>
              <a:xfrm>
                <a:off x="373910" y="3216412"/>
                <a:ext cx="8850310" cy="1623496"/>
              </a:xfrm>
              <a:prstGeom prst="rect">
                <a:avLst/>
              </a:prstGeom>
              <a:blipFill>
                <a:blip r:embed="rId5"/>
                <a:stretch>
                  <a:fillRect l="-344" b="-36842"/>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1747860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21583" y="1341233"/>
            <a:ext cx="4094322"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Inercia</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accent4"/>
                </a:solidFill>
                <a:latin typeface="Fira Sans Condensed Light" panose="020B0604020202020204" charset="0"/>
                <a:cs typeface="Times New Roman" panose="02020603050405020304" pitchFamily="18" charset="0"/>
              </a:rPr>
              <a:t>El efecto inercial </a:t>
            </a:r>
            <a:r>
              <a:rPr lang="es-ES" sz="1600" dirty="0">
                <a:solidFill>
                  <a:schemeClr val="accent4"/>
                </a:solidFill>
                <a:latin typeface="Fira Sans Condensed Light" panose="020B0604020202020204" charset="0"/>
                <a:cs typeface="Times New Roman" panose="02020603050405020304" pitchFamily="18" charset="0"/>
              </a:rPr>
              <a:t>significa el cambio de estado de movimiento del robot manipulador. </a:t>
            </a:r>
            <a:r>
              <a:rPr lang="es-MX" sz="1600" dirty="0">
                <a:solidFill>
                  <a:schemeClr val="accent4"/>
                </a:solidFill>
                <a:latin typeface="Fira Sans Condensed Light" panose="020B0604020202020204" charset="0"/>
                <a:cs typeface="Times New Roman" panose="02020603050405020304" pitchFamily="18" charset="0"/>
              </a:rPr>
              <a:t>El efecto inercial en robots es la resistencia que presentan los componentes (eslabones, articulaciones, carga útil) a cambiar su estado de movimiento, ya sea iniciar, detener o modificar la velocidad/dirección. Depende de la masa, la carga útil y la distancia al centro de gravedad, afectando el control preciso y la estabilidad.</a:t>
            </a:r>
            <a:r>
              <a:rPr lang="es-ES" sz="1600" dirty="0">
                <a:solidFill>
                  <a:schemeClr val="accent4"/>
                </a:solidFill>
                <a:latin typeface="Fira Sans Condensed Light" panose="020B0604020202020204" charset="0"/>
                <a:cs typeface="Times New Roman" panose="02020603050405020304" pitchFamily="18" charset="0"/>
              </a:rPr>
              <a:t> </a:t>
            </a:r>
          </a:p>
        </p:txBody>
      </p:sp>
      <p:pic>
        <p:nvPicPr>
          <p:cNvPr id="2050" name="Picture 2" descr="Robots manipuladores - Robótica y automatización industrial - HURTADORIVAS">
            <a:extLst>
              <a:ext uri="{FF2B5EF4-FFF2-40B4-BE49-F238E27FC236}">
                <a16:creationId xmlns:a16="http://schemas.microsoft.com/office/drawing/2014/main" id="{14A9476A-616F-AD78-BBBE-7906CEAD40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9468" y="1137563"/>
            <a:ext cx="3485013" cy="3785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05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3" name="Google Shape;1603;p42">
            <a:extLst>
              <a:ext uri="{FF2B5EF4-FFF2-40B4-BE49-F238E27FC236}">
                <a16:creationId xmlns:a16="http://schemas.microsoft.com/office/drawing/2014/main" id="{96FEA3B8-573B-6452-2ACA-728E21BB251D}"/>
              </a:ext>
            </a:extLst>
          </p:cNvPr>
          <p:cNvSpPr txBox="1"/>
          <p:nvPr/>
        </p:nvSpPr>
        <p:spPr>
          <a:xfrm>
            <a:off x="229092" y="1258663"/>
            <a:ext cx="6171708"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Fuerzas centrípetas y de Coriolis</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Las fuerzas centrípetas son fuerzas radiales, teniendo un signo contrario a las fuerzas centrífugas. La fuerza de Coriolis representa una desviación del movimiento de translación debido a su componente en rotación. </a:t>
            </a:r>
          </a:p>
        </p:txBody>
      </p:sp>
      <p:pic>
        <p:nvPicPr>
          <p:cNvPr id="3074" name="Picture 2" descr="Fuerza centrípeta - EcuRed">
            <a:extLst>
              <a:ext uri="{FF2B5EF4-FFF2-40B4-BE49-F238E27FC236}">
                <a16:creationId xmlns:a16="http://schemas.microsoft.com/office/drawing/2014/main" id="{C31FFD7A-11F7-740C-4C58-B8E435D6DE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3622" y="2479537"/>
            <a:ext cx="4183643" cy="2637848"/>
          </a:xfrm>
          <a:prstGeom prst="rect">
            <a:avLst/>
          </a:prstGeom>
          <a:solidFill>
            <a:srgbClr val="FFFFFF"/>
          </a:solidFill>
        </p:spPr>
      </p:pic>
      <p:pic>
        <p:nvPicPr>
          <p:cNvPr id="2050" name="Picture 2" descr="robótica #automatización #ingeniería #controldinámico #cinemática | Rogelio  Domínguez Gutiérrez">
            <a:extLst>
              <a:ext uri="{FF2B5EF4-FFF2-40B4-BE49-F238E27FC236}">
                <a16:creationId xmlns:a16="http://schemas.microsoft.com/office/drawing/2014/main" id="{D0DA7C8A-5322-EF62-6615-291F30648AD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4894"/>
          <a:stretch>
            <a:fillRect/>
          </a:stretch>
        </p:blipFill>
        <p:spPr bwMode="auto">
          <a:xfrm>
            <a:off x="6400800" y="1621813"/>
            <a:ext cx="2665095" cy="3402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1172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0681" y="1316304"/>
            <a:ext cx="3485286"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Par gravitacional </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MX" sz="1600" dirty="0">
                <a:solidFill>
                  <a:schemeClr val="accent4"/>
                </a:solidFill>
                <a:latin typeface="Fira Sans Condensed Light" panose="020B0604020202020204" charset="0"/>
                <a:cs typeface="Times New Roman" panose="02020603050405020304" pitchFamily="18" charset="0"/>
              </a:rPr>
              <a:t>El par gravitacional en robótica es el torque </a:t>
            </a:r>
            <a:r>
              <a:rPr lang="es-MX" sz="1600" b="1" dirty="0">
                <a:solidFill>
                  <a:schemeClr val="accent4"/>
                </a:solidFill>
                <a:latin typeface="Fira Sans Condensed Light" panose="020B0604020202020204" charset="0"/>
                <a:cs typeface="Times New Roman" panose="02020603050405020304" pitchFamily="18" charset="0"/>
              </a:rPr>
              <a:t>(momento de fuerza) </a:t>
            </a:r>
            <a:r>
              <a:rPr lang="es-MX" sz="1600" dirty="0">
                <a:solidFill>
                  <a:schemeClr val="accent4"/>
                </a:solidFill>
                <a:latin typeface="Fira Sans Condensed Light" panose="020B0604020202020204" charset="0"/>
                <a:cs typeface="Times New Roman" panose="02020603050405020304" pitchFamily="18" charset="0"/>
              </a:rPr>
              <a:t>que la gravedad ejerce sobre las articulaciones de un robot debido al peso de sus propios eslabones y la carga que transporta. Este par varía según la configuración geométrica del robot, y </a:t>
            </a:r>
            <a:r>
              <a:rPr lang="es-MX" sz="1600" b="1" dirty="0">
                <a:solidFill>
                  <a:schemeClr val="accent4"/>
                </a:solidFill>
                <a:latin typeface="Fira Sans Condensed Light" panose="020B0604020202020204" charset="0"/>
                <a:cs typeface="Times New Roman" panose="02020603050405020304" pitchFamily="18" charset="0"/>
              </a:rPr>
              <a:t>debe compensarse </a:t>
            </a:r>
            <a:r>
              <a:rPr lang="es-MX" sz="1600" dirty="0">
                <a:solidFill>
                  <a:schemeClr val="accent4"/>
                </a:solidFill>
                <a:latin typeface="Fira Sans Condensed Light" panose="020B0604020202020204" charset="0"/>
                <a:cs typeface="Times New Roman" panose="02020603050405020304" pitchFamily="18" charset="0"/>
              </a:rPr>
              <a:t>mediante los actuadores (motores) para mantener la posición o moverse con precisión.</a:t>
            </a:r>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1026" name="Picture 2" descr="Robot colaborativo para cargas pesadas | Mundo EXPO PACK">
            <a:extLst>
              <a:ext uri="{FF2B5EF4-FFF2-40B4-BE49-F238E27FC236}">
                <a16:creationId xmlns:a16="http://schemas.microsoft.com/office/drawing/2014/main" id="{DC16943C-9B6C-81C4-71DF-2ABAFA37CA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1606" y="1472524"/>
            <a:ext cx="4978386" cy="3450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449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61391" y="1234922"/>
            <a:ext cx="8621218"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Fenómeno de fricción</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fenómeno de fricción tiene el efecto físico de oponerse al movimiento del robot; su característica principal es un fenómeno disipativo en velocidades diferentes a 0 y con entradas acotadas desde el primer y tercer cuadrante, lo que permite considerar los modelos tradicionales de fricción viscosa, Coulomb y estática. La característica disipativa de la fricción significa que convierte la energía mecánica en energía térmica.</a:t>
            </a:r>
          </a:p>
        </p:txBody>
      </p:sp>
      <p:pic>
        <p:nvPicPr>
          <p:cNvPr id="5124" name="Picture 4" descr="Célula Automática de Soldado por Fricción BWF-30 | AFM">
            <a:extLst>
              <a:ext uri="{FF2B5EF4-FFF2-40B4-BE49-F238E27FC236}">
                <a16:creationId xmlns:a16="http://schemas.microsoft.com/office/drawing/2014/main" id="{3F5DA859-562E-7352-15FC-8A1287CB35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0965" y="2831624"/>
            <a:ext cx="3232882" cy="2153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26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Metodología Euler-Lagrange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Lagrangiano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24478" y="1277561"/>
            <a:ext cx="2903840"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Obtención del Modelo Dinámico</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176714" y="1660861"/>
            <a:ext cx="3176085"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A continuación, se describe la metodología de las ecuaciones de movimiento de Euler-Lagrange, aplicada a robots manipuladores.</a:t>
            </a:r>
          </a:p>
          <a:p>
            <a:pPr algn="just"/>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MX" sz="1600" i="1" dirty="0">
                <a:solidFill>
                  <a:schemeClr val="tx2"/>
                </a:solidFill>
                <a:latin typeface="Fira Sans Condensed Light" panose="020B0403050000020004" pitchFamily="34" charset="0"/>
              </a:rPr>
              <a:t>“Es la </a:t>
            </a:r>
            <a:r>
              <a:rPr lang="es-MX" sz="1600" b="1" i="1" dirty="0">
                <a:solidFill>
                  <a:schemeClr val="tx2"/>
                </a:solidFill>
                <a:latin typeface="Fira Sans Condensed Light" panose="020B0403050000020004" pitchFamily="34" charset="0"/>
              </a:rPr>
              <a:t>derivada total </a:t>
            </a:r>
            <a:r>
              <a:rPr lang="es-MX" sz="1600" i="1" dirty="0">
                <a:solidFill>
                  <a:schemeClr val="tx2"/>
                </a:solidFill>
                <a:latin typeface="Fira Sans Condensed Light" panose="020B0403050000020004" pitchFamily="34" charset="0"/>
              </a:rPr>
              <a:t>respecto al tiempo de la </a:t>
            </a:r>
            <a:r>
              <a:rPr lang="es-MX" sz="1600" b="1" i="1" dirty="0">
                <a:solidFill>
                  <a:schemeClr val="tx2"/>
                </a:solidFill>
                <a:latin typeface="Fira Sans Condensed Light" panose="020B0403050000020004" pitchFamily="34" charset="0"/>
              </a:rPr>
              <a:t>derivada parcial </a:t>
            </a:r>
            <a:r>
              <a:rPr lang="es-MX" sz="1600" i="1" dirty="0">
                <a:solidFill>
                  <a:schemeClr val="tx2"/>
                </a:solidFill>
                <a:latin typeface="Fira Sans Condensed Light" panose="020B0403050000020004" pitchFamily="34" charset="0"/>
              </a:rPr>
              <a:t>del </a:t>
            </a:r>
            <a:r>
              <a:rPr lang="es-MX" sz="1600" i="1" dirty="0" err="1">
                <a:solidFill>
                  <a:schemeClr val="tx2"/>
                </a:solidFill>
                <a:latin typeface="Fira Sans Condensed Light" panose="020B0403050000020004" pitchFamily="34" charset="0"/>
              </a:rPr>
              <a:t>lagrangiano</a:t>
            </a:r>
            <a:r>
              <a:rPr lang="es-MX" sz="1600" i="1" dirty="0">
                <a:solidFill>
                  <a:schemeClr val="tx2"/>
                </a:solidFill>
                <a:latin typeface="Fira Sans Condensed Light" panose="020B0403050000020004" pitchFamily="34" charset="0"/>
              </a:rPr>
              <a:t> con respecto a la velocidad generalizada, menos la </a:t>
            </a:r>
            <a:r>
              <a:rPr lang="es-MX" sz="1600" b="1" i="1" dirty="0">
                <a:solidFill>
                  <a:schemeClr val="tx2"/>
                </a:solidFill>
                <a:latin typeface="Fira Sans Condensed Light" panose="020B0403050000020004" pitchFamily="34" charset="0"/>
              </a:rPr>
              <a:t>derivada parcial </a:t>
            </a:r>
            <a:r>
              <a:rPr lang="es-MX" sz="1600" i="1" dirty="0">
                <a:solidFill>
                  <a:schemeClr val="tx2"/>
                </a:solidFill>
                <a:latin typeface="Fira Sans Condensed Light" panose="020B0403050000020004" pitchFamily="34" charset="0"/>
              </a:rPr>
              <a:t>del </a:t>
            </a:r>
            <a:r>
              <a:rPr lang="es-MX" sz="1600" i="1" dirty="0" err="1">
                <a:solidFill>
                  <a:schemeClr val="tx2"/>
                </a:solidFill>
                <a:latin typeface="Fira Sans Condensed Light" panose="020B0403050000020004" pitchFamily="34" charset="0"/>
              </a:rPr>
              <a:t>lagrangiano</a:t>
            </a:r>
            <a:r>
              <a:rPr lang="es-MX" sz="1600" i="1" dirty="0">
                <a:solidFill>
                  <a:schemeClr val="tx2"/>
                </a:solidFill>
                <a:latin typeface="Fira Sans Condensed Light" panose="020B0403050000020004" pitchFamily="34" charset="0"/>
              </a:rPr>
              <a:t> con respecto a la coordenada generalizada.</a:t>
            </a:r>
          </a:p>
          <a:p>
            <a:pPr algn="just"/>
            <a:r>
              <a:rPr lang="es-MX" sz="1600" i="1" dirty="0">
                <a:solidFill>
                  <a:schemeClr val="tx2"/>
                </a:solidFill>
                <a:latin typeface="Fira Sans Condensed Light" panose="020B0403050000020004" pitchFamily="34" charset="0"/>
              </a:rPr>
              <a:t>𝑞”</a:t>
            </a:r>
            <a:endParaRPr lang="es-ES" sz="1600" b="1" i="1" dirty="0">
              <a:solidFill>
                <a:schemeClr val="tx2"/>
              </a:solidFill>
              <a:latin typeface="Fira Sans Condensed Light" panose="020B0403050000020004" pitchFamily="34" charset="0"/>
              <a:cs typeface="Times New Roman" panose="02020603050405020304" pitchFamily="18" charset="0"/>
            </a:endParaRPr>
          </a:p>
        </p:txBody>
      </p:sp>
      <p:pic>
        <p:nvPicPr>
          <p:cNvPr id="1026" name="Picture 2" descr="Introducción a la Ecuación de Euler-Lagrange - YouTube">
            <a:extLst>
              <a:ext uri="{FF2B5EF4-FFF2-40B4-BE49-F238E27FC236}">
                <a16:creationId xmlns:a16="http://schemas.microsoft.com/office/drawing/2014/main" id="{49C8D2DA-7CE9-68E0-42DF-DD4D3843F5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799" y="1660861"/>
            <a:ext cx="5643596" cy="3174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45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Metodología Euler-Lagrange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Lagrangiano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41604" y="1404790"/>
            <a:ext cx="2903840"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Obtención del Modelo Dinámico</a:t>
            </a:r>
          </a:p>
        </p:txBody>
      </p:sp>
      <p:pic>
        <p:nvPicPr>
          <p:cNvPr id="4" name="Imagen 3">
            <a:extLst>
              <a:ext uri="{FF2B5EF4-FFF2-40B4-BE49-F238E27FC236}">
                <a16:creationId xmlns:a16="http://schemas.microsoft.com/office/drawing/2014/main" id="{7C999086-2505-8C7D-F7B9-5E6C93B2E605}"/>
              </a:ext>
            </a:extLst>
          </p:cNvPr>
          <p:cNvPicPr>
            <a:picLocks noChangeAspect="1"/>
          </p:cNvPicPr>
          <p:nvPr/>
        </p:nvPicPr>
        <p:blipFill>
          <a:blip r:embed="rId4"/>
          <a:stretch>
            <a:fillRect/>
          </a:stretch>
        </p:blipFill>
        <p:spPr>
          <a:xfrm>
            <a:off x="1288439" y="1972041"/>
            <a:ext cx="6848475" cy="2676525"/>
          </a:xfrm>
          <a:prstGeom prst="rect">
            <a:avLst/>
          </a:prstGeom>
        </p:spPr>
      </p:pic>
    </p:spTree>
    <p:extLst>
      <p:ext uri="{BB962C8B-B14F-4D97-AF65-F5344CB8AC3E}">
        <p14:creationId xmlns:p14="http://schemas.microsoft.com/office/powerpoint/2010/main" val="143499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Metodología Euler-Lagrange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Lagrangiano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41604" y="1404790"/>
            <a:ext cx="2903840"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Obtención del Modelo Dinámico</a:t>
            </a:r>
          </a:p>
        </p:txBody>
      </p:sp>
      <p:pic>
        <p:nvPicPr>
          <p:cNvPr id="5" name="Imagen 4">
            <a:extLst>
              <a:ext uri="{FF2B5EF4-FFF2-40B4-BE49-F238E27FC236}">
                <a16:creationId xmlns:a16="http://schemas.microsoft.com/office/drawing/2014/main" id="{745530E0-14E9-2F8A-D1D1-2C6394D95B24}"/>
              </a:ext>
            </a:extLst>
          </p:cNvPr>
          <p:cNvPicPr>
            <a:picLocks noChangeAspect="1"/>
          </p:cNvPicPr>
          <p:nvPr/>
        </p:nvPicPr>
        <p:blipFill>
          <a:blip r:embed="rId4"/>
          <a:stretch>
            <a:fillRect/>
          </a:stretch>
        </p:blipFill>
        <p:spPr>
          <a:xfrm>
            <a:off x="1415195" y="1865260"/>
            <a:ext cx="6462713" cy="2893348"/>
          </a:xfrm>
          <a:prstGeom prst="rect">
            <a:avLst/>
          </a:prstGeom>
        </p:spPr>
      </p:pic>
    </p:spTree>
    <p:extLst>
      <p:ext uri="{BB962C8B-B14F-4D97-AF65-F5344CB8AC3E}">
        <p14:creationId xmlns:p14="http://schemas.microsoft.com/office/powerpoint/2010/main" val="507686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Metodología Euler-Lagrange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Lagrangiano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83268" y="1404790"/>
            <a:ext cx="2903840"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Obtención del Modelo Dinámico</a:t>
            </a:r>
          </a:p>
        </p:txBody>
      </p:sp>
      <p:pic>
        <p:nvPicPr>
          <p:cNvPr id="4" name="Imagen 3">
            <a:extLst>
              <a:ext uri="{FF2B5EF4-FFF2-40B4-BE49-F238E27FC236}">
                <a16:creationId xmlns:a16="http://schemas.microsoft.com/office/drawing/2014/main" id="{50D2D3A8-C768-00B5-F4A4-81207115E2F1}"/>
              </a:ext>
            </a:extLst>
          </p:cNvPr>
          <p:cNvPicPr>
            <a:picLocks noChangeAspect="1"/>
          </p:cNvPicPr>
          <p:nvPr/>
        </p:nvPicPr>
        <p:blipFill>
          <a:blip r:embed="rId4"/>
          <a:stretch>
            <a:fillRect/>
          </a:stretch>
        </p:blipFill>
        <p:spPr>
          <a:xfrm>
            <a:off x="2987108" y="1082217"/>
            <a:ext cx="6115333" cy="3883833"/>
          </a:xfrm>
          <a:prstGeom prst="rect">
            <a:avLst/>
          </a:prstGeom>
        </p:spPr>
      </p:pic>
    </p:spTree>
    <p:extLst>
      <p:ext uri="{BB962C8B-B14F-4D97-AF65-F5344CB8AC3E}">
        <p14:creationId xmlns:p14="http://schemas.microsoft.com/office/powerpoint/2010/main" val="270814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Metodología Euler-Lagrange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Lagrangiano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83268" y="1404790"/>
            <a:ext cx="2903840"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Obtención del Modelo Dinámico</a:t>
            </a:r>
          </a:p>
        </p:txBody>
      </p:sp>
      <p:pic>
        <p:nvPicPr>
          <p:cNvPr id="7" name="Imagen 6">
            <a:extLst>
              <a:ext uri="{FF2B5EF4-FFF2-40B4-BE49-F238E27FC236}">
                <a16:creationId xmlns:a16="http://schemas.microsoft.com/office/drawing/2014/main" id="{B7339A4B-589A-E1A8-6082-84D2ECE14622}"/>
              </a:ext>
            </a:extLst>
          </p:cNvPr>
          <p:cNvPicPr>
            <a:picLocks noChangeAspect="1"/>
          </p:cNvPicPr>
          <p:nvPr/>
        </p:nvPicPr>
        <p:blipFill>
          <a:blip r:embed="rId4"/>
          <a:stretch>
            <a:fillRect/>
          </a:stretch>
        </p:blipFill>
        <p:spPr>
          <a:xfrm>
            <a:off x="788029" y="2131090"/>
            <a:ext cx="7802404" cy="2405741"/>
          </a:xfrm>
          <a:prstGeom prst="rect">
            <a:avLst/>
          </a:prstGeom>
        </p:spPr>
      </p:pic>
    </p:spTree>
    <p:extLst>
      <p:ext uri="{BB962C8B-B14F-4D97-AF65-F5344CB8AC3E}">
        <p14:creationId xmlns:p14="http://schemas.microsoft.com/office/powerpoint/2010/main" val="415203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1" y="768707"/>
            <a:ext cx="8152636"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6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Modelado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lang="en-US" sz="3000" b="1" dirty="0">
                <a:solidFill>
                  <a:srgbClr val="F3F3F3"/>
                </a:solidFill>
                <a:latin typeface="Rajdhani"/>
                <a:ea typeface="Rajdhani"/>
                <a:cs typeface="Rajdhani"/>
                <a:sym typeface="Rajdhani"/>
              </a:rPr>
              <a:t>Energía y </a:t>
            </a:r>
            <a:r>
              <a:rPr lang="en-US" sz="3000" b="1" dirty="0" err="1">
                <a:solidFill>
                  <a:srgbClr val="F3F3F3"/>
                </a:solidFill>
                <a:latin typeface="Rajdhani"/>
                <a:ea typeface="Rajdhani"/>
                <a:cs typeface="Rajdhani"/>
                <a:sym typeface="Rajdhani"/>
              </a:rPr>
              <a:t>Lagrangiano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93077" y="1263592"/>
            <a:ext cx="8763167" cy="3350105"/>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6</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Obtener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modelo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energía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total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Lagrangiano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las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siguientes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configuraciones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robots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manipuladores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a:t>
            </a:r>
            <a:endParaRPr lang="en-U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                                        </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Imagen 1">
            <a:extLst>
              <a:ext uri="{FF2B5EF4-FFF2-40B4-BE49-F238E27FC236}">
                <a16:creationId xmlns:a16="http://schemas.microsoft.com/office/drawing/2014/main" id="{9CE7DD17-4E02-F4E3-F9B6-854D7BDA42C4}"/>
              </a:ext>
            </a:extLst>
          </p:cNvPr>
          <p:cNvPicPr>
            <a:picLocks noChangeAspect="1"/>
          </p:cNvPicPr>
          <p:nvPr/>
        </p:nvPicPr>
        <p:blipFill>
          <a:blip r:embed="rId4"/>
          <a:stretch>
            <a:fillRect/>
          </a:stretch>
        </p:blipFill>
        <p:spPr>
          <a:xfrm>
            <a:off x="3536249" y="2541791"/>
            <a:ext cx="2217293" cy="1911599"/>
          </a:xfrm>
          <a:prstGeom prst="rect">
            <a:avLst/>
          </a:prstGeom>
        </p:spPr>
      </p:pic>
      <p:pic>
        <p:nvPicPr>
          <p:cNvPr id="3" name="Picture 2" descr="1.4.- Grados de Libertad – Inteligencia Artificial">
            <a:extLst>
              <a:ext uri="{FF2B5EF4-FFF2-40B4-BE49-F238E27FC236}">
                <a16:creationId xmlns:a16="http://schemas.microsoft.com/office/drawing/2014/main" id="{FA4DB0A3-F3ED-6A03-11A0-3560A836F9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2461" y="2519941"/>
            <a:ext cx="1764708" cy="1955297"/>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48D4EE2D-5001-7550-8C49-20D020BCC938}"/>
              </a:ext>
            </a:extLst>
          </p:cNvPr>
          <p:cNvPicPr>
            <a:picLocks noChangeAspect="1"/>
          </p:cNvPicPr>
          <p:nvPr/>
        </p:nvPicPr>
        <p:blipFill>
          <a:blip r:embed="rId6"/>
          <a:stretch>
            <a:fillRect/>
          </a:stretch>
        </p:blipFill>
        <p:spPr>
          <a:xfrm>
            <a:off x="565826" y="2541791"/>
            <a:ext cx="2071504" cy="1911599"/>
          </a:xfrm>
          <a:prstGeom prst="rect">
            <a:avLst/>
          </a:prstGeom>
        </p:spPr>
      </p:pic>
      <p:sp>
        <p:nvSpPr>
          <p:cNvPr id="6" name="Google Shape;1603;p42">
            <a:extLst>
              <a:ext uri="{FF2B5EF4-FFF2-40B4-BE49-F238E27FC236}">
                <a16:creationId xmlns:a16="http://schemas.microsoft.com/office/drawing/2014/main" id="{858A6F43-65F4-820C-5DB8-6D2858AECF65}"/>
              </a:ext>
            </a:extLst>
          </p:cNvPr>
          <p:cNvSpPr txBox="1"/>
          <p:nvPr/>
        </p:nvSpPr>
        <p:spPr>
          <a:xfrm>
            <a:off x="679880" y="4306842"/>
            <a:ext cx="2217294"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Robot Péndulo (1gdl) </a:t>
            </a:r>
          </a:p>
        </p:txBody>
      </p:sp>
      <p:sp>
        <p:nvSpPr>
          <p:cNvPr id="7" name="Google Shape;1603;p42">
            <a:extLst>
              <a:ext uri="{FF2B5EF4-FFF2-40B4-BE49-F238E27FC236}">
                <a16:creationId xmlns:a16="http://schemas.microsoft.com/office/drawing/2014/main" id="{C5A8DFD0-025C-2B1B-61CE-28FA4F5DD664}"/>
              </a:ext>
            </a:extLst>
          </p:cNvPr>
          <p:cNvSpPr txBox="1"/>
          <p:nvPr/>
        </p:nvSpPr>
        <p:spPr>
          <a:xfrm>
            <a:off x="3625548" y="4330701"/>
            <a:ext cx="2217294"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Robot Rotacional (2gdl) </a:t>
            </a:r>
          </a:p>
        </p:txBody>
      </p:sp>
      <p:sp>
        <p:nvSpPr>
          <p:cNvPr id="8" name="Google Shape;1603;p42">
            <a:extLst>
              <a:ext uri="{FF2B5EF4-FFF2-40B4-BE49-F238E27FC236}">
                <a16:creationId xmlns:a16="http://schemas.microsoft.com/office/drawing/2014/main" id="{038A60BD-C404-0443-1561-B96589DB26F3}"/>
              </a:ext>
            </a:extLst>
          </p:cNvPr>
          <p:cNvSpPr txBox="1"/>
          <p:nvPr/>
        </p:nvSpPr>
        <p:spPr>
          <a:xfrm>
            <a:off x="6481916" y="4368777"/>
            <a:ext cx="2217294"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Robot Cartesiano (3gdl)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1" y="768707"/>
            <a:ext cx="7996994" cy="572700"/>
          </a:xfrm>
          <a:prstGeom prst="rect">
            <a:avLst/>
          </a:prstGeom>
          <a:noFill/>
          <a:ln>
            <a:noFill/>
          </a:ln>
        </p:spPr>
        <p:txBody>
          <a:bodyPr spcFirstLastPara="1" wrap="square" lIns="91425" tIns="91425" rIns="91425" bIns="91425" anchor="t" anchorCtr="0">
            <a:noAutofit/>
          </a:bodyPr>
          <a:lstStyle/>
          <a:p>
            <a:pPr lvl="0">
              <a:buClr>
                <a:srgbClr val="F3F3F3"/>
              </a:buClr>
              <a:buSzPts val="3000"/>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6 </a:t>
            </a:r>
            <a:r>
              <a:rPr lang="en-US" sz="3000" b="1" dirty="0">
                <a:solidFill>
                  <a:srgbClr val="F3F3F3"/>
                </a:solidFill>
                <a:latin typeface="Rajdhani"/>
                <a:ea typeface="Rajdhani"/>
                <a:cs typeface="Rajdhani"/>
                <a:sym typeface="Rajdhani"/>
              </a:rPr>
              <a:t>(</a:t>
            </a:r>
            <a:r>
              <a:rPr lang="en-US" sz="3000" b="1" dirty="0" err="1">
                <a:solidFill>
                  <a:srgbClr val="F3F3F3"/>
                </a:solidFill>
                <a:latin typeface="Rajdhani"/>
                <a:ea typeface="Rajdhani"/>
                <a:cs typeface="Rajdhani"/>
                <a:sym typeface="Rajdhani"/>
              </a:rPr>
              <a:t>Modelado</a:t>
            </a:r>
            <a:r>
              <a:rPr lang="en-US" sz="3000" b="1" dirty="0">
                <a:solidFill>
                  <a:srgbClr val="F3F3F3"/>
                </a:solidFill>
                <a:latin typeface="Rajdhani"/>
                <a:ea typeface="Rajdhani"/>
                <a:cs typeface="Rajdhani"/>
                <a:sym typeface="Rajdhani"/>
              </a:rPr>
              <a:t> de Energía y </a:t>
            </a:r>
            <a:r>
              <a:rPr lang="en-US" sz="3000" b="1" dirty="0" err="1">
                <a:solidFill>
                  <a:srgbClr val="F3F3F3"/>
                </a:solidFill>
                <a:latin typeface="Rajdhani"/>
                <a:ea typeface="Rajdhani"/>
                <a:cs typeface="Rajdhani"/>
                <a:sym typeface="Rajdhani"/>
              </a:rPr>
              <a:t>Lagrangiano</a:t>
            </a:r>
            <a:r>
              <a:rPr lang="en-US" sz="3000" b="1" dirty="0">
                <a:solidFill>
                  <a:srgbClr val="F3F3F3"/>
                </a:solidFill>
                <a:latin typeface="Rajdhani"/>
                <a:ea typeface="Rajdhani"/>
                <a:cs typeface="Rajdhani"/>
                <a:sym typeface="Rajdhani"/>
              </a:rPr>
              <a:t>)</a:t>
            </a:r>
            <a:endParaRPr lang="en-US" sz="3000" b="1" dirty="0">
              <a:solidFill>
                <a:schemeClr val="tx2"/>
              </a:solidFill>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98482" y="1583097"/>
            <a:ext cx="8763167" cy="1784408"/>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3.</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Generar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un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reporte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pasos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poder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obtener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energía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total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Lagrangiano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Incluir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Código </a:t>
            </a:r>
            <a:r>
              <a:rPr lang="en-US" sz="1600" b="1" dirty="0" err="1">
                <a:solidFill>
                  <a:schemeClr val="tx2"/>
                </a:solidFill>
                <a:latin typeface="Fira Sans Condensed Light" panose="020B0604020202020204" charset="0"/>
                <a:cs typeface="Times New Roman" panose="02020603050405020304" pitchFamily="18" charset="0"/>
              </a:rPr>
              <a:t>en</a:t>
            </a:r>
            <a:r>
              <a:rPr lang="en-US" sz="1600" b="1" dirty="0">
                <a:solidFill>
                  <a:schemeClr val="tx2"/>
                </a:solidFill>
                <a:latin typeface="Fira Sans Condensed Light" panose="020B0604020202020204" charset="0"/>
                <a:cs typeface="Times New Roman" panose="02020603050405020304" pitchFamily="18" charset="0"/>
              </a:rPr>
              <a:t>    MATLAB</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err="1">
                <a:solidFill>
                  <a:schemeClr val="tx2"/>
                </a:solidFill>
                <a:latin typeface="Fira Sans Condensed Light" panose="020B0604020202020204" charset="0"/>
                <a:cs typeface="Times New Roman" panose="02020603050405020304" pitchFamily="18" charset="0"/>
              </a:rPr>
              <a:t>Subir</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r>
              <a:rPr lang="es-ES" sz="1600" b="1" dirty="0">
                <a:solidFill>
                  <a:schemeClr val="tx2"/>
                </a:solidFill>
                <a:latin typeface="Fira Sans Condensed Light" panose="020B0604020202020204" charset="0"/>
                <a:cs typeface="Times New Roman" panose="02020603050405020304" pitchFamily="18" charset="0"/>
              </a:rPr>
              <a:t>                                        </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768692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a:t>https://itesm.zoom.us/j/9648719322</a:t>
            </a:r>
            <a:endParaRPr lang="es-ES" dirty="0"/>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16138</TotalTime>
  <Words>1843</Words>
  <Application>Microsoft Office PowerPoint</Application>
  <PresentationFormat>Presentación en pantalla (16:9)</PresentationFormat>
  <Paragraphs>289</Paragraphs>
  <Slides>31</Slides>
  <Notes>31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31</vt:i4>
      </vt:variant>
    </vt:vector>
  </HeadingPairs>
  <TitlesOfParts>
    <vt:vector size="39" baseType="lpstr">
      <vt:lpstr>Fira Sans Condensed Light</vt:lpstr>
      <vt:lpstr>Anton</vt:lpstr>
      <vt:lpstr>Arial</vt:lpstr>
      <vt:lpstr>Advent Pro Light</vt:lpstr>
      <vt:lpstr>Cambria Math</vt:lpstr>
      <vt:lpstr>Rajdhani</vt:lpstr>
      <vt:lpstr>Fira Sans Extra Condensed Light</vt:lpstr>
      <vt:lpstr>Ai Tech Agency by Slidesgo</vt:lpstr>
      <vt:lpstr>Presentación de PowerPoint</vt:lpstr>
      <vt:lpstr>Bienvenida</vt:lpstr>
      <vt:lpstr>Presentación de PowerPoint</vt:lpstr>
      <vt:lpstr>Clase Anterior</vt:lpstr>
      <vt:lpstr>Presentación de PowerPoint</vt:lpstr>
      <vt:lpstr>Presentación de PowerPoint</vt:lpstr>
      <vt:lpstr>Presentación de PowerPoint</vt:lpstr>
      <vt:lpstr>Presentación de PowerPoint</vt:lpstr>
      <vt:lpstr>Presentación de PowerPoint</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García Suárez</cp:lastModifiedBy>
  <cp:revision>324</cp:revision>
  <dcterms:modified xsi:type="dcterms:W3CDTF">2026-03-05T04:30:58Z</dcterms:modified>
</cp:coreProperties>
</file>