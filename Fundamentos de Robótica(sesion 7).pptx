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8"/>
  </p:notesMasterIdLst>
  <p:sldIdLst>
    <p:sldId id="256" r:id="rId2"/>
    <p:sldId id="357" r:id="rId3"/>
    <p:sldId id="358" r:id="rId4"/>
    <p:sldId id="364" r:id="rId5"/>
    <p:sldId id="508" r:id="rId6"/>
    <p:sldId id="509" r:id="rId7"/>
    <p:sldId id="510" r:id="rId8"/>
    <p:sldId id="511" r:id="rId9"/>
    <p:sldId id="513" r:id="rId10"/>
    <p:sldId id="514" r:id="rId11"/>
    <p:sldId id="515" r:id="rId12"/>
    <p:sldId id="516" r:id="rId13"/>
    <p:sldId id="517" r:id="rId14"/>
    <p:sldId id="518" r:id="rId15"/>
    <p:sldId id="519" r:id="rId16"/>
    <p:sldId id="520" r:id="rId17"/>
    <p:sldId id="521" r:id="rId18"/>
    <p:sldId id="522" r:id="rId19"/>
    <p:sldId id="523" r:id="rId20"/>
    <p:sldId id="524" r:id="rId21"/>
    <p:sldId id="525" r:id="rId22"/>
    <p:sldId id="526" r:id="rId23"/>
    <p:sldId id="527" r:id="rId24"/>
    <p:sldId id="528" r:id="rId25"/>
    <p:sldId id="529" r:id="rId26"/>
    <p:sldId id="484" r:id="rId27"/>
    <p:sldId id="489" r:id="rId28"/>
    <p:sldId id="490" r:id="rId29"/>
    <p:sldId id="491" r:id="rId30"/>
    <p:sldId id="492" r:id="rId31"/>
    <p:sldId id="486" r:id="rId32"/>
    <p:sldId id="487" r:id="rId33"/>
    <p:sldId id="456" r:id="rId34"/>
    <p:sldId id="512" r:id="rId35"/>
    <p:sldId id="471" r:id="rId36"/>
    <p:sldId id="280" r:id="rId37"/>
  </p:sldIdLst>
  <p:sldSz cx="9144000" cy="5143500" type="screen16x9"/>
  <p:notesSz cx="6858000" cy="9144000"/>
  <p:embeddedFontLst>
    <p:embeddedFont>
      <p:font typeface="Advent Pro Light" panose="020B0604020202020204" charset="0"/>
      <p:regular r:id="rId39"/>
      <p:bold r:id="rId40"/>
    </p:embeddedFont>
    <p:embeddedFont>
      <p:font typeface="Anton" pitchFamily="2" charset="0"/>
      <p:regular r:id="rId41"/>
    </p:embeddedFont>
    <p:embeddedFont>
      <p:font typeface="Cambria Math" panose="02040503050406030204" pitchFamily="18" charset="0"/>
      <p:regular r:id="rId42"/>
    </p:embeddedFont>
    <p:embeddedFont>
      <p:font typeface="Fira Sans Condensed Light" panose="020B0403050000020004" pitchFamily="34" charset="0"/>
      <p:regular r:id="rId43"/>
      <p:bold r:id="rId44"/>
      <p:italic r:id="rId45"/>
      <p:boldItalic r:id="rId46"/>
    </p:embeddedFont>
    <p:embeddedFont>
      <p:font typeface="Rajdhani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F828"/>
    <a:srgbClr val="EAFEE8"/>
    <a:srgbClr val="E8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62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D553AB94-0DE7-E62C-8B73-ABE5116F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BD5961CF-9FC2-9778-6E3E-F893330B8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A798D15-2B0B-D9ED-A414-80C162093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1009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F3E30476-8BD2-FFFE-6E1A-0AE0F649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05763B8-FD1A-73A2-CA83-1FE2B0C08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52F6AA1-6A67-4A9E-C307-DCC366804D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699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3B45CBEE-4275-2574-0458-EA883012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B788CB8-7C94-4406-8096-60CAFB41A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95F7C0B-10B7-E7D2-A50A-80DDCC8C2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2846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07CB764-66EA-EC4F-A98D-235DACD1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299FEFBF-1303-8DB3-8DC9-2FE4FC3EE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CB547095-7571-2C8D-9CC1-22ECBDD31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7249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17337EA-99A0-110D-0A4C-2FD36C69D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B245082-90B3-B3EB-0923-AF43662B7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B9D119D-0E13-42C4-3DA4-C2F4D3895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4413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AC7AFBB-34C3-6BDF-99BF-2D263CD4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EEFEC906-70A1-F0D6-6B1F-34D4295D4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7329397-4544-A5ED-A89A-3D75E1DAB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8657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D299DAD-9BAD-161F-9063-BDBD9CFD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455992F-9A2A-49C9-6823-A8E397DCA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89041E9-3B9A-E474-89D8-693410234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9422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B2815D27-522E-586B-2AAB-C074DAE8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85869EA-B303-54C4-1191-3025879F0B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A67FFB35-66E9-3B99-EDEB-8D93F794C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1094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911E3547-58A6-F3BF-BAD9-EB1876F4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E5341F33-C074-340B-8451-0378D13C56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D88FA6A6-8392-170A-5F33-333D68CB0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7787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2962F779-2F9B-D468-B7E2-35E20C3DC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F4684E3C-3CBF-B37F-31EA-DCC2854A8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A18C205D-BA01-B2D6-3152-A54DA0DECC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1580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CD8FED4-E473-E7BF-FEB3-D0F38C92D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4EAC24E9-346B-FE32-3B8C-7E43069B3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A50C59A3-07CC-8EB5-FEA4-317C1F4BF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2792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DD18E6BE-32EC-C353-1694-C12546C7C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350C5FE-D8D5-B156-EB03-88D86E75AD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C61AE68-40E0-E4F7-2B49-FFE7A88B7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5509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0074C3CA-8FF4-733D-C3A5-A3B0D7B4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15BE701-45B2-024F-B6C0-FB9BD9227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1AED15A-E9BE-0542-0785-480D6EA51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5658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92121077-408C-DD18-0F32-87EF56F49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3EAAF160-AD3B-944D-8CDF-69BC16CB0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ABF3E4A6-4177-C9B2-F394-5C1BCFD8C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47392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A5254FE0-2A2A-91D9-A9FB-53083A97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08A630B8-6AE2-A75E-0735-74C981BB1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B4CE38C-F644-18C3-6DB8-DE184A5FB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99350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2E6368B1-06B0-364A-ED57-6B645D03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C32C8FB-5A49-AE02-3E18-39F669177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E74F9A8-725A-16AD-8752-F856EE29C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9582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952E66E-9792-4C5A-541A-32BC281EB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089EED8-61DD-C4EE-12DF-ABF48C856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29EF8A9-8D17-F0B4-3088-B64B2980E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32897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5AEA04A-B311-5B5D-D649-AEE3A72D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E560682-BF2B-2435-FC70-8E14AF253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22AAB0D-6456-26C8-2603-233770C01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49066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667BE982-D031-07E8-3D9A-E74DEF86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8A68578-D41D-FB41-7170-98ECBBBF8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BEA687B-3E1F-0F79-20EB-DF6D4E45B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44398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C269C461-8920-6AD9-D8C4-53D975A9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23EC6236-8BA9-A2EE-238D-B8C2DCBB0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09A636A-3C3B-4B19-405A-5D4448F23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358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7FE68CF3-3079-0710-3CF7-6D65E2F9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64B5C77-D530-EE2E-F626-23A8AE724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B799DC8-7323-7535-D7EF-F52C307D0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28311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505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33697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69207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51101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34395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7525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52603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52690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25F1DC8E-D6A6-D950-74C4-62B12891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3CA5BF1-F970-FDBF-2D6D-B519A2A6F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DC5933D-19D1-5466-CFCD-B11213D0C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960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44706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TE3001B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Fundamentos de Robótica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24 de Febrero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“Un modelo matemático de un sistema dinámico es un conjunto de ecuaciones que representan la dinámica del sistema con precisión.”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Robots industriales en cifras: así ha aumentado su stock mundial y densidad  por región · THE LOGISTICS WORLD | Conéctate e inspírate.">
            <a:extLst>
              <a:ext uri="{FF2B5EF4-FFF2-40B4-BE49-F238E27FC236}">
                <a16:creationId xmlns:a16="http://schemas.microsoft.com/office/drawing/2014/main" id="{2B53735F-DDFD-1DF0-302F-152E3F980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1" y="1468611"/>
            <a:ext cx="3935582" cy="262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49" y="3290550"/>
            <a:ext cx="3509125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-Transformaciones Lineales (Traslaciones)</a:t>
            </a:r>
          </a:p>
          <a:p>
            <a:pPr marL="146050" indent="0">
              <a:buSzPts val="1300"/>
            </a:pPr>
            <a:r>
              <a:rPr lang="es-ES" dirty="0"/>
              <a:t>-Análisis de diferentes configuraciones de robots manipuladores</a:t>
            </a:r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42AB330D-52E9-5CEE-C2CA-06849B7F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D90C2DD-A3EF-954D-0A57-990FAC10C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099DC636-6FB5-1DF7-73F3-74B1B97A4C68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Lineales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D8DC71D-E92C-055B-5B84-519D2C9E8F61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2079CA92-7D94-F368-8F14-916B9054C3C7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77562446-5AE1-569E-F5DF-0BFCFFBD4352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una Transformación Lineal?</a:t>
            </a:r>
          </a:p>
          <a:p>
            <a:pPr algn="just"/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 transformación lineal en robótica es una función matemática, representada por </a:t>
            </a:r>
            <a:r>
              <a:rPr lang="es-MX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vector de translación, que se mapea </a:t>
            </a:r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 un espacio a otro para modelar movimientos geométricos como rotaciones, escalas y reflexiones de componentes robóticos. </a:t>
            </a:r>
            <a:r>
              <a:rPr lang="es-MX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Estas operaciones permiten calcular la cinemática, dinámica y orientación de robots. 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Picture 8" descr="Sistema de Coordenadas WORLD - Learnchannel-TV.com">
            <a:extLst>
              <a:ext uri="{FF2B5EF4-FFF2-40B4-BE49-F238E27FC236}">
                <a16:creationId xmlns:a16="http://schemas.microsoft.com/office/drawing/2014/main" id="{06EE365F-49FA-51FA-2B3C-09558E6298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42"/>
          <a:stretch>
            <a:fillRect/>
          </a:stretch>
        </p:blipFill>
        <p:spPr bwMode="auto">
          <a:xfrm>
            <a:off x="4043729" y="1476611"/>
            <a:ext cx="4651618" cy="349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F5D72EDB-308A-FF71-3125-52EAE39D1D9F}"/>
              </a:ext>
            </a:extLst>
          </p:cNvPr>
          <p:cNvCxnSpPr>
            <a:cxnSpLocks/>
          </p:cNvCxnSpPr>
          <p:nvPr/>
        </p:nvCxnSpPr>
        <p:spPr>
          <a:xfrm>
            <a:off x="6367401" y="3829459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BD4AE6C1-F289-24CF-DFE5-C4C0B9260C55}"/>
              </a:ext>
            </a:extLst>
          </p:cNvPr>
          <p:cNvSpPr txBox="1"/>
          <p:nvPr/>
        </p:nvSpPr>
        <p:spPr>
          <a:xfrm>
            <a:off x="6477070" y="3834294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5C25131-72F2-791C-8988-711BC6D80850}"/>
              </a:ext>
            </a:extLst>
          </p:cNvPr>
          <p:cNvSpPr txBox="1"/>
          <p:nvPr/>
        </p:nvSpPr>
        <p:spPr>
          <a:xfrm>
            <a:off x="6068475" y="3528096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F048F95-1ED1-E82B-236A-6107DFB8CFF7}"/>
              </a:ext>
            </a:extLst>
          </p:cNvPr>
          <p:cNvCxnSpPr>
            <a:cxnSpLocks/>
          </p:cNvCxnSpPr>
          <p:nvPr/>
        </p:nvCxnSpPr>
        <p:spPr>
          <a:xfrm flipH="1" flipV="1">
            <a:off x="6367401" y="3528096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ECC19E0-A546-59CE-F159-55066A135FE1}"/>
              </a:ext>
            </a:extLst>
          </p:cNvPr>
          <p:cNvCxnSpPr>
            <a:cxnSpLocks/>
          </p:cNvCxnSpPr>
          <p:nvPr/>
        </p:nvCxnSpPr>
        <p:spPr>
          <a:xfrm flipH="1">
            <a:off x="6245414" y="3828297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368B0B88-0F17-FFA2-885F-BCD27FD08625}"/>
              </a:ext>
            </a:extLst>
          </p:cNvPr>
          <p:cNvSpPr txBox="1"/>
          <p:nvPr/>
        </p:nvSpPr>
        <p:spPr>
          <a:xfrm>
            <a:off x="5986862" y="3960198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F08BCED-8C80-7D96-552B-DAC58C5C8EEE}"/>
              </a:ext>
            </a:extLst>
          </p:cNvPr>
          <p:cNvCxnSpPr>
            <a:cxnSpLocks/>
          </p:cNvCxnSpPr>
          <p:nvPr/>
        </p:nvCxnSpPr>
        <p:spPr>
          <a:xfrm>
            <a:off x="6686706" y="3425342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89019C-2196-2533-E6AA-551F5309F388}"/>
              </a:ext>
            </a:extLst>
          </p:cNvPr>
          <p:cNvSpPr txBox="1"/>
          <p:nvPr/>
        </p:nvSpPr>
        <p:spPr>
          <a:xfrm>
            <a:off x="6938469" y="322802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E66FEDC-AEAE-9CE3-1E53-C587EDCCF72F}"/>
              </a:ext>
            </a:extLst>
          </p:cNvPr>
          <p:cNvSpPr txBox="1"/>
          <p:nvPr/>
        </p:nvSpPr>
        <p:spPr>
          <a:xfrm>
            <a:off x="6387780" y="3123979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F5A6E29-ABCA-9ADE-B16C-43DA27CE508F}"/>
              </a:ext>
            </a:extLst>
          </p:cNvPr>
          <p:cNvCxnSpPr>
            <a:cxnSpLocks/>
          </p:cNvCxnSpPr>
          <p:nvPr/>
        </p:nvCxnSpPr>
        <p:spPr>
          <a:xfrm flipH="1" flipV="1">
            <a:off x="6686706" y="3123979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A7DDE11-294F-6695-FC1E-CF16AC6CD9B7}"/>
              </a:ext>
            </a:extLst>
          </p:cNvPr>
          <p:cNvCxnSpPr>
            <a:cxnSpLocks/>
          </p:cNvCxnSpPr>
          <p:nvPr/>
        </p:nvCxnSpPr>
        <p:spPr>
          <a:xfrm flipH="1">
            <a:off x="6564719" y="3424180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D3D8F4-3FF6-E863-01E6-FA2B2AAC61AE}"/>
              </a:ext>
            </a:extLst>
          </p:cNvPr>
          <p:cNvSpPr txBox="1"/>
          <p:nvPr/>
        </p:nvSpPr>
        <p:spPr>
          <a:xfrm>
            <a:off x="6575766" y="353234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1A56365-C79A-E9B4-8260-44C047B4DDCB}"/>
              </a:ext>
            </a:extLst>
          </p:cNvPr>
          <p:cNvCxnSpPr>
            <a:cxnSpLocks/>
          </p:cNvCxnSpPr>
          <p:nvPr/>
        </p:nvCxnSpPr>
        <p:spPr>
          <a:xfrm>
            <a:off x="5993651" y="2540659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8BFC10E-0C52-B20A-7BD0-0501A7860B58}"/>
              </a:ext>
            </a:extLst>
          </p:cNvPr>
          <p:cNvSpPr txBox="1"/>
          <p:nvPr/>
        </p:nvSpPr>
        <p:spPr>
          <a:xfrm>
            <a:off x="6245414" y="2343345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10245E7-1E57-8615-E6C4-802A3F1D3C84}"/>
              </a:ext>
            </a:extLst>
          </p:cNvPr>
          <p:cNvSpPr txBox="1"/>
          <p:nvPr/>
        </p:nvSpPr>
        <p:spPr>
          <a:xfrm>
            <a:off x="5694725" y="2239296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3D4C54A-B816-B30F-F59E-0F366BF9A2C4}"/>
              </a:ext>
            </a:extLst>
          </p:cNvPr>
          <p:cNvCxnSpPr>
            <a:cxnSpLocks/>
          </p:cNvCxnSpPr>
          <p:nvPr/>
        </p:nvCxnSpPr>
        <p:spPr>
          <a:xfrm flipH="1" flipV="1">
            <a:off x="5993651" y="2239296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1662B09-4BDA-A9AF-77D6-BBE797957BB3}"/>
              </a:ext>
            </a:extLst>
          </p:cNvPr>
          <p:cNvCxnSpPr>
            <a:cxnSpLocks/>
          </p:cNvCxnSpPr>
          <p:nvPr/>
        </p:nvCxnSpPr>
        <p:spPr>
          <a:xfrm flipH="1">
            <a:off x="5871664" y="2539497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DEAE7A5-9685-E532-C1AF-F205CCA5ED99}"/>
              </a:ext>
            </a:extLst>
          </p:cNvPr>
          <p:cNvSpPr txBox="1"/>
          <p:nvPr/>
        </p:nvSpPr>
        <p:spPr>
          <a:xfrm>
            <a:off x="5613112" y="2671398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BE1616C-9034-980A-3FFA-C33663B43D7C}"/>
              </a:ext>
            </a:extLst>
          </p:cNvPr>
          <p:cNvCxnSpPr>
            <a:cxnSpLocks/>
          </p:cNvCxnSpPr>
          <p:nvPr/>
        </p:nvCxnSpPr>
        <p:spPr>
          <a:xfrm>
            <a:off x="6359220" y="2118329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4C6AF30-B2DF-7EA5-00E7-B5BBB60040F8}"/>
              </a:ext>
            </a:extLst>
          </p:cNvPr>
          <p:cNvSpPr txBox="1"/>
          <p:nvPr/>
        </p:nvSpPr>
        <p:spPr>
          <a:xfrm>
            <a:off x="6610983" y="1921015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4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99FBD-D893-5D7B-B1EA-A1444C8F5AD6}"/>
              </a:ext>
            </a:extLst>
          </p:cNvPr>
          <p:cNvSpPr txBox="1"/>
          <p:nvPr/>
        </p:nvSpPr>
        <p:spPr>
          <a:xfrm>
            <a:off x="6209820" y="1558059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4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D3D2DBE-8230-20B7-00B7-79CE85813C12}"/>
              </a:ext>
            </a:extLst>
          </p:cNvPr>
          <p:cNvCxnSpPr>
            <a:cxnSpLocks/>
          </p:cNvCxnSpPr>
          <p:nvPr/>
        </p:nvCxnSpPr>
        <p:spPr>
          <a:xfrm flipH="1" flipV="1">
            <a:off x="6359220" y="1816966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66C4EE7-D535-3985-28FF-F608C63C4F26}"/>
              </a:ext>
            </a:extLst>
          </p:cNvPr>
          <p:cNvCxnSpPr>
            <a:cxnSpLocks/>
          </p:cNvCxnSpPr>
          <p:nvPr/>
        </p:nvCxnSpPr>
        <p:spPr>
          <a:xfrm flipH="1">
            <a:off x="6237233" y="2117167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39082DF-F9F3-66F8-B8B4-BE712AA3D3B6}"/>
              </a:ext>
            </a:extLst>
          </p:cNvPr>
          <p:cNvSpPr txBox="1"/>
          <p:nvPr/>
        </p:nvSpPr>
        <p:spPr>
          <a:xfrm>
            <a:off x="6020836" y="196715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4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7D1D959-A831-5E08-D644-B65614B3CBC0}"/>
              </a:ext>
            </a:extLst>
          </p:cNvPr>
          <p:cNvCxnSpPr>
            <a:cxnSpLocks/>
          </p:cNvCxnSpPr>
          <p:nvPr/>
        </p:nvCxnSpPr>
        <p:spPr>
          <a:xfrm>
            <a:off x="7246320" y="2118238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85428C3-B7E8-DDD3-BAD8-16C9F8FFE637}"/>
              </a:ext>
            </a:extLst>
          </p:cNvPr>
          <p:cNvSpPr txBox="1"/>
          <p:nvPr/>
        </p:nvSpPr>
        <p:spPr>
          <a:xfrm>
            <a:off x="7357760" y="1837567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5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42C7571-3E8E-F468-EDD6-FAE5103C3979}"/>
              </a:ext>
            </a:extLst>
          </p:cNvPr>
          <p:cNvSpPr txBox="1"/>
          <p:nvPr/>
        </p:nvSpPr>
        <p:spPr>
          <a:xfrm>
            <a:off x="7097254" y="1558058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5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B65D6F1A-2A40-4F70-4A19-926AA041D8BF}"/>
              </a:ext>
            </a:extLst>
          </p:cNvPr>
          <p:cNvCxnSpPr>
            <a:cxnSpLocks/>
          </p:cNvCxnSpPr>
          <p:nvPr/>
        </p:nvCxnSpPr>
        <p:spPr>
          <a:xfrm flipH="1" flipV="1">
            <a:off x="7246320" y="1816875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19DCE51-E269-05D5-56A4-4E32066162C4}"/>
              </a:ext>
            </a:extLst>
          </p:cNvPr>
          <p:cNvCxnSpPr>
            <a:cxnSpLocks/>
          </p:cNvCxnSpPr>
          <p:nvPr/>
        </p:nvCxnSpPr>
        <p:spPr>
          <a:xfrm flipH="1">
            <a:off x="7124333" y="2117076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807DE1F-D9D7-DED5-C987-D9970845B24C}"/>
              </a:ext>
            </a:extLst>
          </p:cNvPr>
          <p:cNvSpPr txBox="1"/>
          <p:nvPr/>
        </p:nvSpPr>
        <p:spPr>
          <a:xfrm>
            <a:off x="6865781" y="2248977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5</a:t>
            </a:r>
            <a:endParaRPr lang="es-MX" dirty="0">
              <a:highlight>
                <a:srgbClr val="FFFF00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83789E7-E9A8-77D1-2F14-3E337314D6FF}"/>
              </a:ext>
            </a:extLst>
          </p:cNvPr>
          <p:cNvCxnSpPr>
            <a:cxnSpLocks/>
          </p:cNvCxnSpPr>
          <p:nvPr/>
        </p:nvCxnSpPr>
        <p:spPr>
          <a:xfrm>
            <a:off x="7775760" y="2128833"/>
            <a:ext cx="302447" cy="6414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EB3033B-C7B6-E17F-CAA8-124BB0E7C010}"/>
              </a:ext>
            </a:extLst>
          </p:cNvPr>
          <p:cNvSpPr txBox="1"/>
          <p:nvPr/>
        </p:nvSpPr>
        <p:spPr>
          <a:xfrm>
            <a:off x="8027523" y="193151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6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DEE1EFA-B355-8DB5-6B1C-D87255EF7427}"/>
              </a:ext>
            </a:extLst>
          </p:cNvPr>
          <p:cNvSpPr txBox="1"/>
          <p:nvPr/>
        </p:nvSpPr>
        <p:spPr>
          <a:xfrm>
            <a:off x="7610297" y="160592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6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AB7AAA1-9B66-0060-2000-3BDBF7853DC8}"/>
              </a:ext>
            </a:extLst>
          </p:cNvPr>
          <p:cNvCxnSpPr>
            <a:cxnSpLocks/>
          </p:cNvCxnSpPr>
          <p:nvPr/>
        </p:nvCxnSpPr>
        <p:spPr>
          <a:xfrm flipH="1" flipV="1">
            <a:off x="7775760" y="1827470"/>
            <a:ext cx="13270" cy="301363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DF7F8CD3-0C79-4284-05BA-5A473ABB8D59}"/>
              </a:ext>
            </a:extLst>
          </p:cNvPr>
          <p:cNvCxnSpPr>
            <a:cxnSpLocks/>
          </p:cNvCxnSpPr>
          <p:nvPr/>
        </p:nvCxnSpPr>
        <p:spPr>
          <a:xfrm flipH="1">
            <a:off x="7653773" y="2127671"/>
            <a:ext cx="120716" cy="199805"/>
          </a:xfrm>
          <a:prstGeom prst="straightConnector1">
            <a:avLst/>
          </a:prstGeom>
          <a:ln w="38100">
            <a:solidFill>
              <a:srgbClr val="9FF828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18D1C06-0456-04CB-A9FD-4B4179754D61}"/>
              </a:ext>
            </a:extLst>
          </p:cNvPr>
          <p:cNvSpPr txBox="1"/>
          <p:nvPr/>
        </p:nvSpPr>
        <p:spPr>
          <a:xfrm>
            <a:off x="7395221" y="225957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6</a:t>
            </a:r>
            <a:endParaRPr lang="es-MX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9022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8CA858C-231E-579A-0DC0-F84502B7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6472F2BC-B0F7-34EE-76AE-0F8D33F2B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4376FCB5-3471-BB53-0932-C14102B5222E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6496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 y Traslacionales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83BD22CF-6C17-33A9-4FEE-F6C5F9980E59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5CA38F1F-1ED3-DC69-0F5F-C2D3C7A9429A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04202B6A-06B3-5433-BA3C-4F5F65DE1740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Ejemplo:</a:t>
            </a:r>
          </a:p>
          <a:p>
            <a:pPr algn="just"/>
            <a:r>
              <a:rPr lang="es-MX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 el análisis de transformaciones Rotacionales y Traslacionales para el siguiente diagrama de alambre. 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208A65C-A274-86FB-ADBF-8EF63D86CEA4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8C18D77-9AB0-2571-8B29-B899E863292E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61382E6-6839-44D9-5ACF-D8062657BE79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C474F859-786F-791C-A7C9-DF65323FE568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0EA073-FFFA-1554-0202-37AB0F65A865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B5CFA96-1EF3-3808-9A1E-2CE6732FDED6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1C6FAA71-9FBD-88B9-118C-A2E9E43B2B3A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C8D48A33-7037-CB8E-4093-49487AE91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2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D440E764-80AA-B7D9-D13F-BE8FE7ED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BDD0D168-D576-C45C-54FC-9E2F00E78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1BD9314C-CBF7-B692-E4D2-78D26202E228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67312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845A717C-600C-E0F5-CF33-829D65625FA4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B4834BA0-A7F2-6266-4D4A-CEB1EECC488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92233784-972D-3C89-2228-DC89BE84C19E}"/>
              </a:ext>
            </a:extLst>
          </p:cNvPr>
          <p:cNvSpPr txBox="1"/>
          <p:nvPr/>
        </p:nvSpPr>
        <p:spPr>
          <a:xfrm>
            <a:off x="242709" y="1432924"/>
            <a:ext cx="3609738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S0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S1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positiva de 90° alrededor del eje X0”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L1 sobre el eje Z0”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2351FC6-5716-A422-B5C9-C160CA98205B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BD5CF36-DD1B-6039-E16D-27BC6F992F7B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6573692-10C3-C0E8-4B7F-6AEF541201A6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E98EC48-390E-F724-40E0-E95FA709022F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8E8083-7ECF-C0ED-17FF-8BF5A8D6CBD3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41CBC9B-32C5-BFF4-EB09-A5B76FEE5B71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352650D2-66AB-8601-C19D-1BBD58D2AEBD}"/>
              </a:ext>
            </a:extLst>
          </p:cNvPr>
          <p:cNvSpPr txBox="1"/>
          <p:nvPr/>
        </p:nvSpPr>
        <p:spPr>
          <a:xfrm>
            <a:off x="950936" y="3672494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45AF9749-FBF7-983A-4154-386493847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FDDD1C8D-13D2-8BC8-54B8-5D7BFDC828F4}"/>
              </a:ext>
            </a:extLst>
          </p:cNvPr>
          <p:cNvSpPr/>
          <p:nvPr/>
        </p:nvSpPr>
        <p:spPr>
          <a:xfrm rot="16200000">
            <a:off x="3399893" y="3473613"/>
            <a:ext cx="1436027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6C9074-9272-4A93-16E7-09678E607115}"/>
              </a:ext>
            </a:extLst>
          </p:cNvPr>
          <p:cNvSpPr txBox="1"/>
          <p:nvPr/>
        </p:nvSpPr>
        <p:spPr>
          <a:xfrm>
            <a:off x="4950166" y="361113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3EF0D3-DD36-C603-AB70-DB1388AB9CA0}"/>
              </a:ext>
            </a:extLst>
          </p:cNvPr>
          <p:cNvSpPr txBox="1"/>
          <p:nvPr/>
        </p:nvSpPr>
        <p:spPr>
          <a:xfrm>
            <a:off x="5068391" y="246546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458725-5E07-EFF3-137B-1E87C1059EFF}"/>
              </a:ext>
            </a:extLst>
          </p:cNvPr>
          <p:cNvSpPr txBox="1"/>
          <p:nvPr/>
        </p:nvSpPr>
        <p:spPr>
          <a:xfrm>
            <a:off x="6242752" y="208964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AEFB1E-9F42-179A-2643-C72F1DA95DAE}"/>
              </a:ext>
            </a:extLst>
          </p:cNvPr>
          <p:cNvSpPr txBox="1"/>
          <p:nvPr/>
        </p:nvSpPr>
        <p:spPr>
          <a:xfrm>
            <a:off x="7530237" y="250062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</p:spTree>
    <p:extLst>
      <p:ext uri="{BB962C8B-B14F-4D97-AF65-F5344CB8AC3E}">
        <p14:creationId xmlns:p14="http://schemas.microsoft.com/office/powerpoint/2010/main" val="100946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DD44A61D-805B-E130-3DD3-BDC9BAD8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2D540A17-F650-49FD-11F3-D094C92FD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D9E3D72E-B30A-6E10-7EEF-711919E39672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CF39CE94-6A00-77A7-FDA6-733801D3F1F0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D23A2020-90C0-C04A-C2B4-0FD61CC5167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862E9494-4C20-D3F9-1973-7CCF24A67F23}"/>
              </a:ext>
            </a:extLst>
          </p:cNvPr>
          <p:cNvSpPr txBox="1"/>
          <p:nvPr/>
        </p:nvSpPr>
        <p:spPr>
          <a:xfrm>
            <a:off x="116417" y="1404790"/>
            <a:ext cx="2737745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S0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S1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positiva de 90° alrededor del eje X0”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L1 sobre el eje Z0”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EE81D6F9-4DD2-A635-B1DC-EDE23381613B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D9998B4-287A-68C3-2C22-18D4ED5D4668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54447BB-D581-ECCC-07D8-C5C16D593E96}"/>
                  </a:ext>
                </a:extLst>
              </p:cNvPr>
              <p:cNvSpPr txBox="1"/>
              <p:nvPr/>
            </p:nvSpPr>
            <p:spPr>
              <a:xfrm>
                <a:off x="3644257" y="2112770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54447BB-D581-ECCC-07D8-C5C16D593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57" y="2112770"/>
                <a:ext cx="2388795" cy="69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16F3FFE-1EFF-D763-3CB9-5901472B1CB3}"/>
                  </a:ext>
                </a:extLst>
              </p:cNvPr>
              <p:cNvSpPr txBox="1"/>
              <p:nvPr/>
            </p:nvSpPr>
            <p:spPr>
              <a:xfrm>
                <a:off x="6157194" y="2112770"/>
                <a:ext cx="2333779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16F3FFE-1EFF-D763-3CB9-5901472B1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94" y="2112770"/>
                <a:ext cx="2333779" cy="7825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94A6D664-A465-C0A9-E734-63AB9800876B}"/>
              </a:ext>
            </a:extLst>
          </p:cNvPr>
          <p:cNvSpPr txBox="1"/>
          <p:nvPr/>
        </p:nvSpPr>
        <p:spPr>
          <a:xfrm>
            <a:off x="3891111" y="2717265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Z0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3" name="Google Shape;1603;p42">
            <a:extLst>
              <a:ext uri="{FF2B5EF4-FFF2-40B4-BE49-F238E27FC236}">
                <a16:creationId xmlns:a16="http://schemas.microsoft.com/office/drawing/2014/main" id="{F29794A3-7A63-44D9-23EF-0F0927CF7D7E}"/>
              </a:ext>
            </a:extLst>
          </p:cNvPr>
          <p:cNvSpPr txBox="1"/>
          <p:nvPr/>
        </p:nvSpPr>
        <p:spPr>
          <a:xfrm>
            <a:off x="6439783" y="2717265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X0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1603;p42">
            <a:extLst>
              <a:ext uri="{FF2B5EF4-FFF2-40B4-BE49-F238E27FC236}">
                <a16:creationId xmlns:a16="http://schemas.microsoft.com/office/drawing/2014/main" id="{B89392FE-A387-4475-6363-5F555EF31C05}"/>
              </a:ext>
            </a:extLst>
          </p:cNvPr>
          <p:cNvSpPr txBox="1"/>
          <p:nvPr/>
        </p:nvSpPr>
        <p:spPr>
          <a:xfrm>
            <a:off x="5961653" y="2118602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5AFFF67-0FBF-F7E0-CBD2-3533F81AB31F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FBF8EF4-1C05-6E24-FB93-30ABEBB5C63C}"/>
                  </a:ext>
                </a:extLst>
              </p:cNvPr>
              <p:cNvSpPr txBox="1"/>
              <p:nvPr/>
            </p:nvSpPr>
            <p:spPr>
              <a:xfrm>
                <a:off x="4994031" y="4133921"/>
                <a:ext cx="460318" cy="670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FBF8EF4-1C05-6E24-FB93-30ABEBB5C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031" y="4133921"/>
                <a:ext cx="460318" cy="670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BADB3307-95EF-D0BA-21C5-208B7920BB66}"/>
              </a:ext>
            </a:extLst>
          </p:cNvPr>
          <p:cNvSpPr txBox="1"/>
          <p:nvPr/>
        </p:nvSpPr>
        <p:spPr>
          <a:xfrm>
            <a:off x="5820359" y="4017656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S0 a S1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89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3" grpId="0"/>
      <p:bldP spid="25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827B02F-1A5B-9AB3-BCDE-732DEA88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F2389DB-A3B9-7D25-6E25-786B46FF4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9C025192-8AE1-4EF2-A2F0-CF1EB87C31D6}"/>
              </a:ext>
            </a:extLst>
          </p:cNvPr>
          <p:cNvSpPr txBox="1">
            <a:spLocks/>
          </p:cNvSpPr>
          <p:nvPr/>
        </p:nvSpPr>
        <p:spPr>
          <a:xfrm>
            <a:off x="373909" y="338754"/>
            <a:ext cx="77150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Transformaciones Rotacionales y Traslacionales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FAFE34F-4B08-B046-1CA8-B97694907D47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491A5DA2-1E20-8DD5-0BDA-6360A3045D5F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5868B47-0839-071E-5105-DB1A5484CA5A}"/>
                  </a:ext>
                </a:extLst>
              </p:cNvPr>
              <p:cNvSpPr txBox="1"/>
              <p:nvPr/>
            </p:nvSpPr>
            <p:spPr>
              <a:xfrm>
                <a:off x="237945" y="1435444"/>
                <a:ext cx="3609738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S1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S2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“No existe transformación de rotación”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L2*cos(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L2*sen(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s-ES" sz="1600" b="1" dirty="0">
                  <a:solidFill>
                    <a:srgbClr val="FFFF00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5868B47-0839-071E-5105-DB1A5484C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45" y="1435444"/>
                <a:ext cx="3609738" cy="726300"/>
              </a:xfrm>
              <a:prstGeom prst="rect">
                <a:avLst/>
              </a:prstGeom>
              <a:blipFill>
                <a:blip r:embed="rId4"/>
                <a:stretch>
                  <a:fillRect l="-845" r="-1014" b="-24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2527499-1338-03ED-4A46-3F439AADA244}"/>
              </a:ext>
            </a:extLst>
          </p:cNvPr>
          <p:cNvCxnSpPr>
            <a:cxnSpLocks/>
          </p:cNvCxnSpPr>
          <p:nvPr/>
        </p:nvCxnSpPr>
        <p:spPr>
          <a:xfrm flipV="1">
            <a:off x="2903397" y="3933270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613CD7F-7B74-1E0E-D80E-FFD325F8FF90}"/>
              </a:ext>
            </a:extLst>
          </p:cNvPr>
          <p:cNvCxnSpPr>
            <a:cxnSpLocks/>
          </p:cNvCxnSpPr>
          <p:nvPr/>
        </p:nvCxnSpPr>
        <p:spPr>
          <a:xfrm flipV="1">
            <a:off x="2911864" y="4163903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244B59C-37DB-E1CF-787D-D60158A28ABC}"/>
              </a:ext>
            </a:extLst>
          </p:cNvPr>
          <p:cNvCxnSpPr>
            <a:cxnSpLocks/>
          </p:cNvCxnSpPr>
          <p:nvPr/>
        </p:nvCxnSpPr>
        <p:spPr>
          <a:xfrm>
            <a:off x="2922599" y="4474845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67422DF-09D0-673B-9721-567602AEAB6C}"/>
              </a:ext>
            </a:extLst>
          </p:cNvPr>
          <p:cNvSpPr txBox="1"/>
          <p:nvPr/>
        </p:nvSpPr>
        <p:spPr>
          <a:xfrm>
            <a:off x="3504446" y="4235870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11AF4A9-A0DC-CE6C-29CC-D053C120FA78}"/>
              </a:ext>
            </a:extLst>
          </p:cNvPr>
          <p:cNvSpPr txBox="1"/>
          <p:nvPr/>
        </p:nvSpPr>
        <p:spPr>
          <a:xfrm>
            <a:off x="3225724" y="388813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0E9C9A-D34C-0813-425E-66C7A627DC87}"/>
              </a:ext>
            </a:extLst>
          </p:cNvPr>
          <p:cNvSpPr txBox="1"/>
          <p:nvPr/>
        </p:nvSpPr>
        <p:spPr>
          <a:xfrm>
            <a:off x="2563456" y="37904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1F9E9A8D-9280-5C97-2F55-74297CD62F91}"/>
              </a:ext>
            </a:extLst>
          </p:cNvPr>
          <p:cNvSpPr txBox="1"/>
          <p:nvPr/>
        </p:nvSpPr>
        <p:spPr>
          <a:xfrm>
            <a:off x="1341390" y="3817347"/>
            <a:ext cx="1682217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A8B7DF6D-AB55-4140-89B6-CF98BA356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940317BD-B194-D733-903A-3DC3830BF850}"/>
              </a:ext>
            </a:extLst>
          </p:cNvPr>
          <p:cNvSpPr/>
          <p:nvPr/>
        </p:nvSpPr>
        <p:spPr>
          <a:xfrm rot="18860255">
            <a:off x="4043767" y="2105068"/>
            <a:ext cx="1189981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8BBF6D6-943F-B124-2B1D-92D224D7BC58}"/>
              </a:ext>
            </a:extLst>
          </p:cNvPr>
          <p:cNvSpPr txBox="1"/>
          <p:nvPr/>
        </p:nvSpPr>
        <p:spPr>
          <a:xfrm>
            <a:off x="4950166" y="361113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B8AE689-D7D2-8146-94FB-02AAA86176D6}"/>
              </a:ext>
            </a:extLst>
          </p:cNvPr>
          <p:cNvSpPr txBox="1"/>
          <p:nvPr/>
        </p:nvSpPr>
        <p:spPr>
          <a:xfrm>
            <a:off x="5068391" y="246546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CFCF2C1-A671-0410-CD1D-0A6EA36832BD}"/>
              </a:ext>
            </a:extLst>
          </p:cNvPr>
          <p:cNvSpPr txBox="1"/>
          <p:nvPr/>
        </p:nvSpPr>
        <p:spPr>
          <a:xfrm>
            <a:off x="6242752" y="208964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88B444-9A5E-D4C6-BEB9-85C12D7FA392}"/>
              </a:ext>
            </a:extLst>
          </p:cNvPr>
          <p:cNvSpPr txBox="1"/>
          <p:nvPr/>
        </p:nvSpPr>
        <p:spPr>
          <a:xfrm>
            <a:off x="7530237" y="250062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</p:spTree>
    <p:extLst>
      <p:ext uri="{BB962C8B-B14F-4D97-AF65-F5344CB8AC3E}">
        <p14:creationId xmlns:p14="http://schemas.microsoft.com/office/powerpoint/2010/main" val="225559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8E2DA1FE-F767-500B-1255-B7BD8920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76F732DD-BE06-B8FE-4D5C-50B454767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3B8FF20-41E5-0B86-804C-09F35708BDEE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2BA107A-2089-2B40-549D-7A503D287F30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1A9136A2-109B-1545-7F51-B9F667883959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56F34690-9BC7-5FAF-9457-4D9D7B9105F6}"/>
                  </a:ext>
                </a:extLst>
              </p:cNvPr>
              <p:cNvSpPr txBox="1"/>
              <p:nvPr/>
            </p:nvSpPr>
            <p:spPr>
              <a:xfrm>
                <a:off x="615054" y="1576902"/>
                <a:ext cx="3494034" cy="1867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S1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S2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“No existe transformación de rotación”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L2*cos(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L2*sen(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56F34690-9BC7-5FAF-9457-4D9D7B910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54" y="1576902"/>
                <a:ext cx="3494034" cy="1867434"/>
              </a:xfrm>
              <a:prstGeom prst="rect">
                <a:avLst/>
              </a:prstGeom>
              <a:blipFill>
                <a:blip r:embed="rId4"/>
                <a:stretch>
                  <a:fillRect l="-1047" r="-873" b="-33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FDEAD9E0-621E-AE4D-8D1C-3C70B3314ACA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26FDA2A-995D-8A69-B391-5A6CFD72C667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47A441C-DA59-5C8F-C333-B2C0CCCFB894}"/>
                  </a:ext>
                </a:extLst>
              </p:cNvPr>
              <p:cNvSpPr txBox="1"/>
              <p:nvPr/>
            </p:nvSpPr>
            <p:spPr>
              <a:xfrm>
                <a:off x="5034913" y="2033525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47A441C-DA59-5C8F-C333-B2C0CCCFB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913" y="2033525"/>
                <a:ext cx="2388795" cy="695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4FBF6825-69B6-DA42-C425-1A3224F8B1B8}"/>
              </a:ext>
            </a:extLst>
          </p:cNvPr>
          <p:cNvSpPr txBox="1"/>
          <p:nvPr/>
        </p:nvSpPr>
        <p:spPr>
          <a:xfrm>
            <a:off x="5281767" y="2638020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Z1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BF6781F-3945-D73D-EDC4-404B746CA5CF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C90FBF7-79C1-87D2-AAAE-475AC87A104D}"/>
                  </a:ext>
                </a:extLst>
              </p:cNvPr>
              <p:cNvSpPr txBox="1"/>
              <p:nvPr/>
            </p:nvSpPr>
            <p:spPr>
              <a:xfrm>
                <a:off x="4835659" y="4123662"/>
                <a:ext cx="1449691" cy="681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C90FBF7-79C1-87D2-AAAE-475AC87A1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659" y="4123662"/>
                <a:ext cx="1449691" cy="6810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525929A3-5788-6356-5CBA-08CE7B411BBB}"/>
              </a:ext>
            </a:extLst>
          </p:cNvPr>
          <p:cNvSpPr txBox="1"/>
          <p:nvPr/>
        </p:nvSpPr>
        <p:spPr>
          <a:xfrm>
            <a:off x="6246391" y="403032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S1 a S2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79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BBB3560-B800-BEBA-E8E0-157C91D8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C02BDDDE-51A3-511E-5C8D-D21B80EE4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8144E36C-4B71-30D4-2526-385876CCA06D}"/>
              </a:ext>
            </a:extLst>
          </p:cNvPr>
          <p:cNvSpPr txBox="1">
            <a:spLocks/>
          </p:cNvSpPr>
          <p:nvPr/>
        </p:nvSpPr>
        <p:spPr>
          <a:xfrm>
            <a:off x="373909" y="338754"/>
            <a:ext cx="77150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Transformaciones Rotacionales y Traslacionales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13DB365-0EA3-F2D9-B2A4-026F8B563F01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52547DDF-66D7-524C-D322-B7B16B1A60CD}"/>
                  </a:ext>
                </a:extLst>
              </p:cNvPr>
              <p:cNvSpPr txBox="1"/>
              <p:nvPr/>
            </p:nvSpPr>
            <p:spPr>
              <a:xfrm>
                <a:off x="251482" y="1326153"/>
                <a:ext cx="3609738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S2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S3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positiva de 90° alrededor del eje X2 más….. 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 positiva de 90° alrededor del eje Y2”</a:t>
                </a:r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L3*cos(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X2”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L3*sen(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Y2”</a:t>
                </a:r>
              </a:p>
              <a:p>
                <a:pPr algn="just"/>
                <a:endParaRPr lang="es-ES" sz="1600" b="1" dirty="0">
                  <a:solidFill>
                    <a:srgbClr val="FFFF00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52547DDF-66D7-524C-D322-B7B16B1A6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82" y="1326153"/>
                <a:ext cx="3609738" cy="726300"/>
              </a:xfrm>
              <a:prstGeom prst="rect">
                <a:avLst/>
              </a:prstGeom>
              <a:blipFill>
                <a:blip r:embed="rId4"/>
                <a:stretch>
                  <a:fillRect l="-845" r="-1014" b="-3117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C966467-3818-763D-7DB5-D3DF1003F591}"/>
              </a:ext>
            </a:extLst>
          </p:cNvPr>
          <p:cNvCxnSpPr>
            <a:cxnSpLocks/>
          </p:cNvCxnSpPr>
          <p:nvPr/>
        </p:nvCxnSpPr>
        <p:spPr>
          <a:xfrm flipV="1">
            <a:off x="3161648" y="4263171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9E6F5CA-1621-4C20-4BD0-522BA20C7C95}"/>
              </a:ext>
            </a:extLst>
          </p:cNvPr>
          <p:cNvCxnSpPr>
            <a:cxnSpLocks/>
          </p:cNvCxnSpPr>
          <p:nvPr/>
        </p:nvCxnSpPr>
        <p:spPr>
          <a:xfrm flipV="1">
            <a:off x="3170115" y="4493804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D8B75FA-E857-F8C2-54B2-9C98F31FB1F7}"/>
              </a:ext>
            </a:extLst>
          </p:cNvPr>
          <p:cNvCxnSpPr>
            <a:cxnSpLocks/>
          </p:cNvCxnSpPr>
          <p:nvPr/>
        </p:nvCxnSpPr>
        <p:spPr>
          <a:xfrm>
            <a:off x="3180850" y="4804746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D475938-6CC6-38E3-CF00-B9763E5869EB}"/>
              </a:ext>
            </a:extLst>
          </p:cNvPr>
          <p:cNvSpPr txBox="1"/>
          <p:nvPr/>
        </p:nvSpPr>
        <p:spPr>
          <a:xfrm>
            <a:off x="3762697" y="4565771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2E8954-C470-AFF2-E070-12533D470738}"/>
              </a:ext>
            </a:extLst>
          </p:cNvPr>
          <p:cNvSpPr txBox="1"/>
          <p:nvPr/>
        </p:nvSpPr>
        <p:spPr>
          <a:xfrm>
            <a:off x="3483975" y="42180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9A2DA02-F414-867A-FEDB-FEFEA0800867}"/>
              </a:ext>
            </a:extLst>
          </p:cNvPr>
          <p:cNvSpPr txBox="1"/>
          <p:nvPr/>
        </p:nvSpPr>
        <p:spPr>
          <a:xfrm>
            <a:off x="2821707" y="4120332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B641B8FA-B818-EE36-CE0D-EF871DFD1299}"/>
              </a:ext>
            </a:extLst>
          </p:cNvPr>
          <p:cNvSpPr txBox="1"/>
          <p:nvPr/>
        </p:nvSpPr>
        <p:spPr>
          <a:xfrm>
            <a:off x="1005389" y="4450262"/>
            <a:ext cx="2170094" cy="40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679DD7AC-76FE-611F-1C06-8025E6BA2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3AC5B86-BC11-75F0-77A7-382868A40F36}"/>
              </a:ext>
            </a:extLst>
          </p:cNvPr>
          <p:cNvSpPr txBox="1"/>
          <p:nvPr/>
        </p:nvSpPr>
        <p:spPr>
          <a:xfrm>
            <a:off x="4950166" y="361113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427AE5-A771-9A69-539E-B7E78522D281}"/>
              </a:ext>
            </a:extLst>
          </p:cNvPr>
          <p:cNvSpPr txBox="1"/>
          <p:nvPr/>
        </p:nvSpPr>
        <p:spPr>
          <a:xfrm>
            <a:off x="5068391" y="246546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6F0847-5AB3-9188-86A6-67861A33C9FD}"/>
              </a:ext>
            </a:extLst>
          </p:cNvPr>
          <p:cNvSpPr txBox="1"/>
          <p:nvPr/>
        </p:nvSpPr>
        <p:spPr>
          <a:xfrm>
            <a:off x="6242752" y="208964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ECC2334-4B2A-9FE2-9AF7-BCC5AB1C83AF}"/>
              </a:ext>
            </a:extLst>
          </p:cNvPr>
          <p:cNvSpPr txBox="1"/>
          <p:nvPr/>
        </p:nvSpPr>
        <p:spPr>
          <a:xfrm>
            <a:off x="7530237" y="250062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  <p:sp>
        <p:nvSpPr>
          <p:cNvPr id="15" name="Flecha: curvada hacia abajo 14">
            <a:extLst>
              <a:ext uri="{FF2B5EF4-FFF2-40B4-BE49-F238E27FC236}">
                <a16:creationId xmlns:a16="http://schemas.microsoft.com/office/drawing/2014/main" id="{99D7BB4C-DE24-F3BD-DCD0-3C158A08062A}"/>
              </a:ext>
            </a:extLst>
          </p:cNvPr>
          <p:cNvSpPr/>
          <p:nvPr/>
        </p:nvSpPr>
        <p:spPr>
          <a:xfrm rot="21362088">
            <a:off x="5293053" y="1557216"/>
            <a:ext cx="2216214" cy="37378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E374187-A8CB-0B23-84BC-C4B2AE0455CA}"/>
              </a:ext>
            </a:extLst>
          </p:cNvPr>
          <p:cNvCxnSpPr>
            <a:cxnSpLocks/>
          </p:cNvCxnSpPr>
          <p:nvPr/>
        </p:nvCxnSpPr>
        <p:spPr>
          <a:xfrm>
            <a:off x="6323981" y="931352"/>
            <a:ext cx="0" cy="529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9DEABA5-E41B-BB60-91E4-93E4D3BB8946}"/>
              </a:ext>
            </a:extLst>
          </p:cNvPr>
          <p:cNvCxnSpPr>
            <a:cxnSpLocks/>
          </p:cNvCxnSpPr>
          <p:nvPr/>
        </p:nvCxnSpPr>
        <p:spPr>
          <a:xfrm flipH="1">
            <a:off x="6033522" y="929668"/>
            <a:ext cx="298926" cy="2686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BAB73AF-D2BD-A724-7D6B-F01B77FBA5DF}"/>
              </a:ext>
            </a:extLst>
          </p:cNvPr>
          <p:cNvCxnSpPr>
            <a:cxnSpLocks/>
          </p:cNvCxnSpPr>
          <p:nvPr/>
        </p:nvCxnSpPr>
        <p:spPr>
          <a:xfrm>
            <a:off x="6343183" y="935853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25A4652-C5FE-06D5-C1EC-ACBC60EAA933}"/>
              </a:ext>
            </a:extLst>
          </p:cNvPr>
          <p:cNvSpPr txBox="1"/>
          <p:nvPr/>
        </p:nvSpPr>
        <p:spPr>
          <a:xfrm>
            <a:off x="6925988" y="822692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2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D28047-4F2E-6FE3-948B-CBBA15A560FA}"/>
              </a:ext>
            </a:extLst>
          </p:cNvPr>
          <p:cNvSpPr txBox="1"/>
          <p:nvPr/>
        </p:nvSpPr>
        <p:spPr>
          <a:xfrm>
            <a:off x="5789977" y="1176891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FDE7886-CD05-7952-E71E-0961C962233E}"/>
              </a:ext>
            </a:extLst>
          </p:cNvPr>
          <p:cNvSpPr txBox="1"/>
          <p:nvPr/>
        </p:nvSpPr>
        <p:spPr>
          <a:xfrm>
            <a:off x="6323981" y="1279383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6413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9E87CD38-139A-F85B-65F4-A140EE9A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D8E5E57C-52F1-94D7-BFE9-686172FF1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D6C850D-9B21-FC5A-7159-3DFA35A658F8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B4C5C178-C111-5D0D-0F3C-DF80534DD150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BFE9895-A895-ABA7-C3A2-97DDC6AF71BF}"/>
                  </a:ext>
                </a:extLst>
              </p:cNvPr>
              <p:cNvSpPr txBox="1"/>
              <p:nvPr/>
            </p:nvSpPr>
            <p:spPr>
              <a:xfrm>
                <a:off x="-7898" y="3267966"/>
                <a:ext cx="4810330" cy="1392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S2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S3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positiva de 90° alrededor del eje X2 más….. 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 positiva de 90° alrededor del eje Y2”</a:t>
                </a:r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L3*cos(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X2”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L3*sen(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Y2”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BFE9895-A895-ABA7-C3A2-97DDC6AF7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98" y="3267966"/>
                <a:ext cx="4810330" cy="1392918"/>
              </a:xfrm>
              <a:prstGeom prst="rect">
                <a:avLst/>
              </a:prstGeom>
              <a:blipFill>
                <a:blip r:embed="rId4"/>
                <a:stretch>
                  <a:fillRect l="-760" b="-445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A6139834-064E-AD6C-E8D0-29F0AD894CF7}"/>
              </a:ext>
            </a:extLst>
          </p:cNvPr>
          <p:cNvSpPr txBox="1"/>
          <p:nvPr/>
        </p:nvSpPr>
        <p:spPr>
          <a:xfrm>
            <a:off x="3162577" y="1225038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DDE835-CAB0-40AF-370F-D8E31B38968C}"/>
              </a:ext>
            </a:extLst>
          </p:cNvPr>
          <p:cNvSpPr txBox="1"/>
          <p:nvPr/>
        </p:nvSpPr>
        <p:spPr>
          <a:xfrm>
            <a:off x="6665456" y="3731804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F19297-30F5-549D-09E8-8066AFF9C62B}"/>
                  </a:ext>
                </a:extLst>
              </p:cNvPr>
              <p:cNvSpPr txBox="1"/>
              <p:nvPr/>
            </p:nvSpPr>
            <p:spPr>
              <a:xfrm>
                <a:off x="5614862" y="4232827"/>
                <a:ext cx="1449691" cy="681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F19297-30F5-549D-09E8-8066AFF9C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862" y="4232827"/>
                <a:ext cx="1449691" cy="6810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7CC6C4AF-96BD-7BA0-EA6A-73FF87E58037}"/>
              </a:ext>
            </a:extLst>
          </p:cNvPr>
          <p:cNvSpPr txBox="1"/>
          <p:nvPr/>
        </p:nvSpPr>
        <p:spPr>
          <a:xfrm>
            <a:off x="7025594" y="4139488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S2 a S3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F7F4874-9554-3EAA-6F59-00AEE7460616}"/>
              </a:ext>
            </a:extLst>
          </p:cNvPr>
          <p:cNvSpPr txBox="1"/>
          <p:nvPr/>
        </p:nvSpPr>
        <p:spPr>
          <a:xfrm>
            <a:off x="4106007" y="1600792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320244E-9709-F6FF-12AC-681DD0B35921}"/>
                  </a:ext>
                </a:extLst>
              </p:cNvPr>
              <p:cNvSpPr txBox="1"/>
              <p:nvPr/>
            </p:nvSpPr>
            <p:spPr>
              <a:xfrm>
                <a:off x="1202870" y="1880884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320244E-9709-F6FF-12AC-681DD0B3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70" y="1880884"/>
                <a:ext cx="2388795" cy="695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416E636-140B-5C1D-5CE4-1A7E7C499E76}"/>
                  </a:ext>
                </a:extLst>
              </p:cNvPr>
              <p:cNvSpPr txBox="1"/>
              <p:nvPr/>
            </p:nvSpPr>
            <p:spPr>
              <a:xfrm>
                <a:off x="3645469" y="1880884"/>
                <a:ext cx="2333779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416E636-140B-5C1D-5CE4-1A7E7C499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469" y="1880884"/>
                <a:ext cx="2333779" cy="7825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F4814F3A-F9EE-2ED0-291D-DCECAB299E61}"/>
              </a:ext>
            </a:extLst>
          </p:cNvPr>
          <p:cNvSpPr txBox="1"/>
          <p:nvPr/>
        </p:nvSpPr>
        <p:spPr>
          <a:xfrm>
            <a:off x="1449724" y="2548257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Z2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96924F0D-20F1-F952-C869-26D2B71EFBE3}"/>
              </a:ext>
            </a:extLst>
          </p:cNvPr>
          <p:cNvSpPr txBox="1"/>
          <p:nvPr/>
        </p:nvSpPr>
        <p:spPr>
          <a:xfrm>
            <a:off x="3892889" y="2532271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X2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96379F18-7241-4487-46A8-3E5E66D30D9E}"/>
              </a:ext>
            </a:extLst>
          </p:cNvPr>
          <p:cNvSpPr txBox="1"/>
          <p:nvPr/>
        </p:nvSpPr>
        <p:spPr>
          <a:xfrm>
            <a:off x="3458833" y="1898019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688013C3-C991-BF9F-4F99-77605D735BD5}"/>
              </a:ext>
            </a:extLst>
          </p:cNvPr>
          <p:cNvSpPr txBox="1"/>
          <p:nvPr/>
        </p:nvSpPr>
        <p:spPr>
          <a:xfrm>
            <a:off x="5866129" y="1923874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BD1ABB0-CBC1-F0CF-D143-CA5D379EE3AE}"/>
                  </a:ext>
                </a:extLst>
              </p:cNvPr>
              <p:cNvSpPr txBox="1"/>
              <p:nvPr/>
            </p:nvSpPr>
            <p:spPr>
              <a:xfrm>
                <a:off x="6033052" y="1897665"/>
                <a:ext cx="2421625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BD1ABB0-CBC1-F0CF-D143-CA5D379EE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052" y="1897665"/>
                <a:ext cx="2421625" cy="7825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603;p42">
            <a:extLst>
              <a:ext uri="{FF2B5EF4-FFF2-40B4-BE49-F238E27FC236}">
                <a16:creationId xmlns:a16="http://schemas.microsoft.com/office/drawing/2014/main" id="{191BE1A3-D7B4-6FC8-1C8B-064D89809418}"/>
              </a:ext>
            </a:extLst>
          </p:cNvPr>
          <p:cNvSpPr txBox="1"/>
          <p:nvPr/>
        </p:nvSpPr>
        <p:spPr>
          <a:xfrm>
            <a:off x="6302442" y="2548257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Y2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6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8" grpId="0"/>
      <p:bldP spid="6" grpId="0"/>
      <p:bldP spid="7" grpId="0"/>
      <p:bldP spid="8" grpId="0"/>
      <p:bldP spid="9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4F197A5-105D-92D4-1FBE-B252706B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C51D61F6-8D60-2CB1-4D26-DB3CFC8FB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28F9B391-C75C-D314-B481-6B54B5422F3E}"/>
              </a:ext>
            </a:extLst>
          </p:cNvPr>
          <p:cNvSpPr txBox="1">
            <a:spLocks/>
          </p:cNvSpPr>
          <p:nvPr/>
        </p:nvSpPr>
        <p:spPr>
          <a:xfrm>
            <a:off x="373909" y="338754"/>
            <a:ext cx="77150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Transformaciones Rotacionales y Traslacionales</a:t>
            </a: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C9EB2E7C-D282-DA8F-109B-F09F1E30648F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63F006B6-AAC4-E535-C2C5-B15799D74A74}"/>
              </a:ext>
            </a:extLst>
          </p:cNvPr>
          <p:cNvSpPr txBox="1"/>
          <p:nvPr/>
        </p:nvSpPr>
        <p:spPr>
          <a:xfrm>
            <a:off x="251482" y="1326153"/>
            <a:ext cx="3609738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S3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S4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“No existe transformación de rotación”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L4 sobre el eje Z3”</a:t>
            </a:r>
          </a:p>
          <a:p>
            <a:pPr algn="just"/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57CF4C4-F5CC-E00B-BE53-A2373B3F3504}"/>
              </a:ext>
            </a:extLst>
          </p:cNvPr>
          <p:cNvCxnSpPr>
            <a:cxnSpLocks/>
          </p:cNvCxnSpPr>
          <p:nvPr/>
        </p:nvCxnSpPr>
        <p:spPr>
          <a:xfrm flipV="1">
            <a:off x="3161648" y="4263171"/>
            <a:ext cx="5608" cy="537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CF2F4DE-39A0-3AB9-A8F5-5B492CE10695}"/>
              </a:ext>
            </a:extLst>
          </p:cNvPr>
          <p:cNvCxnSpPr>
            <a:cxnSpLocks/>
          </p:cNvCxnSpPr>
          <p:nvPr/>
        </p:nvCxnSpPr>
        <p:spPr>
          <a:xfrm flipV="1">
            <a:off x="3170115" y="4493804"/>
            <a:ext cx="373783" cy="31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8381C4E-8FDB-C1DD-85B3-0C28FDBA643A}"/>
              </a:ext>
            </a:extLst>
          </p:cNvPr>
          <p:cNvCxnSpPr>
            <a:cxnSpLocks/>
          </p:cNvCxnSpPr>
          <p:nvPr/>
        </p:nvCxnSpPr>
        <p:spPr>
          <a:xfrm>
            <a:off x="3180850" y="4804746"/>
            <a:ext cx="606251" cy="11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EF00613-FFAB-3012-D2AD-091B9BF6055C}"/>
              </a:ext>
            </a:extLst>
          </p:cNvPr>
          <p:cNvSpPr txBox="1"/>
          <p:nvPr/>
        </p:nvSpPr>
        <p:spPr>
          <a:xfrm>
            <a:off x="3762697" y="4565771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0000"/>
                </a:highlight>
              </a:rPr>
              <a:t>x</a:t>
            </a:r>
            <a:r>
              <a:rPr lang="es-ES" sz="1000" dirty="0">
                <a:highlight>
                  <a:srgbClr val="FF0000"/>
                </a:highlight>
              </a:rPr>
              <a:t>0</a:t>
            </a:r>
            <a:endParaRPr lang="es-MX" dirty="0">
              <a:highlight>
                <a:srgbClr val="FF00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516A75E-330A-0229-EB93-65E0AD38E774}"/>
              </a:ext>
            </a:extLst>
          </p:cNvPr>
          <p:cNvSpPr txBox="1"/>
          <p:nvPr/>
        </p:nvSpPr>
        <p:spPr>
          <a:xfrm>
            <a:off x="3483975" y="42180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y</a:t>
            </a:r>
            <a:r>
              <a:rPr lang="es-ES" sz="9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4B5CEB6-FEDF-49CC-A235-46CBB1C8450E}"/>
              </a:ext>
            </a:extLst>
          </p:cNvPr>
          <p:cNvSpPr txBox="1"/>
          <p:nvPr/>
        </p:nvSpPr>
        <p:spPr>
          <a:xfrm>
            <a:off x="2821707" y="4120332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3545B708-35BB-B546-EB06-CFD46C4385B6}"/>
              </a:ext>
            </a:extLst>
          </p:cNvPr>
          <p:cNvSpPr txBox="1"/>
          <p:nvPr/>
        </p:nvSpPr>
        <p:spPr>
          <a:xfrm>
            <a:off x="1005389" y="4450262"/>
            <a:ext cx="2170094" cy="40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SISTEMA DE REFERENCIA GLOBAL (Mundo)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9311B3B2-2097-6926-9731-65844B923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98" y="1744107"/>
            <a:ext cx="4637893" cy="317867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EFA785C-62B7-BFED-FA46-0F17734BE007}"/>
              </a:ext>
            </a:extLst>
          </p:cNvPr>
          <p:cNvSpPr txBox="1"/>
          <p:nvPr/>
        </p:nvSpPr>
        <p:spPr>
          <a:xfrm>
            <a:off x="4950166" y="361113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24ED91-69A0-024F-60A2-7C0078F57047}"/>
              </a:ext>
            </a:extLst>
          </p:cNvPr>
          <p:cNvSpPr txBox="1"/>
          <p:nvPr/>
        </p:nvSpPr>
        <p:spPr>
          <a:xfrm>
            <a:off x="5068391" y="246546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9920D28-88ED-CB41-3475-EC0AFC4698AC}"/>
              </a:ext>
            </a:extLst>
          </p:cNvPr>
          <p:cNvSpPr txBox="1"/>
          <p:nvPr/>
        </p:nvSpPr>
        <p:spPr>
          <a:xfrm>
            <a:off x="6242752" y="2089642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64B98E2-153E-ADD4-6A92-60D550C5CBCD}"/>
              </a:ext>
            </a:extLst>
          </p:cNvPr>
          <p:cNvSpPr txBox="1"/>
          <p:nvPr/>
        </p:nvSpPr>
        <p:spPr>
          <a:xfrm>
            <a:off x="7530237" y="250062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2F5CC235-8FDF-6EEC-B6E0-06CA3C3FE503}"/>
              </a:ext>
            </a:extLst>
          </p:cNvPr>
          <p:cNvSpPr/>
          <p:nvPr/>
        </p:nvSpPr>
        <p:spPr>
          <a:xfrm rot="449282">
            <a:off x="7370494" y="1707592"/>
            <a:ext cx="1124206" cy="30840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89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807F4D01-39EB-C3D6-901F-48468EE9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56465D9-D318-5FEC-5856-480204F04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AF2437A6-520A-3689-E417-E54E6B77A6DD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Transformaciones Rotacionales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y Traslacionales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F35E5B88-33E7-62A8-560B-F1F9B5DB63DA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28778912-10DD-CECF-580E-DC839B68F44E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66E53A21-4880-1D30-EB4A-208050017DF7}"/>
              </a:ext>
            </a:extLst>
          </p:cNvPr>
          <p:cNvSpPr txBox="1"/>
          <p:nvPr/>
        </p:nvSpPr>
        <p:spPr>
          <a:xfrm>
            <a:off x="615054" y="1576902"/>
            <a:ext cx="3494034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S3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S4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“No existe transformación de rotación”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L4 sobre el eje Z3”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1B5E65A7-0B17-9E16-5154-8F4BDB63DB79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CD9B6F-D1F8-6A65-C79C-F1D771EC9DA1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93C9B99-F4D1-6FCD-F924-29F987EA4643}"/>
                  </a:ext>
                </a:extLst>
              </p:cNvPr>
              <p:cNvSpPr txBox="1"/>
              <p:nvPr/>
            </p:nvSpPr>
            <p:spPr>
              <a:xfrm>
                <a:off x="5034913" y="2033525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93C9B99-F4D1-6FCD-F924-29F987EA4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913" y="2033525"/>
                <a:ext cx="2388795" cy="69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320CC54B-1FF7-DBAA-B668-C132A0E69B2E}"/>
              </a:ext>
            </a:extLst>
          </p:cNvPr>
          <p:cNvSpPr txBox="1"/>
          <p:nvPr/>
        </p:nvSpPr>
        <p:spPr>
          <a:xfrm>
            <a:off x="5281767" y="2638020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Z3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7AE08BE-3EC7-6677-581B-CC2594F5D280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F4DAB51-E9E0-298D-0CDA-EF9CEBAA6092}"/>
                  </a:ext>
                </a:extLst>
              </p:cNvPr>
              <p:cNvSpPr txBox="1"/>
              <p:nvPr/>
            </p:nvSpPr>
            <p:spPr>
              <a:xfrm>
                <a:off x="5230883" y="4098349"/>
                <a:ext cx="460319" cy="649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F4DAB51-E9E0-298D-0CDA-EF9CEBAA6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883" y="4098349"/>
                <a:ext cx="460319" cy="6496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649DC5E9-605B-6CD3-30CF-529ECAA42066}"/>
              </a:ext>
            </a:extLst>
          </p:cNvPr>
          <p:cNvSpPr txBox="1"/>
          <p:nvPr/>
        </p:nvSpPr>
        <p:spPr>
          <a:xfrm>
            <a:off x="6246391" y="403032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S3 a S4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99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42D68C6-E613-3059-9202-B82199ABF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0B32A1DE-E1EB-5832-44CB-D7569E0BD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6BFFDDBA-231A-640F-84E0-6F8D2E9B50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49" y="3290550"/>
            <a:ext cx="3509125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-Análisis de diferentes configuraciones de robots manipuladores</a:t>
            </a:r>
          </a:p>
          <a:p>
            <a:pPr marL="146050" indent="0">
              <a:buSzPts val="1300"/>
            </a:pPr>
            <a:r>
              <a:rPr lang="es-ES" dirty="0"/>
              <a:t>-Robot Antropomórfico</a:t>
            </a:r>
          </a:p>
          <a:p>
            <a:pPr marL="146050" indent="0">
              <a:buSzPts val="1300"/>
            </a:pPr>
            <a:r>
              <a:rPr lang="es-ES" dirty="0"/>
              <a:t>-Aplicación de matrices de Transformación en Software</a:t>
            </a:r>
          </a:p>
          <a:p>
            <a:pPr marL="146050" indent="0">
              <a:buSzPts val="1300"/>
            </a:pPr>
            <a:endParaRPr lang="es-ES" dirty="0"/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F30E98D4-7E96-603E-8AC0-DE9D89CAD75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8ADCD2BF-5AC5-55CA-2E42-873FBE3869E2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391387C8-73DC-5233-3B19-49AE2DA60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0E0D6C2A-5832-F4BF-3837-770DEBAD09E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16561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D4F72BC-8B59-2574-5F12-675F2FCB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9091CD6-319A-963B-38AF-AD627166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58DE2737-5AE2-65B7-5FBB-78519922C798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CB21E6AB-8196-BF00-BDFA-2AF25343871D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6A28B2A1-D308-243B-2A6E-E4E6001096D7}"/>
              </a:ext>
            </a:extLst>
          </p:cNvPr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A1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A2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de +90° alrededor de Y0”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L1 sobre el eje Z0”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7A0DA68E-2F5D-AA35-572C-E2EEFCA90141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DF211E28-31F6-CC1D-EE90-FE1E109A12D3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4C87E5ED-62AB-468B-CF42-EB28D9DF4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5D34840-1517-FC6B-B3F1-5F87301F5203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462188B-63F6-1F37-BFA2-2130DCA0A487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096325E-05B8-27FB-2B7D-6284DAEBBE62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A1C2FCF-24DA-F1FB-599E-FFBE2A3E04F0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A9C46BB-81B1-E13C-EC28-1D00352CE1AD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A0FD414-DA9E-8D2D-4CE5-469C9865B005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5B03CD1-6349-671B-4760-36871DE686B5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B375BCD-BB1D-09C7-4229-8C7AFFD49476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A34611F9-F35F-3C8A-B3DF-A45B33F9F67D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53EE949-D0D5-944A-F7B8-C42F5A05BB45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7F3FE14-3AE8-498F-366C-BE1D72B4828F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2500300-BECE-3F3B-E491-38269812E482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85C9D73-4A43-76BB-C295-9AD562EA7CAC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19978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D85FC95D-B6F8-B37E-64F1-27031A4C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4F1BAC5B-60CD-3A4F-E938-29F7F5C20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FB380894-F547-969E-3242-4ACC624ADF7C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D6942FD3-0053-F216-A3AA-B43F5182AC73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63B8D88E-53E8-71B9-CA16-F17AD01A84E1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ED4E5B3-D629-503E-2713-1E5A6F5A3B93}"/>
              </a:ext>
            </a:extLst>
          </p:cNvPr>
          <p:cNvSpPr txBox="1"/>
          <p:nvPr/>
        </p:nvSpPr>
        <p:spPr>
          <a:xfrm>
            <a:off x="246185" y="1576902"/>
            <a:ext cx="2818845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A1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A2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de +90° alrededor de Y0”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positiva de L1 sobre el eje Z0”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BAECD44D-6BB1-343B-8050-CE737C31EC96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AC7324-0BE5-5A0D-883B-5CC91E970EB7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AD4B7AA-8A48-9BF2-212E-1B56184688DD}"/>
                  </a:ext>
                </a:extLst>
              </p:cNvPr>
              <p:cNvSpPr txBox="1"/>
              <p:nvPr/>
            </p:nvSpPr>
            <p:spPr>
              <a:xfrm>
                <a:off x="3690177" y="1987976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AD4B7AA-8A48-9BF2-212E-1B561846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77" y="1987976"/>
                <a:ext cx="2388795" cy="69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FCF40488-1F4E-2D19-B070-4464719C34C7}"/>
              </a:ext>
            </a:extLst>
          </p:cNvPr>
          <p:cNvSpPr txBox="1"/>
          <p:nvPr/>
        </p:nvSpPr>
        <p:spPr>
          <a:xfrm>
            <a:off x="3937031" y="2592471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Z0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E892F39-B024-50D4-09C0-1688CF5FC2FB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A3BAEB3-59C6-3350-F373-CFFAD828F2F3}"/>
                  </a:ext>
                </a:extLst>
              </p:cNvPr>
              <p:cNvSpPr txBox="1"/>
              <p:nvPr/>
            </p:nvSpPr>
            <p:spPr>
              <a:xfrm>
                <a:off x="5162391" y="4138956"/>
                <a:ext cx="460318" cy="649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A3BAEB3-59C6-3350-F373-CFFAD828F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91" y="4138956"/>
                <a:ext cx="460318" cy="6496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27FB9BDD-30D7-D673-C7EE-CA2B2CC25B12}"/>
              </a:ext>
            </a:extLst>
          </p:cNvPr>
          <p:cNvSpPr txBox="1"/>
          <p:nvPr/>
        </p:nvSpPr>
        <p:spPr>
          <a:xfrm>
            <a:off x="6122222" y="4012995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A1 a A2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6FBBC44B-684A-B271-FEDA-2F395DED6DF2}"/>
              </a:ext>
            </a:extLst>
          </p:cNvPr>
          <p:cNvSpPr txBox="1"/>
          <p:nvPr/>
        </p:nvSpPr>
        <p:spPr>
          <a:xfrm>
            <a:off x="5971636" y="1923874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648A68B-491E-45F5-69CB-89D8C4D4BA4B}"/>
                  </a:ext>
                </a:extLst>
              </p:cNvPr>
              <p:cNvSpPr txBox="1"/>
              <p:nvPr/>
            </p:nvSpPr>
            <p:spPr>
              <a:xfrm>
                <a:off x="6138559" y="1897665"/>
                <a:ext cx="2421625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648A68B-491E-45F5-69CB-89D8C4D4B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559" y="1897665"/>
                <a:ext cx="2421625" cy="7825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F9D63735-829C-A44E-A099-55EFF4E7DAD9}"/>
              </a:ext>
            </a:extLst>
          </p:cNvPr>
          <p:cNvSpPr txBox="1"/>
          <p:nvPr/>
        </p:nvSpPr>
        <p:spPr>
          <a:xfrm>
            <a:off x="6407949" y="2548257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Y0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7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  <p:bldP spid="3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4F688EF-D819-24DF-8978-B3DA1FC9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EC70F06E-78AB-0A7C-FE49-D6C2042BF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533B75E6-09EB-1084-43D7-822A7EA40E2D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691E4A7-9147-53C6-64E1-7C57B87444A1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3542600A-6464-D1B8-ACD2-7CA3B99F62B4}"/>
                  </a:ext>
                </a:extLst>
              </p:cNvPr>
              <p:cNvSpPr txBox="1"/>
              <p:nvPr/>
            </p:nvSpPr>
            <p:spPr>
              <a:xfrm>
                <a:off x="293078" y="1263592"/>
                <a:ext cx="3649538" cy="335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A2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A3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“No existe transformación de rotación”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-L2*sen(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-L2*cos(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r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3542600A-6464-D1B8-ACD2-7CA3B99F6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8" y="1263592"/>
                <a:ext cx="3649538" cy="3350105"/>
              </a:xfrm>
              <a:prstGeom prst="rect">
                <a:avLst/>
              </a:prstGeom>
              <a:blipFill>
                <a:blip r:embed="rId4"/>
                <a:stretch>
                  <a:fillRect l="-835" r="-8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7BCF5A22-64A7-EB2E-B122-8B1388A09B2B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B70FCA5D-98AE-E327-D25D-945F48F63F76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8E088489-DEDE-4106-6FE5-6A0EC0C90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8E92B48-E3E5-3974-BA6B-97FB7F216306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310AEDD-8986-8F32-7FA9-A74AE5ACF0B5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F63E642-7461-07ED-664D-57409B442802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C9BBE1E-D634-FDBB-8269-1B9962847EFB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E21E96-AAF6-ABBD-06F4-EFB59C4932C3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2E9A730-99B4-DD76-538D-1472DB73F7F6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4960606B-0C97-F4D6-BCF0-F599AF79BF3B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CAB6778-6128-39ED-645D-A69395F57624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2AE3EA4-C6D0-0201-AE60-F578D8748D78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5B92F26-E067-76CC-F801-1067798DA384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97285A4-DFFF-8D2F-38F8-17F35B9E783E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95FA01A-1DD2-24D4-43F7-E5E914F6AF2C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442E69D-9966-61DB-DF75-9B13D5750F1B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61FB32B-C18F-7527-D108-A2EB124D022C}"/>
              </a:ext>
            </a:extLst>
          </p:cNvPr>
          <p:cNvCxnSpPr>
            <a:cxnSpLocks/>
          </p:cNvCxnSpPr>
          <p:nvPr/>
        </p:nvCxnSpPr>
        <p:spPr>
          <a:xfrm>
            <a:off x="6621654" y="2427685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C5FD285-E963-F030-43F4-5BC45DD86AFA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627133" y="2244091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3A050C4-C96B-9ACE-2DA3-AB0739E9B190}"/>
              </a:ext>
            </a:extLst>
          </p:cNvPr>
          <p:cNvCxnSpPr>
            <a:cxnSpLocks/>
          </p:cNvCxnSpPr>
          <p:nvPr/>
        </p:nvCxnSpPr>
        <p:spPr>
          <a:xfrm>
            <a:off x="6637868" y="2417139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1143D3F-74DD-5D22-A2AA-38F5392641F8}"/>
              </a:ext>
            </a:extLst>
          </p:cNvPr>
          <p:cNvSpPr txBox="1"/>
          <p:nvPr/>
        </p:nvSpPr>
        <p:spPr>
          <a:xfrm>
            <a:off x="6431471" y="260546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12C363C-79E2-04E6-0C3E-84283DBDF5D5}"/>
              </a:ext>
            </a:extLst>
          </p:cNvPr>
          <p:cNvSpPr txBox="1"/>
          <p:nvPr/>
        </p:nvSpPr>
        <p:spPr>
          <a:xfrm>
            <a:off x="6858760" y="209020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3AB5E06-9728-014F-3C2C-4EB9A0F922E6}"/>
              </a:ext>
            </a:extLst>
          </p:cNvPr>
          <p:cNvSpPr txBox="1"/>
          <p:nvPr/>
        </p:nvSpPr>
        <p:spPr>
          <a:xfrm>
            <a:off x="6703298" y="245947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742393A-64B1-2CB2-F910-2D151EBB25D0}"/>
              </a:ext>
            </a:extLst>
          </p:cNvPr>
          <p:cNvSpPr txBox="1"/>
          <p:nvPr/>
        </p:nvSpPr>
        <p:spPr>
          <a:xfrm>
            <a:off x="6886417" y="256903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</p:spTree>
    <p:extLst>
      <p:ext uri="{BB962C8B-B14F-4D97-AF65-F5344CB8AC3E}">
        <p14:creationId xmlns:p14="http://schemas.microsoft.com/office/powerpoint/2010/main" val="390529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4F0AB9DF-365A-00D8-7033-9258F767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FB5F2004-74BE-B6EC-B283-EFF621498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F595D622-5966-054B-46A6-3234637ACA3D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4DEBAF13-C42E-692F-C0A8-B9569ECFF93F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BB50878A-4B29-81EA-D87D-0A24448F8153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DE584B7F-BF70-6CC1-7619-205795EBD7EA}"/>
                  </a:ext>
                </a:extLst>
              </p:cNvPr>
              <p:cNvSpPr txBox="1"/>
              <p:nvPr/>
            </p:nvSpPr>
            <p:spPr>
              <a:xfrm>
                <a:off x="246185" y="1576902"/>
                <a:ext cx="3352799" cy="1867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A2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A3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“No existe transformación de rotación”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-L2*sen(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-L2*cos(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DE584B7F-BF70-6CC1-7619-205795EBD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85" y="1576902"/>
                <a:ext cx="3352799" cy="1867434"/>
              </a:xfrm>
              <a:prstGeom prst="rect">
                <a:avLst/>
              </a:prstGeom>
              <a:blipFill>
                <a:blip r:embed="rId4"/>
                <a:stretch>
                  <a:fillRect l="-909" r="-1091" b="-470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AF1DEFD5-0C1E-F98D-641B-3677674DA170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3A4FB0-F7AD-B3B4-9B5B-9DF374524283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3A337D7-2439-D4AE-335E-54BBFD17C3B7}"/>
                  </a:ext>
                </a:extLst>
              </p:cNvPr>
              <p:cNvSpPr txBox="1"/>
              <p:nvPr/>
            </p:nvSpPr>
            <p:spPr>
              <a:xfrm>
                <a:off x="4901655" y="2012996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3A337D7-2439-D4AE-335E-54BBFD17C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655" y="2012996"/>
                <a:ext cx="2388795" cy="695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32AFBA27-09E7-5EE1-2F03-C8DF5A78E4F2}"/>
              </a:ext>
            </a:extLst>
          </p:cNvPr>
          <p:cNvSpPr txBox="1"/>
          <p:nvPr/>
        </p:nvSpPr>
        <p:spPr>
          <a:xfrm>
            <a:off x="5192570" y="2518515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Z1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45C1238-36C3-A5AF-AB1D-300149C74F25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5925E07-2E44-A13B-DDA8-C19EDC479C2F}"/>
                  </a:ext>
                </a:extLst>
              </p:cNvPr>
              <p:cNvSpPr txBox="1"/>
              <p:nvPr/>
            </p:nvSpPr>
            <p:spPr>
              <a:xfrm>
                <a:off x="4941849" y="4130685"/>
                <a:ext cx="1361719" cy="687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5925E07-2E44-A13B-DDA8-C19EDC479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849" y="4130685"/>
                <a:ext cx="1361719" cy="687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02990A63-FB1D-20BF-9401-45BC6E8A3C64}"/>
              </a:ext>
            </a:extLst>
          </p:cNvPr>
          <p:cNvSpPr txBox="1"/>
          <p:nvPr/>
        </p:nvSpPr>
        <p:spPr>
          <a:xfrm>
            <a:off x="6623186" y="4009982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A2 a A3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58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6B8FA15-2E1E-96C9-58A2-1A238891B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80823661-FDE0-107F-6B78-3D3F3EE59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34BDD16-FAE1-7F36-1323-41327DEECF7D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B6A3FF92-DEC2-1D26-45AF-C10841536D6B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F6FD8BE5-B75D-8C60-50FF-7F6DB9AE7B71}"/>
                  </a:ext>
                </a:extLst>
              </p:cNvPr>
              <p:cNvSpPr txBox="1"/>
              <p:nvPr/>
            </p:nvSpPr>
            <p:spPr>
              <a:xfrm>
                <a:off x="293078" y="1263592"/>
                <a:ext cx="3730086" cy="335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A3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A4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de +90° alrededor de X2”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-L3*sen(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-L3*cos(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r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F6FD8BE5-B75D-8C60-50FF-7F6DB9AE7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8" y="1263592"/>
                <a:ext cx="3730086" cy="3350105"/>
              </a:xfrm>
              <a:prstGeom prst="rect">
                <a:avLst/>
              </a:prstGeom>
              <a:blipFill>
                <a:blip r:embed="rId4"/>
                <a:stretch>
                  <a:fillRect l="-817" r="-9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77F35345-90E3-1AD1-B65B-DCD2509C852E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92F4ABD5-562A-4C88-B6CC-2A103EAEE69A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529658CF-C131-9137-CAB6-039E70E89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829097A-BC28-F3CD-F337-8FBB4BE72806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8793C4B-B8AC-8C51-A624-87CEB55C9809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A07E6FE-88D9-FD1B-A5A2-428B83F686EB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6323651-1082-C607-B0E0-871D22B7B5E0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299C309-527C-D73E-1B7C-A6C5060B8929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4FC261E-2F52-69AB-9F2F-E2D00FDAB69B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1101842-1B48-48C8-8AE1-4926F34D84E9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69768B9-45EA-F05E-2756-C9D8CB2B58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EDDF7EA-D8D2-9E78-20EF-2D8671A6BE75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FDD3EB7-D496-E57A-31BB-C2723EEF46A3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2B14566-F694-E717-CB61-05CE9A10098F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1B221A0-FD59-BD53-7EB9-4EDCB60C6187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4F3A1DD-3DB6-071C-DDC5-227996591E42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18D0E9F-D540-C82A-BAAC-598A6B893926}"/>
              </a:ext>
            </a:extLst>
          </p:cNvPr>
          <p:cNvCxnSpPr>
            <a:cxnSpLocks/>
          </p:cNvCxnSpPr>
          <p:nvPr/>
        </p:nvCxnSpPr>
        <p:spPr>
          <a:xfrm>
            <a:off x="6621654" y="2427685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1B9F6D1-659B-FE78-329A-584F2C132CEF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627133" y="2244091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B53A8A9-70D1-A3C1-5D50-25D6FF103279}"/>
              </a:ext>
            </a:extLst>
          </p:cNvPr>
          <p:cNvCxnSpPr>
            <a:cxnSpLocks/>
          </p:cNvCxnSpPr>
          <p:nvPr/>
        </p:nvCxnSpPr>
        <p:spPr>
          <a:xfrm>
            <a:off x="6637868" y="2417139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94A1C57-7B77-07B2-F3B7-E2B9D48E6C5C}"/>
              </a:ext>
            </a:extLst>
          </p:cNvPr>
          <p:cNvSpPr txBox="1"/>
          <p:nvPr/>
        </p:nvSpPr>
        <p:spPr>
          <a:xfrm>
            <a:off x="6431471" y="260546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5B60C9-6C88-A320-1B62-CE1107341B4E}"/>
              </a:ext>
            </a:extLst>
          </p:cNvPr>
          <p:cNvSpPr txBox="1"/>
          <p:nvPr/>
        </p:nvSpPr>
        <p:spPr>
          <a:xfrm>
            <a:off x="6858760" y="209020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FCEEE35-A090-2699-C58B-3F90DD2BA39D}"/>
              </a:ext>
            </a:extLst>
          </p:cNvPr>
          <p:cNvSpPr txBox="1"/>
          <p:nvPr/>
        </p:nvSpPr>
        <p:spPr>
          <a:xfrm>
            <a:off x="6703298" y="245947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EF8F923-7342-6C54-01F6-821EB006EB32}"/>
              </a:ext>
            </a:extLst>
          </p:cNvPr>
          <p:cNvSpPr txBox="1"/>
          <p:nvPr/>
        </p:nvSpPr>
        <p:spPr>
          <a:xfrm>
            <a:off x="6886417" y="256903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0ED18BA-E6D8-1C75-53F8-E989DD7C14DB}"/>
              </a:ext>
            </a:extLst>
          </p:cNvPr>
          <p:cNvCxnSpPr>
            <a:cxnSpLocks/>
          </p:cNvCxnSpPr>
          <p:nvPr/>
        </p:nvCxnSpPr>
        <p:spPr>
          <a:xfrm>
            <a:off x="6275128" y="242718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32FBCDA-88CB-9204-188E-8CE8408B7C57}"/>
              </a:ext>
            </a:extLst>
          </p:cNvPr>
          <p:cNvCxnSpPr>
            <a:cxnSpLocks/>
          </p:cNvCxnSpPr>
          <p:nvPr/>
        </p:nvCxnSpPr>
        <p:spPr>
          <a:xfrm flipH="1">
            <a:off x="6044916" y="2422749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EB754ABA-FEA8-C178-9C9A-4911F558B7DD}"/>
              </a:ext>
            </a:extLst>
          </p:cNvPr>
          <p:cNvCxnSpPr>
            <a:cxnSpLocks/>
          </p:cNvCxnSpPr>
          <p:nvPr/>
        </p:nvCxnSpPr>
        <p:spPr>
          <a:xfrm>
            <a:off x="6267896" y="2428364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D18AF7B-03D5-B491-2699-B07D534BB3E5}"/>
              </a:ext>
            </a:extLst>
          </p:cNvPr>
          <p:cNvSpPr txBox="1"/>
          <p:nvPr/>
        </p:nvSpPr>
        <p:spPr>
          <a:xfrm>
            <a:off x="5993821" y="252223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70469F1-1B0C-7C54-A824-97C00FA56136}"/>
              </a:ext>
            </a:extLst>
          </p:cNvPr>
          <p:cNvSpPr txBox="1"/>
          <p:nvPr/>
        </p:nvSpPr>
        <p:spPr>
          <a:xfrm>
            <a:off x="6291538" y="21244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E0E2089-E0D0-9D8D-2244-7BCA1AD9FB1F}"/>
              </a:ext>
            </a:extLst>
          </p:cNvPr>
          <p:cNvSpPr txBox="1"/>
          <p:nvPr/>
        </p:nvSpPr>
        <p:spPr>
          <a:xfrm>
            <a:off x="5993821" y="21199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1F6980B-C80D-4703-C047-FACFFB6057C1}"/>
              </a:ext>
            </a:extLst>
          </p:cNvPr>
          <p:cNvSpPr txBox="1"/>
          <p:nvPr/>
        </p:nvSpPr>
        <p:spPr>
          <a:xfrm>
            <a:off x="6374065" y="198438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</p:spTree>
    <p:extLst>
      <p:ext uri="{BB962C8B-B14F-4D97-AF65-F5344CB8AC3E}">
        <p14:creationId xmlns:p14="http://schemas.microsoft.com/office/powerpoint/2010/main" val="64863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DD7FCDC-2B5D-3E7C-521A-CBE16E2F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857CB7A-A126-B304-46F5-BA9E1863F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2BE9A76-0C27-515A-AEA4-ECFC3B0E7C28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FFC2BA1F-7084-96FB-8A30-C8AC3729114A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8FAB067F-ECCB-6D6F-8155-DF3DB582F8FA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B24F84BD-4532-E972-EB4F-805003856E17}"/>
                  </a:ext>
                </a:extLst>
              </p:cNvPr>
              <p:cNvSpPr txBox="1"/>
              <p:nvPr/>
            </p:nvSpPr>
            <p:spPr>
              <a:xfrm>
                <a:off x="246185" y="1576902"/>
                <a:ext cx="3352799" cy="1867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A3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A4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de +90° alrededor de X2”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-L3*sen(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X1”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-L3*cos(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Y1”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B24F84BD-4532-E972-EB4F-805003856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85" y="1576902"/>
                <a:ext cx="3352799" cy="1867434"/>
              </a:xfrm>
              <a:prstGeom prst="rect">
                <a:avLst/>
              </a:prstGeom>
              <a:blipFill>
                <a:blip r:embed="rId4"/>
                <a:stretch>
                  <a:fillRect l="-909" r="-1091" b="-33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764DEA62-13AF-56B8-E5DC-196D248BD129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54DF0E5-6517-C685-B30D-FABD23B48684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77F1FCE-01AC-C545-38E8-B99B4E572D32}"/>
                  </a:ext>
                </a:extLst>
              </p:cNvPr>
              <p:cNvSpPr txBox="1"/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77F1FCE-01AC-C545-38E8-B99B4E572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E667B864-60BA-6CB2-CC88-77A932EF0CA8}"/>
              </a:ext>
            </a:extLst>
          </p:cNvPr>
          <p:cNvSpPr txBox="1"/>
          <p:nvPr/>
        </p:nvSpPr>
        <p:spPr>
          <a:xfrm>
            <a:off x="3981092" y="254298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Z2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38D4473-7F97-D9D8-7DF0-7A61179AA9CA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FA09CB8-EFA5-E815-7B48-7EF1B02178D8}"/>
                  </a:ext>
                </a:extLst>
              </p:cNvPr>
              <p:cNvSpPr txBox="1"/>
              <p:nvPr/>
            </p:nvSpPr>
            <p:spPr>
              <a:xfrm>
                <a:off x="4941849" y="4130685"/>
                <a:ext cx="1413016" cy="681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FA09CB8-EFA5-E815-7B48-7EF1B0217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849" y="4130685"/>
                <a:ext cx="1413016" cy="6810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BAF6EA90-704C-C25B-215B-D7FF82BE957B}"/>
              </a:ext>
            </a:extLst>
          </p:cNvPr>
          <p:cNvSpPr txBox="1"/>
          <p:nvPr/>
        </p:nvSpPr>
        <p:spPr>
          <a:xfrm>
            <a:off x="6623186" y="4009982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A3 a A4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9008BED-346E-D149-A9C2-664BF0E95A49}"/>
                  </a:ext>
                </a:extLst>
              </p:cNvPr>
              <p:cNvSpPr txBox="1"/>
              <p:nvPr/>
            </p:nvSpPr>
            <p:spPr>
              <a:xfrm>
                <a:off x="6157194" y="2030709"/>
                <a:ext cx="2333779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9008BED-346E-D149-A9C2-664BF0E95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94" y="2030709"/>
                <a:ext cx="2333779" cy="782587"/>
              </a:xfrm>
              <a:prstGeom prst="rect">
                <a:avLst/>
              </a:prstGeom>
              <a:blipFill>
                <a:blip r:embed="rId7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EBA38188-9B7D-DA6E-BC8D-385943C9D607}"/>
              </a:ext>
            </a:extLst>
          </p:cNvPr>
          <p:cNvSpPr txBox="1"/>
          <p:nvPr/>
        </p:nvSpPr>
        <p:spPr>
          <a:xfrm>
            <a:off x="6439783" y="2635204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X2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23697097-5782-C656-1B5F-8E5DA3E1BAE5}"/>
              </a:ext>
            </a:extLst>
          </p:cNvPr>
          <p:cNvSpPr txBox="1"/>
          <p:nvPr/>
        </p:nvSpPr>
        <p:spPr>
          <a:xfrm>
            <a:off x="5961653" y="2036541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06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B3159EF2-1D88-77EC-5F97-4291644F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B6ECB76-1FA2-4B6A-C333-0FE49D204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C81F3032-AFF4-BAF8-43F8-93CE6AB23F4C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A236AB7F-AE6E-BBDC-13A1-EC015F31124B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458500F4-FF19-D488-5E58-02B8AED6684D}"/>
              </a:ext>
            </a:extLst>
          </p:cNvPr>
          <p:cNvSpPr txBox="1"/>
          <p:nvPr/>
        </p:nvSpPr>
        <p:spPr>
          <a:xfrm>
            <a:off x="293078" y="1263592"/>
            <a:ext cx="3597353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A4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A5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de +90° alrededor de X3”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</a:t>
            </a:r>
            <a:r>
              <a:rPr lang="es-MX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positiva de L4 sobre el eje Z3”</a:t>
            </a:r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13E6CC8C-E94C-21E6-FBF6-81D8BF9161AF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BC97CC85-0C70-9EAD-261C-CC6FEB255CC5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6E7C61E6-CAF9-5B28-3D23-266F21147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284615B-9A76-D64B-5A74-EE5500FDF710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75D06BA-F3F0-9C7A-36E6-FAFD84D40426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A58B76D-F0A7-35BA-36F5-0F525BFCA440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CC91043-B175-DCE3-F8D9-511F0FF84942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9D5ACC1-96E0-762A-BD93-3A0AFEDFF9D8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6E4F62B-CED0-190C-18D1-E11B1618F92B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A1A5405-5199-BF2B-2C68-F209A31B18EE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4A1F5A1-16F2-66FC-187D-33974F7D7F26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304010D-DA0B-05B7-E8A6-CCDDB84FE26D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DAFCB29-998F-E25E-EE4C-2F70F31B7EC3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C366B7B-DB2F-A230-318C-30B8AB435A34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91720F7-FE81-AB97-4188-4263D70B24E6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91D2734-C8B2-BD25-EE68-83DB9303A3C6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D775DC9-F2E5-B9B4-43F8-E7C5EA207A2D}"/>
              </a:ext>
            </a:extLst>
          </p:cNvPr>
          <p:cNvCxnSpPr>
            <a:cxnSpLocks/>
          </p:cNvCxnSpPr>
          <p:nvPr/>
        </p:nvCxnSpPr>
        <p:spPr>
          <a:xfrm>
            <a:off x="6621654" y="2427685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1445130-48C2-EFE7-0743-019C99DED9D8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627133" y="2244091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3372E91-0BA7-BAE8-CE91-8C6766B2DC87}"/>
              </a:ext>
            </a:extLst>
          </p:cNvPr>
          <p:cNvCxnSpPr>
            <a:cxnSpLocks/>
          </p:cNvCxnSpPr>
          <p:nvPr/>
        </p:nvCxnSpPr>
        <p:spPr>
          <a:xfrm>
            <a:off x="6637868" y="2417139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4D76C2-4D1D-79CE-387E-6F02EE65C415}"/>
              </a:ext>
            </a:extLst>
          </p:cNvPr>
          <p:cNvSpPr txBox="1"/>
          <p:nvPr/>
        </p:nvSpPr>
        <p:spPr>
          <a:xfrm>
            <a:off x="6431471" y="260546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13FDB12-F0BE-7035-FF2A-0DC8F9CA3D31}"/>
              </a:ext>
            </a:extLst>
          </p:cNvPr>
          <p:cNvSpPr txBox="1"/>
          <p:nvPr/>
        </p:nvSpPr>
        <p:spPr>
          <a:xfrm>
            <a:off x="6858760" y="209020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08345CE-A071-BCB1-2749-2638F7D58436}"/>
              </a:ext>
            </a:extLst>
          </p:cNvPr>
          <p:cNvSpPr txBox="1"/>
          <p:nvPr/>
        </p:nvSpPr>
        <p:spPr>
          <a:xfrm>
            <a:off x="6703298" y="245947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E64268D-A87C-4C67-2D11-A4DFD9F6D547}"/>
              </a:ext>
            </a:extLst>
          </p:cNvPr>
          <p:cNvSpPr txBox="1"/>
          <p:nvPr/>
        </p:nvSpPr>
        <p:spPr>
          <a:xfrm>
            <a:off x="6886417" y="256903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8B5E130F-3CC8-4F88-039F-58DDD0DB93A2}"/>
              </a:ext>
            </a:extLst>
          </p:cNvPr>
          <p:cNvCxnSpPr>
            <a:cxnSpLocks/>
          </p:cNvCxnSpPr>
          <p:nvPr/>
        </p:nvCxnSpPr>
        <p:spPr>
          <a:xfrm>
            <a:off x="6275128" y="242718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EA51E66B-26A7-B086-9A21-CE0F22662FCC}"/>
              </a:ext>
            </a:extLst>
          </p:cNvPr>
          <p:cNvCxnSpPr>
            <a:cxnSpLocks/>
          </p:cNvCxnSpPr>
          <p:nvPr/>
        </p:nvCxnSpPr>
        <p:spPr>
          <a:xfrm flipH="1">
            <a:off x="6044916" y="2422749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A8C38FC9-FBB6-3632-D13A-2C0FDB46F14E}"/>
              </a:ext>
            </a:extLst>
          </p:cNvPr>
          <p:cNvCxnSpPr>
            <a:cxnSpLocks/>
          </p:cNvCxnSpPr>
          <p:nvPr/>
        </p:nvCxnSpPr>
        <p:spPr>
          <a:xfrm>
            <a:off x="6267896" y="2428364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5338D24-D441-9335-5B0B-3C2F844F064C}"/>
              </a:ext>
            </a:extLst>
          </p:cNvPr>
          <p:cNvSpPr txBox="1"/>
          <p:nvPr/>
        </p:nvSpPr>
        <p:spPr>
          <a:xfrm>
            <a:off x="5993821" y="252223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8BE56FE-EA15-A9DD-AB15-671F865F5AD1}"/>
              </a:ext>
            </a:extLst>
          </p:cNvPr>
          <p:cNvSpPr txBox="1"/>
          <p:nvPr/>
        </p:nvSpPr>
        <p:spPr>
          <a:xfrm>
            <a:off x="6291538" y="21244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B4FCDED-DD83-9A3C-EC00-E998CF5D3A09}"/>
              </a:ext>
            </a:extLst>
          </p:cNvPr>
          <p:cNvSpPr txBox="1"/>
          <p:nvPr/>
        </p:nvSpPr>
        <p:spPr>
          <a:xfrm>
            <a:off x="5993821" y="21199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82B6354-638D-9FD0-F579-3BD5F061FC80}"/>
              </a:ext>
            </a:extLst>
          </p:cNvPr>
          <p:cNvSpPr txBox="1"/>
          <p:nvPr/>
        </p:nvSpPr>
        <p:spPr>
          <a:xfrm>
            <a:off x="6374065" y="198438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BDBD8BA0-AFB6-E4E3-A162-21BC7D6D3953}"/>
              </a:ext>
            </a:extLst>
          </p:cNvPr>
          <p:cNvCxnSpPr>
            <a:cxnSpLocks/>
          </p:cNvCxnSpPr>
          <p:nvPr/>
        </p:nvCxnSpPr>
        <p:spPr>
          <a:xfrm>
            <a:off x="5688979" y="2556141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A937C94-1FC7-EB17-9D37-98C1610D5964}"/>
              </a:ext>
            </a:extLst>
          </p:cNvPr>
          <p:cNvCxnSpPr>
            <a:cxnSpLocks/>
          </p:cNvCxnSpPr>
          <p:nvPr/>
        </p:nvCxnSpPr>
        <p:spPr>
          <a:xfrm flipH="1">
            <a:off x="5458767" y="2551703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AAE4AF2-092B-691A-422A-A8C2E3925F77}"/>
              </a:ext>
            </a:extLst>
          </p:cNvPr>
          <p:cNvCxnSpPr>
            <a:cxnSpLocks/>
          </p:cNvCxnSpPr>
          <p:nvPr/>
        </p:nvCxnSpPr>
        <p:spPr>
          <a:xfrm flipH="1" flipV="1">
            <a:off x="5418635" y="2393441"/>
            <a:ext cx="283350" cy="151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969B24A-51BA-7ACF-0FA0-98F2105DAB5F}"/>
              </a:ext>
            </a:extLst>
          </p:cNvPr>
          <p:cNvSpPr txBox="1"/>
          <p:nvPr/>
        </p:nvSpPr>
        <p:spPr>
          <a:xfrm>
            <a:off x="5640331" y="268229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4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6CD0A7-5452-82CA-A1C7-2B21AD266A45}"/>
              </a:ext>
            </a:extLst>
          </p:cNvPr>
          <p:cNvSpPr txBox="1"/>
          <p:nvPr/>
        </p:nvSpPr>
        <p:spPr>
          <a:xfrm>
            <a:off x="5313272" y="211661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4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C7B2755-57D6-2AA6-8359-A40201042C2C}"/>
              </a:ext>
            </a:extLst>
          </p:cNvPr>
          <p:cNvSpPr txBox="1"/>
          <p:nvPr/>
        </p:nvSpPr>
        <p:spPr>
          <a:xfrm>
            <a:off x="5380700" y="2593005"/>
            <a:ext cx="377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4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C923E81-0A2C-8DA6-5514-B4066C9A2F5F}"/>
              </a:ext>
            </a:extLst>
          </p:cNvPr>
          <p:cNvSpPr txBox="1"/>
          <p:nvPr/>
        </p:nvSpPr>
        <p:spPr>
          <a:xfrm>
            <a:off x="5694980" y="2030637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</p:spTree>
    <p:extLst>
      <p:ext uri="{BB962C8B-B14F-4D97-AF65-F5344CB8AC3E}">
        <p14:creationId xmlns:p14="http://schemas.microsoft.com/office/powerpoint/2010/main" val="318531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519B0286-F8FE-5AAA-AACC-643EB3FA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0A18A35-0266-E967-C514-DBD908CFD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FE843232-5981-AF5D-160B-9CC350CDEC1B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33956A9-08B9-0FEC-8DE2-9ECA5FB161F3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2CD3AB35-72E9-7E7A-D90E-9A688203C37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C928726D-B1A6-9FCC-0103-385E49BBFDEF}"/>
              </a:ext>
            </a:extLst>
          </p:cNvPr>
          <p:cNvSpPr txBox="1"/>
          <p:nvPr/>
        </p:nvSpPr>
        <p:spPr>
          <a:xfrm>
            <a:off x="246185" y="1576902"/>
            <a:ext cx="2818845" cy="186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 de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A4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A5</a:t>
            </a: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“Rotación de +90° alrededor de X3”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</a:p>
          <a:p>
            <a:pPr algn="just"/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“Translación </a:t>
            </a:r>
            <a:r>
              <a:rPr lang="es-MX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positiva de L4 sobre el eje Z3”</a:t>
            </a:r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F85142F3-EAD1-E547-6B3B-75B25EE1A98E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BC363DF-8CD7-CF85-8383-9A21F8EF88D5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357E49E-C20B-253F-33A3-5B7121E5B102}"/>
                  </a:ext>
                </a:extLst>
              </p:cNvPr>
              <p:cNvSpPr txBox="1"/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357E49E-C20B-253F-33A3-5B7121E5B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E9F8A8C8-1F34-4B22-34D6-1A3158895164}"/>
              </a:ext>
            </a:extLst>
          </p:cNvPr>
          <p:cNvSpPr txBox="1"/>
          <p:nvPr/>
        </p:nvSpPr>
        <p:spPr>
          <a:xfrm>
            <a:off x="3981092" y="254298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Z3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888AD49-33EA-5647-3ED0-6A9F37A641E9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C55B5F6-B2F1-77B4-1FE6-A1A2A1645056}"/>
                  </a:ext>
                </a:extLst>
              </p:cNvPr>
              <p:cNvSpPr txBox="1"/>
              <p:nvPr/>
            </p:nvSpPr>
            <p:spPr>
              <a:xfrm>
                <a:off x="5162391" y="4148507"/>
                <a:ext cx="460318" cy="649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C55B5F6-B2F1-77B4-1FE6-A1A2A1645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91" y="4148507"/>
                <a:ext cx="460318" cy="6496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2125CB3A-F4F0-E732-F21E-B12F8DE885BF}"/>
              </a:ext>
            </a:extLst>
          </p:cNvPr>
          <p:cNvSpPr txBox="1"/>
          <p:nvPr/>
        </p:nvSpPr>
        <p:spPr>
          <a:xfrm>
            <a:off x="6262825" y="4033139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A4 a A5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6AD60BC-A7B8-64CF-E074-F3A934352560}"/>
                  </a:ext>
                </a:extLst>
              </p:cNvPr>
              <p:cNvSpPr txBox="1"/>
              <p:nvPr/>
            </p:nvSpPr>
            <p:spPr>
              <a:xfrm>
                <a:off x="6157194" y="2030709"/>
                <a:ext cx="2333779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6AD60BC-A7B8-64CF-E074-F3A934352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94" y="2030709"/>
                <a:ext cx="2333779" cy="782587"/>
              </a:xfrm>
              <a:prstGeom prst="rect">
                <a:avLst/>
              </a:prstGeom>
              <a:blipFill>
                <a:blip r:embed="rId6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4FAF7555-AE30-C5E7-2951-A82088EC1F91}"/>
              </a:ext>
            </a:extLst>
          </p:cNvPr>
          <p:cNvSpPr txBox="1"/>
          <p:nvPr/>
        </p:nvSpPr>
        <p:spPr>
          <a:xfrm>
            <a:off x="6439783" y="2635204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X3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+90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98E345EA-01DE-EB04-544D-11FA27924956}"/>
              </a:ext>
            </a:extLst>
          </p:cNvPr>
          <p:cNvSpPr txBox="1"/>
          <p:nvPr/>
        </p:nvSpPr>
        <p:spPr>
          <a:xfrm>
            <a:off x="5961653" y="2036541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76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FD7BFCA-C264-EEB5-FCA2-7BBDE1F4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8083D3E-B479-5D54-F8A0-54E63CFFD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B3CD3A3-FFBF-4F02-0D2A-BBC3BBFFAC1A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7E345D59-9AE7-CC1D-45DF-52AB60B18A14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04AD5A3A-A278-20A6-9B36-1EB3B4C800CF}"/>
                  </a:ext>
                </a:extLst>
              </p:cNvPr>
              <p:cNvSpPr txBox="1"/>
              <p:nvPr/>
            </p:nvSpPr>
            <p:spPr>
              <a:xfrm>
                <a:off x="293078" y="1263592"/>
                <a:ext cx="3597353" cy="335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A5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A6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de -90° alrededor de X4”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-L5*sen(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X4”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L5*cos(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Y4”</a:t>
                </a: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r"/>
                <a:endParaRPr lang="en-U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6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Google Shape;1603;p42">
                <a:extLst>
                  <a:ext uri="{FF2B5EF4-FFF2-40B4-BE49-F238E27FC236}">
                    <a16:creationId xmlns:a16="http://schemas.microsoft.com/office/drawing/2014/main" id="{04AD5A3A-A278-20A6-9B36-1EB3B4C80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8" y="1263592"/>
                <a:ext cx="3597353" cy="3350105"/>
              </a:xfrm>
              <a:prstGeom prst="rect">
                <a:avLst/>
              </a:prstGeom>
              <a:blipFill>
                <a:blip r:embed="rId4"/>
                <a:stretch>
                  <a:fillRect l="-847" r="-10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657C9C9F-C86D-8AA1-EAB5-E178902B448A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36D6F02E-647A-13CF-B2E7-9E1F0067EF29}"/>
              </a:ext>
            </a:extLst>
          </p:cNvPr>
          <p:cNvSpPr txBox="1"/>
          <p:nvPr/>
        </p:nvSpPr>
        <p:spPr>
          <a:xfrm>
            <a:off x="5508887" y="4668813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ED72B2CA-8590-0432-0960-E55BB8E5B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075" y="1517041"/>
            <a:ext cx="4876800" cy="3251200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A9F8204-BCF7-7C14-980B-8D8C66A305A0}"/>
              </a:ext>
            </a:extLst>
          </p:cNvPr>
          <p:cNvCxnSpPr>
            <a:cxnSpLocks/>
          </p:cNvCxnSpPr>
          <p:nvPr/>
        </p:nvCxnSpPr>
        <p:spPr>
          <a:xfrm flipV="1">
            <a:off x="6584786" y="3440356"/>
            <a:ext cx="19202" cy="234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C68E396-FC90-94FE-FD0B-29EF4F5943E3}"/>
              </a:ext>
            </a:extLst>
          </p:cNvPr>
          <p:cNvCxnSpPr>
            <a:cxnSpLocks/>
          </p:cNvCxnSpPr>
          <p:nvPr/>
        </p:nvCxnSpPr>
        <p:spPr>
          <a:xfrm flipV="1">
            <a:off x="6593253" y="3520696"/>
            <a:ext cx="242680" cy="164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9F42A75-E5CC-49C9-5F4D-F162252C9AEC}"/>
              </a:ext>
            </a:extLst>
          </p:cNvPr>
          <p:cNvCxnSpPr>
            <a:cxnSpLocks/>
          </p:cNvCxnSpPr>
          <p:nvPr/>
        </p:nvCxnSpPr>
        <p:spPr>
          <a:xfrm>
            <a:off x="6603988" y="3679331"/>
            <a:ext cx="231945" cy="68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3AF1723-424F-0ECB-7F7E-B16DE8351973}"/>
              </a:ext>
            </a:extLst>
          </p:cNvPr>
          <p:cNvSpPr txBox="1"/>
          <p:nvPr/>
        </p:nvSpPr>
        <p:spPr>
          <a:xfrm>
            <a:off x="6603988" y="3748133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BB38C25-A8D6-A1C9-3BA9-4A79F1CA62B7}"/>
              </a:ext>
            </a:extLst>
          </p:cNvPr>
          <p:cNvSpPr txBox="1"/>
          <p:nvPr/>
        </p:nvSpPr>
        <p:spPr>
          <a:xfrm>
            <a:off x="6777988" y="3375840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855BC50-381A-B18F-8DE3-D1AABE194F7B}"/>
              </a:ext>
            </a:extLst>
          </p:cNvPr>
          <p:cNvSpPr txBox="1"/>
          <p:nvPr/>
        </p:nvSpPr>
        <p:spPr>
          <a:xfrm>
            <a:off x="6312634" y="3393269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854ECD8-6DE2-CF0E-B4BF-B4029AFF447F}"/>
              </a:ext>
            </a:extLst>
          </p:cNvPr>
          <p:cNvCxnSpPr>
            <a:cxnSpLocks/>
          </p:cNvCxnSpPr>
          <p:nvPr/>
        </p:nvCxnSpPr>
        <p:spPr>
          <a:xfrm>
            <a:off x="6560801" y="308437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1B08BA4-4B3E-139E-A435-B9E9743F819E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566280" y="2900783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9750553-C881-B20B-9DA5-645C55D8D4E7}"/>
              </a:ext>
            </a:extLst>
          </p:cNvPr>
          <p:cNvCxnSpPr>
            <a:cxnSpLocks/>
          </p:cNvCxnSpPr>
          <p:nvPr/>
        </p:nvCxnSpPr>
        <p:spPr>
          <a:xfrm>
            <a:off x="6577015" y="307383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48471A7-105E-8D82-E75B-CBA5C84C2DE3}"/>
              </a:ext>
            </a:extLst>
          </p:cNvPr>
          <p:cNvSpPr txBox="1"/>
          <p:nvPr/>
        </p:nvSpPr>
        <p:spPr>
          <a:xfrm>
            <a:off x="6252460" y="305191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1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AF5552B-8848-7751-553F-59CD9341BB4D}"/>
              </a:ext>
            </a:extLst>
          </p:cNvPr>
          <p:cNvSpPr txBox="1"/>
          <p:nvPr/>
        </p:nvSpPr>
        <p:spPr>
          <a:xfrm>
            <a:off x="6797907" y="2746894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1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A2E2319-A38A-3842-5C8E-60ED8E7A263C}"/>
              </a:ext>
            </a:extLst>
          </p:cNvPr>
          <p:cNvSpPr txBox="1"/>
          <p:nvPr/>
        </p:nvSpPr>
        <p:spPr>
          <a:xfrm>
            <a:off x="6727988" y="3116168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1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64FA51B-7ED7-D0DF-8308-8DFBD51614F2}"/>
              </a:ext>
            </a:extLst>
          </p:cNvPr>
          <p:cNvSpPr txBox="1"/>
          <p:nvPr/>
        </p:nvSpPr>
        <p:spPr>
          <a:xfrm>
            <a:off x="6553569" y="3273406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34CEA7F-E441-A887-9485-D6AE45842717}"/>
              </a:ext>
            </a:extLst>
          </p:cNvPr>
          <p:cNvCxnSpPr>
            <a:cxnSpLocks/>
          </p:cNvCxnSpPr>
          <p:nvPr/>
        </p:nvCxnSpPr>
        <p:spPr>
          <a:xfrm>
            <a:off x="6621654" y="2427685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5D80F00-4E3F-9A1A-5A89-06801BF62BA6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6627133" y="2244091"/>
            <a:ext cx="231627" cy="1785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90B95ED-13DF-3FD5-39D8-5A1278EBF0BD}"/>
              </a:ext>
            </a:extLst>
          </p:cNvPr>
          <p:cNvCxnSpPr>
            <a:cxnSpLocks/>
          </p:cNvCxnSpPr>
          <p:nvPr/>
        </p:nvCxnSpPr>
        <p:spPr>
          <a:xfrm>
            <a:off x="6637868" y="2417139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4E0EAF2-DD90-AB73-ADFF-2636FC2B7AC2}"/>
              </a:ext>
            </a:extLst>
          </p:cNvPr>
          <p:cNvSpPr txBox="1"/>
          <p:nvPr/>
        </p:nvSpPr>
        <p:spPr>
          <a:xfrm>
            <a:off x="6431471" y="260546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2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00961C3-C37F-8E25-B7AE-51259E7D2210}"/>
              </a:ext>
            </a:extLst>
          </p:cNvPr>
          <p:cNvSpPr txBox="1"/>
          <p:nvPr/>
        </p:nvSpPr>
        <p:spPr>
          <a:xfrm>
            <a:off x="6858760" y="209020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2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FAA78C5-4DE5-5BD0-E7AF-69AF87E7F00C}"/>
              </a:ext>
            </a:extLst>
          </p:cNvPr>
          <p:cNvSpPr txBox="1"/>
          <p:nvPr/>
        </p:nvSpPr>
        <p:spPr>
          <a:xfrm>
            <a:off x="6703298" y="245947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2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C50AE6A-78CD-387D-14B2-D22C37F43A71}"/>
              </a:ext>
            </a:extLst>
          </p:cNvPr>
          <p:cNvSpPr txBox="1"/>
          <p:nvPr/>
        </p:nvSpPr>
        <p:spPr>
          <a:xfrm>
            <a:off x="6886417" y="256903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L2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03F06A1C-8AD7-4CFC-9A8C-4C0722B31E30}"/>
              </a:ext>
            </a:extLst>
          </p:cNvPr>
          <p:cNvCxnSpPr>
            <a:cxnSpLocks/>
          </p:cNvCxnSpPr>
          <p:nvPr/>
        </p:nvCxnSpPr>
        <p:spPr>
          <a:xfrm>
            <a:off x="6275128" y="2427187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2340FA55-3D28-FD59-0064-EF29B1CD5B30}"/>
              </a:ext>
            </a:extLst>
          </p:cNvPr>
          <p:cNvCxnSpPr>
            <a:cxnSpLocks/>
          </p:cNvCxnSpPr>
          <p:nvPr/>
        </p:nvCxnSpPr>
        <p:spPr>
          <a:xfrm flipH="1">
            <a:off x="6044916" y="2422749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DBD17A7-B343-E3AF-27BF-F2150A05148B}"/>
              </a:ext>
            </a:extLst>
          </p:cNvPr>
          <p:cNvCxnSpPr>
            <a:cxnSpLocks/>
          </p:cNvCxnSpPr>
          <p:nvPr/>
        </p:nvCxnSpPr>
        <p:spPr>
          <a:xfrm>
            <a:off x="6267896" y="2428364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3FC2EFF-B3B1-2C5C-78DB-5A4109E5C512}"/>
              </a:ext>
            </a:extLst>
          </p:cNvPr>
          <p:cNvSpPr txBox="1"/>
          <p:nvPr/>
        </p:nvSpPr>
        <p:spPr>
          <a:xfrm>
            <a:off x="5993821" y="2522236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3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E6BD26D-B248-B8D9-DFBA-54EDAC103C0F}"/>
              </a:ext>
            </a:extLst>
          </p:cNvPr>
          <p:cNvSpPr txBox="1"/>
          <p:nvPr/>
        </p:nvSpPr>
        <p:spPr>
          <a:xfrm>
            <a:off x="6291538" y="2124432"/>
            <a:ext cx="39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3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902B140-25AF-98A4-1456-1DC6FA82F06F}"/>
              </a:ext>
            </a:extLst>
          </p:cNvPr>
          <p:cNvSpPr txBox="1"/>
          <p:nvPr/>
        </p:nvSpPr>
        <p:spPr>
          <a:xfrm>
            <a:off x="5993821" y="2119931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3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BBDEBB9-78CB-B57D-1F54-5BDD4E57DD65}"/>
              </a:ext>
            </a:extLst>
          </p:cNvPr>
          <p:cNvSpPr txBox="1"/>
          <p:nvPr/>
        </p:nvSpPr>
        <p:spPr>
          <a:xfrm>
            <a:off x="6374065" y="198438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L3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89D2861D-5719-0E1E-E4B7-8C18DAE2E0AA}"/>
              </a:ext>
            </a:extLst>
          </p:cNvPr>
          <p:cNvCxnSpPr>
            <a:cxnSpLocks/>
          </p:cNvCxnSpPr>
          <p:nvPr/>
        </p:nvCxnSpPr>
        <p:spPr>
          <a:xfrm>
            <a:off x="5688979" y="2556141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86EBA94-89D2-20BD-859C-245027AE0CFA}"/>
              </a:ext>
            </a:extLst>
          </p:cNvPr>
          <p:cNvCxnSpPr>
            <a:cxnSpLocks/>
          </p:cNvCxnSpPr>
          <p:nvPr/>
        </p:nvCxnSpPr>
        <p:spPr>
          <a:xfrm flipH="1">
            <a:off x="5458767" y="2551703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994F0994-AE7D-22E7-B8A5-AF0F376926F5}"/>
              </a:ext>
            </a:extLst>
          </p:cNvPr>
          <p:cNvCxnSpPr>
            <a:cxnSpLocks/>
          </p:cNvCxnSpPr>
          <p:nvPr/>
        </p:nvCxnSpPr>
        <p:spPr>
          <a:xfrm flipH="1" flipV="1">
            <a:off x="5418635" y="2393441"/>
            <a:ext cx="283350" cy="151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D73EB58F-E2FF-7DA6-EE8E-4DFA76335DDB}"/>
              </a:ext>
            </a:extLst>
          </p:cNvPr>
          <p:cNvSpPr txBox="1"/>
          <p:nvPr/>
        </p:nvSpPr>
        <p:spPr>
          <a:xfrm>
            <a:off x="5640331" y="2682299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4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A98688-FDA4-51D3-AAF6-403EBF5AE788}"/>
              </a:ext>
            </a:extLst>
          </p:cNvPr>
          <p:cNvSpPr txBox="1"/>
          <p:nvPr/>
        </p:nvSpPr>
        <p:spPr>
          <a:xfrm>
            <a:off x="5313272" y="211661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4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835D4E3-D82D-37CF-522B-B5BD06344B11}"/>
              </a:ext>
            </a:extLst>
          </p:cNvPr>
          <p:cNvSpPr txBox="1"/>
          <p:nvPr/>
        </p:nvSpPr>
        <p:spPr>
          <a:xfrm>
            <a:off x="5380700" y="2593005"/>
            <a:ext cx="377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4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72828BE-218F-9178-3E05-FFFBB0D55E85}"/>
              </a:ext>
            </a:extLst>
          </p:cNvPr>
          <p:cNvSpPr txBox="1"/>
          <p:nvPr/>
        </p:nvSpPr>
        <p:spPr>
          <a:xfrm>
            <a:off x="5694980" y="2030637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03B9DE8-49F6-446D-C22D-62D7A782E2C6}"/>
              </a:ext>
            </a:extLst>
          </p:cNvPr>
          <p:cNvSpPr txBox="1"/>
          <p:nvPr/>
        </p:nvSpPr>
        <p:spPr>
          <a:xfrm>
            <a:off x="5155795" y="230871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L5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A299918B-5141-C6E6-EBEC-38C41FB45B3F}"/>
              </a:ext>
            </a:extLst>
          </p:cNvPr>
          <p:cNvCxnSpPr>
            <a:cxnSpLocks/>
          </p:cNvCxnSpPr>
          <p:nvPr/>
        </p:nvCxnSpPr>
        <p:spPr>
          <a:xfrm>
            <a:off x="5070854" y="2722094"/>
            <a:ext cx="19202" cy="227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4EAE0CD1-5D5F-AE42-BFC6-B22E87A67758}"/>
              </a:ext>
            </a:extLst>
          </p:cNvPr>
          <p:cNvCxnSpPr>
            <a:cxnSpLocks/>
          </p:cNvCxnSpPr>
          <p:nvPr/>
        </p:nvCxnSpPr>
        <p:spPr>
          <a:xfrm flipH="1">
            <a:off x="4840642" y="2717656"/>
            <a:ext cx="224346" cy="47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D7FDC762-6A2D-B576-7C0E-980093AEE8AC}"/>
              </a:ext>
            </a:extLst>
          </p:cNvPr>
          <p:cNvCxnSpPr>
            <a:cxnSpLocks/>
          </p:cNvCxnSpPr>
          <p:nvPr/>
        </p:nvCxnSpPr>
        <p:spPr>
          <a:xfrm>
            <a:off x="5063622" y="2723271"/>
            <a:ext cx="281745" cy="1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DD2C8BF-29DF-7500-C6EE-69D1FC0865E0}"/>
              </a:ext>
            </a:extLst>
          </p:cNvPr>
          <p:cNvSpPr txBox="1"/>
          <p:nvPr/>
        </p:nvSpPr>
        <p:spPr>
          <a:xfrm>
            <a:off x="4952815" y="3006820"/>
            <a:ext cx="34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5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B8A019D-954A-9078-5256-C7B618021C56}"/>
              </a:ext>
            </a:extLst>
          </p:cNvPr>
          <p:cNvSpPr txBox="1"/>
          <p:nvPr/>
        </p:nvSpPr>
        <p:spPr>
          <a:xfrm>
            <a:off x="4591419" y="2475556"/>
            <a:ext cx="41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6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4B71F3E-AA49-0DD9-135B-CA26C01B1D9E}"/>
              </a:ext>
            </a:extLst>
          </p:cNvPr>
          <p:cNvSpPr txBox="1"/>
          <p:nvPr/>
        </p:nvSpPr>
        <p:spPr>
          <a:xfrm>
            <a:off x="5099340" y="2709849"/>
            <a:ext cx="377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5</a:t>
            </a:r>
            <a:endParaRPr lang="es-MX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9420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83F7B089-57FE-65F3-6692-D44F1A3C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7891E322-D88F-BDDC-78F0-6162925D0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C8089F0-E267-C476-5028-9A64639CB740}"/>
              </a:ext>
            </a:extLst>
          </p:cNvPr>
          <p:cNvSpPr txBox="1">
            <a:spLocks/>
          </p:cNvSpPr>
          <p:nvPr/>
        </p:nvSpPr>
        <p:spPr>
          <a:xfrm>
            <a:off x="373910" y="679743"/>
            <a:ext cx="85809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CFB7DDDB-E565-911A-9EDE-B6B9AE86BB9E}"/>
              </a:ext>
            </a:extLst>
          </p:cNvPr>
          <p:cNvCxnSpPr>
            <a:cxnSpLocks/>
          </p:cNvCxnSpPr>
          <p:nvPr/>
        </p:nvCxnSpPr>
        <p:spPr>
          <a:xfrm flipH="1">
            <a:off x="406263" y="803001"/>
            <a:ext cx="1588" cy="40283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F7DB0021-DEBC-CDFE-1A79-A57A39CED1E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0980632-0FAB-5F6F-8320-B55FF3106ECA}"/>
                  </a:ext>
                </a:extLst>
              </p:cNvPr>
              <p:cNvSpPr txBox="1"/>
              <p:nvPr/>
            </p:nvSpPr>
            <p:spPr>
              <a:xfrm>
                <a:off x="281353" y="1696540"/>
                <a:ext cx="3305188" cy="18674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182875" rIns="91425" bIns="0" anchor="t" anchorCtr="0">
                <a:noAutofit/>
              </a:bodyPr>
              <a:lstStyle/>
              <a:p>
                <a:pPr algn="just"/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Transformaciones de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A5</a:t>
                </a:r>
                <a:r>
                  <a:rPr lang="es-ES" sz="16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a </a:t>
                </a:r>
                <a:r>
                  <a:rPr lang="es-ES" sz="1600" b="1" dirty="0">
                    <a:solidFill>
                      <a:schemeClr val="tx2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A6</a:t>
                </a: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Rotación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“Rotación de -90° alrededor de X4”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ES" sz="1600" b="1" dirty="0">
                    <a:solidFill>
                      <a:srgbClr val="FF00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Translación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negativa de -L5*sen(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X4”</a:t>
                </a:r>
              </a:p>
              <a:p>
                <a:pPr algn="just"/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“Translación positiva de L5*cos(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rgbClr val="FFFF00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) sobre el eje Y4”</a:t>
                </a: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algn="just"/>
                <a:endParaRPr lang="es-ES" sz="1600" b="1" dirty="0">
                  <a:solidFill>
                    <a:schemeClr val="tx2"/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Google Shape;1603;p42">
                <a:extLst>
                  <a:ext uri="{FF2B5EF4-FFF2-40B4-BE49-F238E27FC236}">
                    <a16:creationId xmlns:a16="http://schemas.microsoft.com/office/drawing/2014/main" id="{E0980632-0FAB-5F6F-8320-B55FF310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53" y="1696540"/>
                <a:ext cx="3305188" cy="1867434"/>
              </a:xfrm>
              <a:prstGeom prst="rect">
                <a:avLst/>
              </a:prstGeom>
              <a:blipFill>
                <a:blip r:embed="rId4"/>
                <a:stretch>
                  <a:fillRect l="-923" r="-1107" b="-338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A502C604-B802-A6B5-2E81-86CEA1FD84E8}"/>
              </a:ext>
            </a:extLst>
          </p:cNvPr>
          <p:cNvSpPr txBox="1"/>
          <p:nvPr/>
        </p:nvSpPr>
        <p:spPr>
          <a:xfrm>
            <a:off x="4532746" y="1225047"/>
            <a:ext cx="2818845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r>
              <a:rPr lang="es-MX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MATEMÁTICA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AB074B2-08DE-B013-CA18-22566DEB35BF}"/>
              </a:ext>
            </a:extLst>
          </p:cNvPr>
          <p:cNvSpPr txBox="1"/>
          <p:nvPr/>
        </p:nvSpPr>
        <p:spPr>
          <a:xfrm>
            <a:off x="5691202" y="1696540"/>
            <a:ext cx="93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6F89B30-BA00-EF34-D264-2FD660D5B6CA}"/>
                  </a:ext>
                </a:extLst>
              </p:cNvPr>
              <p:cNvSpPr txBox="1"/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6F89B30-BA00-EF34-D264-2FD660D5B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177" y="2037464"/>
                <a:ext cx="2388795" cy="6958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84263334-7CE7-9B73-78DD-D343D6611E33}"/>
              </a:ext>
            </a:extLst>
          </p:cNvPr>
          <p:cNvSpPr txBox="1"/>
          <p:nvPr/>
        </p:nvSpPr>
        <p:spPr>
          <a:xfrm>
            <a:off x="3981092" y="2542983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Z4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9C4700A-3CEC-C6A3-CA0A-D69A8401B1AE}"/>
              </a:ext>
            </a:extLst>
          </p:cNvPr>
          <p:cNvSpPr txBox="1"/>
          <p:nvPr/>
        </p:nvSpPr>
        <p:spPr>
          <a:xfrm>
            <a:off x="5622709" y="3702205"/>
            <a:ext cx="1068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4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DC7C9E3C-9E42-4F6D-4A90-A2C64E88D462}"/>
              </a:ext>
            </a:extLst>
          </p:cNvPr>
          <p:cNvSpPr txBox="1"/>
          <p:nvPr/>
        </p:nvSpPr>
        <p:spPr>
          <a:xfrm>
            <a:off x="6262825" y="4033139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Traslación de 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A5 a A6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CBD8395-2539-879B-91B6-B14D8B532BC5}"/>
                  </a:ext>
                </a:extLst>
              </p:cNvPr>
              <p:cNvSpPr txBox="1"/>
              <p:nvPr/>
            </p:nvSpPr>
            <p:spPr>
              <a:xfrm>
                <a:off x="6157194" y="2030709"/>
                <a:ext cx="2641556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(−90)</m:t>
                                </m:r>
                              </m:e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(−90)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𝑠𝑒𝑛</m:t>
                                </m:r>
                                <m:r>
                                  <a:rPr lang="es-MX" sz="16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(−90)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MX" sz="16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(−90)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CBD8395-2539-879B-91B6-B14D8B532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94" y="2030709"/>
                <a:ext cx="2641556" cy="782587"/>
              </a:xfrm>
              <a:prstGeom prst="rect">
                <a:avLst/>
              </a:prstGeom>
              <a:blipFill>
                <a:blip r:embed="rId6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9ECF734-95C2-E08C-EDFC-8C31AB90A6D7}"/>
              </a:ext>
            </a:extLst>
          </p:cNvPr>
          <p:cNvSpPr txBox="1"/>
          <p:nvPr/>
        </p:nvSpPr>
        <p:spPr>
          <a:xfrm>
            <a:off x="6439783" y="2635204"/>
            <a:ext cx="1929248" cy="69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alrededor del eje X4 Evaluada en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-90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9DF9C657-FDF5-9FBD-5D3C-F23C6464268E}"/>
              </a:ext>
            </a:extLst>
          </p:cNvPr>
          <p:cNvSpPr txBox="1"/>
          <p:nvPr/>
        </p:nvSpPr>
        <p:spPr>
          <a:xfrm>
            <a:off x="5961653" y="2036541"/>
            <a:ext cx="301172" cy="6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8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FDEE023-0C49-1763-AB90-E1C1A169B4C1}"/>
                  </a:ext>
                </a:extLst>
              </p:cNvPr>
              <p:cNvSpPr txBox="1"/>
              <p:nvPr/>
            </p:nvSpPr>
            <p:spPr>
              <a:xfrm>
                <a:off x="4668838" y="4154300"/>
                <a:ext cx="1413016" cy="681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𝒔𝒆𝒏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r>
                                  <a:rPr lang="es-MX" sz="16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Ɵ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16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FDEE023-0C49-1763-AB90-E1C1A169B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838" y="4154300"/>
                <a:ext cx="1413016" cy="6810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38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1" grpId="0"/>
      <p:bldP spid="28" grpId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Uniones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Las uniones son elementos rígidos que se emplean para la conexión de las diversas articulaciones del robot. En una cadena de unión-articulación-unión, se le denomina unión de entrada al eslabón que esta más cerca de la base del robot, a la otra unión por consiguiente se le llama unión de salida. La unión de salida es la que se desplaza con respecto a la unión de entrada.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B7FE54E-B9A7-73E7-4D43-293135E33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42" y="1496307"/>
            <a:ext cx="4490856" cy="318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9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237945" y="1435444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prismáticas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movimiento de las uniones puede ser lineal o rotacional. Las articulaciones lineales implican un movimiento deslizante o de translación de las uniones de conexión, este movimiento puede ser generado por pistones o por medio de hacer deslizar el elemento sobre un carril o guía usando dispositivos mecánicos, eléctricos o neumáticos. </a:t>
            </a:r>
          </a:p>
        </p:txBody>
      </p:sp>
      <p:pic>
        <p:nvPicPr>
          <p:cNvPr id="4098" name="Picture 2" descr="Sistemas de coordenadas - Educación Tecnológica 2 - Campus Virtual ORT">
            <a:extLst>
              <a:ext uri="{FF2B5EF4-FFF2-40B4-BE49-F238E27FC236}">
                <a16:creationId xmlns:a16="http://schemas.microsoft.com/office/drawing/2014/main" id="{3F06F62B-B65C-6090-1438-CBAEB71F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027" y="2161744"/>
            <a:ext cx="4507157" cy="187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27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Rotacional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el eje de rotación es perpendicular a los ejes de las dos uniones.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F05950-2940-3314-615F-3B0EDD114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940" y="1776412"/>
            <a:ext cx="26003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5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de Torsión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la cual realiza un movimiento de torsión entre las uniones de entrada y salida, y el eje de torsión de esta articulación es paralelo al eje de las dos uniones.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8FAB2A-9838-4ABE-5461-531119926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560" y="1874227"/>
            <a:ext cx="3302163" cy="174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7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Tipos de articulaciones</a:t>
            </a: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3;p42">
            <a:extLst>
              <a:ext uri="{FF2B5EF4-FFF2-40B4-BE49-F238E27FC236}">
                <a16:creationId xmlns:a16="http://schemas.microsoft.com/office/drawing/2014/main" id="{E6D26148-5682-9211-A114-17112AAF0968}"/>
              </a:ext>
            </a:extLst>
          </p:cNvPr>
          <p:cNvSpPr txBox="1"/>
          <p:nvPr/>
        </p:nvSpPr>
        <p:spPr>
          <a:xfrm>
            <a:off x="373910" y="1638832"/>
            <a:ext cx="3567291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Articulaciones rotacionales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pueden distinguir tres tipos: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•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 de Revolución,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en este tipo el eje de rotación es paralelo al eje de la unión de entrada y perpendicular al de la unión de salida, es decir la unión de salida gira alrededor de la de entrada.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E3D2D7-07F1-696C-830D-6B5E46AFC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177" y="1870847"/>
            <a:ext cx="3413688" cy="189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1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cilíndrico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Cilíndrico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AA9F0B-83EB-04D2-8290-5D46E275F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649" y="1345413"/>
            <a:ext cx="3866719" cy="3459333"/>
          </a:xfrm>
          <a:prstGeom prst="rect">
            <a:avLst/>
          </a:prstGeom>
        </p:spPr>
      </p:pic>
      <p:pic>
        <p:nvPicPr>
          <p:cNvPr id="3078" name="Picture 6" descr="Técnicas de observación de la tierra (II): Geodesia - Alfa Geomatics">
            <a:extLst>
              <a:ext uri="{FF2B5EF4-FFF2-40B4-BE49-F238E27FC236}">
                <a16:creationId xmlns:a16="http://schemas.microsoft.com/office/drawing/2014/main" id="{EAE20C04-403A-DBEB-2A6F-384018425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11" y="2362266"/>
            <a:ext cx="2636877" cy="174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5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cartesiano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</a:t>
            </a:r>
          </a:p>
        </p:txBody>
      </p:sp>
      <p:pic>
        <p:nvPicPr>
          <p:cNvPr id="1026" name="Picture 2" descr="1.4.- Grados de Libertad – Inteligencia Artificial">
            <a:extLst>
              <a:ext uri="{FF2B5EF4-FFF2-40B4-BE49-F238E27FC236}">
                <a16:creationId xmlns:a16="http://schemas.microsoft.com/office/drawing/2014/main" id="{BF066A2E-F5E8-3A2D-EB85-9A062AC1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52" y="1597768"/>
            <a:ext cx="2818845" cy="31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atriz de rotación - Wikipedia, la enciclopedia libre">
            <a:extLst>
              <a:ext uri="{FF2B5EF4-FFF2-40B4-BE49-F238E27FC236}">
                <a16:creationId xmlns:a16="http://schemas.microsoft.com/office/drawing/2014/main" id="{AE569C14-E387-B041-DB51-53FC6A3F4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397" y="1798594"/>
            <a:ext cx="2254901" cy="243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22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 (RRR)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Presentan mayor destreza en su espacio de trabajo, ya que sus eslabones están unidos por tres articulaciones rotacionales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B0B8FD-5700-F66E-D366-B24191B81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06278"/>
            <a:ext cx="4275631" cy="314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17503DAA-7997-6BBF-7E9A-5D1C1517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693A0F3D-DFF9-94F3-1F7E-F85D9119C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08B4FB26-6F29-78E7-3307-1A429F7DEF46}"/>
              </a:ext>
            </a:extLst>
          </p:cNvPr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576812B-F685-BF7B-8245-54B9156CAC3F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405DB345-400E-AFCB-7059-98E86233F3A6}"/>
              </a:ext>
            </a:extLst>
          </p:cNvPr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Utilizar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2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configuraciones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</a:t>
            </a:r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678325D6-2E81-C701-D527-7EF8158EDBA0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6" name="Google Shape;1603;p42">
            <a:extLst>
              <a:ext uri="{FF2B5EF4-FFF2-40B4-BE49-F238E27FC236}">
                <a16:creationId xmlns:a16="http://schemas.microsoft.com/office/drawing/2014/main" id="{4230EC5B-355F-9E8D-E979-8416648FCD74}"/>
              </a:ext>
            </a:extLst>
          </p:cNvPr>
          <p:cNvSpPr txBox="1"/>
          <p:nvPr/>
        </p:nvSpPr>
        <p:spPr>
          <a:xfrm>
            <a:off x="1183072" y="43353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42E09717-89F3-DA6E-719E-28F56DE3F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843" y="2536581"/>
            <a:ext cx="3009617" cy="1991872"/>
          </a:xfrm>
          <a:prstGeom prst="rect">
            <a:avLst/>
          </a:prstGeom>
        </p:spPr>
      </p:pic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03FE014F-8048-56CB-7D1B-62DC97D60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4965455" y="2475982"/>
            <a:ext cx="2924175" cy="2199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72FA875D-6212-DB57-44FA-2443C6419CBF}"/>
              </a:ext>
            </a:extLst>
          </p:cNvPr>
          <p:cNvSpPr txBox="1"/>
          <p:nvPr/>
        </p:nvSpPr>
        <p:spPr>
          <a:xfrm>
            <a:off x="5270116" y="4630987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8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Análisis de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8482" y="1583097"/>
            <a:ext cx="8763167" cy="178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matrices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vector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articulación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representación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procedimiento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matemático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resultados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diagrama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referencia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script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Matlab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que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refleje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traslacionales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partir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configuración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Antropomórfico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Subir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537592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11223</TotalTime>
  <Words>2245</Words>
  <Application>Microsoft Office PowerPoint</Application>
  <PresentationFormat>Presentación en pantalla (16:9)</PresentationFormat>
  <Paragraphs>692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3" baseType="lpstr">
      <vt:lpstr>Fira Sans Condensed Light</vt:lpstr>
      <vt:lpstr>Advent Pro Light</vt:lpstr>
      <vt:lpstr>Cambria Math</vt:lpstr>
      <vt:lpstr>Rajdhani</vt:lpstr>
      <vt:lpstr>Anton</vt:lpstr>
      <vt:lpstr>Arial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323</cp:revision>
  <dcterms:modified xsi:type="dcterms:W3CDTF">2026-02-24T03:21:06Z</dcterms:modified>
</cp:coreProperties>
</file>