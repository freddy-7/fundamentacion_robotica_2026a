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32"/>
  </p:notesMasterIdLst>
  <p:sldIdLst>
    <p:sldId id="256" r:id="rId2"/>
    <p:sldId id="357" r:id="rId3"/>
    <p:sldId id="358" r:id="rId4"/>
    <p:sldId id="519" r:id="rId5"/>
    <p:sldId id="520" r:id="rId6"/>
    <p:sldId id="521" r:id="rId7"/>
    <p:sldId id="522" r:id="rId8"/>
    <p:sldId id="523" r:id="rId9"/>
    <p:sldId id="524" r:id="rId10"/>
    <p:sldId id="525" r:id="rId11"/>
    <p:sldId id="526" r:id="rId12"/>
    <p:sldId id="527" r:id="rId13"/>
    <p:sldId id="528" r:id="rId14"/>
    <p:sldId id="529" r:id="rId15"/>
    <p:sldId id="530" r:id="rId16"/>
    <p:sldId id="484" r:id="rId17"/>
    <p:sldId id="489" r:id="rId18"/>
    <p:sldId id="490" r:id="rId19"/>
    <p:sldId id="491" r:id="rId20"/>
    <p:sldId id="492" r:id="rId21"/>
    <p:sldId id="486" r:id="rId22"/>
    <p:sldId id="487" r:id="rId23"/>
    <p:sldId id="456" r:id="rId24"/>
    <p:sldId id="499" r:id="rId25"/>
    <p:sldId id="500" r:id="rId26"/>
    <p:sldId id="501" r:id="rId27"/>
    <p:sldId id="502" r:id="rId28"/>
    <p:sldId id="389" r:id="rId29"/>
    <p:sldId id="531" r:id="rId30"/>
    <p:sldId id="280" r:id="rId31"/>
  </p:sldIdLst>
  <p:sldSz cx="9144000" cy="5143500" type="screen16x9"/>
  <p:notesSz cx="6858000" cy="9144000"/>
  <p:embeddedFontLst>
    <p:embeddedFont>
      <p:font typeface="Advent Pro Light" panose="020B0604020202020204" charset="0"/>
      <p:regular r:id="rId33"/>
      <p:bold r:id="rId34"/>
    </p:embeddedFont>
    <p:embeddedFont>
      <p:font typeface="Anton" pitchFamily="2" charset="0"/>
      <p:regular r:id="rId35"/>
    </p:embeddedFont>
    <p:embeddedFont>
      <p:font typeface="Cambria Math" panose="02040503050406030204" pitchFamily="18" charset="0"/>
      <p:regular r:id="rId36"/>
    </p:embeddedFont>
    <p:embeddedFont>
      <p:font typeface="Fira Sans Condensed Light" panose="020B0403050000020004" pitchFamily="34" charset="0"/>
      <p:regular r:id="rId37"/>
      <p:bold r:id="rId38"/>
      <p:italic r:id="rId39"/>
      <p:boldItalic r:id="rId40"/>
    </p:embeddedFont>
    <p:embeddedFont>
      <p:font typeface="Rajdhani" panose="020B0604020202020204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F828"/>
    <a:srgbClr val="EAFEE8"/>
    <a:srgbClr val="E8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6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CD8FED4-E473-E7BF-FEB3-D0F38C92D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4EAC24E9-346B-FE32-3B8C-7E43069B3E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A50C59A3-07CC-8EB5-FEA4-317C1F4BFB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2792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DD18E6BE-32EC-C353-1694-C12546C7C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350C5FE-D8D5-B156-EB03-88D86E75AD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C61AE68-40E0-E4F7-2B49-FFE7A88B72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5509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0074C3CA-8FF4-733D-C3A5-A3B0D7B43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415BE701-45B2-024F-B6C0-FB9BD9227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81AED15A-E9BE-0542-0785-480D6EA51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5658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92121077-408C-DD18-0F32-87EF56F49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3EAAF160-AD3B-944D-8CDF-69BC16CB0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ABF3E4A6-4177-C9B2-F394-5C1BCFD8C3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4739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A5254FE0-2A2A-91D9-A9FB-53083A972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08A630B8-6AE2-A75E-0735-74C981BB1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B4CE38C-F644-18C3-6DB8-DE184A5FB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9935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2E6368B1-06B0-364A-ED57-6B645D03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CC32C8FB-5A49-AE02-3E18-39F669177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7E74F9A8-725A-16AD-8752-F856EE29C9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9582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1952E66E-9792-4C5A-541A-32BC281EB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089EED8-61DD-C4EE-12DF-ABF48C856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29EF8A9-8D17-F0B4-3088-B64B2980EF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3289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15AEA04A-B311-5B5D-D649-AEE3A72D0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CE560682-BF2B-2435-FC70-8E14AF253A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22AAB0D-6456-26C8-2603-233770C01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49066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667BE982-D031-07E8-3D9A-E74DEF86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8A68578-D41D-FB41-7170-98ECBBBF8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BEA687B-3E1F-0F79-20EB-DF6D4E45B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4439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C269C461-8920-6AD9-D8C4-53D975A9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23EC6236-8BA9-A2EE-238D-B8C2DCBB09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009A636A-3C3B-4B19-405A-5D4448F23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3358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FE68CF3-3079-0710-3CF7-6D65E2F9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64B5C77-D530-EE2E-F626-23A8AE724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B799DC8-7323-7535-D7EF-F52C307D0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2831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E0941D1-3839-34C8-EF0C-80096981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B8937A85-7C89-A497-373B-6153DF899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407CA0F0-CE61-AFB4-B091-2670D5CE36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256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505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33697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6920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5110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3439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97525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5260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5269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DE265533-25C9-5568-5556-93C68161D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B6D76C65-277A-0A13-BB01-2FCABEC2B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8E3B8799-DCFD-EFE7-D3E3-24EF731C2E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48348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8414CF5-F519-6A48-C8EF-5D257AAC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525E9837-A476-46BC-9FF1-AA245CA8EE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D5372D39-6DEA-7F44-2C45-F991B6228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88236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4640F8A-D7A8-95A1-D491-AD818D03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6D12C268-2904-3D4B-2D81-D7AEA4F32D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B41B3E57-7619-6C5D-8B74-AA36ABDDB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58607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5F8ADD54-03FC-1760-9A67-F08F7ABD0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43F092A5-76D3-897B-99D8-8D7B290AD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8A454B5F-9A53-CD57-BB61-1D24D778C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91959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44706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gif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gif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TE3001B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Fundamentos de Robótica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25 de Febrero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“Un modelo matemático de un sistema dinámico es un conjunto de ecuaciones que representan la dinámica del sistema con precisión.”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6" name="Picture 2" descr="Robots industriales en cifras: así ha aumentado su stock mundial y densidad  por región · THE LOGISTICS WORLD | Conéctate e inspírate.">
            <a:extLst>
              <a:ext uri="{FF2B5EF4-FFF2-40B4-BE49-F238E27FC236}">
                <a16:creationId xmlns:a16="http://schemas.microsoft.com/office/drawing/2014/main" id="{2B53735F-DDFD-1DF0-302F-152E3F980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1" y="1468611"/>
            <a:ext cx="3935582" cy="262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42D68C6-E613-3059-9202-B82199ABF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0B32A1DE-E1EB-5832-44CB-D7569E0BD2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6BFFDDBA-231A-640F-84E0-6F8D2E9B50F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49" y="3290550"/>
            <a:ext cx="3509125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SzPts val="1300"/>
            </a:pPr>
            <a:r>
              <a:rPr lang="es-ES" dirty="0"/>
              <a:t>-Aplicación de matrices de Transformación en Software</a:t>
            </a:r>
          </a:p>
          <a:p>
            <a:pPr marL="146050" indent="0">
              <a:buSzPts val="1300"/>
            </a:pPr>
            <a:endParaRPr lang="es-ES" dirty="0"/>
          </a:p>
          <a:p>
            <a:pPr marL="146050" lvl="0" indent="0">
              <a:buSzPts val="1300"/>
            </a:pP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F30E98D4-7E96-603E-8AC0-DE9D89CAD75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8ADCD2BF-5AC5-55CA-2E42-873FBE3869E2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391387C8-73DC-5233-3B19-49AE2DA60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0E0D6C2A-5832-F4BF-3837-770DEBAD09E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16561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D4F72BC-8B59-2574-5F12-675F2FCB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9091CD6-319A-963B-38AF-AD627166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58DE2737-5AE2-65B7-5FBB-78519922C798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CB21E6AB-8196-BF00-BDFA-2AF25343871D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6A28B2A1-D308-243B-2A6E-E4E6001096D7}"/>
              </a:ext>
            </a:extLst>
          </p:cNvPr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A1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A2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de +90° alrededor de Y0”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positiva de L1 sobre el eje Z0”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7A0DA68E-2F5D-AA35-572C-E2EEFCA90141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DF211E28-31F6-CC1D-EE90-FE1E109A12D3}"/>
              </a:ext>
            </a:extLst>
          </p:cNvPr>
          <p:cNvSpPr txBox="1"/>
          <p:nvPr/>
        </p:nvSpPr>
        <p:spPr>
          <a:xfrm>
            <a:off x="5508887" y="4668813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4C87E5ED-62AB-468B-CF42-EB28D9DF4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075" y="1517041"/>
            <a:ext cx="4876800" cy="32512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5D34840-1517-FC6B-B3F1-5F87301F5203}"/>
              </a:ext>
            </a:extLst>
          </p:cNvPr>
          <p:cNvCxnSpPr>
            <a:cxnSpLocks/>
          </p:cNvCxnSpPr>
          <p:nvPr/>
        </p:nvCxnSpPr>
        <p:spPr>
          <a:xfrm flipV="1">
            <a:off x="6584786" y="3440356"/>
            <a:ext cx="19202" cy="234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462188B-63F6-1F37-BFA2-2130DCA0A487}"/>
              </a:ext>
            </a:extLst>
          </p:cNvPr>
          <p:cNvCxnSpPr>
            <a:cxnSpLocks/>
          </p:cNvCxnSpPr>
          <p:nvPr/>
        </p:nvCxnSpPr>
        <p:spPr>
          <a:xfrm flipV="1">
            <a:off x="6593253" y="3520696"/>
            <a:ext cx="242680" cy="164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096325E-05B8-27FB-2B7D-6284DAEBBE62}"/>
              </a:ext>
            </a:extLst>
          </p:cNvPr>
          <p:cNvCxnSpPr>
            <a:cxnSpLocks/>
          </p:cNvCxnSpPr>
          <p:nvPr/>
        </p:nvCxnSpPr>
        <p:spPr>
          <a:xfrm>
            <a:off x="6603988" y="3679331"/>
            <a:ext cx="231945" cy="68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A1C2FCF-24DA-F1FB-599E-FFBE2A3E04F0}"/>
              </a:ext>
            </a:extLst>
          </p:cNvPr>
          <p:cNvSpPr txBox="1"/>
          <p:nvPr/>
        </p:nvSpPr>
        <p:spPr>
          <a:xfrm>
            <a:off x="6603988" y="3748133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A9C46BB-81B1-E13C-EC28-1D00352CE1AD}"/>
              </a:ext>
            </a:extLst>
          </p:cNvPr>
          <p:cNvSpPr txBox="1"/>
          <p:nvPr/>
        </p:nvSpPr>
        <p:spPr>
          <a:xfrm>
            <a:off x="6777988" y="337584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A0FD414-DA9E-8D2D-4CE5-469C9865B005}"/>
              </a:ext>
            </a:extLst>
          </p:cNvPr>
          <p:cNvSpPr txBox="1"/>
          <p:nvPr/>
        </p:nvSpPr>
        <p:spPr>
          <a:xfrm>
            <a:off x="6312634" y="33932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5B03CD1-6349-671B-4760-36871DE686B5}"/>
              </a:ext>
            </a:extLst>
          </p:cNvPr>
          <p:cNvCxnSpPr>
            <a:cxnSpLocks/>
          </p:cNvCxnSpPr>
          <p:nvPr/>
        </p:nvCxnSpPr>
        <p:spPr>
          <a:xfrm>
            <a:off x="6560801" y="308437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B375BCD-BB1D-09C7-4229-8C7AFFD49476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566280" y="2900783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A34611F9-F35F-3C8A-B3DF-A45B33F9F67D}"/>
              </a:ext>
            </a:extLst>
          </p:cNvPr>
          <p:cNvCxnSpPr>
            <a:cxnSpLocks/>
          </p:cNvCxnSpPr>
          <p:nvPr/>
        </p:nvCxnSpPr>
        <p:spPr>
          <a:xfrm>
            <a:off x="6577015" y="307383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53EE949-D0D5-944A-F7B8-C42F5A05BB45}"/>
              </a:ext>
            </a:extLst>
          </p:cNvPr>
          <p:cNvSpPr txBox="1"/>
          <p:nvPr/>
        </p:nvSpPr>
        <p:spPr>
          <a:xfrm>
            <a:off x="6252460" y="305191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7F3FE14-3AE8-498F-366C-BE1D72B4828F}"/>
              </a:ext>
            </a:extLst>
          </p:cNvPr>
          <p:cNvSpPr txBox="1"/>
          <p:nvPr/>
        </p:nvSpPr>
        <p:spPr>
          <a:xfrm>
            <a:off x="6797907" y="274689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2500300-BECE-3F3B-E491-38269812E482}"/>
              </a:ext>
            </a:extLst>
          </p:cNvPr>
          <p:cNvSpPr txBox="1"/>
          <p:nvPr/>
        </p:nvSpPr>
        <p:spPr>
          <a:xfrm>
            <a:off x="6727988" y="311616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85C9D73-4A43-76BB-C295-9AD562EA7CAC}"/>
              </a:ext>
            </a:extLst>
          </p:cNvPr>
          <p:cNvSpPr txBox="1"/>
          <p:nvPr/>
        </p:nvSpPr>
        <p:spPr>
          <a:xfrm>
            <a:off x="6553569" y="3273406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119978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D85FC95D-B6F8-B37E-64F1-27031A4C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4F1BAC5B-60CD-3A4F-E938-29F7F5C20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FB380894-F547-969E-3242-4ACC624ADF7C}"/>
              </a:ext>
            </a:extLst>
          </p:cNvPr>
          <p:cNvSpPr txBox="1">
            <a:spLocks/>
          </p:cNvSpPr>
          <p:nvPr/>
        </p:nvSpPr>
        <p:spPr>
          <a:xfrm>
            <a:off x="373910" y="679743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D6942FD3-0053-F216-A3AA-B43F5182AC73}"/>
              </a:ext>
            </a:extLst>
          </p:cNvPr>
          <p:cNvCxnSpPr>
            <a:cxnSpLocks/>
          </p:cNvCxnSpPr>
          <p:nvPr/>
        </p:nvCxnSpPr>
        <p:spPr>
          <a:xfrm flipH="1">
            <a:off x="406263" y="803001"/>
            <a:ext cx="1588" cy="40283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63B8D88E-53E8-71B9-CA16-F17AD01A84E1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ED4E5B3-D629-503E-2713-1E5A6F5A3B93}"/>
              </a:ext>
            </a:extLst>
          </p:cNvPr>
          <p:cNvSpPr txBox="1"/>
          <p:nvPr/>
        </p:nvSpPr>
        <p:spPr>
          <a:xfrm>
            <a:off x="246185" y="1576902"/>
            <a:ext cx="2818845" cy="186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A1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A2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de +90° alrededor de Y0”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positiva de L1 sobre el eje Z0”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BAECD44D-6BB1-343B-8050-CE737C31EC96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CAC7324-0BE5-5A0D-883B-5CC91E970EB7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AD4B7AA-8A48-9BF2-212E-1B56184688DD}"/>
                  </a:ext>
                </a:extLst>
              </p:cNvPr>
              <p:cNvSpPr txBox="1"/>
              <p:nvPr/>
            </p:nvSpPr>
            <p:spPr>
              <a:xfrm>
                <a:off x="3690177" y="1987976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AD4B7AA-8A48-9BF2-212E-1B561846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177" y="1987976"/>
                <a:ext cx="2388795" cy="695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FCF40488-1F4E-2D19-B070-4464719C34C7}"/>
              </a:ext>
            </a:extLst>
          </p:cNvPr>
          <p:cNvSpPr txBox="1"/>
          <p:nvPr/>
        </p:nvSpPr>
        <p:spPr>
          <a:xfrm>
            <a:off x="3937031" y="2592471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Z0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E892F39-B024-50D4-09C0-1688CF5FC2FB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A3BAEB3-59C6-3350-F373-CFFAD828F2F3}"/>
                  </a:ext>
                </a:extLst>
              </p:cNvPr>
              <p:cNvSpPr txBox="1"/>
              <p:nvPr/>
            </p:nvSpPr>
            <p:spPr>
              <a:xfrm>
                <a:off x="5162391" y="4138956"/>
                <a:ext cx="460318" cy="649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A3BAEB3-59C6-3350-F373-CFFAD828F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91" y="4138956"/>
                <a:ext cx="460318" cy="6496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27FB9BDD-30D7-D673-C7EE-CA2B2CC25B12}"/>
              </a:ext>
            </a:extLst>
          </p:cNvPr>
          <p:cNvSpPr txBox="1"/>
          <p:nvPr/>
        </p:nvSpPr>
        <p:spPr>
          <a:xfrm>
            <a:off x="6122222" y="4012995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A1 a A2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6FBBC44B-684A-B271-FEDA-2F395DED6DF2}"/>
              </a:ext>
            </a:extLst>
          </p:cNvPr>
          <p:cNvSpPr txBox="1"/>
          <p:nvPr/>
        </p:nvSpPr>
        <p:spPr>
          <a:xfrm>
            <a:off x="5971636" y="1923874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648A68B-491E-45F5-69CB-89D8C4D4BA4B}"/>
                  </a:ext>
                </a:extLst>
              </p:cNvPr>
              <p:cNvSpPr txBox="1"/>
              <p:nvPr/>
            </p:nvSpPr>
            <p:spPr>
              <a:xfrm>
                <a:off x="6138559" y="1897665"/>
                <a:ext cx="2421625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648A68B-491E-45F5-69CB-89D8C4D4B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559" y="1897665"/>
                <a:ext cx="2421625" cy="7825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F9D63735-829C-A44E-A099-55EFF4E7DAD9}"/>
              </a:ext>
            </a:extLst>
          </p:cNvPr>
          <p:cNvSpPr txBox="1"/>
          <p:nvPr/>
        </p:nvSpPr>
        <p:spPr>
          <a:xfrm>
            <a:off x="6407949" y="2548257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Y0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07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  <p:bldP spid="3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4F688EF-D819-24DF-8978-B3DA1FC9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EC70F06E-78AB-0A7C-FE49-D6C2042BF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533B75E6-09EB-1084-43D7-822A7EA40E2D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691E4A7-9147-53C6-64E1-7C57B87444A1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3542600A-6464-D1B8-ACD2-7CA3B99F62B4}"/>
                  </a:ext>
                </a:extLst>
              </p:cNvPr>
              <p:cNvSpPr txBox="1"/>
              <p:nvPr/>
            </p:nvSpPr>
            <p:spPr>
              <a:xfrm>
                <a:off x="293078" y="1263592"/>
                <a:ext cx="3649538" cy="335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A2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A3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“No existe transformación de rotación”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-L2*sen(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-L2*cos(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r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3542600A-6464-D1B8-ACD2-7CA3B99F6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78" y="1263592"/>
                <a:ext cx="3649538" cy="3350105"/>
              </a:xfrm>
              <a:prstGeom prst="rect">
                <a:avLst/>
              </a:prstGeom>
              <a:blipFill>
                <a:blip r:embed="rId4"/>
                <a:stretch>
                  <a:fillRect l="-835" r="-8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7BCF5A22-64A7-EB2E-B122-8B1388A09B2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B70FCA5D-98AE-E327-D25D-945F48F63F76}"/>
              </a:ext>
            </a:extLst>
          </p:cNvPr>
          <p:cNvSpPr txBox="1"/>
          <p:nvPr/>
        </p:nvSpPr>
        <p:spPr>
          <a:xfrm>
            <a:off x="5508887" y="4668813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8E088489-DEDE-4106-6FE5-6A0EC0C90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075" y="1517041"/>
            <a:ext cx="4876800" cy="32512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8E92B48-E3E5-3974-BA6B-97FB7F216306}"/>
              </a:ext>
            </a:extLst>
          </p:cNvPr>
          <p:cNvCxnSpPr>
            <a:cxnSpLocks/>
          </p:cNvCxnSpPr>
          <p:nvPr/>
        </p:nvCxnSpPr>
        <p:spPr>
          <a:xfrm flipV="1">
            <a:off x="6584786" y="3440356"/>
            <a:ext cx="19202" cy="234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310AEDD-8986-8F32-7FA9-A74AE5ACF0B5}"/>
              </a:ext>
            </a:extLst>
          </p:cNvPr>
          <p:cNvCxnSpPr>
            <a:cxnSpLocks/>
          </p:cNvCxnSpPr>
          <p:nvPr/>
        </p:nvCxnSpPr>
        <p:spPr>
          <a:xfrm flipV="1">
            <a:off x="6593253" y="3520696"/>
            <a:ext cx="242680" cy="164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F63E642-7461-07ED-664D-57409B442802}"/>
              </a:ext>
            </a:extLst>
          </p:cNvPr>
          <p:cNvCxnSpPr>
            <a:cxnSpLocks/>
          </p:cNvCxnSpPr>
          <p:nvPr/>
        </p:nvCxnSpPr>
        <p:spPr>
          <a:xfrm>
            <a:off x="6603988" y="3679331"/>
            <a:ext cx="231945" cy="68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C9BBE1E-D634-FDBB-8269-1B9962847EFB}"/>
              </a:ext>
            </a:extLst>
          </p:cNvPr>
          <p:cNvSpPr txBox="1"/>
          <p:nvPr/>
        </p:nvSpPr>
        <p:spPr>
          <a:xfrm>
            <a:off x="6603988" y="3748133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2E21E96-AAF6-ABBD-06F4-EFB59C4932C3}"/>
              </a:ext>
            </a:extLst>
          </p:cNvPr>
          <p:cNvSpPr txBox="1"/>
          <p:nvPr/>
        </p:nvSpPr>
        <p:spPr>
          <a:xfrm>
            <a:off x="6777988" y="337584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2E9A730-99B4-DD76-538D-1472DB73F7F6}"/>
              </a:ext>
            </a:extLst>
          </p:cNvPr>
          <p:cNvSpPr txBox="1"/>
          <p:nvPr/>
        </p:nvSpPr>
        <p:spPr>
          <a:xfrm>
            <a:off x="6312634" y="33932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4960606B-0C97-F4D6-BCF0-F599AF79BF3B}"/>
              </a:ext>
            </a:extLst>
          </p:cNvPr>
          <p:cNvCxnSpPr>
            <a:cxnSpLocks/>
          </p:cNvCxnSpPr>
          <p:nvPr/>
        </p:nvCxnSpPr>
        <p:spPr>
          <a:xfrm>
            <a:off x="6560801" y="308437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CAB6778-6128-39ED-645D-A69395F57624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566280" y="2900783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2AE3EA4-C6D0-0201-AE60-F578D8748D78}"/>
              </a:ext>
            </a:extLst>
          </p:cNvPr>
          <p:cNvCxnSpPr>
            <a:cxnSpLocks/>
          </p:cNvCxnSpPr>
          <p:nvPr/>
        </p:nvCxnSpPr>
        <p:spPr>
          <a:xfrm>
            <a:off x="6577015" y="307383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5B92F26-E067-76CC-F801-1067798DA384}"/>
              </a:ext>
            </a:extLst>
          </p:cNvPr>
          <p:cNvSpPr txBox="1"/>
          <p:nvPr/>
        </p:nvSpPr>
        <p:spPr>
          <a:xfrm>
            <a:off x="6252460" y="305191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97285A4-DFFF-8D2F-38F8-17F35B9E783E}"/>
              </a:ext>
            </a:extLst>
          </p:cNvPr>
          <p:cNvSpPr txBox="1"/>
          <p:nvPr/>
        </p:nvSpPr>
        <p:spPr>
          <a:xfrm>
            <a:off x="6797907" y="274689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95FA01A-1DD2-24D4-43F7-E5E914F6AF2C}"/>
              </a:ext>
            </a:extLst>
          </p:cNvPr>
          <p:cNvSpPr txBox="1"/>
          <p:nvPr/>
        </p:nvSpPr>
        <p:spPr>
          <a:xfrm>
            <a:off x="6727988" y="311616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442E69D-9966-61DB-DF75-9B13D5750F1B}"/>
              </a:ext>
            </a:extLst>
          </p:cNvPr>
          <p:cNvSpPr txBox="1"/>
          <p:nvPr/>
        </p:nvSpPr>
        <p:spPr>
          <a:xfrm>
            <a:off x="6553569" y="3273406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61FB32B-C18F-7527-D108-A2EB124D022C}"/>
              </a:ext>
            </a:extLst>
          </p:cNvPr>
          <p:cNvCxnSpPr>
            <a:cxnSpLocks/>
          </p:cNvCxnSpPr>
          <p:nvPr/>
        </p:nvCxnSpPr>
        <p:spPr>
          <a:xfrm>
            <a:off x="6621654" y="2427685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C5FD285-E963-F030-43F4-5BC45DD86AFA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627133" y="2244091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3A050C4-C96B-9ACE-2DA3-AB0739E9B190}"/>
              </a:ext>
            </a:extLst>
          </p:cNvPr>
          <p:cNvCxnSpPr>
            <a:cxnSpLocks/>
          </p:cNvCxnSpPr>
          <p:nvPr/>
        </p:nvCxnSpPr>
        <p:spPr>
          <a:xfrm>
            <a:off x="6637868" y="2417139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1143D3F-74DD-5D22-A2AA-38F5392641F8}"/>
              </a:ext>
            </a:extLst>
          </p:cNvPr>
          <p:cNvSpPr txBox="1"/>
          <p:nvPr/>
        </p:nvSpPr>
        <p:spPr>
          <a:xfrm>
            <a:off x="6431471" y="260546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12C363C-79E2-04E6-0C3E-84283DBDF5D5}"/>
              </a:ext>
            </a:extLst>
          </p:cNvPr>
          <p:cNvSpPr txBox="1"/>
          <p:nvPr/>
        </p:nvSpPr>
        <p:spPr>
          <a:xfrm>
            <a:off x="6858760" y="209020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3AB5E06-9728-014F-3C2C-4EB9A0F922E6}"/>
              </a:ext>
            </a:extLst>
          </p:cNvPr>
          <p:cNvSpPr txBox="1"/>
          <p:nvPr/>
        </p:nvSpPr>
        <p:spPr>
          <a:xfrm>
            <a:off x="6703298" y="245947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742393A-64B1-2CB2-F910-2D151EBB25D0}"/>
              </a:ext>
            </a:extLst>
          </p:cNvPr>
          <p:cNvSpPr txBox="1"/>
          <p:nvPr/>
        </p:nvSpPr>
        <p:spPr>
          <a:xfrm>
            <a:off x="6886417" y="256903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</p:spTree>
    <p:extLst>
      <p:ext uri="{BB962C8B-B14F-4D97-AF65-F5344CB8AC3E}">
        <p14:creationId xmlns:p14="http://schemas.microsoft.com/office/powerpoint/2010/main" val="390529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4F0AB9DF-365A-00D8-7033-9258F767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FB5F2004-74BE-B6EC-B283-EFF621498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F595D622-5966-054B-46A6-3234637ACA3D}"/>
              </a:ext>
            </a:extLst>
          </p:cNvPr>
          <p:cNvSpPr txBox="1">
            <a:spLocks/>
          </p:cNvSpPr>
          <p:nvPr/>
        </p:nvSpPr>
        <p:spPr>
          <a:xfrm>
            <a:off x="373910" y="679743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4DEBAF13-C42E-692F-C0A8-B9569ECFF93F}"/>
              </a:ext>
            </a:extLst>
          </p:cNvPr>
          <p:cNvCxnSpPr>
            <a:cxnSpLocks/>
          </p:cNvCxnSpPr>
          <p:nvPr/>
        </p:nvCxnSpPr>
        <p:spPr>
          <a:xfrm flipH="1">
            <a:off x="406263" y="803001"/>
            <a:ext cx="1588" cy="40283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BB50878A-4B29-81EA-D87D-0A24448F8153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DE584B7F-BF70-6CC1-7619-205795EBD7EA}"/>
                  </a:ext>
                </a:extLst>
              </p:cNvPr>
              <p:cNvSpPr txBox="1"/>
              <p:nvPr/>
            </p:nvSpPr>
            <p:spPr>
              <a:xfrm>
                <a:off x="246185" y="1576902"/>
                <a:ext cx="3352799" cy="18674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A2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A3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“No existe transformación de rotación”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-L2*sen(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-L2*cos(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DE584B7F-BF70-6CC1-7619-205795EBD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85" y="1576902"/>
                <a:ext cx="3352799" cy="1867434"/>
              </a:xfrm>
              <a:prstGeom prst="rect">
                <a:avLst/>
              </a:prstGeom>
              <a:blipFill>
                <a:blip r:embed="rId4"/>
                <a:stretch>
                  <a:fillRect l="-909" r="-1091" b="-470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AF1DEFD5-0C1E-F98D-641B-3677674DA170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33A4FB0-F7AD-B3B4-9B5B-9DF374524283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3A337D7-2439-D4AE-335E-54BBFD17C3B7}"/>
                  </a:ext>
                </a:extLst>
              </p:cNvPr>
              <p:cNvSpPr txBox="1"/>
              <p:nvPr/>
            </p:nvSpPr>
            <p:spPr>
              <a:xfrm>
                <a:off x="4901655" y="2012996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3A337D7-2439-D4AE-335E-54BBFD17C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655" y="2012996"/>
                <a:ext cx="2388795" cy="695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32AFBA27-09E7-5EE1-2F03-C8DF5A78E4F2}"/>
              </a:ext>
            </a:extLst>
          </p:cNvPr>
          <p:cNvSpPr txBox="1"/>
          <p:nvPr/>
        </p:nvSpPr>
        <p:spPr>
          <a:xfrm>
            <a:off x="5192570" y="2518515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Z1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45C1238-36C3-A5AF-AB1D-300149C74F25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5925E07-2E44-A13B-DDA8-C19EDC479C2F}"/>
                  </a:ext>
                </a:extLst>
              </p:cNvPr>
              <p:cNvSpPr txBox="1"/>
              <p:nvPr/>
            </p:nvSpPr>
            <p:spPr>
              <a:xfrm>
                <a:off x="4941849" y="4130685"/>
                <a:ext cx="1361719" cy="6873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𝒔𝒆𝒏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5925E07-2E44-A13B-DDA8-C19EDC479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849" y="4130685"/>
                <a:ext cx="1361719" cy="687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02990A63-FB1D-20BF-9401-45BC6E8A3C64}"/>
              </a:ext>
            </a:extLst>
          </p:cNvPr>
          <p:cNvSpPr txBox="1"/>
          <p:nvPr/>
        </p:nvSpPr>
        <p:spPr>
          <a:xfrm>
            <a:off x="6623186" y="4009982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A2 a A3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58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6B8FA15-2E1E-96C9-58A2-1A238891B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80823661-FDE0-107F-6B78-3D3F3EE59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34BDD16-FAE1-7F36-1323-41327DEECF7D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B6A3FF92-DEC2-1D26-45AF-C10841536D6B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F6FD8BE5-B75D-8C60-50FF-7F6DB9AE7B71}"/>
                  </a:ext>
                </a:extLst>
              </p:cNvPr>
              <p:cNvSpPr txBox="1"/>
              <p:nvPr/>
            </p:nvSpPr>
            <p:spPr>
              <a:xfrm>
                <a:off x="293078" y="1263592"/>
                <a:ext cx="3730086" cy="335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A3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A4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de +90° alrededor de X2”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-L3*sen(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-L3*cos(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r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F6FD8BE5-B75D-8C60-50FF-7F6DB9AE7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78" y="1263592"/>
                <a:ext cx="3730086" cy="3350105"/>
              </a:xfrm>
              <a:prstGeom prst="rect">
                <a:avLst/>
              </a:prstGeom>
              <a:blipFill>
                <a:blip r:embed="rId4"/>
                <a:stretch>
                  <a:fillRect l="-817" r="-9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77F35345-90E3-1AD1-B65B-DCD2509C852E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92F4ABD5-562A-4C88-B6CC-2A103EAEE69A}"/>
              </a:ext>
            </a:extLst>
          </p:cNvPr>
          <p:cNvSpPr txBox="1"/>
          <p:nvPr/>
        </p:nvSpPr>
        <p:spPr>
          <a:xfrm>
            <a:off x="5508887" y="4668813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529658CF-C131-9137-CAB6-039E70E89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075" y="1517041"/>
            <a:ext cx="4876800" cy="32512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829097A-BC28-F3CD-F337-8FBB4BE72806}"/>
              </a:ext>
            </a:extLst>
          </p:cNvPr>
          <p:cNvCxnSpPr>
            <a:cxnSpLocks/>
          </p:cNvCxnSpPr>
          <p:nvPr/>
        </p:nvCxnSpPr>
        <p:spPr>
          <a:xfrm flipV="1">
            <a:off x="6584786" y="3440356"/>
            <a:ext cx="19202" cy="234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8793C4B-B8AC-8C51-A624-87CEB55C9809}"/>
              </a:ext>
            </a:extLst>
          </p:cNvPr>
          <p:cNvCxnSpPr>
            <a:cxnSpLocks/>
          </p:cNvCxnSpPr>
          <p:nvPr/>
        </p:nvCxnSpPr>
        <p:spPr>
          <a:xfrm flipV="1">
            <a:off x="6593253" y="3520696"/>
            <a:ext cx="242680" cy="164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A07E6FE-88D9-FD1B-A5A2-428B83F686EB}"/>
              </a:ext>
            </a:extLst>
          </p:cNvPr>
          <p:cNvCxnSpPr>
            <a:cxnSpLocks/>
          </p:cNvCxnSpPr>
          <p:nvPr/>
        </p:nvCxnSpPr>
        <p:spPr>
          <a:xfrm>
            <a:off x="6603988" y="3679331"/>
            <a:ext cx="231945" cy="68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6323651-1082-C607-B0E0-871D22B7B5E0}"/>
              </a:ext>
            </a:extLst>
          </p:cNvPr>
          <p:cNvSpPr txBox="1"/>
          <p:nvPr/>
        </p:nvSpPr>
        <p:spPr>
          <a:xfrm>
            <a:off x="6603988" y="3748133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299C309-527C-D73E-1B7C-A6C5060B8929}"/>
              </a:ext>
            </a:extLst>
          </p:cNvPr>
          <p:cNvSpPr txBox="1"/>
          <p:nvPr/>
        </p:nvSpPr>
        <p:spPr>
          <a:xfrm>
            <a:off x="6777988" y="337584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4FC261E-2F52-69AB-9F2F-E2D00FDAB69B}"/>
              </a:ext>
            </a:extLst>
          </p:cNvPr>
          <p:cNvSpPr txBox="1"/>
          <p:nvPr/>
        </p:nvSpPr>
        <p:spPr>
          <a:xfrm>
            <a:off x="6312634" y="33932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1101842-1B48-48C8-8AE1-4926F34D84E9}"/>
              </a:ext>
            </a:extLst>
          </p:cNvPr>
          <p:cNvCxnSpPr>
            <a:cxnSpLocks/>
          </p:cNvCxnSpPr>
          <p:nvPr/>
        </p:nvCxnSpPr>
        <p:spPr>
          <a:xfrm>
            <a:off x="6560801" y="308437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69768B9-45EA-F05E-2756-C9D8CB2B58D8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566280" y="2900783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EDDF7EA-D8D2-9E78-20EF-2D8671A6BE75}"/>
              </a:ext>
            </a:extLst>
          </p:cNvPr>
          <p:cNvCxnSpPr>
            <a:cxnSpLocks/>
          </p:cNvCxnSpPr>
          <p:nvPr/>
        </p:nvCxnSpPr>
        <p:spPr>
          <a:xfrm>
            <a:off x="6577015" y="307383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FDD3EB7-D496-E57A-31BB-C2723EEF46A3}"/>
              </a:ext>
            </a:extLst>
          </p:cNvPr>
          <p:cNvSpPr txBox="1"/>
          <p:nvPr/>
        </p:nvSpPr>
        <p:spPr>
          <a:xfrm>
            <a:off x="6252460" y="305191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2B14566-F694-E717-CB61-05CE9A10098F}"/>
              </a:ext>
            </a:extLst>
          </p:cNvPr>
          <p:cNvSpPr txBox="1"/>
          <p:nvPr/>
        </p:nvSpPr>
        <p:spPr>
          <a:xfrm>
            <a:off x="6797907" y="274689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1B221A0-FD59-BD53-7EB9-4EDCB60C6187}"/>
              </a:ext>
            </a:extLst>
          </p:cNvPr>
          <p:cNvSpPr txBox="1"/>
          <p:nvPr/>
        </p:nvSpPr>
        <p:spPr>
          <a:xfrm>
            <a:off x="6727988" y="311616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4F3A1DD-3DB6-071C-DDC5-227996591E42}"/>
              </a:ext>
            </a:extLst>
          </p:cNvPr>
          <p:cNvSpPr txBox="1"/>
          <p:nvPr/>
        </p:nvSpPr>
        <p:spPr>
          <a:xfrm>
            <a:off x="6553569" y="3273406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18D0E9F-D540-C82A-BAAC-598A6B893926}"/>
              </a:ext>
            </a:extLst>
          </p:cNvPr>
          <p:cNvCxnSpPr>
            <a:cxnSpLocks/>
          </p:cNvCxnSpPr>
          <p:nvPr/>
        </p:nvCxnSpPr>
        <p:spPr>
          <a:xfrm>
            <a:off x="6621654" y="2427685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1B9F6D1-659B-FE78-329A-584F2C132CEF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627133" y="2244091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B53A8A9-70D1-A3C1-5D50-25D6FF103279}"/>
              </a:ext>
            </a:extLst>
          </p:cNvPr>
          <p:cNvCxnSpPr>
            <a:cxnSpLocks/>
          </p:cNvCxnSpPr>
          <p:nvPr/>
        </p:nvCxnSpPr>
        <p:spPr>
          <a:xfrm>
            <a:off x="6637868" y="2417139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94A1C57-7B77-07B2-F3B7-E2B9D48E6C5C}"/>
              </a:ext>
            </a:extLst>
          </p:cNvPr>
          <p:cNvSpPr txBox="1"/>
          <p:nvPr/>
        </p:nvSpPr>
        <p:spPr>
          <a:xfrm>
            <a:off x="6431471" y="260546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D5B60C9-6C88-A320-1B62-CE1107341B4E}"/>
              </a:ext>
            </a:extLst>
          </p:cNvPr>
          <p:cNvSpPr txBox="1"/>
          <p:nvPr/>
        </p:nvSpPr>
        <p:spPr>
          <a:xfrm>
            <a:off x="6858760" y="209020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FCEEE35-A090-2699-C58B-3F90DD2BA39D}"/>
              </a:ext>
            </a:extLst>
          </p:cNvPr>
          <p:cNvSpPr txBox="1"/>
          <p:nvPr/>
        </p:nvSpPr>
        <p:spPr>
          <a:xfrm>
            <a:off x="6703298" y="245947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EF8F923-7342-6C54-01F6-821EB006EB32}"/>
              </a:ext>
            </a:extLst>
          </p:cNvPr>
          <p:cNvSpPr txBox="1"/>
          <p:nvPr/>
        </p:nvSpPr>
        <p:spPr>
          <a:xfrm>
            <a:off x="6886417" y="256903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D0ED18BA-E6D8-1C75-53F8-E989DD7C14DB}"/>
              </a:ext>
            </a:extLst>
          </p:cNvPr>
          <p:cNvCxnSpPr>
            <a:cxnSpLocks/>
          </p:cNvCxnSpPr>
          <p:nvPr/>
        </p:nvCxnSpPr>
        <p:spPr>
          <a:xfrm>
            <a:off x="6275128" y="242718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532FBCDA-88CB-9204-188E-8CE8408B7C57}"/>
              </a:ext>
            </a:extLst>
          </p:cNvPr>
          <p:cNvCxnSpPr>
            <a:cxnSpLocks/>
          </p:cNvCxnSpPr>
          <p:nvPr/>
        </p:nvCxnSpPr>
        <p:spPr>
          <a:xfrm flipH="1">
            <a:off x="6044916" y="2422749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EB754ABA-FEA8-C178-9C9A-4911F558B7DD}"/>
              </a:ext>
            </a:extLst>
          </p:cNvPr>
          <p:cNvCxnSpPr>
            <a:cxnSpLocks/>
          </p:cNvCxnSpPr>
          <p:nvPr/>
        </p:nvCxnSpPr>
        <p:spPr>
          <a:xfrm>
            <a:off x="6267896" y="2428364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D18AF7B-03D5-B491-2699-B07D534BB3E5}"/>
              </a:ext>
            </a:extLst>
          </p:cNvPr>
          <p:cNvSpPr txBox="1"/>
          <p:nvPr/>
        </p:nvSpPr>
        <p:spPr>
          <a:xfrm>
            <a:off x="5993821" y="252223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3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70469F1-1B0C-7C54-A824-97C00FA56136}"/>
              </a:ext>
            </a:extLst>
          </p:cNvPr>
          <p:cNvSpPr txBox="1"/>
          <p:nvPr/>
        </p:nvSpPr>
        <p:spPr>
          <a:xfrm>
            <a:off x="6291538" y="212443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3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E0E2089-E0D0-9D8D-2244-7BCA1AD9FB1F}"/>
              </a:ext>
            </a:extLst>
          </p:cNvPr>
          <p:cNvSpPr txBox="1"/>
          <p:nvPr/>
        </p:nvSpPr>
        <p:spPr>
          <a:xfrm>
            <a:off x="5993821" y="21199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3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1F6980B-C80D-4703-C047-FACFFB6057C1}"/>
              </a:ext>
            </a:extLst>
          </p:cNvPr>
          <p:cNvSpPr txBox="1"/>
          <p:nvPr/>
        </p:nvSpPr>
        <p:spPr>
          <a:xfrm>
            <a:off x="6374065" y="198438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</p:spTree>
    <p:extLst>
      <p:ext uri="{BB962C8B-B14F-4D97-AF65-F5344CB8AC3E}">
        <p14:creationId xmlns:p14="http://schemas.microsoft.com/office/powerpoint/2010/main" val="64863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DD7FCDC-2B5D-3E7C-521A-CBE16E2F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857CB7A-A126-B304-46F5-BA9E1863F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2BE9A76-0C27-515A-AEA4-ECFC3B0E7C28}"/>
              </a:ext>
            </a:extLst>
          </p:cNvPr>
          <p:cNvSpPr txBox="1">
            <a:spLocks/>
          </p:cNvSpPr>
          <p:nvPr/>
        </p:nvSpPr>
        <p:spPr>
          <a:xfrm>
            <a:off x="373910" y="679743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FFC2BA1F-7084-96FB-8A30-C8AC3729114A}"/>
              </a:ext>
            </a:extLst>
          </p:cNvPr>
          <p:cNvCxnSpPr>
            <a:cxnSpLocks/>
          </p:cNvCxnSpPr>
          <p:nvPr/>
        </p:nvCxnSpPr>
        <p:spPr>
          <a:xfrm flipH="1">
            <a:off x="406263" y="803001"/>
            <a:ext cx="1588" cy="40283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8FAB067F-ECCB-6D6F-8155-DF3DB582F8FA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B24F84BD-4532-E972-EB4F-805003856E17}"/>
                  </a:ext>
                </a:extLst>
              </p:cNvPr>
              <p:cNvSpPr txBox="1"/>
              <p:nvPr/>
            </p:nvSpPr>
            <p:spPr>
              <a:xfrm>
                <a:off x="246185" y="1576902"/>
                <a:ext cx="3352799" cy="18674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A3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A4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de +90° alrededor de X2”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-L3*sen(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-L3*cos(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B24F84BD-4532-E972-EB4F-805003856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85" y="1576902"/>
                <a:ext cx="3352799" cy="1867434"/>
              </a:xfrm>
              <a:prstGeom prst="rect">
                <a:avLst/>
              </a:prstGeom>
              <a:blipFill>
                <a:blip r:embed="rId4"/>
                <a:stretch>
                  <a:fillRect l="-909" r="-1091" b="-339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764DEA62-13AF-56B8-E5DC-196D248BD129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54DF0E5-6517-C685-B30D-FABD23B48684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77F1FCE-01AC-C545-38E8-B99B4E572D32}"/>
                  </a:ext>
                </a:extLst>
              </p:cNvPr>
              <p:cNvSpPr txBox="1"/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77F1FCE-01AC-C545-38E8-B99B4E572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E667B864-60BA-6CB2-CC88-77A932EF0CA8}"/>
              </a:ext>
            </a:extLst>
          </p:cNvPr>
          <p:cNvSpPr txBox="1"/>
          <p:nvPr/>
        </p:nvSpPr>
        <p:spPr>
          <a:xfrm>
            <a:off x="3981092" y="2542983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Z2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38D4473-7F97-D9D8-7DF0-7A61179AA9CA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FA09CB8-EFA5-E815-7B48-7EF1B02178D8}"/>
                  </a:ext>
                </a:extLst>
              </p:cNvPr>
              <p:cNvSpPr txBox="1"/>
              <p:nvPr/>
            </p:nvSpPr>
            <p:spPr>
              <a:xfrm>
                <a:off x="4941849" y="4130685"/>
                <a:ext cx="1413016" cy="681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𝒔𝒆𝒏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FA09CB8-EFA5-E815-7B48-7EF1B0217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849" y="4130685"/>
                <a:ext cx="1413016" cy="6810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BAF6EA90-704C-C25B-215B-D7FF82BE957B}"/>
              </a:ext>
            </a:extLst>
          </p:cNvPr>
          <p:cNvSpPr txBox="1"/>
          <p:nvPr/>
        </p:nvSpPr>
        <p:spPr>
          <a:xfrm>
            <a:off x="6623186" y="4009982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A3 a A4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9008BED-346E-D149-A9C2-664BF0E95A49}"/>
                  </a:ext>
                </a:extLst>
              </p:cNvPr>
              <p:cNvSpPr txBox="1"/>
              <p:nvPr/>
            </p:nvSpPr>
            <p:spPr>
              <a:xfrm>
                <a:off x="6157194" y="2030709"/>
                <a:ext cx="2333779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9008BED-346E-D149-A9C2-664BF0E95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194" y="2030709"/>
                <a:ext cx="2333779" cy="782587"/>
              </a:xfrm>
              <a:prstGeom prst="rect">
                <a:avLst/>
              </a:prstGeom>
              <a:blipFill>
                <a:blip r:embed="rId7"/>
                <a:stretch>
                  <a:fillRect b="-7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EBA38188-9B7D-DA6E-BC8D-385943C9D607}"/>
              </a:ext>
            </a:extLst>
          </p:cNvPr>
          <p:cNvSpPr txBox="1"/>
          <p:nvPr/>
        </p:nvSpPr>
        <p:spPr>
          <a:xfrm>
            <a:off x="6439783" y="2635204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X2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23697097-5782-C656-1B5F-8E5DA3E1BAE5}"/>
              </a:ext>
            </a:extLst>
          </p:cNvPr>
          <p:cNvSpPr txBox="1"/>
          <p:nvPr/>
        </p:nvSpPr>
        <p:spPr>
          <a:xfrm>
            <a:off x="5961653" y="2036541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06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B3159EF2-1D88-77EC-5F97-4291644F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B6ECB76-1FA2-4B6A-C333-0FE49D204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C81F3032-AFF4-BAF8-43F8-93CE6AB23F4C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A236AB7F-AE6E-BBDC-13A1-EC015F31124B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458500F4-FF19-D488-5E58-02B8AED6684D}"/>
              </a:ext>
            </a:extLst>
          </p:cNvPr>
          <p:cNvSpPr txBox="1"/>
          <p:nvPr/>
        </p:nvSpPr>
        <p:spPr>
          <a:xfrm>
            <a:off x="293078" y="1263592"/>
            <a:ext cx="3597353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A4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A5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de +90° alrededor de X3”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</a:t>
            </a:r>
            <a:r>
              <a:rPr lang="es-MX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positiva de L4 sobre el eje Z3”</a:t>
            </a:r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13E6CC8C-E94C-21E6-FBF6-81D8BF9161AF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BC97CC85-0C70-9EAD-261C-CC6FEB255CC5}"/>
              </a:ext>
            </a:extLst>
          </p:cNvPr>
          <p:cNvSpPr txBox="1"/>
          <p:nvPr/>
        </p:nvSpPr>
        <p:spPr>
          <a:xfrm>
            <a:off x="5508887" y="4668813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6E7C61E6-CAF9-5B28-3D23-266F21147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075" y="1517041"/>
            <a:ext cx="4876800" cy="32512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284615B-9A76-D64B-5A74-EE5500FDF710}"/>
              </a:ext>
            </a:extLst>
          </p:cNvPr>
          <p:cNvCxnSpPr>
            <a:cxnSpLocks/>
          </p:cNvCxnSpPr>
          <p:nvPr/>
        </p:nvCxnSpPr>
        <p:spPr>
          <a:xfrm flipV="1">
            <a:off x="6584786" y="3440356"/>
            <a:ext cx="19202" cy="234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75D06BA-F3F0-9C7A-36E6-FAFD84D40426}"/>
              </a:ext>
            </a:extLst>
          </p:cNvPr>
          <p:cNvCxnSpPr>
            <a:cxnSpLocks/>
          </p:cNvCxnSpPr>
          <p:nvPr/>
        </p:nvCxnSpPr>
        <p:spPr>
          <a:xfrm flipV="1">
            <a:off x="6593253" y="3520696"/>
            <a:ext cx="242680" cy="164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A58B76D-F0A7-35BA-36F5-0F525BFCA440}"/>
              </a:ext>
            </a:extLst>
          </p:cNvPr>
          <p:cNvCxnSpPr>
            <a:cxnSpLocks/>
          </p:cNvCxnSpPr>
          <p:nvPr/>
        </p:nvCxnSpPr>
        <p:spPr>
          <a:xfrm>
            <a:off x="6603988" y="3679331"/>
            <a:ext cx="231945" cy="68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CC91043-B175-DCE3-F8D9-511F0FF84942}"/>
              </a:ext>
            </a:extLst>
          </p:cNvPr>
          <p:cNvSpPr txBox="1"/>
          <p:nvPr/>
        </p:nvSpPr>
        <p:spPr>
          <a:xfrm>
            <a:off x="6603988" y="3748133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9D5ACC1-96E0-762A-BD93-3A0AFEDFF9D8}"/>
              </a:ext>
            </a:extLst>
          </p:cNvPr>
          <p:cNvSpPr txBox="1"/>
          <p:nvPr/>
        </p:nvSpPr>
        <p:spPr>
          <a:xfrm>
            <a:off x="6777988" y="337584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6E4F62B-CED0-190C-18D1-E11B1618F92B}"/>
              </a:ext>
            </a:extLst>
          </p:cNvPr>
          <p:cNvSpPr txBox="1"/>
          <p:nvPr/>
        </p:nvSpPr>
        <p:spPr>
          <a:xfrm>
            <a:off x="6312634" y="33932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A1A5405-5199-BF2B-2C68-F209A31B18EE}"/>
              </a:ext>
            </a:extLst>
          </p:cNvPr>
          <p:cNvCxnSpPr>
            <a:cxnSpLocks/>
          </p:cNvCxnSpPr>
          <p:nvPr/>
        </p:nvCxnSpPr>
        <p:spPr>
          <a:xfrm>
            <a:off x="6560801" y="308437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4A1F5A1-16F2-66FC-187D-33974F7D7F26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566280" y="2900783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304010D-DA0B-05B7-E8A6-CCDDB84FE26D}"/>
              </a:ext>
            </a:extLst>
          </p:cNvPr>
          <p:cNvCxnSpPr>
            <a:cxnSpLocks/>
          </p:cNvCxnSpPr>
          <p:nvPr/>
        </p:nvCxnSpPr>
        <p:spPr>
          <a:xfrm>
            <a:off x="6577015" y="307383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DAFCB29-998F-E25E-EE4C-2F70F31B7EC3}"/>
              </a:ext>
            </a:extLst>
          </p:cNvPr>
          <p:cNvSpPr txBox="1"/>
          <p:nvPr/>
        </p:nvSpPr>
        <p:spPr>
          <a:xfrm>
            <a:off x="6252460" y="305191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C366B7B-DB2F-A230-318C-30B8AB435A34}"/>
              </a:ext>
            </a:extLst>
          </p:cNvPr>
          <p:cNvSpPr txBox="1"/>
          <p:nvPr/>
        </p:nvSpPr>
        <p:spPr>
          <a:xfrm>
            <a:off x="6797907" y="274689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91720F7-FE81-AB97-4188-4263D70B24E6}"/>
              </a:ext>
            </a:extLst>
          </p:cNvPr>
          <p:cNvSpPr txBox="1"/>
          <p:nvPr/>
        </p:nvSpPr>
        <p:spPr>
          <a:xfrm>
            <a:off x="6727988" y="311616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91D2734-C8B2-BD25-EE68-83DB9303A3C6}"/>
              </a:ext>
            </a:extLst>
          </p:cNvPr>
          <p:cNvSpPr txBox="1"/>
          <p:nvPr/>
        </p:nvSpPr>
        <p:spPr>
          <a:xfrm>
            <a:off x="6553569" y="3273406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D775DC9-F2E5-B9B4-43F8-E7C5EA207A2D}"/>
              </a:ext>
            </a:extLst>
          </p:cNvPr>
          <p:cNvCxnSpPr>
            <a:cxnSpLocks/>
          </p:cNvCxnSpPr>
          <p:nvPr/>
        </p:nvCxnSpPr>
        <p:spPr>
          <a:xfrm>
            <a:off x="6621654" y="2427685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1445130-48C2-EFE7-0743-019C99DED9D8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627133" y="2244091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3372E91-0BA7-BAE8-CE91-8C6766B2DC87}"/>
              </a:ext>
            </a:extLst>
          </p:cNvPr>
          <p:cNvCxnSpPr>
            <a:cxnSpLocks/>
          </p:cNvCxnSpPr>
          <p:nvPr/>
        </p:nvCxnSpPr>
        <p:spPr>
          <a:xfrm>
            <a:off x="6637868" y="2417139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4D76C2-4D1D-79CE-387E-6F02EE65C415}"/>
              </a:ext>
            </a:extLst>
          </p:cNvPr>
          <p:cNvSpPr txBox="1"/>
          <p:nvPr/>
        </p:nvSpPr>
        <p:spPr>
          <a:xfrm>
            <a:off x="6431471" y="260546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13FDB12-F0BE-7035-FF2A-0DC8F9CA3D31}"/>
              </a:ext>
            </a:extLst>
          </p:cNvPr>
          <p:cNvSpPr txBox="1"/>
          <p:nvPr/>
        </p:nvSpPr>
        <p:spPr>
          <a:xfrm>
            <a:off x="6858760" y="209020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08345CE-A071-BCB1-2749-2638F7D58436}"/>
              </a:ext>
            </a:extLst>
          </p:cNvPr>
          <p:cNvSpPr txBox="1"/>
          <p:nvPr/>
        </p:nvSpPr>
        <p:spPr>
          <a:xfrm>
            <a:off x="6703298" y="245947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E64268D-A87C-4C67-2D11-A4DFD9F6D547}"/>
              </a:ext>
            </a:extLst>
          </p:cNvPr>
          <p:cNvSpPr txBox="1"/>
          <p:nvPr/>
        </p:nvSpPr>
        <p:spPr>
          <a:xfrm>
            <a:off x="6886417" y="256903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8B5E130F-3CC8-4F88-039F-58DDD0DB93A2}"/>
              </a:ext>
            </a:extLst>
          </p:cNvPr>
          <p:cNvCxnSpPr>
            <a:cxnSpLocks/>
          </p:cNvCxnSpPr>
          <p:nvPr/>
        </p:nvCxnSpPr>
        <p:spPr>
          <a:xfrm>
            <a:off x="6275128" y="242718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EA51E66B-26A7-B086-9A21-CE0F22662FCC}"/>
              </a:ext>
            </a:extLst>
          </p:cNvPr>
          <p:cNvCxnSpPr>
            <a:cxnSpLocks/>
          </p:cNvCxnSpPr>
          <p:nvPr/>
        </p:nvCxnSpPr>
        <p:spPr>
          <a:xfrm flipH="1">
            <a:off x="6044916" y="2422749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A8C38FC9-FBB6-3632-D13A-2C0FDB46F14E}"/>
              </a:ext>
            </a:extLst>
          </p:cNvPr>
          <p:cNvCxnSpPr>
            <a:cxnSpLocks/>
          </p:cNvCxnSpPr>
          <p:nvPr/>
        </p:nvCxnSpPr>
        <p:spPr>
          <a:xfrm>
            <a:off x="6267896" y="2428364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5338D24-D441-9335-5B0B-3C2F844F064C}"/>
              </a:ext>
            </a:extLst>
          </p:cNvPr>
          <p:cNvSpPr txBox="1"/>
          <p:nvPr/>
        </p:nvSpPr>
        <p:spPr>
          <a:xfrm>
            <a:off x="5993821" y="252223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3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8BE56FE-EA15-A9DD-AB15-671F865F5AD1}"/>
              </a:ext>
            </a:extLst>
          </p:cNvPr>
          <p:cNvSpPr txBox="1"/>
          <p:nvPr/>
        </p:nvSpPr>
        <p:spPr>
          <a:xfrm>
            <a:off x="6291538" y="212443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3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B4FCDED-DD83-9A3C-EC00-E998CF5D3A09}"/>
              </a:ext>
            </a:extLst>
          </p:cNvPr>
          <p:cNvSpPr txBox="1"/>
          <p:nvPr/>
        </p:nvSpPr>
        <p:spPr>
          <a:xfrm>
            <a:off x="5993821" y="21199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3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82B6354-638D-9FD0-F579-3BD5F061FC80}"/>
              </a:ext>
            </a:extLst>
          </p:cNvPr>
          <p:cNvSpPr txBox="1"/>
          <p:nvPr/>
        </p:nvSpPr>
        <p:spPr>
          <a:xfrm>
            <a:off x="6374065" y="198438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BDBD8BA0-AFB6-E4E3-A162-21BC7D6D3953}"/>
              </a:ext>
            </a:extLst>
          </p:cNvPr>
          <p:cNvCxnSpPr>
            <a:cxnSpLocks/>
          </p:cNvCxnSpPr>
          <p:nvPr/>
        </p:nvCxnSpPr>
        <p:spPr>
          <a:xfrm>
            <a:off x="5688979" y="2556141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A937C94-1FC7-EB17-9D37-98C1610D5964}"/>
              </a:ext>
            </a:extLst>
          </p:cNvPr>
          <p:cNvCxnSpPr>
            <a:cxnSpLocks/>
          </p:cNvCxnSpPr>
          <p:nvPr/>
        </p:nvCxnSpPr>
        <p:spPr>
          <a:xfrm flipH="1">
            <a:off x="5458767" y="2551703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AAE4AF2-092B-691A-422A-A8C2E3925F77}"/>
              </a:ext>
            </a:extLst>
          </p:cNvPr>
          <p:cNvCxnSpPr>
            <a:cxnSpLocks/>
          </p:cNvCxnSpPr>
          <p:nvPr/>
        </p:nvCxnSpPr>
        <p:spPr>
          <a:xfrm flipH="1" flipV="1">
            <a:off x="5418635" y="2393441"/>
            <a:ext cx="283350" cy="151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8969B24A-51BA-7ACF-0FA0-98F2105DAB5F}"/>
              </a:ext>
            </a:extLst>
          </p:cNvPr>
          <p:cNvSpPr txBox="1"/>
          <p:nvPr/>
        </p:nvSpPr>
        <p:spPr>
          <a:xfrm>
            <a:off x="5640331" y="268229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4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16CD0A7-5452-82CA-A1C7-2B21AD266A45}"/>
              </a:ext>
            </a:extLst>
          </p:cNvPr>
          <p:cNvSpPr txBox="1"/>
          <p:nvPr/>
        </p:nvSpPr>
        <p:spPr>
          <a:xfrm>
            <a:off x="5313272" y="211661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4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C7B2755-57D6-2AA6-8359-A40201042C2C}"/>
              </a:ext>
            </a:extLst>
          </p:cNvPr>
          <p:cNvSpPr txBox="1"/>
          <p:nvPr/>
        </p:nvSpPr>
        <p:spPr>
          <a:xfrm>
            <a:off x="5380700" y="2593005"/>
            <a:ext cx="377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4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C923E81-0A2C-8DA6-5514-B4066C9A2F5F}"/>
              </a:ext>
            </a:extLst>
          </p:cNvPr>
          <p:cNvSpPr txBox="1"/>
          <p:nvPr/>
        </p:nvSpPr>
        <p:spPr>
          <a:xfrm>
            <a:off x="5694980" y="2030637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</p:spTree>
    <p:extLst>
      <p:ext uri="{BB962C8B-B14F-4D97-AF65-F5344CB8AC3E}">
        <p14:creationId xmlns:p14="http://schemas.microsoft.com/office/powerpoint/2010/main" val="318531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519B0286-F8FE-5AAA-AACC-643EB3FA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0A18A35-0266-E967-C514-DBD908CFD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FE843232-5981-AF5D-160B-9CC350CDEC1B}"/>
              </a:ext>
            </a:extLst>
          </p:cNvPr>
          <p:cNvSpPr txBox="1">
            <a:spLocks/>
          </p:cNvSpPr>
          <p:nvPr/>
        </p:nvSpPr>
        <p:spPr>
          <a:xfrm>
            <a:off x="373910" y="679743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33956A9-08B9-0FEC-8DE2-9ECA5FB161F3}"/>
              </a:ext>
            </a:extLst>
          </p:cNvPr>
          <p:cNvCxnSpPr>
            <a:cxnSpLocks/>
          </p:cNvCxnSpPr>
          <p:nvPr/>
        </p:nvCxnSpPr>
        <p:spPr>
          <a:xfrm flipH="1">
            <a:off x="406263" y="803001"/>
            <a:ext cx="1588" cy="40283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2CD3AB35-72E9-7E7A-D90E-9A688203C37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C928726D-B1A6-9FCC-0103-385E49BBFDEF}"/>
              </a:ext>
            </a:extLst>
          </p:cNvPr>
          <p:cNvSpPr txBox="1"/>
          <p:nvPr/>
        </p:nvSpPr>
        <p:spPr>
          <a:xfrm>
            <a:off x="246185" y="1576902"/>
            <a:ext cx="2818845" cy="186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A4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A5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de +90° alrededor de X3”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</a:t>
            </a:r>
            <a:r>
              <a:rPr lang="es-MX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positiva de L4 sobre el eje Z3”</a:t>
            </a:r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F85142F3-EAD1-E547-6B3B-75B25EE1A98E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BC363DF-8CD7-CF85-8383-9A21F8EF88D5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357E49E-C20B-253F-33A3-5B7121E5B102}"/>
                  </a:ext>
                </a:extLst>
              </p:cNvPr>
              <p:cNvSpPr txBox="1"/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357E49E-C20B-253F-33A3-5B7121E5B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E9F8A8C8-1F34-4B22-34D6-1A3158895164}"/>
              </a:ext>
            </a:extLst>
          </p:cNvPr>
          <p:cNvSpPr txBox="1"/>
          <p:nvPr/>
        </p:nvSpPr>
        <p:spPr>
          <a:xfrm>
            <a:off x="3981092" y="2542983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Z3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888AD49-33EA-5647-3ED0-6A9F37A641E9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C55B5F6-B2F1-77B4-1FE6-A1A2A1645056}"/>
                  </a:ext>
                </a:extLst>
              </p:cNvPr>
              <p:cNvSpPr txBox="1"/>
              <p:nvPr/>
            </p:nvSpPr>
            <p:spPr>
              <a:xfrm>
                <a:off x="5162391" y="4148507"/>
                <a:ext cx="460318" cy="649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C55B5F6-B2F1-77B4-1FE6-A1A2A1645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91" y="4148507"/>
                <a:ext cx="460318" cy="6496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2125CB3A-F4F0-E732-F21E-B12F8DE885BF}"/>
              </a:ext>
            </a:extLst>
          </p:cNvPr>
          <p:cNvSpPr txBox="1"/>
          <p:nvPr/>
        </p:nvSpPr>
        <p:spPr>
          <a:xfrm>
            <a:off x="6262825" y="4033139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A4 a A5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6AD60BC-A7B8-64CF-E074-F3A934352560}"/>
                  </a:ext>
                </a:extLst>
              </p:cNvPr>
              <p:cNvSpPr txBox="1"/>
              <p:nvPr/>
            </p:nvSpPr>
            <p:spPr>
              <a:xfrm>
                <a:off x="6157194" y="2030709"/>
                <a:ext cx="2333779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6AD60BC-A7B8-64CF-E074-F3A934352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194" y="2030709"/>
                <a:ext cx="2333779" cy="782587"/>
              </a:xfrm>
              <a:prstGeom prst="rect">
                <a:avLst/>
              </a:prstGeom>
              <a:blipFill>
                <a:blip r:embed="rId6"/>
                <a:stretch>
                  <a:fillRect b="-7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4FAF7555-AE30-C5E7-2951-A82088EC1F91}"/>
              </a:ext>
            </a:extLst>
          </p:cNvPr>
          <p:cNvSpPr txBox="1"/>
          <p:nvPr/>
        </p:nvSpPr>
        <p:spPr>
          <a:xfrm>
            <a:off x="6439783" y="2635204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X3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98E345EA-01DE-EB04-544D-11FA27924956}"/>
              </a:ext>
            </a:extLst>
          </p:cNvPr>
          <p:cNvSpPr txBox="1"/>
          <p:nvPr/>
        </p:nvSpPr>
        <p:spPr>
          <a:xfrm>
            <a:off x="5961653" y="2036541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76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FD7BFCA-C264-EEB5-FCA2-7BBDE1F4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8083D3E-B479-5D54-F8A0-54E63CFFD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B3CD3A3-FFBF-4F02-0D2A-BBC3BBFFAC1A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7E345D59-9AE7-CC1D-45DF-52AB60B18A14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04AD5A3A-A278-20A6-9B36-1EB3B4C800CF}"/>
                  </a:ext>
                </a:extLst>
              </p:cNvPr>
              <p:cNvSpPr txBox="1"/>
              <p:nvPr/>
            </p:nvSpPr>
            <p:spPr>
              <a:xfrm>
                <a:off x="293078" y="1263592"/>
                <a:ext cx="3597353" cy="335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A5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A6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de -90° alrededor de X4”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-L5*sen(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X4”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L5*cos(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Y4”</a:t>
                </a: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r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04AD5A3A-A278-20A6-9B36-1EB3B4C80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78" y="1263592"/>
                <a:ext cx="3597353" cy="3350105"/>
              </a:xfrm>
              <a:prstGeom prst="rect">
                <a:avLst/>
              </a:prstGeom>
              <a:blipFill>
                <a:blip r:embed="rId4"/>
                <a:stretch>
                  <a:fillRect l="-847" r="-10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657C9C9F-C86D-8AA1-EAB5-E178902B448A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36D6F02E-647A-13CF-B2E7-9E1F0067EF29}"/>
              </a:ext>
            </a:extLst>
          </p:cNvPr>
          <p:cNvSpPr txBox="1"/>
          <p:nvPr/>
        </p:nvSpPr>
        <p:spPr>
          <a:xfrm>
            <a:off x="5508887" y="4668813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ED72B2CA-8590-0432-0960-E55BB8E5B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075" y="1517041"/>
            <a:ext cx="4876800" cy="32512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A9F8204-BCF7-7C14-980B-8D8C66A305A0}"/>
              </a:ext>
            </a:extLst>
          </p:cNvPr>
          <p:cNvCxnSpPr>
            <a:cxnSpLocks/>
          </p:cNvCxnSpPr>
          <p:nvPr/>
        </p:nvCxnSpPr>
        <p:spPr>
          <a:xfrm flipV="1">
            <a:off x="6584786" y="3440356"/>
            <a:ext cx="19202" cy="234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7C68E396-FC90-94FE-FD0B-29EF4F5943E3}"/>
              </a:ext>
            </a:extLst>
          </p:cNvPr>
          <p:cNvCxnSpPr>
            <a:cxnSpLocks/>
          </p:cNvCxnSpPr>
          <p:nvPr/>
        </p:nvCxnSpPr>
        <p:spPr>
          <a:xfrm flipV="1">
            <a:off x="6593253" y="3520696"/>
            <a:ext cx="242680" cy="164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9F42A75-E5CC-49C9-5F4D-F162252C9AEC}"/>
              </a:ext>
            </a:extLst>
          </p:cNvPr>
          <p:cNvCxnSpPr>
            <a:cxnSpLocks/>
          </p:cNvCxnSpPr>
          <p:nvPr/>
        </p:nvCxnSpPr>
        <p:spPr>
          <a:xfrm>
            <a:off x="6603988" y="3679331"/>
            <a:ext cx="231945" cy="68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3AF1723-424F-0ECB-7F7E-B16DE8351973}"/>
              </a:ext>
            </a:extLst>
          </p:cNvPr>
          <p:cNvSpPr txBox="1"/>
          <p:nvPr/>
        </p:nvSpPr>
        <p:spPr>
          <a:xfrm>
            <a:off x="6603988" y="3748133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BB38C25-A8D6-A1C9-3BA9-4A79F1CA62B7}"/>
              </a:ext>
            </a:extLst>
          </p:cNvPr>
          <p:cNvSpPr txBox="1"/>
          <p:nvPr/>
        </p:nvSpPr>
        <p:spPr>
          <a:xfrm>
            <a:off x="6777988" y="337584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855BC50-381A-B18F-8DE3-D1AABE194F7B}"/>
              </a:ext>
            </a:extLst>
          </p:cNvPr>
          <p:cNvSpPr txBox="1"/>
          <p:nvPr/>
        </p:nvSpPr>
        <p:spPr>
          <a:xfrm>
            <a:off x="6312634" y="33932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854ECD8-6DE2-CF0E-B4BF-B4029AFF447F}"/>
              </a:ext>
            </a:extLst>
          </p:cNvPr>
          <p:cNvCxnSpPr>
            <a:cxnSpLocks/>
          </p:cNvCxnSpPr>
          <p:nvPr/>
        </p:nvCxnSpPr>
        <p:spPr>
          <a:xfrm>
            <a:off x="6560801" y="308437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1B08BA4-4B3E-139E-A435-B9E9743F819E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566280" y="2900783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9750553-C881-B20B-9DA5-645C55D8D4E7}"/>
              </a:ext>
            </a:extLst>
          </p:cNvPr>
          <p:cNvCxnSpPr>
            <a:cxnSpLocks/>
          </p:cNvCxnSpPr>
          <p:nvPr/>
        </p:nvCxnSpPr>
        <p:spPr>
          <a:xfrm>
            <a:off x="6577015" y="307383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48471A7-105E-8D82-E75B-CBA5C84C2DE3}"/>
              </a:ext>
            </a:extLst>
          </p:cNvPr>
          <p:cNvSpPr txBox="1"/>
          <p:nvPr/>
        </p:nvSpPr>
        <p:spPr>
          <a:xfrm>
            <a:off x="6252460" y="305191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AF5552B-8848-7751-553F-59CD9341BB4D}"/>
              </a:ext>
            </a:extLst>
          </p:cNvPr>
          <p:cNvSpPr txBox="1"/>
          <p:nvPr/>
        </p:nvSpPr>
        <p:spPr>
          <a:xfrm>
            <a:off x="6797907" y="274689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A2E2319-A38A-3842-5C8E-60ED8E7A263C}"/>
              </a:ext>
            </a:extLst>
          </p:cNvPr>
          <p:cNvSpPr txBox="1"/>
          <p:nvPr/>
        </p:nvSpPr>
        <p:spPr>
          <a:xfrm>
            <a:off x="6727988" y="311616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64FA51B-7ED7-D0DF-8308-8DFBD51614F2}"/>
              </a:ext>
            </a:extLst>
          </p:cNvPr>
          <p:cNvSpPr txBox="1"/>
          <p:nvPr/>
        </p:nvSpPr>
        <p:spPr>
          <a:xfrm>
            <a:off x="6553569" y="3273406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34CEA7F-E441-A887-9485-D6AE45842717}"/>
              </a:ext>
            </a:extLst>
          </p:cNvPr>
          <p:cNvCxnSpPr>
            <a:cxnSpLocks/>
          </p:cNvCxnSpPr>
          <p:nvPr/>
        </p:nvCxnSpPr>
        <p:spPr>
          <a:xfrm>
            <a:off x="6621654" y="2427685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F5D80F00-4E3F-9A1A-5A89-06801BF62BA6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627133" y="2244091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90B95ED-13DF-3FD5-39D8-5A1278EBF0BD}"/>
              </a:ext>
            </a:extLst>
          </p:cNvPr>
          <p:cNvCxnSpPr>
            <a:cxnSpLocks/>
          </p:cNvCxnSpPr>
          <p:nvPr/>
        </p:nvCxnSpPr>
        <p:spPr>
          <a:xfrm>
            <a:off x="6637868" y="2417139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4E0EAF2-DD90-AB73-ADFF-2636FC2B7AC2}"/>
              </a:ext>
            </a:extLst>
          </p:cNvPr>
          <p:cNvSpPr txBox="1"/>
          <p:nvPr/>
        </p:nvSpPr>
        <p:spPr>
          <a:xfrm>
            <a:off x="6431471" y="260546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00961C3-C37F-8E25-B7AE-51259E7D2210}"/>
              </a:ext>
            </a:extLst>
          </p:cNvPr>
          <p:cNvSpPr txBox="1"/>
          <p:nvPr/>
        </p:nvSpPr>
        <p:spPr>
          <a:xfrm>
            <a:off x="6858760" y="209020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FAA78C5-4DE5-5BD0-E7AF-69AF87E7F00C}"/>
              </a:ext>
            </a:extLst>
          </p:cNvPr>
          <p:cNvSpPr txBox="1"/>
          <p:nvPr/>
        </p:nvSpPr>
        <p:spPr>
          <a:xfrm>
            <a:off x="6703298" y="245947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C50AE6A-78CD-387D-14B2-D22C37F43A71}"/>
              </a:ext>
            </a:extLst>
          </p:cNvPr>
          <p:cNvSpPr txBox="1"/>
          <p:nvPr/>
        </p:nvSpPr>
        <p:spPr>
          <a:xfrm>
            <a:off x="6886417" y="256903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03F06A1C-8AD7-4CFC-9A8C-4C0722B31E30}"/>
              </a:ext>
            </a:extLst>
          </p:cNvPr>
          <p:cNvCxnSpPr>
            <a:cxnSpLocks/>
          </p:cNvCxnSpPr>
          <p:nvPr/>
        </p:nvCxnSpPr>
        <p:spPr>
          <a:xfrm>
            <a:off x="6275128" y="242718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2340FA55-3D28-FD59-0064-EF29B1CD5B30}"/>
              </a:ext>
            </a:extLst>
          </p:cNvPr>
          <p:cNvCxnSpPr>
            <a:cxnSpLocks/>
          </p:cNvCxnSpPr>
          <p:nvPr/>
        </p:nvCxnSpPr>
        <p:spPr>
          <a:xfrm flipH="1">
            <a:off x="6044916" y="2422749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9DBD17A7-B343-E3AF-27BF-F2150A05148B}"/>
              </a:ext>
            </a:extLst>
          </p:cNvPr>
          <p:cNvCxnSpPr>
            <a:cxnSpLocks/>
          </p:cNvCxnSpPr>
          <p:nvPr/>
        </p:nvCxnSpPr>
        <p:spPr>
          <a:xfrm>
            <a:off x="6267896" y="2428364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3FC2EFF-B3B1-2C5C-78DB-5A4109E5C512}"/>
              </a:ext>
            </a:extLst>
          </p:cNvPr>
          <p:cNvSpPr txBox="1"/>
          <p:nvPr/>
        </p:nvSpPr>
        <p:spPr>
          <a:xfrm>
            <a:off x="5993821" y="252223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3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E6BD26D-B248-B8D9-DFBA-54EDAC103C0F}"/>
              </a:ext>
            </a:extLst>
          </p:cNvPr>
          <p:cNvSpPr txBox="1"/>
          <p:nvPr/>
        </p:nvSpPr>
        <p:spPr>
          <a:xfrm>
            <a:off x="6291538" y="212443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3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2902B140-25AF-98A4-1456-1DC6FA82F06F}"/>
              </a:ext>
            </a:extLst>
          </p:cNvPr>
          <p:cNvSpPr txBox="1"/>
          <p:nvPr/>
        </p:nvSpPr>
        <p:spPr>
          <a:xfrm>
            <a:off x="5993821" y="21199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3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BBDEBB9-78CB-B57D-1F54-5BDD4E57DD65}"/>
              </a:ext>
            </a:extLst>
          </p:cNvPr>
          <p:cNvSpPr txBox="1"/>
          <p:nvPr/>
        </p:nvSpPr>
        <p:spPr>
          <a:xfrm>
            <a:off x="6374065" y="198438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89D2861D-5719-0E1E-E4B7-8C18DAE2E0AA}"/>
              </a:ext>
            </a:extLst>
          </p:cNvPr>
          <p:cNvCxnSpPr>
            <a:cxnSpLocks/>
          </p:cNvCxnSpPr>
          <p:nvPr/>
        </p:nvCxnSpPr>
        <p:spPr>
          <a:xfrm>
            <a:off x="5688979" y="2556141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86EBA94-89D2-20BD-859C-245027AE0CFA}"/>
              </a:ext>
            </a:extLst>
          </p:cNvPr>
          <p:cNvCxnSpPr>
            <a:cxnSpLocks/>
          </p:cNvCxnSpPr>
          <p:nvPr/>
        </p:nvCxnSpPr>
        <p:spPr>
          <a:xfrm flipH="1">
            <a:off x="5458767" y="2551703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994F0994-AE7D-22E7-B8A5-AF0F376926F5}"/>
              </a:ext>
            </a:extLst>
          </p:cNvPr>
          <p:cNvCxnSpPr>
            <a:cxnSpLocks/>
          </p:cNvCxnSpPr>
          <p:nvPr/>
        </p:nvCxnSpPr>
        <p:spPr>
          <a:xfrm flipH="1" flipV="1">
            <a:off x="5418635" y="2393441"/>
            <a:ext cx="283350" cy="151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D73EB58F-E2FF-7DA6-EE8E-4DFA76335DDB}"/>
              </a:ext>
            </a:extLst>
          </p:cNvPr>
          <p:cNvSpPr txBox="1"/>
          <p:nvPr/>
        </p:nvSpPr>
        <p:spPr>
          <a:xfrm>
            <a:off x="5640331" y="268229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4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A98688-FDA4-51D3-AAF6-403EBF5AE788}"/>
              </a:ext>
            </a:extLst>
          </p:cNvPr>
          <p:cNvSpPr txBox="1"/>
          <p:nvPr/>
        </p:nvSpPr>
        <p:spPr>
          <a:xfrm>
            <a:off x="5313272" y="211661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4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835D4E3-D82D-37CF-522B-B5BD06344B11}"/>
              </a:ext>
            </a:extLst>
          </p:cNvPr>
          <p:cNvSpPr txBox="1"/>
          <p:nvPr/>
        </p:nvSpPr>
        <p:spPr>
          <a:xfrm>
            <a:off x="5380700" y="2593005"/>
            <a:ext cx="377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4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72828BE-218F-9178-3E05-FFFBB0D55E85}"/>
              </a:ext>
            </a:extLst>
          </p:cNvPr>
          <p:cNvSpPr txBox="1"/>
          <p:nvPr/>
        </p:nvSpPr>
        <p:spPr>
          <a:xfrm>
            <a:off x="5694980" y="2030637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03B9DE8-49F6-446D-C22D-62D7A782E2C6}"/>
              </a:ext>
            </a:extLst>
          </p:cNvPr>
          <p:cNvSpPr txBox="1"/>
          <p:nvPr/>
        </p:nvSpPr>
        <p:spPr>
          <a:xfrm>
            <a:off x="5155795" y="2308718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L5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A299918B-5141-C6E6-EBEC-38C41FB45B3F}"/>
              </a:ext>
            </a:extLst>
          </p:cNvPr>
          <p:cNvCxnSpPr>
            <a:cxnSpLocks/>
          </p:cNvCxnSpPr>
          <p:nvPr/>
        </p:nvCxnSpPr>
        <p:spPr>
          <a:xfrm>
            <a:off x="5070854" y="2722094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4EAE0CD1-5D5F-AE42-BFC6-B22E87A67758}"/>
              </a:ext>
            </a:extLst>
          </p:cNvPr>
          <p:cNvCxnSpPr>
            <a:cxnSpLocks/>
          </p:cNvCxnSpPr>
          <p:nvPr/>
        </p:nvCxnSpPr>
        <p:spPr>
          <a:xfrm flipH="1">
            <a:off x="4840642" y="2717656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D7FDC762-6A2D-B576-7C0E-980093AEE8AC}"/>
              </a:ext>
            </a:extLst>
          </p:cNvPr>
          <p:cNvCxnSpPr>
            <a:cxnSpLocks/>
          </p:cNvCxnSpPr>
          <p:nvPr/>
        </p:nvCxnSpPr>
        <p:spPr>
          <a:xfrm>
            <a:off x="5063622" y="272327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DD2C8BF-29DF-7500-C6EE-69D1FC0865E0}"/>
              </a:ext>
            </a:extLst>
          </p:cNvPr>
          <p:cNvSpPr txBox="1"/>
          <p:nvPr/>
        </p:nvSpPr>
        <p:spPr>
          <a:xfrm>
            <a:off x="4952815" y="3006820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5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B8A019D-954A-9078-5256-C7B618021C56}"/>
              </a:ext>
            </a:extLst>
          </p:cNvPr>
          <p:cNvSpPr txBox="1"/>
          <p:nvPr/>
        </p:nvSpPr>
        <p:spPr>
          <a:xfrm>
            <a:off x="4591419" y="247555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6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4B71F3E-AA49-0DD9-135B-CA26C01B1D9E}"/>
              </a:ext>
            </a:extLst>
          </p:cNvPr>
          <p:cNvSpPr txBox="1"/>
          <p:nvPr/>
        </p:nvSpPr>
        <p:spPr>
          <a:xfrm>
            <a:off x="5099340" y="2709849"/>
            <a:ext cx="377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5</a:t>
            </a:r>
            <a:endParaRPr lang="es-MX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9420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83F7B089-57FE-65F3-6692-D44F1A3C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7891E322-D88F-BDDC-78F0-6162925D0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C8089F0-E267-C476-5028-9A64639CB740}"/>
              </a:ext>
            </a:extLst>
          </p:cNvPr>
          <p:cNvSpPr txBox="1">
            <a:spLocks/>
          </p:cNvSpPr>
          <p:nvPr/>
        </p:nvSpPr>
        <p:spPr>
          <a:xfrm>
            <a:off x="373910" y="679743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CFB7DDDB-E565-911A-9EDE-B6B9AE86BB9E}"/>
              </a:ext>
            </a:extLst>
          </p:cNvPr>
          <p:cNvCxnSpPr>
            <a:cxnSpLocks/>
          </p:cNvCxnSpPr>
          <p:nvPr/>
        </p:nvCxnSpPr>
        <p:spPr>
          <a:xfrm flipH="1">
            <a:off x="406263" y="803001"/>
            <a:ext cx="1588" cy="40283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F7DB0021-DEBC-CDFE-1A79-A57A39CED1E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0980632-0FAB-5F6F-8320-B55FF3106ECA}"/>
                  </a:ext>
                </a:extLst>
              </p:cNvPr>
              <p:cNvSpPr txBox="1"/>
              <p:nvPr/>
            </p:nvSpPr>
            <p:spPr>
              <a:xfrm>
                <a:off x="281353" y="1696540"/>
                <a:ext cx="3305188" cy="18674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A5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A6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de -90° alrededor de X4”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-L5*sen(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X4”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L5*cos(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Y4”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0980632-0FAB-5F6F-8320-B55FF310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53" y="1696540"/>
                <a:ext cx="3305188" cy="1867434"/>
              </a:xfrm>
              <a:prstGeom prst="rect">
                <a:avLst/>
              </a:prstGeom>
              <a:blipFill>
                <a:blip r:embed="rId4"/>
                <a:stretch>
                  <a:fillRect l="-923" r="-1107" b="-338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A502C604-B802-A6B5-2E81-86CEA1FD84E8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AB074B2-08DE-B013-CA18-22566DEB35BF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6F89B30-BA00-EF34-D264-2FD660D5B6CA}"/>
                  </a:ext>
                </a:extLst>
              </p:cNvPr>
              <p:cNvSpPr txBox="1"/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6F89B30-BA00-EF34-D264-2FD660D5B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84263334-7CE7-9B73-78DD-D343D6611E33}"/>
              </a:ext>
            </a:extLst>
          </p:cNvPr>
          <p:cNvSpPr txBox="1"/>
          <p:nvPr/>
        </p:nvSpPr>
        <p:spPr>
          <a:xfrm>
            <a:off x="3981092" y="2542983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Z4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9C4700A-3CEC-C6A3-CA0A-D69A8401B1AE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DC7C9E3C-9E42-4F6D-4A90-A2C64E88D462}"/>
              </a:ext>
            </a:extLst>
          </p:cNvPr>
          <p:cNvSpPr txBox="1"/>
          <p:nvPr/>
        </p:nvSpPr>
        <p:spPr>
          <a:xfrm>
            <a:off x="6262825" y="4033139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A5 a A6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CBD8395-2539-879B-91B6-B14D8B532BC5}"/>
                  </a:ext>
                </a:extLst>
              </p:cNvPr>
              <p:cNvSpPr txBox="1"/>
              <p:nvPr/>
            </p:nvSpPr>
            <p:spPr>
              <a:xfrm>
                <a:off x="6157194" y="2030709"/>
                <a:ext cx="2641556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(−90)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(−90)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(−90)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(−90)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CBD8395-2539-879B-91B6-B14D8B532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194" y="2030709"/>
                <a:ext cx="2641556" cy="782587"/>
              </a:xfrm>
              <a:prstGeom prst="rect">
                <a:avLst/>
              </a:prstGeom>
              <a:blipFill>
                <a:blip r:embed="rId6"/>
                <a:stretch>
                  <a:fillRect b="-7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9ECF734-95C2-E08C-EDFC-8C31AB90A6D7}"/>
              </a:ext>
            </a:extLst>
          </p:cNvPr>
          <p:cNvSpPr txBox="1"/>
          <p:nvPr/>
        </p:nvSpPr>
        <p:spPr>
          <a:xfrm>
            <a:off x="6439783" y="2635204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X4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-90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9DF9C657-FDF5-9FBD-5D3C-F23C6464268E}"/>
              </a:ext>
            </a:extLst>
          </p:cNvPr>
          <p:cNvSpPr txBox="1"/>
          <p:nvPr/>
        </p:nvSpPr>
        <p:spPr>
          <a:xfrm>
            <a:off x="5961653" y="2036541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FDEE023-0C49-1763-AB90-E1C1A169B4C1}"/>
                  </a:ext>
                </a:extLst>
              </p:cNvPr>
              <p:cNvSpPr txBox="1"/>
              <p:nvPr/>
            </p:nvSpPr>
            <p:spPr>
              <a:xfrm>
                <a:off x="4668838" y="4154300"/>
                <a:ext cx="1413016" cy="681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𝒔𝒆𝒏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FDEE023-0C49-1763-AB90-E1C1A169B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838" y="4154300"/>
                <a:ext cx="1413016" cy="6810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38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6626743-1DD7-937D-AA5F-92001464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5969688C-C71D-EFA7-74F1-9A2E4CF30E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9C32B582-A3B6-1EAC-E2FB-A09CDCBC371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49" y="3290550"/>
            <a:ext cx="3509125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SzPts val="1300"/>
            </a:pPr>
            <a:r>
              <a:rPr lang="es-ES" dirty="0"/>
              <a:t>-Diferentes Tipos de articulaciones</a:t>
            </a:r>
          </a:p>
          <a:p>
            <a:pPr marL="146050" indent="0">
              <a:buSzPts val="1300"/>
            </a:pPr>
            <a:r>
              <a:rPr lang="es-ES" dirty="0"/>
              <a:t>-Análisis de diferentes configuraciones de robots manipuladores</a:t>
            </a:r>
          </a:p>
          <a:p>
            <a:pPr marL="146050" indent="0">
              <a:buSzPts val="1300"/>
            </a:pPr>
            <a:r>
              <a:rPr lang="es-ES" dirty="0"/>
              <a:t>-Robot Cartesiano (3GDL)</a:t>
            </a:r>
          </a:p>
          <a:p>
            <a:pPr marL="146050" indent="0">
              <a:buSzPts val="1300"/>
            </a:pPr>
            <a:endParaRPr lang="es-ES" dirty="0"/>
          </a:p>
          <a:p>
            <a:pPr marL="146050" indent="0">
              <a:buSzPts val="1300"/>
            </a:pPr>
            <a:endParaRPr lang="es-ES" dirty="0"/>
          </a:p>
          <a:p>
            <a:pPr marL="146050" indent="0">
              <a:buSzPts val="1300"/>
            </a:pPr>
            <a:endParaRPr lang="es-ES" dirty="0"/>
          </a:p>
          <a:p>
            <a:pPr marL="146050" lvl="0" indent="0">
              <a:buSzPts val="1300"/>
            </a:pP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FF5BA56C-D17A-4FCF-298A-9A8A3292ED2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573C3E5B-B1CB-D088-7960-EA8F40DE13D2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62167FA0-9186-78CD-D21D-4E565F1A8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2C711EF4-728D-746D-08A8-B627A7D2D09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084306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Uniones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Las uniones son elementos rígidos que se emplean para la conexión de las diversas articulaciones del robot. En una cadena de </a:t>
            </a:r>
            <a:r>
              <a:rPr lang="es-ES" sz="18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unión-articulación-unión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se le denomina unión de entrada al eslabón que esta más cerca de la base del robot, a la otra unión por consiguiente se le llama unión de salida. La unión de salida es la que se desplaza con respecto a la unión de entrada.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B7FE54E-B9A7-73E7-4D43-293135E33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42" y="1496307"/>
            <a:ext cx="4490856" cy="318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9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prismáticas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movimiento de las uniones puede ser lineal o rotacional. Las articulaciones lineales implican un movimiento deslizante o de translación de las uniones de conexión, este movimiento puede ser generado por pistones o por medio de hacer deslizar el elemento sobre un carril o guía usando dispositivos mecánicos, eléctricos o neumáticos. </a:t>
            </a:r>
          </a:p>
        </p:txBody>
      </p:sp>
      <p:pic>
        <p:nvPicPr>
          <p:cNvPr id="4098" name="Picture 2" descr="Sistemas de coordenadas - Educación Tecnológica 2 - Campus Virtual ORT">
            <a:extLst>
              <a:ext uri="{FF2B5EF4-FFF2-40B4-BE49-F238E27FC236}">
                <a16:creationId xmlns:a16="http://schemas.microsoft.com/office/drawing/2014/main" id="{3F06F62B-B65C-6090-1438-CBAEB71F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027" y="2161744"/>
            <a:ext cx="4507157" cy="187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27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373910" y="1638832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rotacionales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pueden distinguir tres tipos: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•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 Rotacional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el eje de rotación es perpendicular a los ejes de las dos uniones.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F05950-2940-3314-615F-3B0EDD114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940" y="1776412"/>
            <a:ext cx="26003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5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373910" y="1638832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rotacionales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pueden distinguir tres tipos: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•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 de Torsión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la cual realiza un movimiento de torsión entre las uniones de entrada y salida, y el eje de torsión de esta articulación es paralelo al eje de las dos uniones.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8FAB2A-9838-4ABE-5461-531119926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560" y="1874227"/>
            <a:ext cx="3302163" cy="174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7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373910" y="1638832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rotacionales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pueden distinguir tres tipos: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•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 de Revolución,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en este tipo el eje de rotación es paralelo al eje de la unión de entrada y perpendicular al de la unión de salida, es decir la unión de salida gira alrededor de la de entrada.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E3D2D7-07F1-696C-830D-6B5E46AFC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177" y="1870847"/>
            <a:ext cx="3413688" cy="189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1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cilíndrico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Cilíndrico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AA9F0B-83EB-04D2-8290-5D46E275F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649" y="1345413"/>
            <a:ext cx="3866719" cy="3459333"/>
          </a:xfrm>
          <a:prstGeom prst="rect">
            <a:avLst/>
          </a:prstGeom>
        </p:spPr>
      </p:pic>
      <p:pic>
        <p:nvPicPr>
          <p:cNvPr id="3078" name="Picture 6" descr="Técnicas de observación de la tierra (II): Geodesia - Alfa Geomatics">
            <a:extLst>
              <a:ext uri="{FF2B5EF4-FFF2-40B4-BE49-F238E27FC236}">
                <a16:creationId xmlns:a16="http://schemas.microsoft.com/office/drawing/2014/main" id="{EAE20C04-403A-DBEB-2A6F-384018425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11" y="2362266"/>
            <a:ext cx="2636877" cy="174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5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</a:t>
            </a: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BF066A2E-F5E8-3A2D-EB85-9A062AC11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52" y="1597768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Matriz de rotación - Wikipedia, la enciclopedia libre">
            <a:extLst>
              <a:ext uri="{FF2B5EF4-FFF2-40B4-BE49-F238E27FC236}">
                <a16:creationId xmlns:a16="http://schemas.microsoft.com/office/drawing/2014/main" id="{AE569C14-E387-B041-DB51-53FC6A3F4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397" y="1798594"/>
            <a:ext cx="2254901" cy="243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22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21510" y="1938854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 (RRR)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Presentan mayor destreza en su espacio de trabajo, ya que sus eslabones están unidos por tres articulaciones rotacionales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B0B8FD-5700-F66E-D366-B24191B81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06278"/>
            <a:ext cx="4275631" cy="314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E5D48AB-05E7-EA1A-2807-09C7A611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93851351-DAB9-4633-CBFB-523EB981C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22729E1-4CA6-96C4-B80E-F233F4B0B14B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r</a:t>
            </a:r>
            <a:r>
              <a:rPr kumimoji="0" lang="es-E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obot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5D2756EF-C333-8A15-7AC2-5C866AAE40BF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514F399D-F251-4AC3-596C-54DE2C0FCEA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FCDA5540-0743-839D-6FCC-E3739F279EA2}"/>
              </a:ext>
            </a:extLst>
          </p:cNvPr>
          <p:cNvSpPr txBox="1"/>
          <p:nvPr/>
        </p:nvSpPr>
        <p:spPr>
          <a:xfrm>
            <a:off x="373910" y="1367025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 de la mano derecha</a:t>
            </a: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9F11E9DE-DA97-94AE-C417-45F5D0A8A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882" y="1643761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Google Shape;1603;p42">
            <a:extLst>
              <a:ext uri="{FF2B5EF4-FFF2-40B4-BE49-F238E27FC236}">
                <a16:creationId xmlns:a16="http://schemas.microsoft.com/office/drawing/2014/main" id="{F355BF4F-CCCF-90CF-D921-587B951C58B5}"/>
              </a:ext>
            </a:extLst>
          </p:cNvPr>
          <p:cNvSpPr txBox="1"/>
          <p:nvPr/>
        </p:nvSpPr>
        <p:spPr>
          <a:xfrm>
            <a:off x="6322339" y="1980494"/>
            <a:ext cx="250945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Ubicación de eje z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eje z siempre se coloca en dirección del movimiento de la articulación 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05D397-389F-BD4D-FBDB-687371E3E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78" y="1845888"/>
            <a:ext cx="1321282" cy="1162005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FA23550A-B34C-03BE-5956-5CF03EFF986F}"/>
              </a:ext>
            </a:extLst>
          </p:cNvPr>
          <p:cNvCxnSpPr>
            <a:cxnSpLocks/>
          </p:cNvCxnSpPr>
          <p:nvPr/>
        </p:nvCxnSpPr>
        <p:spPr>
          <a:xfrm flipV="1">
            <a:off x="2067211" y="3746599"/>
            <a:ext cx="0" cy="4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CC8ABADB-EBD6-1078-01F6-06A59B96D5E8}"/>
              </a:ext>
            </a:extLst>
          </p:cNvPr>
          <p:cNvCxnSpPr>
            <a:cxnSpLocks/>
          </p:cNvCxnSpPr>
          <p:nvPr/>
        </p:nvCxnSpPr>
        <p:spPr>
          <a:xfrm flipH="1">
            <a:off x="1711731" y="4150851"/>
            <a:ext cx="360683" cy="204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BC0FD7A-C6C4-856F-5BEF-31248A866202}"/>
              </a:ext>
            </a:extLst>
          </p:cNvPr>
          <p:cNvCxnSpPr>
            <a:cxnSpLocks/>
          </p:cNvCxnSpPr>
          <p:nvPr/>
        </p:nvCxnSpPr>
        <p:spPr>
          <a:xfrm>
            <a:off x="2062009" y="4155196"/>
            <a:ext cx="376391" cy="214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8D99CDA5-81C1-BF43-5B74-0DE77B8E453B}"/>
              </a:ext>
            </a:extLst>
          </p:cNvPr>
          <p:cNvSpPr txBox="1"/>
          <p:nvPr/>
        </p:nvSpPr>
        <p:spPr>
          <a:xfrm>
            <a:off x="1756460" y="3478464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43FACD-2F8A-0C63-35BF-22E30028DD4E}"/>
              </a:ext>
            </a:extLst>
          </p:cNvPr>
          <p:cNvSpPr txBox="1"/>
          <p:nvPr/>
        </p:nvSpPr>
        <p:spPr>
          <a:xfrm>
            <a:off x="1425433" y="4370093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F81B4C9-C11A-DE16-21E8-6D737D181FFF}"/>
              </a:ext>
            </a:extLst>
          </p:cNvPr>
          <p:cNvSpPr txBox="1"/>
          <p:nvPr/>
        </p:nvSpPr>
        <p:spPr>
          <a:xfrm>
            <a:off x="2385994" y="4370092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43" name="Google Shape;1603;p42">
            <a:extLst>
              <a:ext uri="{FF2B5EF4-FFF2-40B4-BE49-F238E27FC236}">
                <a16:creationId xmlns:a16="http://schemas.microsoft.com/office/drawing/2014/main" id="{E3D1D0D8-C0BA-F087-63AB-FADA2C4B356B}"/>
              </a:ext>
            </a:extLst>
          </p:cNvPr>
          <p:cNvSpPr txBox="1"/>
          <p:nvPr/>
        </p:nvSpPr>
        <p:spPr>
          <a:xfrm>
            <a:off x="373910" y="3072385"/>
            <a:ext cx="2815668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 de referencia inercial</a:t>
            </a:r>
          </a:p>
          <a:p>
            <a:pPr algn="just"/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Regla de la mano derecha | Tekla User Assistance">
            <a:extLst>
              <a:ext uri="{FF2B5EF4-FFF2-40B4-BE49-F238E27FC236}">
                <a16:creationId xmlns:a16="http://schemas.microsoft.com/office/drawing/2014/main" id="{97201F91-5583-16D4-52F5-3C9FD450F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17883" y="3559003"/>
            <a:ext cx="1126377" cy="115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35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6" grpId="0"/>
      <p:bldP spid="4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BDBC80EA-3FBE-101D-C315-E67E2248E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A7DEA0A8-D883-B9D0-5C2E-3579164C7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D7EC557C-7E51-61BC-824E-B2642E096997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r</a:t>
            </a:r>
            <a:r>
              <a:rPr kumimoji="0" lang="es-E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obot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00E32A9C-0332-60AE-6991-79F22E3E399A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BEDCCD5C-4349-EA82-924F-D32FDFCA72F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188C03AB-3432-FEC8-B759-5FF795104920}"/>
              </a:ext>
            </a:extLst>
          </p:cNvPr>
          <p:cNvSpPr txBox="1"/>
          <p:nvPr/>
        </p:nvSpPr>
        <p:spPr>
          <a:xfrm>
            <a:off x="373910" y="1367025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 de la mano derecha</a:t>
            </a: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25AAA6E8-889F-DD19-EF71-5F2E4D6A1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882" y="1643761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0D816C6-E2C4-E254-A581-59001E454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78" y="1845888"/>
            <a:ext cx="1321282" cy="1162005"/>
          </a:xfrm>
          <a:prstGeom prst="rect">
            <a:avLst/>
          </a:prstGeom>
        </p:spPr>
      </p:pic>
      <p:sp>
        <p:nvSpPr>
          <p:cNvPr id="42" name="Google Shape;1603;p42">
            <a:extLst>
              <a:ext uri="{FF2B5EF4-FFF2-40B4-BE49-F238E27FC236}">
                <a16:creationId xmlns:a16="http://schemas.microsoft.com/office/drawing/2014/main" id="{423F85E7-96D6-BB36-2A4A-0B6C31E57630}"/>
              </a:ext>
            </a:extLst>
          </p:cNvPr>
          <p:cNvSpPr txBox="1"/>
          <p:nvPr/>
        </p:nvSpPr>
        <p:spPr>
          <a:xfrm>
            <a:off x="6339684" y="1608788"/>
            <a:ext cx="250945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1 a 2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“y1” y translación l1(t) sobre el eje Z1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3" name="Google Shape;1603;p42">
            <a:extLst>
              <a:ext uri="{FF2B5EF4-FFF2-40B4-BE49-F238E27FC236}">
                <a16:creationId xmlns:a16="http://schemas.microsoft.com/office/drawing/2014/main" id="{13AD5073-9B15-FF58-94E7-9DB75C0C57A7}"/>
              </a:ext>
            </a:extLst>
          </p:cNvPr>
          <p:cNvSpPr txBox="1"/>
          <p:nvPr/>
        </p:nvSpPr>
        <p:spPr>
          <a:xfrm>
            <a:off x="373910" y="3072385"/>
            <a:ext cx="2815668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 de referencia inercial</a:t>
            </a:r>
          </a:p>
          <a:p>
            <a:pPr algn="just"/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32C42CF-A923-E173-7412-3936EC2581C6}"/>
              </a:ext>
            </a:extLst>
          </p:cNvPr>
          <p:cNvCxnSpPr>
            <a:cxnSpLocks/>
          </p:cNvCxnSpPr>
          <p:nvPr/>
        </p:nvCxnSpPr>
        <p:spPr>
          <a:xfrm flipV="1">
            <a:off x="7705866" y="3518055"/>
            <a:ext cx="0" cy="4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44F178F-1303-26B8-983A-07B7A208D5B7}"/>
              </a:ext>
            </a:extLst>
          </p:cNvPr>
          <p:cNvCxnSpPr>
            <a:cxnSpLocks/>
          </p:cNvCxnSpPr>
          <p:nvPr/>
        </p:nvCxnSpPr>
        <p:spPr>
          <a:xfrm flipH="1">
            <a:off x="7347017" y="3939426"/>
            <a:ext cx="364457" cy="237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6AB8B60-B60C-2821-12DA-78AA6FB4E9A6}"/>
              </a:ext>
            </a:extLst>
          </p:cNvPr>
          <p:cNvCxnSpPr>
            <a:cxnSpLocks/>
          </p:cNvCxnSpPr>
          <p:nvPr/>
        </p:nvCxnSpPr>
        <p:spPr>
          <a:xfrm flipH="1" flipV="1">
            <a:off x="7353711" y="3702977"/>
            <a:ext cx="346953" cy="223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1E5EDD7-F562-2A38-DA95-3B9C6A6093BF}"/>
              </a:ext>
            </a:extLst>
          </p:cNvPr>
          <p:cNvSpPr txBox="1"/>
          <p:nvPr/>
        </p:nvSpPr>
        <p:spPr>
          <a:xfrm>
            <a:off x="6938473" y="3381315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3DEDA5-B84E-2623-448B-671027F8453E}"/>
              </a:ext>
            </a:extLst>
          </p:cNvPr>
          <p:cNvSpPr txBox="1"/>
          <p:nvPr/>
        </p:nvSpPr>
        <p:spPr>
          <a:xfrm>
            <a:off x="6989778" y="4035873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135E3B-0E3D-C64E-6D8B-CB105FE2F251}"/>
              </a:ext>
            </a:extLst>
          </p:cNvPr>
          <p:cNvSpPr txBox="1"/>
          <p:nvPr/>
        </p:nvSpPr>
        <p:spPr>
          <a:xfrm>
            <a:off x="7516962" y="311572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1C591F3D-4882-9232-1E95-CBA7E23DC9EB}"/>
              </a:ext>
            </a:extLst>
          </p:cNvPr>
          <p:cNvCxnSpPr>
            <a:cxnSpLocks/>
          </p:cNvCxnSpPr>
          <p:nvPr/>
        </p:nvCxnSpPr>
        <p:spPr>
          <a:xfrm flipV="1">
            <a:off x="2067211" y="3746599"/>
            <a:ext cx="0" cy="4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A9AD6FCA-C6F3-9550-F7CA-82C87AC0B6AA}"/>
              </a:ext>
            </a:extLst>
          </p:cNvPr>
          <p:cNvSpPr txBox="1"/>
          <p:nvPr/>
        </p:nvSpPr>
        <p:spPr>
          <a:xfrm>
            <a:off x="1756460" y="3478464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03EBF66-5955-8A3B-8256-926D870FA4A1}"/>
              </a:ext>
            </a:extLst>
          </p:cNvPr>
          <p:cNvSpPr txBox="1"/>
          <p:nvPr/>
        </p:nvSpPr>
        <p:spPr>
          <a:xfrm>
            <a:off x="1368522" y="440132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8F02E26-0537-CE5B-0BDC-4D1B6C88B256}"/>
              </a:ext>
            </a:extLst>
          </p:cNvPr>
          <p:cNvSpPr txBox="1"/>
          <p:nvPr/>
        </p:nvSpPr>
        <p:spPr>
          <a:xfrm>
            <a:off x="2350201" y="447489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pic>
        <p:nvPicPr>
          <p:cNvPr id="23" name="Picture 2" descr="Regla de la mano derecha | Tekla User Assistance">
            <a:extLst>
              <a:ext uri="{FF2B5EF4-FFF2-40B4-BE49-F238E27FC236}">
                <a16:creationId xmlns:a16="http://schemas.microsoft.com/office/drawing/2014/main" id="{F13EAEA1-3311-BF40-71C2-2F59CC8BA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17883" y="3559003"/>
            <a:ext cx="1126377" cy="115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5A945387-626E-8E7F-486F-880FF215B976}"/>
              </a:ext>
            </a:extLst>
          </p:cNvPr>
          <p:cNvSpPr txBox="1"/>
          <p:nvPr/>
        </p:nvSpPr>
        <p:spPr>
          <a:xfrm>
            <a:off x="2558565" y="4484933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EBDBBB5-F040-9764-27F2-78E9EDB5A88D}"/>
              </a:ext>
            </a:extLst>
          </p:cNvPr>
          <p:cNvSpPr txBox="1"/>
          <p:nvPr/>
        </p:nvSpPr>
        <p:spPr>
          <a:xfrm>
            <a:off x="1581922" y="440132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DDE9A49-CB42-D5BE-7443-F5EB6D7ADB26}"/>
              </a:ext>
            </a:extLst>
          </p:cNvPr>
          <p:cNvSpPr txBox="1"/>
          <p:nvPr/>
        </p:nvSpPr>
        <p:spPr>
          <a:xfrm>
            <a:off x="2026805" y="349475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5420F08-D585-53B4-D267-2AD0C51CE8F5}"/>
              </a:ext>
            </a:extLst>
          </p:cNvPr>
          <p:cNvCxnSpPr>
            <a:cxnSpLocks/>
          </p:cNvCxnSpPr>
          <p:nvPr/>
        </p:nvCxnSpPr>
        <p:spPr>
          <a:xfrm flipH="1">
            <a:off x="1711731" y="4150851"/>
            <a:ext cx="360683" cy="204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Flecha: circular 29">
            <a:extLst>
              <a:ext uri="{FF2B5EF4-FFF2-40B4-BE49-F238E27FC236}">
                <a16:creationId xmlns:a16="http://schemas.microsoft.com/office/drawing/2014/main" id="{48ABFF6C-05DE-1F2D-6FC4-1649873FA0A3}"/>
              </a:ext>
            </a:extLst>
          </p:cNvPr>
          <p:cNvSpPr/>
          <p:nvPr/>
        </p:nvSpPr>
        <p:spPr>
          <a:xfrm flipH="1">
            <a:off x="1584196" y="4064356"/>
            <a:ext cx="478313" cy="558247"/>
          </a:xfrm>
          <a:prstGeom prst="circularArrow">
            <a:avLst/>
          </a:prstGeom>
          <a:solidFill>
            <a:srgbClr val="FF0000"/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67AC404B-B1C0-95FB-A4E6-33F81498292C}"/>
              </a:ext>
            </a:extLst>
          </p:cNvPr>
          <p:cNvCxnSpPr>
            <a:cxnSpLocks/>
          </p:cNvCxnSpPr>
          <p:nvPr/>
        </p:nvCxnSpPr>
        <p:spPr>
          <a:xfrm>
            <a:off x="2062009" y="4155196"/>
            <a:ext cx="376391" cy="214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45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2" grpId="0"/>
      <p:bldP spid="4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C6D328B8-4F92-7BF3-0D19-146ECC9C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94F3E210-3825-C33B-C373-AB1919B96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14447A6-521A-4CFD-0FBC-9A2D6D8EE76D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r</a:t>
            </a:r>
            <a:r>
              <a:rPr kumimoji="0" lang="es-E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obot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5899D03B-1C98-B329-6785-951BEEDF001A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8A73762A-330D-4A94-C6E6-CA4E1F2651A0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1BD45C-84D0-3C4B-B10C-CB22F5063D45}"/>
              </a:ext>
            </a:extLst>
          </p:cNvPr>
          <p:cNvSpPr txBox="1"/>
          <p:nvPr/>
        </p:nvSpPr>
        <p:spPr>
          <a:xfrm>
            <a:off x="373910" y="1367025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 de la mano derecha</a:t>
            </a: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458A0B6A-74C2-080C-3960-6175ED59D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882" y="1643761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EE0DAB-4461-73FD-5EBC-0F0E2DED3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78" y="1845888"/>
            <a:ext cx="1321282" cy="1162005"/>
          </a:xfrm>
          <a:prstGeom prst="rect">
            <a:avLst/>
          </a:prstGeom>
        </p:spPr>
      </p:pic>
      <p:sp>
        <p:nvSpPr>
          <p:cNvPr id="42" name="Google Shape;1603;p42">
            <a:extLst>
              <a:ext uri="{FF2B5EF4-FFF2-40B4-BE49-F238E27FC236}">
                <a16:creationId xmlns:a16="http://schemas.microsoft.com/office/drawing/2014/main" id="{A9F8B2A5-F981-0C58-781A-FB4AD37FE4A9}"/>
              </a:ext>
            </a:extLst>
          </p:cNvPr>
          <p:cNvSpPr txBox="1"/>
          <p:nvPr/>
        </p:nvSpPr>
        <p:spPr>
          <a:xfrm>
            <a:off x="6339684" y="1608788"/>
            <a:ext cx="250945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2 a 3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“x2” y translación l2(t) sobre el eje Z2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3" name="Google Shape;1603;p42">
            <a:extLst>
              <a:ext uri="{FF2B5EF4-FFF2-40B4-BE49-F238E27FC236}">
                <a16:creationId xmlns:a16="http://schemas.microsoft.com/office/drawing/2014/main" id="{F2AAFC2A-9421-9FDA-5D44-1135FD8D98C9}"/>
              </a:ext>
            </a:extLst>
          </p:cNvPr>
          <p:cNvSpPr txBox="1"/>
          <p:nvPr/>
        </p:nvSpPr>
        <p:spPr>
          <a:xfrm>
            <a:off x="373910" y="3072385"/>
            <a:ext cx="2815668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 de referencia anterior</a:t>
            </a:r>
          </a:p>
          <a:p>
            <a:pPr algn="just"/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6B63368-2B20-5C39-7DB3-202BB9CC1110}"/>
              </a:ext>
            </a:extLst>
          </p:cNvPr>
          <p:cNvCxnSpPr>
            <a:cxnSpLocks/>
          </p:cNvCxnSpPr>
          <p:nvPr/>
        </p:nvCxnSpPr>
        <p:spPr>
          <a:xfrm flipH="1" flipV="1">
            <a:off x="7443901" y="3728297"/>
            <a:ext cx="5202" cy="517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1F1ECBE-304D-3C19-8B03-0EA4441E9417}"/>
              </a:ext>
            </a:extLst>
          </p:cNvPr>
          <p:cNvCxnSpPr>
            <a:cxnSpLocks/>
          </p:cNvCxnSpPr>
          <p:nvPr/>
        </p:nvCxnSpPr>
        <p:spPr>
          <a:xfrm flipV="1">
            <a:off x="7454711" y="4054780"/>
            <a:ext cx="365794" cy="192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FBF414B-F4CD-5655-2A0F-D9CDEA63A83F}"/>
              </a:ext>
            </a:extLst>
          </p:cNvPr>
          <p:cNvCxnSpPr>
            <a:cxnSpLocks/>
          </p:cNvCxnSpPr>
          <p:nvPr/>
        </p:nvCxnSpPr>
        <p:spPr>
          <a:xfrm flipH="1" flipV="1">
            <a:off x="7110511" y="3988537"/>
            <a:ext cx="333390" cy="246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9033E5-F3B2-1E79-4DD9-2A50780F75E2}"/>
              </a:ext>
            </a:extLst>
          </p:cNvPr>
          <p:cNvSpPr txBox="1"/>
          <p:nvPr/>
        </p:nvSpPr>
        <p:spPr>
          <a:xfrm>
            <a:off x="6725521" y="374449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3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4610DA-D062-4525-1816-5AD121F666F4}"/>
              </a:ext>
            </a:extLst>
          </p:cNvPr>
          <p:cNvSpPr txBox="1"/>
          <p:nvPr/>
        </p:nvSpPr>
        <p:spPr>
          <a:xfrm>
            <a:off x="7244600" y="3332029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3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313424-61E2-1BBD-D28C-00FC68FD8FB7}"/>
              </a:ext>
            </a:extLst>
          </p:cNvPr>
          <p:cNvSpPr txBox="1"/>
          <p:nvPr/>
        </p:nvSpPr>
        <p:spPr>
          <a:xfrm>
            <a:off x="7771671" y="3819097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3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BBE09D2A-B139-FEF4-2493-93329F4F2216}"/>
              </a:ext>
            </a:extLst>
          </p:cNvPr>
          <p:cNvCxnSpPr>
            <a:cxnSpLocks/>
          </p:cNvCxnSpPr>
          <p:nvPr/>
        </p:nvCxnSpPr>
        <p:spPr>
          <a:xfrm flipV="1">
            <a:off x="1858547" y="3927609"/>
            <a:ext cx="0" cy="4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DCB9197-5492-B11D-FD6C-DC2FEC413A5D}"/>
              </a:ext>
            </a:extLst>
          </p:cNvPr>
          <p:cNvCxnSpPr>
            <a:cxnSpLocks/>
          </p:cNvCxnSpPr>
          <p:nvPr/>
        </p:nvCxnSpPr>
        <p:spPr>
          <a:xfrm flipH="1">
            <a:off x="1499698" y="4348980"/>
            <a:ext cx="364457" cy="237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DA505A0-8F89-6FEF-1E48-9429C4A5A440}"/>
              </a:ext>
            </a:extLst>
          </p:cNvPr>
          <p:cNvCxnSpPr>
            <a:cxnSpLocks/>
          </p:cNvCxnSpPr>
          <p:nvPr/>
        </p:nvCxnSpPr>
        <p:spPr>
          <a:xfrm flipH="1" flipV="1">
            <a:off x="1506392" y="4112531"/>
            <a:ext cx="346953" cy="223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8648D52-EC72-4719-7E13-30C73C34E6E6}"/>
              </a:ext>
            </a:extLst>
          </p:cNvPr>
          <p:cNvSpPr txBox="1"/>
          <p:nvPr/>
        </p:nvSpPr>
        <p:spPr>
          <a:xfrm>
            <a:off x="1091154" y="37908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2D97478-D089-8275-01AC-56F495933C70}"/>
              </a:ext>
            </a:extLst>
          </p:cNvPr>
          <p:cNvSpPr txBox="1"/>
          <p:nvPr/>
        </p:nvSpPr>
        <p:spPr>
          <a:xfrm>
            <a:off x="1142459" y="4445427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7B217E-7911-9516-212B-3CA5FA9863AC}"/>
              </a:ext>
            </a:extLst>
          </p:cNvPr>
          <p:cNvSpPr txBox="1"/>
          <p:nvPr/>
        </p:nvSpPr>
        <p:spPr>
          <a:xfrm>
            <a:off x="1669643" y="3525280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16" name="Flecha: circular 15">
            <a:extLst>
              <a:ext uri="{FF2B5EF4-FFF2-40B4-BE49-F238E27FC236}">
                <a16:creationId xmlns:a16="http://schemas.microsoft.com/office/drawing/2014/main" id="{49EB6E03-9982-A7AA-87E1-C08E61032C93}"/>
              </a:ext>
            </a:extLst>
          </p:cNvPr>
          <p:cNvSpPr/>
          <p:nvPr/>
        </p:nvSpPr>
        <p:spPr>
          <a:xfrm>
            <a:off x="1354269" y="3945396"/>
            <a:ext cx="487468" cy="558247"/>
          </a:xfrm>
          <a:prstGeom prst="circularArrow">
            <a:avLst/>
          </a:prstGeom>
          <a:solidFill>
            <a:srgbClr val="FF0000"/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52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2" grpId="0"/>
      <p:bldP spid="4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CD3F275-95AA-5FAD-1AA1-47AADEE4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E9B74CA-CE4C-685A-199A-3904AD6B8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4828004E-2E6D-4578-24B6-C64BD833ECCB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r</a:t>
            </a:r>
            <a:r>
              <a:rPr kumimoji="0" lang="es-E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obot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0329BD53-DCF3-6672-537C-44E6A79C6FFB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08F8917E-AE66-61E1-3ABA-42E5673B450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1C7CD9C8-50FB-7219-21BC-E3759CDA1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137" y="1770879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Google Shape;1603;p42">
            <a:extLst>
              <a:ext uri="{FF2B5EF4-FFF2-40B4-BE49-F238E27FC236}">
                <a16:creationId xmlns:a16="http://schemas.microsoft.com/office/drawing/2014/main" id="{C7051DE4-24C1-462E-5B6D-720784B07585}"/>
              </a:ext>
            </a:extLst>
          </p:cNvPr>
          <p:cNvSpPr txBox="1"/>
          <p:nvPr/>
        </p:nvSpPr>
        <p:spPr>
          <a:xfrm>
            <a:off x="6339684" y="1608788"/>
            <a:ext cx="250945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analizan con respecto al marco de referencia inercial 0.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1603;p42">
            <a:extLst>
              <a:ext uri="{FF2B5EF4-FFF2-40B4-BE49-F238E27FC236}">
                <a16:creationId xmlns:a16="http://schemas.microsoft.com/office/drawing/2014/main" id="{0189A74C-B38C-4D4A-9328-0D5312B0B3C9}"/>
              </a:ext>
            </a:extLst>
          </p:cNvPr>
          <p:cNvSpPr txBox="1"/>
          <p:nvPr/>
        </p:nvSpPr>
        <p:spPr>
          <a:xfrm>
            <a:off x="421672" y="1500368"/>
            <a:ext cx="250945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Obtención de velocidades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4E9AFA4-3C0F-5CDF-E7B9-77DD09C74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1916" y="2119464"/>
            <a:ext cx="1343212" cy="118126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7F673D9-7F4C-FA4A-65AA-B9F73FB582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4701"/>
          <a:stretch/>
        </p:blipFill>
        <p:spPr>
          <a:xfrm>
            <a:off x="200488" y="2084234"/>
            <a:ext cx="1262776" cy="262926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065D4BF-4AC5-E0C1-A608-B6B74BF80039}"/>
              </a:ext>
            </a:extLst>
          </p:cNvPr>
          <p:cNvSpPr txBox="1"/>
          <p:nvPr/>
        </p:nvSpPr>
        <p:spPr>
          <a:xfrm>
            <a:off x="5169878" y="4243755"/>
            <a:ext cx="410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L1</a:t>
            </a:r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567168-41D0-17D8-64DB-258CA8E12BC3}"/>
              </a:ext>
            </a:extLst>
          </p:cNvPr>
          <p:cNvSpPr txBox="1"/>
          <p:nvPr/>
        </p:nvSpPr>
        <p:spPr>
          <a:xfrm>
            <a:off x="3938955" y="1904416"/>
            <a:ext cx="413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L2</a:t>
            </a:r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5B43EC8-A637-AEB0-B713-97D9E7D41AC8}"/>
              </a:ext>
            </a:extLst>
          </p:cNvPr>
          <p:cNvSpPr txBox="1"/>
          <p:nvPr/>
        </p:nvSpPr>
        <p:spPr>
          <a:xfrm>
            <a:off x="3434862" y="2858954"/>
            <a:ext cx="413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L3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2938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19088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0201" y="61909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3 (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79775" y="90274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045597"/>
            <a:ext cx="8763167" cy="357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nuevo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3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matrices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vector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traslación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representación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procedimiento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matemático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AB5122BD-AC84-A831-A959-CF27359640A5}"/>
              </a:ext>
            </a:extLst>
          </p:cNvPr>
          <p:cNvSpPr txBox="1"/>
          <p:nvPr/>
        </p:nvSpPr>
        <p:spPr>
          <a:xfrm>
            <a:off x="1010223" y="4682119"/>
            <a:ext cx="2936836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INTERACCIÓN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istema de Interacción Física Hombre-Robot CyberForce: Modelado Matemático  y Control">
            <a:extLst>
              <a:ext uri="{FF2B5EF4-FFF2-40B4-BE49-F238E27FC236}">
                <a16:creationId xmlns:a16="http://schemas.microsoft.com/office/drawing/2014/main" id="{4E5C4072-5744-312E-E414-56475B33C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89" y="2282039"/>
            <a:ext cx="3270504" cy="253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obots lineales en un abrir y cerrar de ojos | Bosch Rexroth España">
            <a:extLst>
              <a:ext uri="{FF2B5EF4-FFF2-40B4-BE49-F238E27FC236}">
                <a16:creationId xmlns:a16="http://schemas.microsoft.com/office/drawing/2014/main" id="{2F06647E-84E1-9C60-0E4F-5F931F9F2E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4" r="12589"/>
          <a:stretch/>
        </p:blipFill>
        <p:spPr bwMode="auto">
          <a:xfrm>
            <a:off x="4980270" y="2291614"/>
            <a:ext cx="3436184" cy="253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603;p42">
            <a:extLst>
              <a:ext uri="{FF2B5EF4-FFF2-40B4-BE49-F238E27FC236}">
                <a16:creationId xmlns:a16="http://schemas.microsoft.com/office/drawing/2014/main" id="{9300B32C-7A35-6AEC-5431-1A7959B79F81}"/>
              </a:ext>
            </a:extLst>
          </p:cNvPr>
          <p:cNvSpPr txBox="1"/>
          <p:nvPr/>
        </p:nvSpPr>
        <p:spPr>
          <a:xfrm>
            <a:off x="5640251" y="4685675"/>
            <a:ext cx="2936836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(4GDL)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F2C8D8-6755-93DB-F1C1-858FE063A727}"/>
              </a:ext>
            </a:extLst>
          </p:cNvPr>
          <p:cNvSpPr txBox="1"/>
          <p:nvPr/>
        </p:nvSpPr>
        <p:spPr>
          <a:xfrm>
            <a:off x="5101121" y="4377898"/>
            <a:ext cx="410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L1</a:t>
            </a:r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9EFAB8-7268-CC5D-3840-22DC50879437}"/>
              </a:ext>
            </a:extLst>
          </p:cNvPr>
          <p:cNvSpPr txBox="1"/>
          <p:nvPr/>
        </p:nvSpPr>
        <p:spPr>
          <a:xfrm>
            <a:off x="7881310" y="3676853"/>
            <a:ext cx="410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L2</a:t>
            </a:r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03DCEE-50A1-1734-34ED-9C256ACECF34}"/>
              </a:ext>
            </a:extLst>
          </p:cNvPr>
          <p:cNvSpPr txBox="1"/>
          <p:nvPr/>
        </p:nvSpPr>
        <p:spPr>
          <a:xfrm>
            <a:off x="7068865" y="4181264"/>
            <a:ext cx="410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L3</a:t>
            </a:r>
            <a:endParaRPr lang="es-MX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BF9E8C7-6580-2CD4-290C-381C6458607C}"/>
              </a:ext>
            </a:extLst>
          </p:cNvPr>
          <p:cNvSpPr txBox="1"/>
          <p:nvPr/>
        </p:nvSpPr>
        <p:spPr>
          <a:xfrm>
            <a:off x="7032168" y="2498498"/>
            <a:ext cx="410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L4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3 (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8482" y="1583097"/>
            <a:ext cx="8763167" cy="178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resultados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traslacionales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diagrama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referencia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angulares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lineales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caso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MATLAB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Subir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877856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11289</TotalTime>
  <Words>1686</Words>
  <Application>Microsoft Office PowerPoint</Application>
  <PresentationFormat>Presentación en pantalla (16:9)</PresentationFormat>
  <Paragraphs>516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7" baseType="lpstr">
      <vt:lpstr>Fira Sans Condensed Light</vt:lpstr>
      <vt:lpstr>Rajdhani</vt:lpstr>
      <vt:lpstr>Arial</vt:lpstr>
      <vt:lpstr>Advent Pro Light</vt:lpstr>
      <vt:lpstr>Anton</vt:lpstr>
      <vt:lpstr>Cambria Math</vt:lpstr>
      <vt:lpstr>Ai Tech Agency by Slidesgo</vt:lpstr>
      <vt:lpstr>Presentación de PowerPoint</vt:lpstr>
      <vt:lpstr>Bienvenida</vt:lpstr>
      <vt:lpstr>Presentación de PowerPoint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García Suárez</cp:lastModifiedBy>
  <cp:revision>336</cp:revision>
  <dcterms:modified xsi:type="dcterms:W3CDTF">2026-02-25T15:59:16Z</dcterms:modified>
</cp:coreProperties>
</file>