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9" r:id="rId1"/>
  </p:sldMasterIdLst>
  <p:notesMasterIdLst>
    <p:notesMasterId r:id="rId25"/>
  </p:notesMasterIdLst>
  <p:sldIdLst>
    <p:sldId id="256" r:id="rId2"/>
    <p:sldId id="357" r:id="rId3"/>
    <p:sldId id="358" r:id="rId4"/>
    <p:sldId id="505" r:id="rId5"/>
    <p:sldId id="472" r:id="rId6"/>
    <p:sldId id="529" r:id="rId7"/>
    <p:sldId id="473" r:id="rId8"/>
    <p:sldId id="528" r:id="rId9"/>
    <p:sldId id="530" r:id="rId10"/>
    <p:sldId id="531" r:id="rId11"/>
    <p:sldId id="532" r:id="rId12"/>
    <p:sldId id="475" r:id="rId13"/>
    <p:sldId id="477" r:id="rId14"/>
    <p:sldId id="481" r:id="rId15"/>
    <p:sldId id="482" r:id="rId16"/>
    <p:sldId id="503" r:id="rId17"/>
    <p:sldId id="504" r:id="rId18"/>
    <p:sldId id="525" r:id="rId19"/>
    <p:sldId id="526" r:id="rId20"/>
    <p:sldId id="527" r:id="rId21"/>
    <p:sldId id="518" r:id="rId22"/>
    <p:sldId id="389" r:id="rId23"/>
    <p:sldId id="280" r:id="rId24"/>
  </p:sldIdLst>
  <p:sldSz cx="9144000" cy="5143500" type="screen16x9"/>
  <p:notesSz cx="6858000" cy="9144000"/>
  <p:embeddedFontLst>
    <p:embeddedFont>
      <p:font typeface="Advent Pro Light" panose="020B0604020202020204" charset="0"/>
      <p:regular r:id="rId26"/>
      <p:bold r:id="rId27"/>
    </p:embeddedFont>
    <p:embeddedFont>
      <p:font typeface="Anton" pitchFamily="2" charset="0"/>
      <p:regular r:id="rId28"/>
    </p:embeddedFont>
    <p:embeddedFont>
      <p:font typeface="Cambria Math" panose="02040503050406030204" pitchFamily="18" charset="0"/>
      <p:regular r:id="rId29"/>
    </p:embeddedFont>
    <p:embeddedFont>
      <p:font typeface="Fira Sans Condensed Light" panose="020B0403050000020004" pitchFamily="34" charset="0"/>
      <p:regular r:id="rId30"/>
      <p:bold r:id="rId31"/>
      <p:italic r:id="rId32"/>
      <p:boldItalic r:id="rId33"/>
    </p:embeddedFont>
    <p:embeddedFont>
      <p:font typeface="Fira Sans Extra Condensed Light" panose="020B0403050000020004" pitchFamily="34" charset="0"/>
      <p:regular r:id="rId34"/>
    </p:embeddedFont>
    <p:embeddedFont>
      <p:font typeface="Rajdhani" panose="020B0604020202020204" charset="0"/>
      <p:regular r:id="rId35"/>
      <p:bold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EAFE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5E397FE-706D-4E7D-AA01-638484C1D090}">
  <a:tblStyle styleId="{95E397FE-706D-4E7D-AA01-638484C1D09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0909" autoAdjust="0"/>
  </p:normalViewPr>
  <p:slideViewPr>
    <p:cSldViewPr snapToGrid="0">
      <p:cViewPr varScale="1">
        <p:scale>
          <a:sx n="82" d="100"/>
          <a:sy n="82" d="100"/>
        </p:scale>
        <p:origin x="1056" y="8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414575393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708a6ee8a1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708a6ee8a1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100752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708a6ee8a1_0_3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708a6ee8a1_0_3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047294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708a6ee8a1_0_3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708a6ee8a1_0_3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047294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7A69F5DC-B637-87C5-459D-BC5B56914ED1}"/>
            </a:ext>
          </a:extLst>
        </p:cNvPr>
        <p:cNvGrpSpPr/>
        <p:nvPr/>
      </p:nvGrpSpPr>
      <p:grpSpPr>
        <a:xfrm>
          <a:off x="0" y="0"/>
          <a:ext cx="0" cy="0"/>
          <a:chOff x="0" y="0"/>
          <a:chExt cx="0" cy="0"/>
        </a:xfrm>
      </p:grpSpPr>
      <p:sp>
        <p:nvSpPr>
          <p:cNvPr id="171" name="Google Shape;171;g708a6ee8a1_0_403:notes">
            <a:extLst>
              <a:ext uri="{FF2B5EF4-FFF2-40B4-BE49-F238E27FC236}">
                <a16:creationId xmlns:a16="http://schemas.microsoft.com/office/drawing/2014/main" id="{3103E47C-82C0-3866-AB15-8F84EDD95CA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708a6ee8a1_0_403:notes">
            <a:extLst>
              <a:ext uri="{FF2B5EF4-FFF2-40B4-BE49-F238E27FC236}">
                <a16:creationId xmlns:a16="http://schemas.microsoft.com/office/drawing/2014/main" id="{B79D7CE9-35D5-C46F-15DF-2DCD73CC8E3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17692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8646255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a:extLst>
            <a:ext uri="{FF2B5EF4-FFF2-40B4-BE49-F238E27FC236}">
              <a16:creationId xmlns:a16="http://schemas.microsoft.com/office/drawing/2014/main" id="{ABCC6167-E8B8-5E81-7603-519A377CD791}"/>
            </a:ext>
          </a:extLst>
        </p:cNvPr>
        <p:cNvGrpSpPr/>
        <p:nvPr/>
      </p:nvGrpSpPr>
      <p:grpSpPr>
        <a:xfrm>
          <a:off x="0" y="0"/>
          <a:ext cx="0" cy="0"/>
          <a:chOff x="0" y="0"/>
          <a:chExt cx="0" cy="0"/>
        </a:xfrm>
      </p:grpSpPr>
      <p:sp>
        <p:nvSpPr>
          <p:cNvPr id="696" name="Google Shape;696;g65abef0139_0_892:notes">
            <a:extLst>
              <a:ext uri="{FF2B5EF4-FFF2-40B4-BE49-F238E27FC236}">
                <a16:creationId xmlns:a16="http://schemas.microsoft.com/office/drawing/2014/main" id="{92A1C713-154A-D9F1-5DAE-6A5C01A544E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a:extLst>
              <a:ext uri="{FF2B5EF4-FFF2-40B4-BE49-F238E27FC236}">
                <a16:creationId xmlns:a16="http://schemas.microsoft.com/office/drawing/2014/main" id="{64A9A7DA-0E02-6FAC-F8ED-D40B3AD591C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784584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059430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a:extLst>
            <a:ext uri="{FF2B5EF4-FFF2-40B4-BE49-F238E27FC236}">
              <a16:creationId xmlns:a16="http://schemas.microsoft.com/office/drawing/2014/main" id="{028EF216-D986-132A-2342-1470915B0D8A}"/>
            </a:ext>
          </a:extLst>
        </p:cNvPr>
        <p:cNvGrpSpPr/>
        <p:nvPr/>
      </p:nvGrpSpPr>
      <p:grpSpPr>
        <a:xfrm>
          <a:off x="0" y="0"/>
          <a:ext cx="0" cy="0"/>
          <a:chOff x="0" y="0"/>
          <a:chExt cx="0" cy="0"/>
        </a:xfrm>
      </p:grpSpPr>
      <p:sp>
        <p:nvSpPr>
          <p:cNvPr id="696" name="Google Shape;696;g65abef0139_0_892:notes">
            <a:extLst>
              <a:ext uri="{FF2B5EF4-FFF2-40B4-BE49-F238E27FC236}">
                <a16:creationId xmlns:a16="http://schemas.microsoft.com/office/drawing/2014/main" id="{BBF3C057-4D6E-6057-5F47-FBE73AE2218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a:extLst>
              <a:ext uri="{FF2B5EF4-FFF2-40B4-BE49-F238E27FC236}">
                <a16:creationId xmlns:a16="http://schemas.microsoft.com/office/drawing/2014/main" id="{11DD0AAF-0085-BBB5-ED28-AF20749D86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8824509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a:extLst>
            <a:ext uri="{FF2B5EF4-FFF2-40B4-BE49-F238E27FC236}">
              <a16:creationId xmlns:a16="http://schemas.microsoft.com/office/drawing/2014/main" id="{984791BF-1999-2A2D-104B-B4651E7B03E1}"/>
            </a:ext>
          </a:extLst>
        </p:cNvPr>
        <p:cNvGrpSpPr/>
        <p:nvPr/>
      </p:nvGrpSpPr>
      <p:grpSpPr>
        <a:xfrm>
          <a:off x="0" y="0"/>
          <a:ext cx="0" cy="0"/>
          <a:chOff x="0" y="0"/>
          <a:chExt cx="0" cy="0"/>
        </a:xfrm>
      </p:grpSpPr>
      <p:sp>
        <p:nvSpPr>
          <p:cNvPr id="696" name="Google Shape;696;g65abef0139_0_892:notes">
            <a:extLst>
              <a:ext uri="{FF2B5EF4-FFF2-40B4-BE49-F238E27FC236}">
                <a16:creationId xmlns:a16="http://schemas.microsoft.com/office/drawing/2014/main" id="{531FCCE0-F21D-575B-D74F-FE9EE0CDB93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a:extLst>
              <a:ext uri="{FF2B5EF4-FFF2-40B4-BE49-F238E27FC236}">
                <a16:creationId xmlns:a16="http://schemas.microsoft.com/office/drawing/2014/main" id="{1F055B00-1A35-856F-FF5D-8BC9B26F7BC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552226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a:extLst>
            <a:ext uri="{FF2B5EF4-FFF2-40B4-BE49-F238E27FC236}">
              <a16:creationId xmlns:a16="http://schemas.microsoft.com/office/drawing/2014/main" id="{832F7771-2569-4D24-5794-44EBC76A9E8E}"/>
            </a:ext>
          </a:extLst>
        </p:cNvPr>
        <p:cNvGrpSpPr/>
        <p:nvPr/>
      </p:nvGrpSpPr>
      <p:grpSpPr>
        <a:xfrm>
          <a:off x="0" y="0"/>
          <a:ext cx="0" cy="0"/>
          <a:chOff x="0" y="0"/>
          <a:chExt cx="0" cy="0"/>
        </a:xfrm>
      </p:grpSpPr>
      <p:sp>
        <p:nvSpPr>
          <p:cNvPr id="696" name="Google Shape;696;g65abef0139_0_892:notes">
            <a:extLst>
              <a:ext uri="{FF2B5EF4-FFF2-40B4-BE49-F238E27FC236}">
                <a16:creationId xmlns:a16="http://schemas.microsoft.com/office/drawing/2014/main" id="{CF102B69-0B6C-23B2-A03D-B9D4A4CBD39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a:extLst>
              <a:ext uri="{FF2B5EF4-FFF2-40B4-BE49-F238E27FC236}">
                <a16:creationId xmlns:a16="http://schemas.microsoft.com/office/drawing/2014/main" id="{2A764545-45C6-4480-86C6-707E693D567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088655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a:extLst>
            <a:ext uri="{FF2B5EF4-FFF2-40B4-BE49-F238E27FC236}">
              <a16:creationId xmlns:a16="http://schemas.microsoft.com/office/drawing/2014/main" id="{71C028F4-4DE6-F91C-33E1-AE7866B05E32}"/>
            </a:ext>
          </a:extLst>
        </p:cNvPr>
        <p:cNvGrpSpPr/>
        <p:nvPr/>
      </p:nvGrpSpPr>
      <p:grpSpPr>
        <a:xfrm>
          <a:off x="0" y="0"/>
          <a:ext cx="0" cy="0"/>
          <a:chOff x="0" y="0"/>
          <a:chExt cx="0" cy="0"/>
        </a:xfrm>
      </p:grpSpPr>
      <p:sp>
        <p:nvSpPr>
          <p:cNvPr id="696" name="Google Shape;696;g65abef0139_0_892:notes">
            <a:extLst>
              <a:ext uri="{FF2B5EF4-FFF2-40B4-BE49-F238E27FC236}">
                <a16:creationId xmlns:a16="http://schemas.microsoft.com/office/drawing/2014/main" id="{6ACCB642-9B19-4489-E3E1-7A37229D85D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a:extLst>
              <a:ext uri="{FF2B5EF4-FFF2-40B4-BE49-F238E27FC236}">
                <a16:creationId xmlns:a16="http://schemas.microsoft.com/office/drawing/2014/main" id="{C0BDEAEE-B497-CD98-22D5-6082C1D95A2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878114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539101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236225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701720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77957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6748216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9504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950906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153821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5702107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36FF357-2574-6847-2FD0-0FDE9ED293C5}"/>
            </a:ext>
          </a:extLst>
        </p:cNvPr>
        <p:cNvGrpSpPr/>
        <p:nvPr/>
      </p:nvGrpSpPr>
      <p:grpSpPr>
        <a:xfrm>
          <a:off x="0" y="0"/>
          <a:ext cx="0" cy="0"/>
          <a:chOff x="0" y="0"/>
          <a:chExt cx="0" cy="0"/>
        </a:xfrm>
      </p:grpSpPr>
      <p:sp>
        <p:nvSpPr>
          <p:cNvPr id="171" name="Google Shape;171;g708a6ee8a1_0_403:notes">
            <a:extLst>
              <a:ext uri="{FF2B5EF4-FFF2-40B4-BE49-F238E27FC236}">
                <a16:creationId xmlns:a16="http://schemas.microsoft.com/office/drawing/2014/main" id="{C0AFAB1F-3057-DBCA-406A-861380E10A4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708a6ee8a1_0_403:notes">
            <a:extLst>
              <a:ext uri="{FF2B5EF4-FFF2-40B4-BE49-F238E27FC236}">
                <a16:creationId xmlns:a16="http://schemas.microsoft.com/office/drawing/2014/main" id="{34E53DE2-1A47-CF43-A3F8-99972931450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2044546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5"/>
        <p:cNvGrpSpPr/>
        <p:nvPr/>
      </p:nvGrpSpPr>
      <p:grpSpPr>
        <a:xfrm>
          <a:off x="0" y="0"/>
          <a:ext cx="0" cy="0"/>
          <a:chOff x="0" y="0"/>
          <a:chExt cx="0" cy="0"/>
        </a:xfrm>
      </p:grpSpPr>
      <p:sp>
        <p:nvSpPr>
          <p:cNvPr id="1796" name="Google Shape;1796;g7098bb5640_0_11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7" name="Google Shape;1797;g7098bb5640_0_1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3581249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blipFill>
          <a:blip r:embed="rId2">
            <a:alphaModFix/>
          </a:blip>
          <a:stretch>
            <a:fillRect/>
          </a:stretch>
        </a:blipFill>
        <a:effectLst/>
      </p:bgPr>
    </p:bg>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20000" y="1139150"/>
            <a:ext cx="4404000" cy="2590500"/>
          </a:xfrm>
          <a:prstGeom prst="rect">
            <a:avLst/>
          </a:prstGeom>
        </p:spPr>
        <p:txBody>
          <a:bodyPr spcFirstLastPara="1" wrap="square" lIns="91425" tIns="91425" rIns="91425" bIns="91425" anchor="b" anchorCtr="0">
            <a:noAutofit/>
          </a:bodyPr>
          <a:lstStyle>
            <a:lvl1pPr lvl="0">
              <a:spcBef>
                <a:spcPts val="0"/>
              </a:spcBef>
              <a:spcAft>
                <a:spcPts val="0"/>
              </a:spcAft>
              <a:buSzPts val="5200"/>
              <a:buNone/>
              <a:defRPr sz="7200">
                <a:solidFill>
                  <a:srgbClr val="F3F3F3"/>
                </a:solidFill>
                <a:latin typeface="Anton"/>
                <a:ea typeface="Anton"/>
                <a:cs typeface="Anton"/>
                <a:sym typeface="Anton"/>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720000" y="3585075"/>
            <a:ext cx="3384900" cy="4344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800"/>
              <a:buNone/>
              <a:defRPr sz="1400">
                <a:solidFill>
                  <a:srgbClr val="F3F3F3"/>
                </a:solidFill>
                <a:latin typeface="Advent Pro Light"/>
                <a:ea typeface="Advent Pro Light"/>
                <a:cs typeface="Advent Pro Light"/>
                <a:sym typeface="Advent Pro Light"/>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blipFill>
          <a:blip r:embed="rId2">
            <a:alphaModFix/>
          </a:blip>
          <a:stretch>
            <a:fillRect/>
          </a:stretch>
        </a:blipFill>
        <a:effectLst/>
      </p:bgPr>
    </p:bg>
    <p:spTree>
      <p:nvGrpSpPr>
        <p:cNvPr id="1" name="Shape 13"/>
        <p:cNvGrpSpPr/>
        <p:nvPr/>
      </p:nvGrpSpPr>
      <p:grpSpPr>
        <a:xfrm>
          <a:off x="0" y="0"/>
          <a:ext cx="0" cy="0"/>
          <a:chOff x="0" y="0"/>
          <a:chExt cx="0" cy="0"/>
        </a:xfrm>
      </p:grpSpPr>
      <p:sp>
        <p:nvSpPr>
          <p:cNvPr id="14" name="Google Shape;14;p4"/>
          <p:cNvSpPr txBox="1">
            <a:spLocks noGrp="1"/>
          </p:cNvSpPr>
          <p:nvPr>
            <p:ph type="body" idx="1"/>
          </p:nvPr>
        </p:nvSpPr>
        <p:spPr>
          <a:xfrm>
            <a:off x="720000" y="1152475"/>
            <a:ext cx="7704000" cy="3416400"/>
          </a:xfrm>
          <a:prstGeom prst="rect">
            <a:avLst/>
          </a:prstGeom>
          <a:solidFill>
            <a:srgbClr val="FFFFFF">
              <a:alpha val="45090"/>
            </a:srgbClr>
          </a:solidFill>
        </p:spPr>
        <p:txBody>
          <a:bodyPr spcFirstLastPara="1" wrap="square" lIns="91425" tIns="91425" rIns="91425" bIns="91425" anchor="t" anchorCtr="0">
            <a:noAutofit/>
          </a:bodyPr>
          <a:lstStyle>
            <a:lvl1pPr marL="457200" lvl="0" indent="-298450">
              <a:lnSpc>
                <a:spcPct val="100000"/>
              </a:lnSpc>
              <a:spcBef>
                <a:spcPts val="0"/>
              </a:spcBef>
              <a:spcAft>
                <a:spcPts val="0"/>
              </a:spcAft>
              <a:buClr>
                <a:srgbClr val="434343"/>
              </a:buClr>
              <a:buSzPts val="1100"/>
              <a:buAutoNum type="arabicPeriod"/>
              <a:defRPr sz="1300">
                <a:solidFill>
                  <a:srgbClr val="F3F3F3"/>
                </a:solidFill>
              </a:defRPr>
            </a:lvl1pPr>
            <a:lvl2pPr marL="914400" lvl="1" indent="-298450">
              <a:spcBef>
                <a:spcPts val="1600"/>
              </a:spcBef>
              <a:spcAft>
                <a:spcPts val="0"/>
              </a:spcAft>
              <a:buClr>
                <a:srgbClr val="000000"/>
              </a:buClr>
              <a:buSzPts val="1100"/>
              <a:buAutoNum type="alphaLcPeriod"/>
              <a:defRPr sz="1200"/>
            </a:lvl2pPr>
            <a:lvl3pPr marL="1371600" lvl="2" indent="-298450">
              <a:spcBef>
                <a:spcPts val="1600"/>
              </a:spcBef>
              <a:spcAft>
                <a:spcPts val="0"/>
              </a:spcAft>
              <a:buClr>
                <a:srgbClr val="000000"/>
              </a:buClr>
              <a:buSzPts val="1100"/>
              <a:buAutoNum type="romanLcPeriod"/>
              <a:defRPr sz="1200"/>
            </a:lvl3pPr>
            <a:lvl4pPr marL="1828800" lvl="3" indent="-298450">
              <a:spcBef>
                <a:spcPts val="1600"/>
              </a:spcBef>
              <a:spcAft>
                <a:spcPts val="0"/>
              </a:spcAft>
              <a:buClr>
                <a:srgbClr val="000000"/>
              </a:buClr>
              <a:buSzPts val="1100"/>
              <a:buAutoNum type="arabicPeriod"/>
              <a:defRPr sz="1200"/>
            </a:lvl4pPr>
            <a:lvl5pPr marL="2286000" lvl="4" indent="-298450">
              <a:spcBef>
                <a:spcPts val="1600"/>
              </a:spcBef>
              <a:spcAft>
                <a:spcPts val="0"/>
              </a:spcAft>
              <a:buClr>
                <a:srgbClr val="000000"/>
              </a:buClr>
              <a:buSzPts val="1100"/>
              <a:buAutoNum type="alphaLcPeriod"/>
              <a:defRPr sz="1200"/>
            </a:lvl5pPr>
            <a:lvl6pPr marL="2743200" lvl="5" indent="-298450">
              <a:spcBef>
                <a:spcPts val="1600"/>
              </a:spcBef>
              <a:spcAft>
                <a:spcPts val="0"/>
              </a:spcAft>
              <a:buClr>
                <a:srgbClr val="000000"/>
              </a:buClr>
              <a:buSzPts val="1100"/>
              <a:buAutoNum type="romanLcPeriod"/>
              <a:defRPr sz="1200"/>
            </a:lvl6pPr>
            <a:lvl7pPr marL="3200400" lvl="6" indent="-298450">
              <a:spcBef>
                <a:spcPts val="1600"/>
              </a:spcBef>
              <a:spcAft>
                <a:spcPts val="0"/>
              </a:spcAft>
              <a:buClr>
                <a:srgbClr val="000000"/>
              </a:buClr>
              <a:buSzPts val="1100"/>
              <a:buAutoNum type="arabicPeriod"/>
              <a:defRPr sz="1200"/>
            </a:lvl7pPr>
            <a:lvl8pPr marL="3657600" lvl="7" indent="-298450">
              <a:spcBef>
                <a:spcPts val="1600"/>
              </a:spcBef>
              <a:spcAft>
                <a:spcPts val="0"/>
              </a:spcAft>
              <a:buClr>
                <a:srgbClr val="000000"/>
              </a:buClr>
              <a:buSzPts val="1100"/>
              <a:buAutoNum type="alphaLcPeriod"/>
              <a:defRPr sz="1200"/>
            </a:lvl8pPr>
            <a:lvl9pPr marL="4114800" lvl="8" indent="-298450">
              <a:spcBef>
                <a:spcPts val="1600"/>
              </a:spcBef>
              <a:spcAft>
                <a:spcPts val="1600"/>
              </a:spcAft>
              <a:buClr>
                <a:srgbClr val="000000"/>
              </a:buClr>
              <a:buSzPts val="1100"/>
              <a:buAutoNum type="romanLcPeriod"/>
              <a:defRPr sz="1200"/>
            </a:lvl9pPr>
          </a:lstStyle>
          <a:p>
            <a:endParaRPr/>
          </a:p>
        </p:txBody>
      </p:sp>
      <p:sp>
        <p:nvSpPr>
          <p:cNvPr id="15" name="Google Shape;15;p4"/>
          <p:cNvSpPr txBox="1">
            <a:spLocks noGrp="1"/>
          </p:cNvSpPr>
          <p:nvPr>
            <p:ph type="title"/>
          </p:nvPr>
        </p:nvSpPr>
        <p:spPr>
          <a:xfrm>
            <a:off x="720100" y="5098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F3F3F3"/>
              </a:buClr>
              <a:buSzPts val="3000"/>
              <a:buNone/>
              <a:defRPr sz="3000">
                <a:solidFill>
                  <a:srgbClr val="F3F3F3"/>
                </a:solidFill>
              </a:defRPr>
            </a:lvl1pPr>
            <a:lvl2pPr lvl="1" algn="ctr" rtl="0">
              <a:spcBef>
                <a:spcPts val="0"/>
              </a:spcBef>
              <a:spcAft>
                <a:spcPts val="0"/>
              </a:spcAft>
              <a:buClr>
                <a:srgbClr val="F3F3F3"/>
              </a:buClr>
              <a:buSzPts val="3000"/>
              <a:buNone/>
              <a:defRPr sz="3000">
                <a:solidFill>
                  <a:srgbClr val="F3F3F3"/>
                </a:solidFill>
              </a:defRPr>
            </a:lvl2pPr>
            <a:lvl3pPr lvl="2" algn="ctr" rtl="0">
              <a:spcBef>
                <a:spcPts val="0"/>
              </a:spcBef>
              <a:spcAft>
                <a:spcPts val="0"/>
              </a:spcAft>
              <a:buClr>
                <a:srgbClr val="F3F3F3"/>
              </a:buClr>
              <a:buSzPts val="3000"/>
              <a:buNone/>
              <a:defRPr sz="3000">
                <a:solidFill>
                  <a:srgbClr val="F3F3F3"/>
                </a:solidFill>
              </a:defRPr>
            </a:lvl3pPr>
            <a:lvl4pPr lvl="3" algn="ctr" rtl="0">
              <a:spcBef>
                <a:spcPts val="0"/>
              </a:spcBef>
              <a:spcAft>
                <a:spcPts val="0"/>
              </a:spcAft>
              <a:buClr>
                <a:srgbClr val="F3F3F3"/>
              </a:buClr>
              <a:buSzPts val="3000"/>
              <a:buNone/>
              <a:defRPr sz="3000">
                <a:solidFill>
                  <a:srgbClr val="F3F3F3"/>
                </a:solidFill>
              </a:defRPr>
            </a:lvl4pPr>
            <a:lvl5pPr lvl="4" algn="ctr" rtl="0">
              <a:spcBef>
                <a:spcPts val="0"/>
              </a:spcBef>
              <a:spcAft>
                <a:spcPts val="0"/>
              </a:spcAft>
              <a:buClr>
                <a:srgbClr val="F3F3F3"/>
              </a:buClr>
              <a:buSzPts val="3000"/>
              <a:buNone/>
              <a:defRPr sz="3000">
                <a:solidFill>
                  <a:srgbClr val="F3F3F3"/>
                </a:solidFill>
              </a:defRPr>
            </a:lvl5pPr>
            <a:lvl6pPr lvl="5" algn="ctr" rtl="0">
              <a:spcBef>
                <a:spcPts val="0"/>
              </a:spcBef>
              <a:spcAft>
                <a:spcPts val="0"/>
              </a:spcAft>
              <a:buClr>
                <a:srgbClr val="F3F3F3"/>
              </a:buClr>
              <a:buSzPts val="3000"/>
              <a:buNone/>
              <a:defRPr sz="3000">
                <a:solidFill>
                  <a:srgbClr val="F3F3F3"/>
                </a:solidFill>
              </a:defRPr>
            </a:lvl6pPr>
            <a:lvl7pPr lvl="6" algn="ctr" rtl="0">
              <a:spcBef>
                <a:spcPts val="0"/>
              </a:spcBef>
              <a:spcAft>
                <a:spcPts val="0"/>
              </a:spcAft>
              <a:buClr>
                <a:srgbClr val="F3F3F3"/>
              </a:buClr>
              <a:buSzPts val="3000"/>
              <a:buNone/>
              <a:defRPr sz="3000">
                <a:solidFill>
                  <a:srgbClr val="F3F3F3"/>
                </a:solidFill>
              </a:defRPr>
            </a:lvl7pPr>
            <a:lvl8pPr lvl="7" algn="ctr" rtl="0">
              <a:spcBef>
                <a:spcPts val="0"/>
              </a:spcBef>
              <a:spcAft>
                <a:spcPts val="0"/>
              </a:spcAft>
              <a:buClr>
                <a:srgbClr val="F3F3F3"/>
              </a:buClr>
              <a:buSzPts val="3000"/>
              <a:buNone/>
              <a:defRPr sz="3000">
                <a:solidFill>
                  <a:srgbClr val="F3F3F3"/>
                </a:solidFill>
              </a:defRPr>
            </a:lvl8pPr>
            <a:lvl9pPr lvl="8" algn="ctr" rtl="0">
              <a:spcBef>
                <a:spcPts val="0"/>
              </a:spcBef>
              <a:spcAft>
                <a:spcPts val="0"/>
              </a:spcAft>
              <a:buClr>
                <a:srgbClr val="F3F3F3"/>
              </a:buClr>
              <a:buSzPts val="3000"/>
              <a:buNone/>
              <a:defRPr sz="3000">
                <a:solidFill>
                  <a:srgbClr val="F3F3F3"/>
                </a:solidFil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bg>
      <p:bgPr>
        <a:blipFill>
          <a:blip r:embed="rId2">
            <a:alphaModFix/>
          </a:blip>
          <a:stretch>
            <a:fillRect/>
          </a:stretch>
        </a:blipFill>
        <a:effectLst/>
      </p:bgPr>
    </p:bg>
    <p:spTree>
      <p:nvGrpSpPr>
        <p:cNvPr id="1" name="Shape 26"/>
        <p:cNvGrpSpPr/>
        <p:nvPr/>
      </p:nvGrpSpPr>
      <p:grpSpPr>
        <a:xfrm>
          <a:off x="0" y="0"/>
          <a:ext cx="0" cy="0"/>
          <a:chOff x="0" y="0"/>
          <a:chExt cx="0" cy="0"/>
        </a:xfrm>
      </p:grpSpPr>
      <p:sp>
        <p:nvSpPr>
          <p:cNvPr id="27" name="Google Shape;27;p8"/>
          <p:cNvSpPr txBox="1">
            <a:spLocks noGrp="1"/>
          </p:cNvSpPr>
          <p:nvPr>
            <p:ph type="subTitle" idx="1"/>
          </p:nvPr>
        </p:nvSpPr>
        <p:spPr>
          <a:xfrm>
            <a:off x="2487163" y="1434600"/>
            <a:ext cx="3367800" cy="22743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2800"/>
              <a:buNone/>
              <a:defRPr sz="1400">
                <a:solidFill>
                  <a:srgbClr val="F3F3F3"/>
                </a:solidFill>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28" name="Google Shape;28;p8"/>
          <p:cNvSpPr txBox="1">
            <a:spLocks noGrp="1"/>
          </p:cNvSpPr>
          <p:nvPr>
            <p:ph type="title"/>
          </p:nvPr>
        </p:nvSpPr>
        <p:spPr>
          <a:xfrm>
            <a:off x="6530228" y="1434600"/>
            <a:ext cx="1967100" cy="22743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None/>
              <a:defRPr sz="4800">
                <a:solidFill>
                  <a:srgbClr val="F3F3F3"/>
                </a:solidFill>
              </a:defRPr>
            </a:lvl1pPr>
            <a:lvl2pPr lvl="1" rtl="0">
              <a:spcBef>
                <a:spcPts val="0"/>
              </a:spcBef>
              <a:spcAft>
                <a:spcPts val="0"/>
              </a:spcAft>
              <a:buSzPts val="1400"/>
              <a:buNone/>
              <a:defRPr sz="1400"/>
            </a:lvl2pPr>
            <a:lvl3pPr lvl="2" rtl="0">
              <a:spcBef>
                <a:spcPts val="0"/>
              </a:spcBef>
              <a:spcAft>
                <a:spcPts val="0"/>
              </a:spcAft>
              <a:buSzPts val="1400"/>
              <a:buNone/>
              <a:defRPr sz="1400"/>
            </a:lvl3pPr>
            <a:lvl4pPr lvl="3" rtl="0">
              <a:spcBef>
                <a:spcPts val="0"/>
              </a:spcBef>
              <a:spcAft>
                <a:spcPts val="0"/>
              </a:spcAft>
              <a:buSzPts val="1400"/>
              <a:buNone/>
              <a:defRPr sz="1400"/>
            </a:lvl4pPr>
            <a:lvl5pPr lvl="4" rtl="0">
              <a:spcBef>
                <a:spcPts val="0"/>
              </a:spcBef>
              <a:spcAft>
                <a:spcPts val="0"/>
              </a:spcAft>
              <a:buSzPts val="1400"/>
              <a:buNone/>
              <a:defRPr sz="1400"/>
            </a:lvl5pPr>
            <a:lvl6pPr lvl="5" rtl="0">
              <a:spcBef>
                <a:spcPts val="0"/>
              </a:spcBef>
              <a:spcAft>
                <a:spcPts val="0"/>
              </a:spcAft>
              <a:buSzPts val="1400"/>
              <a:buNone/>
              <a:defRPr sz="1400"/>
            </a:lvl6pPr>
            <a:lvl7pPr lvl="6" rtl="0">
              <a:spcBef>
                <a:spcPts val="0"/>
              </a:spcBef>
              <a:spcAft>
                <a:spcPts val="0"/>
              </a:spcAft>
              <a:buSzPts val="1400"/>
              <a:buNone/>
              <a:defRPr sz="1400"/>
            </a:lvl7pPr>
            <a:lvl8pPr lvl="7" rtl="0">
              <a:spcBef>
                <a:spcPts val="0"/>
              </a:spcBef>
              <a:spcAft>
                <a:spcPts val="0"/>
              </a:spcAft>
              <a:buSzPts val="1400"/>
              <a:buNone/>
              <a:defRPr sz="1400"/>
            </a:lvl8pPr>
            <a:lvl9pPr lvl="8" rtl="0">
              <a:spcBef>
                <a:spcPts val="0"/>
              </a:spcBef>
              <a:spcAft>
                <a:spcPts val="0"/>
              </a:spcAft>
              <a:buSzPts val="1400"/>
              <a:buNone/>
              <a:defRPr sz="14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40"/>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ackground 1">
  <p:cSld name="BLANK_1_1_1_1_1_1_1_1">
    <p:bg>
      <p:bgPr>
        <a:blipFill>
          <a:blip r:embed="rId2">
            <a:alphaModFix/>
          </a:blip>
          <a:stretch>
            <a:fillRect/>
          </a:stretch>
        </a:blipFill>
        <a:effectLst/>
      </p:bgPr>
    </p:bg>
    <p:spTree>
      <p:nvGrpSpPr>
        <p:cNvPr id="1" name="Shape 92"/>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2">
  <p:cSld name="BLANK_1_1_1_1_1_1_1_1_1">
    <p:bg>
      <p:bgPr>
        <a:blipFill>
          <a:blip r:embed="rId2">
            <a:alphaModFix/>
          </a:blip>
          <a:stretch>
            <a:fillRect/>
          </a:stretch>
        </a:blipFill>
        <a:effectLst/>
      </p:bgPr>
    </p:bg>
    <p:spTree>
      <p:nvGrpSpPr>
        <p:cNvPr id="1" name="Shape 93"/>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bg>
      <p:bgPr>
        <a:blipFill>
          <a:blip r:embed="rId2">
            <a:alphaModFix/>
          </a:blip>
          <a:stretch>
            <a:fillRect/>
          </a:stretch>
        </a:blipFill>
        <a:effectLst/>
      </p:bgPr>
    </p:bg>
    <p:spTree>
      <p:nvGrpSpPr>
        <p:cNvPr id="1" name="Shape 31"/>
        <p:cNvGrpSpPr/>
        <p:nvPr/>
      </p:nvGrpSpPr>
      <p:grpSpPr>
        <a:xfrm>
          <a:off x="0" y="0"/>
          <a:ext cx="0" cy="0"/>
          <a:chOff x="0" y="0"/>
          <a:chExt cx="0" cy="0"/>
        </a:xfrm>
      </p:grpSpPr>
      <p:sp>
        <p:nvSpPr>
          <p:cNvPr id="32" name="Google Shape;32;p10"/>
          <p:cNvSpPr txBox="1">
            <a:spLocks noGrp="1"/>
          </p:cNvSpPr>
          <p:nvPr>
            <p:ph type="title"/>
          </p:nvPr>
        </p:nvSpPr>
        <p:spPr>
          <a:xfrm>
            <a:off x="522825" y="971850"/>
            <a:ext cx="3787800" cy="3199800"/>
          </a:xfrm>
          <a:prstGeom prst="rect">
            <a:avLst/>
          </a:prstGeom>
        </p:spPr>
        <p:txBody>
          <a:bodyPr spcFirstLastPara="1" wrap="square" lIns="91425" tIns="91425" rIns="91425" bIns="91425" anchor="ctr" anchorCtr="0">
            <a:noAutofit/>
          </a:bodyPr>
          <a:lstStyle>
            <a:lvl1pPr lvl="0" algn="r">
              <a:spcBef>
                <a:spcPts val="0"/>
              </a:spcBef>
              <a:spcAft>
                <a:spcPts val="0"/>
              </a:spcAft>
              <a:buSzPts val="4200"/>
              <a:buNone/>
              <a:defRPr sz="6000">
                <a:solidFill>
                  <a:srgbClr val="F3F3F3"/>
                </a:solidFill>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3" name="Google Shape;33;p10"/>
          <p:cNvSpPr txBox="1">
            <a:spLocks noGrp="1"/>
          </p:cNvSpPr>
          <p:nvPr>
            <p:ph type="subTitle" idx="1"/>
          </p:nvPr>
        </p:nvSpPr>
        <p:spPr>
          <a:xfrm>
            <a:off x="4799950" y="1954200"/>
            <a:ext cx="1940100" cy="12351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100"/>
              <a:buNone/>
              <a:defRPr sz="1400">
                <a:solidFill>
                  <a:srgbClr val="F3F3F3"/>
                </a:solidFill>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4" name="Google Shape;34;p10"/>
          <p:cNvSpPr txBox="1">
            <a:spLocks noGrp="1"/>
          </p:cNvSpPr>
          <p:nvPr>
            <p:ph type="title" idx="2" hasCustomPrompt="1"/>
          </p:nvPr>
        </p:nvSpPr>
        <p:spPr>
          <a:xfrm>
            <a:off x="4849170" y="1001125"/>
            <a:ext cx="2026800" cy="1814700"/>
          </a:xfrm>
          <a:prstGeom prst="rect">
            <a:avLst/>
          </a:prstGeom>
        </p:spPr>
        <p:txBody>
          <a:bodyPr spcFirstLastPara="1" wrap="square" lIns="91425" tIns="91425" rIns="91425" bIns="91425" anchor="t" anchorCtr="0">
            <a:noAutofit/>
          </a:bodyPr>
          <a:lstStyle>
            <a:lvl1pPr lvl="0" rtl="0">
              <a:spcBef>
                <a:spcPts val="0"/>
              </a:spcBef>
              <a:spcAft>
                <a:spcPts val="0"/>
              </a:spcAft>
              <a:buSzPts val="12000"/>
              <a:buNone/>
              <a:defRPr sz="14000">
                <a:solidFill>
                  <a:srgbClr val="F3F3F3"/>
                </a:solidFil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 only">
    <p:bg>
      <p:bgPr>
        <a:blipFill>
          <a:blip r:embed="rId2">
            <a:alphaModFix/>
          </a:blip>
          <a:stretch>
            <a:fillRect/>
          </a:stretch>
        </a:blipFill>
        <a:effectLst/>
      </p:bgPr>
    </p:bg>
    <p:spTree>
      <p:nvGrpSpPr>
        <p:cNvPr id="1" name="Shape 22"/>
        <p:cNvGrpSpPr/>
        <p:nvPr/>
      </p:nvGrpSpPr>
      <p:grpSpPr>
        <a:xfrm>
          <a:off x="0" y="0"/>
          <a:ext cx="0" cy="0"/>
          <a:chOff x="0" y="0"/>
          <a:chExt cx="0" cy="0"/>
        </a:xfrm>
      </p:grpSpPr>
      <p:sp>
        <p:nvSpPr>
          <p:cNvPr id="23" name="Google Shape;23;p6"/>
          <p:cNvSpPr txBox="1">
            <a:spLocks noGrp="1"/>
          </p:cNvSpPr>
          <p:nvPr>
            <p:ph type="title"/>
          </p:nvPr>
        </p:nvSpPr>
        <p:spPr>
          <a:xfrm>
            <a:off x="720100" y="5098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F3F3F3"/>
              </a:buClr>
              <a:buSzPts val="3000"/>
              <a:buNone/>
              <a:defRPr sz="3000">
                <a:solidFill>
                  <a:srgbClr val="F3F3F3"/>
                </a:solidFill>
              </a:defRPr>
            </a:lvl1pPr>
            <a:lvl2pPr lvl="1" algn="ctr" rtl="0">
              <a:spcBef>
                <a:spcPts val="0"/>
              </a:spcBef>
              <a:spcAft>
                <a:spcPts val="0"/>
              </a:spcAft>
              <a:buClr>
                <a:srgbClr val="F3F3F3"/>
              </a:buClr>
              <a:buSzPts val="3000"/>
              <a:buNone/>
              <a:defRPr sz="3000">
                <a:solidFill>
                  <a:srgbClr val="F3F3F3"/>
                </a:solidFill>
              </a:defRPr>
            </a:lvl2pPr>
            <a:lvl3pPr lvl="2" algn="ctr" rtl="0">
              <a:spcBef>
                <a:spcPts val="0"/>
              </a:spcBef>
              <a:spcAft>
                <a:spcPts val="0"/>
              </a:spcAft>
              <a:buClr>
                <a:srgbClr val="F3F3F3"/>
              </a:buClr>
              <a:buSzPts val="3000"/>
              <a:buNone/>
              <a:defRPr sz="3000">
                <a:solidFill>
                  <a:srgbClr val="F3F3F3"/>
                </a:solidFill>
              </a:defRPr>
            </a:lvl3pPr>
            <a:lvl4pPr lvl="3" algn="ctr" rtl="0">
              <a:spcBef>
                <a:spcPts val="0"/>
              </a:spcBef>
              <a:spcAft>
                <a:spcPts val="0"/>
              </a:spcAft>
              <a:buClr>
                <a:srgbClr val="F3F3F3"/>
              </a:buClr>
              <a:buSzPts val="3000"/>
              <a:buNone/>
              <a:defRPr sz="3000">
                <a:solidFill>
                  <a:srgbClr val="F3F3F3"/>
                </a:solidFill>
              </a:defRPr>
            </a:lvl4pPr>
            <a:lvl5pPr lvl="4" algn="ctr" rtl="0">
              <a:spcBef>
                <a:spcPts val="0"/>
              </a:spcBef>
              <a:spcAft>
                <a:spcPts val="0"/>
              </a:spcAft>
              <a:buClr>
                <a:srgbClr val="F3F3F3"/>
              </a:buClr>
              <a:buSzPts val="3000"/>
              <a:buNone/>
              <a:defRPr sz="3000">
                <a:solidFill>
                  <a:srgbClr val="F3F3F3"/>
                </a:solidFill>
              </a:defRPr>
            </a:lvl5pPr>
            <a:lvl6pPr lvl="5" algn="ctr" rtl="0">
              <a:spcBef>
                <a:spcPts val="0"/>
              </a:spcBef>
              <a:spcAft>
                <a:spcPts val="0"/>
              </a:spcAft>
              <a:buClr>
                <a:srgbClr val="F3F3F3"/>
              </a:buClr>
              <a:buSzPts val="3000"/>
              <a:buNone/>
              <a:defRPr sz="3000">
                <a:solidFill>
                  <a:srgbClr val="F3F3F3"/>
                </a:solidFill>
              </a:defRPr>
            </a:lvl6pPr>
            <a:lvl7pPr lvl="6" algn="ctr" rtl="0">
              <a:spcBef>
                <a:spcPts val="0"/>
              </a:spcBef>
              <a:spcAft>
                <a:spcPts val="0"/>
              </a:spcAft>
              <a:buClr>
                <a:srgbClr val="F3F3F3"/>
              </a:buClr>
              <a:buSzPts val="3000"/>
              <a:buNone/>
              <a:defRPr sz="3000">
                <a:solidFill>
                  <a:srgbClr val="F3F3F3"/>
                </a:solidFill>
              </a:defRPr>
            </a:lvl7pPr>
            <a:lvl8pPr lvl="7" algn="ctr" rtl="0">
              <a:spcBef>
                <a:spcPts val="0"/>
              </a:spcBef>
              <a:spcAft>
                <a:spcPts val="0"/>
              </a:spcAft>
              <a:buClr>
                <a:srgbClr val="F3F3F3"/>
              </a:buClr>
              <a:buSzPts val="3000"/>
              <a:buNone/>
              <a:defRPr sz="3000">
                <a:solidFill>
                  <a:srgbClr val="F3F3F3"/>
                </a:solidFill>
              </a:defRPr>
            </a:lvl8pPr>
            <a:lvl9pPr lvl="8" algn="ctr" rtl="0">
              <a:spcBef>
                <a:spcPts val="0"/>
              </a:spcBef>
              <a:spcAft>
                <a:spcPts val="0"/>
              </a:spcAft>
              <a:buClr>
                <a:srgbClr val="F3F3F3"/>
              </a:buClr>
              <a:buSzPts val="3000"/>
              <a:buNone/>
              <a:defRPr sz="3000">
                <a:solidFill>
                  <a:srgbClr val="F3F3F3"/>
                </a:solidFill>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0C343D"/>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1pPr>
            <a:lvl2pPr lvl="1">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2pPr>
            <a:lvl3pPr lvl="2">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3pPr>
            <a:lvl4pPr lvl="3">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4pPr>
            <a:lvl5pPr lvl="4">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5pPr>
            <a:lvl6pPr lvl="5">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6pPr>
            <a:lvl7pPr lvl="6">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7pPr>
            <a:lvl8pPr lvl="7">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8pPr>
            <a:lvl9pPr lvl="8">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04800">
              <a:lnSpc>
                <a:spcPct val="115000"/>
              </a:lnSpc>
              <a:spcBef>
                <a:spcPts val="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1pPr>
            <a:lvl2pPr marL="914400" lvl="1"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2pPr>
            <a:lvl3pPr marL="1371600" lvl="2"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3pPr>
            <a:lvl4pPr marL="1828800" lvl="3"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4pPr>
            <a:lvl5pPr marL="2286000" lvl="4"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5pPr>
            <a:lvl6pPr marL="2743200" lvl="5"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6pPr>
            <a:lvl7pPr marL="3200400" lvl="6"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7pPr>
            <a:lvl8pPr marL="3657600" lvl="7"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8pPr>
            <a:lvl9pPr marL="4114800" lvl="8" indent="-304800">
              <a:lnSpc>
                <a:spcPct val="115000"/>
              </a:lnSpc>
              <a:spcBef>
                <a:spcPts val="1600"/>
              </a:spcBef>
              <a:spcAft>
                <a:spcPts val="160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4" r:id="rId3"/>
    <p:sldLayoutId id="2147483659" r:id="rId4"/>
    <p:sldLayoutId id="2147483666" r:id="rId5"/>
    <p:sldLayoutId id="2147483667" r:id="rId6"/>
    <p:sldLayoutId id="2147483671" r:id="rId7"/>
    <p:sldLayoutId id="2147483672"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6.jpe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7.jpe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8.jpe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8.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8.xml"/><Relationship Id="rId5" Type="http://schemas.openxmlformats.org/officeDocument/2006/relationships/image" Target="../media/image26.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8.xml"/><Relationship Id="rId5" Type="http://schemas.openxmlformats.org/officeDocument/2006/relationships/image" Target="../media/image27.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8.xml"/><Relationship Id="rId5" Type="http://schemas.openxmlformats.org/officeDocument/2006/relationships/image" Target="../media/image28.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8.xml"/><Relationship Id="rId5" Type="http://schemas.openxmlformats.org/officeDocument/2006/relationships/image" Target="../media/image29.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8.xml"/><Relationship Id="rId5" Type="http://schemas.openxmlformats.org/officeDocument/2006/relationships/image" Target="../media/image30.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8.xml"/><Relationship Id="rId5" Type="http://schemas.openxmlformats.org/officeDocument/2006/relationships/image" Target="../media/image12.jpe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13.jpe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15.jpe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20.emf"/></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hyperlink" Target="mailto:Alfredo.garcias@tec.mx"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1"/>
        <p:cNvGrpSpPr/>
        <p:nvPr/>
      </p:nvGrpSpPr>
      <p:grpSpPr>
        <a:xfrm>
          <a:off x="0" y="0"/>
          <a:ext cx="0" cy="0"/>
          <a:chOff x="0" y="0"/>
          <a:chExt cx="0" cy="0"/>
        </a:xfrm>
      </p:grpSpPr>
      <p:sp>
        <p:nvSpPr>
          <p:cNvPr id="7" name="object 14"/>
          <p:cNvSpPr txBox="1"/>
          <p:nvPr/>
        </p:nvSpPr>
        <p:spPr>
          <a:xfrm>
            <a:off x="745436" y="839354"/>
            <a:ext cx="8398564" cy="4299318"/>
          </a:xfrm>
          <a:prstGeom prst="rect">
            <a:avLst/>
          </a:prstGeom>
        </p:spPr>
        <p:txBody>
          <a:bodyPr vert="horz" wrap="square" lIns="0" tIns="13399" rIns="0" bIns="0" rtlCol="0">
            <a:spAutoFit/>
          </a:bodyPr>
          <a:lstStyle/>
          <a:p>
            <a:pPr marL="14105" marR="5642" algn="ctr">
              <a:spcBef>
                <a:spcPts val="106"/>
              </a:spcBef>
            </a:pPr>
            <a:endParaRPr lang="es-ES" sz="2000" b="1" dirty="0">
              <a:solidFill>
                <a:schemeClr val="accent4"/>
              </a:solidFill>
              <a:latin typeface="Fira Sans Condensed Light" panose="020B0604020202020204" charset="0"/>
              <a:cs typeface="Times New Roman" panose="02020603050405020304" pitchFamily="18" charset="0"/>
            </a:endParaRPr>
          </a:p>
          <a:p>
            <a:pPr marL="14105" marR="5642" algn="ctr">
              <a:spcBef>
                <a:spcPts val="106"/>
              </a:spcBef>
            </a:pPr>
            <a:endParaRPr lang="es-ES" sz="2000" b="1" dirty="0">
              <a:solidFill>
                <a:schemeClr val="accent4"/>
              </a:solidFill>
              <a:latin typeface="Fira Sans Condensed Light" panose="020B0604020202020204" charset="0"/>
              <a:cs typeface="Times New Roman" panose="02020603050405020304" pitchFamily="18" charset="0"/>
            </a:endParaRPr>
          </a:p>
          <a:p>
            <a:pPr marL="14105" marR="5642" algn="ctr">
              <a:spcBef>
                <a:spcPts val="106"/>
              </a:spcBef>
            </a:pPr>
            <a:endParaRPr lang="es-ES" sz="2000" b="1" dirty="0">
              <a:solidFill>
                <a:schemeClr val="accent4"/>
              </a:solidFill>
              <a:latin typeface="Fira Sans Condensed Light" panose="020B0604020202020204" charset="0"/>
              <a:cs typeface="Times New Roman" panose="02020603050405020304" pitchFamily="18" charset="0"/>
            </a:endParaRPr>
          </a:p>
          <a:p>
            <a:pPr marL="14105" marR="5642" algn="ctr">
              <a:spcBef>
                <a:spcPts val="106"/>
              </a:spcBef>
            </a:pPr>
            <a:br>
              <a:rPr lang="es-MX" dirty="0">
                <a:solidFill>
                  <a:schemeClr val="accent4"/>
                </a:solidFill>
                <a:latin typeface="Fira Sans Condensed Light" panose="020B0604020202020204" charset="0"/>
                <a:cs typeface="Times New Roman" panose="02020603050405020304" pitchFamily="18" charset="0"/>
              </a:rPr>
            </a:br>
            <a:br>
              <a:rPr lang="es-ES" sz="2000" b="1" dirty="0">
                <a:solidFill>
                  <a:srgbClr val="FF0000"/>
                </a:solidFill>
                <a:latin typeface="Fira Sans Condensed Light" panose="020B0604020202020204" charset="0"/>
                <a:cs typeface="Times New Roman" panose="02020603050405020304" pitchFamily="18" charset="0"/>
              </a:rPr>
            </a:br>
            <a:endParaRPr lang="es-ES" sz="2000" b="1" dirty="0">
              <a:solidFill>
                <a:srgbClr val="FF0000"/>
              </a:solidFill>
              <a:latin typeface="Fira Sans Condensed Light" panose="020B0604020202020204" charset="0"/>
              <a:cs typeface="Times New Roman" panose="02020603050405020304" pitchFamily="18" charset="0"/>
            </a:endParaRPr>
          </a:p>
          <a:p>
            <a:pPr marL="14105" marR="5642" algn="r">
              <a:spcBef>
                <a:spcPts val="106"/>
              </a:spcBef>
            </a:pPr>
            <a:endParaRPr lang="es-ES" sz="2000" b="1" dirty="0">
              <a:solidFill>
                <a:srgbClr val="FF0000"/>
              </a:solidFill>
              <a:latin typeface="Fira Sans Condensed Light" panose="020B0604020202020204" charset="0"/>
              <a:cs typeface="Times New Roman" panose="02020603050405020304" pitchFamily="18" charset="0"/>
            </a:endParaRPr>
          </a:p>
          <a:p>
            <a:pPr marL="14105" marR="5642" algn="ctr">
              <a:spcBef>
                <a:spcPts val="106"/>
              </a:spcBef>
            </a:pPr>
            <a:endParaRPr lang="es-ES" sz="2000" b="1" dirty="0">
              <a:solidFill>
                <a:srgbClr val="FF0000"/>
              </a:solidFill>
              <a:latin typeface="Fira Sans Condensed Light" panose="020B0604020202020204" charset="0"/>
              <a:cs typeface="Times New Roman" panose="02020603050405020304" pitchFamily="18" charset="0"/>
            </a:endParaRPr>
          </a:p>
          <a:p>
            <a:pPr marL="14105" marR="5642">
              <a:spcBef>
                <a:spcPts val="106"/>
              </a:spcBef>
            </a:pPr>
            <a:r>
              <a:rPr lang="es-ES" sz="1600" b="1" dirty="0">
                <a:solidFill>
                  <a:schemeClr val="bg1"/>
                </a:solidFill>
                <a:latin typeface="Fira Sans Condensed Light" panose="020B0604020202020204" charset="0"/>
                <a:cs typeface="Times New Roman" panose="02020603050405020304" pitchFamily="18" charset="0"/>
              </a:rPr>
              <a:t>TE3001B</a:t>
            </a:r>
            <a:br>
              <a:rPr lang="es-ES" sz="2300" b="1" dirty="0">
                <a:solidFill>
                  <a:srgbClr val="FF0000"/>
                </a:solidFill>
                <a:latin typeface="Fira Sans Condensed Light" panose="020B0604020202020204" charset="0"/>
                <a:cs typeface="Times New Roman" panose="02020603050405020304" pitchFamily="18" charset="0"/>
              </a:rPr>
            </a:br>
            <a:r>
              <a:rPr lang="es-ES" sz="2700" b="1" dirty="0">
                <a:solidFill>
                  <a:schemeClr val="accent4"/>
                </a:solidFill>
                <a:latin typeface="Fira Sans Condensed Light" panose="020B0604020202020204" charset="0"/>
                <a:cs typeface="Times New Roman" panose="02020603050405020304" pitchFamily="18" charset="0"/>
              </a:rPr>
              <a:t>Fundamentos de Robótica</a:t>
            </a:r>
          </a:p>
          <a:p>
            <a:pPr marL="14105" marR="5642">
              <a:spcBef>
                <a:spcPts val="106"/>
              </a:spcBef>
            </a:pPr>
            <a:endParaRPr lang="es-ES" sz="2000" b="1" dirty="0">
              <a:solidFill>
                <a:schemeClr val="bg1"/>
              </a:solidFill>
              <a:latin typeface="Fira Sans Condensed Light" panose="020B0604020202020204" charset="0"/>
              <a:cs typeface="Times New Roman" panose="02020603050405020304" pitchFamily="18" charset="0"/>
            </a:endParaRPr>
          </a:p>
          <a:p>
            <a:pPr marL="14105" marR="5642" algn="ctr">
              <a:spcBef>
                <a:spcPts val="106"/>
              </a:spcBef>
            </a:pPr>
            <a:r>
              <a:rPr lang="es-ES" sz="2000" b="1" dirty="0">
                <a:solidFill>
                  <a:schemeClr val="tx2"/>
                </a:solidFill>
                <a:latin typeface="Fira Sans Condensed Light" panose="020B0604020202020204" charset="0"/>
                <a:cs typeface="Times New Roman" panose="02020603050405020304" pitchFamily="18" charset="0"/>
              </a:rPr>
              <a:t>                                                                                                         </a:t>
            </a:r>
          </a:p>
          <a:p>
            <a:pPr marL="14105" marR="5642" algn="ctr">
              <a:spcBef>
                <a:spcPts val="106"/>
              </a:spcBef>
            </a:pPr>
            <a:r>
              <a:rPr lang="es-ES" sz="2000" b="1" dirty="0">
                <a:solidFill>
                  <a:schemeClr val="tx2"/>
                </a:solidFill>
                <a:latin typeface="Fira Sans Condensed Light" panose="020B0604020202020204" charset="0"/>
                <a:cs typeface="Times New Roman" panose="02020603050405020304" pitchFamily="18" charset="0"/>
              </a:rPr>
              <a:t>							 </a:t>
            </a:r>
            <a:r>
              <a:rPr lang="es-ES" sz="1600" b="1" dirty="0">
                <a:solidFill>
                  <a:schemeClr val="tx2"/>
                </a:solidFill>
                <a:latin typeface="Fira Sans Condensed Light" panose="020B0604020202020204" charset="0"/>
                <a:cs typeface="Times New Roman" panose="02020603050405020304" pitchFamily="18" charset="0"/>
              </a:rPr>
              <a:t>10 de Marzo del 2026</a:t>
            </a:r>
            <a:br>
              <a:rPr lang="es-ES" sz="2000" b="1" dirty="0">
                <a:solidFill>
                  <a:srgbClr val="FF0000"/>
                </a:solidFill>
                <a:latin typeface="Fira Sans Condensed Light" panose="020B0604020202020204" charset="0"/>
                <a:cs typeface="Times New Roman" panose="02020603050405020304" pitchFamily="18" charset="0"/>
              </a:rPr>
            </a:br>
            <a:endParaRPr lang="es-MX" dirty="0">
              <a:solidFill>
                <a:schemeClr val="tx2"/>
              </a:solidFill>
              <a:latin typeface="Fira Sans Condensed Light" panose="020B0604020202020204" charset="0"/>
              <a:cs typeface="Times New Roman" panose="02020603050405020304" pitchFamily="18" charset="0"/>
            </a:endParaRPr>
          </a:p>
        </p:txBody>
      </p:sp>
      <p:sp>
        <p:nvSpPr>
          <p:cNvPr id="1028" name="AutoShape 4" descr="Inicio | Título Electrónico Puebl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ES"/>
          </a:p>
        </p:txBody>
      </p:sp>
      <p:pic>
        <p:nvPicPr>
          <p:cNvPr id="14340" name="Picture 4" descr="The Learning Gate | Tec de Monterrey"/>
          <p:cNvPicPr>
            <a:picLocks noChangeAspect="1" noChangeArrowheads="1"/>
          </p:cNvPicPr>
          <p:nvPr/>
        </p:nvPicPr>
        <p:blipFill>
          <a:blip r:embed="rId4">
            <a:lum bright="100000" contrast="100000"/>
          </a:blip>
          <a:srcRect/>
          <a:stretch>
            <a:fillRect/>
          </a:stretch>
        </p:blipFill>
        <p:spPr bwMode="auto">
          <a:xfrm>
            <a:off x="5506277" y="308115"/>
            <a:ext cx="3345621" cy="587367"/>
          </a:xfrm>
          <a:prstGeom prst="rect">
            <a:avLst/>
          </a:prstGeom>
          <a:noFill/>
        </p:spPr>
      </p:pic>
      <p:cxnSp>
        <p:nvCxnSpPr>
          <p:cNvPr id="11" name="Google Shape;137;p27"/>
          <p:cNvCxnSpPr/>
          <p:nvPr/>
        </p:nvCxnSpPr>
        <p:spPr>
          <a:xfrm>
            <a:off x="599181" y="3300059"/>
            <a:ext cx="0" cy="630600"/>
          </a:xfrm>
          <a:prstGeom prst="straightConnector1">
            <a:avLst/>
          </a:prstGeom>
          <a:noFill/>
          <a:ln w="19050" cap="flat" cmpd="sng">
            <a:solidFill>
              <a:srgbClr val="F3F3F3"/>
            </a:solidFill>
            <a:prstDash val="solid"/>
            <a:round/>
            <a:headEnd type="oval" w="med" len="med"/>
            <a:tailEnd type="oval" w="med" len="med"/>
          </a:ln>
        </p:spPr>
      </p:cxnSp>
      <p:sp>
        <p:nvSpPr>
          <p:cNvPr id="6" name="Google Shape;136;p27"/>
          <p:cNvSpPr txBox="1">
            <a:spLocks noGrp="1"/>
          </p:cNvSpPr>
          <p:nvPr>
            <p:ph type="subTitle" idx="1"/>
          </p:nvPr>
        </p:nvSpPr>
        <p:spPr>
          <a:xfrm>
            <a:off x="0" y="4922784"/>
            <a:ext cx="3352799" cy="220716"/>
          </a:xfrm>
          <a:prstGeom prst="rect">
            <a:avLst/>
          </a:prstGeom>
        </p:spPr>
        <p:txBody>
          <a:bodyPr spcFirstLastPara="1" wrap="square" lIns="91425" tIns="91425" rIns="91425" bIns="91425" anchor="ctr" anchorCtr="0">
            <a:noAutofit/>
          </a:bodyPr>
          <a:lstStyle/>
          <a:p>
            <a:pPr algn="l"/>
            <a:r>
              <a:rPr lang="es-ES" dirty="0"/>
              <a:t>   </a:t>
            </a:r>
          </a:p>
          <a:p>
            <a:pPr algn="l"/>
            <a:r>
              <a:rPr lang="es-ES" dirty="0">
                <a:solidFill>
                  <a:schemeClr val="bg1">
                    <a:lumMod val="60000"/>
                    <a:lumOff val="40000"/>
                  </a:schemeClr>
                </a:solidFill>
                <a:latin typeface="Fira Sans Condensed Light" charset="0"/>
              </a:rPr>
              <a:t>Facilitador: </a:t>
            </a:r>
            <a:r>
              <a:rPr lang="es-ES" dirty="0" err="1">
                <a:solidFill>
                  <a:schemeClr val="bg1">
                    <a:lumMod val="60000"/>
                    <a:lumOff val="40000"/>
                  </a:schemeClr>
                </a:solidFill>
                <a:latin typeface="Fira Sans Condensed Light" charset="0"/>
              </a:rPr>
              <a:t>PhD</a:t>
            </a:r>
            <a:r>
              <a:rPr lang="es-ES" dirty="0">
                <a:solidFill>
                  <a:schemeClr val="bg1">
                    <a:lumMod val="60000"/>
                    <a:lumOff val="40000"/>
                  </a:schemeClr>
                </a:solidFill>
                <a:latin typeface="Fira Sans Condensed Light" charset="0"/>
              </a:rPr>
              <a:t> Alfredo García Suárez</a:t>
            </a:r>
          </a:p>
          <a:p>
            <a:pPr algn="l"/>
            <a:br>
              <a:rPr lang="es-ES" dirty="0"/>
            </a:b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anim calcmode="lin" valueType="num">
                                      <p:cBhvr additive="base">
                                        <p:cTn id="7"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xEl>
                                              <p:pRg st="6" end="6"/>
                                            </p:txEl>
                                          </p:spTgt>
                                        </p:tgtEl>
                                        <p:attrNameLst>
                                          <p:attrName>style.visibility</p:attrName>
                                        </p:attrNameLst>
                                      </p:cBhvr>
                                      <p:to>
                                        <p:strVal val="visible"/>
                                      </p:to>
                                    </p:set>
                                    <p:anim calcmode="lin" valueType="num">
                                      <p:cBhvr additive="base">
                                        <p:cTn id="13" dur="500" fill="hold"/>
                                        <p:tgtEl>
                                          <p:spTgt spid="7">
                                            <p:txEl>
                                              <p:pRg st="6" end="6"/>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xEl>
                                              <p:pRg st="8" end="8"/>
                                            </p:txEl>
                                          </p:spTgt>
                                        </p:tgtEl>
                                        <p:attrNameLst>
                                          <p:attrName>style.visibility</p:attrName>
                                        </p:attrNameLst>
                                      </p:cBhvr>
                                      <p:to>
                                        <p:strVal val="visible"/>
                                      </p:to>
                                    </p:set>
                                    <p:anim calcmode="lin" valueType="num">
                                      <p:cBhvr additive="base">
                                        <p:cTn id="19" dur="500" fill="hold"/>
                                        <p:tgtEl>
                                          <p:spTgt spid="7">
                                            <p:txEl>
                                              <p:pRg st="8" end="8"/>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
                                            <p:txEl>
                                              <p:pRg st="9" end="9"/>
                                            </p:txEl>
                                          </p:spTgt>
                                        </p:tgtEl>
                                        <p:attrNameLst>
                                          <p:attrName>style.visibility</p:attrName>
                                        </p:attrNameLst>
                                      </p:cBhvr>
                                      <p:to>
                                        <p:strVal val="visible"/>
                                      </p:to>
                                    </p:set>
                                    <p:anim calcmode="lin" valueType="num">
                                      <p:cBhvr additive="base">
                                        <p:cTn id="25" dur="500" fill="hold"/>
                                        <p:tgtEl>
                                          <p:spTgt spid="7">
                                            <p:txEl>
                                              <p:pRg st="9" end="9"/>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allAtOnce"/>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cxnSp>
        <p:nvCxnSpPr>
          <p:cNvPr id="137" name="Google Shape;137;p27"/>
          <p:cNvCxnSpPr/>
          <p:nvPr/>
        </p:nvCxnSpPr>
        <p:spPr>
          <a:xfrm>
            <a:off x="4594711" y="2465172"/>
            <a:ext cx="0" cy="630600"/>
          </a:xfrm>
          <a:prstGeom prst="straightConnector1">
            <a:avLst/>
          </a:prstGeom>
          <a:noFill/>
          <a:ln w="19050" cap="flat" cmpd="sng">
            <a:solidFill>
              <a:srgbClr val="F3F3F3"/>
            </a:solidFill>
            <a:prstDash val="solid"/>
            <a:round/>
            <a:headEnd type="oval" w="med" len="med"/>
            <a:tailEnd type="oval" w="med" len="med"/>
          </a:ln>
        </p:spPr>
      </p:cxnSp>
      <p:pic>
        <p:nvPicPr>
          <p:cNvPr id="5" name="Picture 4" descr="The Learning Gate | Tec de Monterrey"/>
          <p:cNvPicPr>
            <a:picLocks noChangeAspect="1" noChangeArrowheads="1"/>
          </p:cNvPicPr>
          <p:nvPr/>
        </p:nvPicPr>
        <p:blipFill>
          <a:blip r:embed="rId3">
            <a:lum bright="100000" contrast="100000"/>
          </a:blip>
          <a:srcRect/>
          <a:stretch>
            <a:fillRect/>
          </a:stretch>
        </p:blipFill>
        <p:spPr bwMode="auto">
          <a:xfrm>
            <a:off x="5506277" y="308115"/>
            <a:ext cx="3345621" cy="587367"/>
          </a:xfrm>
          <a:prstGeom prst="rect">
            <a:avLst/>
          </a:prstGeom>
          <a:noFill/>
        </p:spPr>
      </p:pic>
      <p:sp>
        <p:nvSpPr>
          <p:cNvPr id="8" name="Google Shape;135;p27"/>
          <p:cNvSpPr txBox="1">
            <a:spLocks noGrp="1"/>
          </p:cNvSpPr>
          <p:nvPr>
            <p:ph type="title"/>
          </p:nvPr>
        </p:nvSpPr>
        <p:spPr>
          <a:xfrm>
            <a:off x="4681549" y="1623442"/>
            <a:ext cx="3200181" cy="2274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Bienvenida</a:t>
            </a:r>
            <a:endParaRPr dirty="0"/>
          </a:p>
        </p:txBody>
      </p:sp>
      <p:sp>
        <p:nvSpPr>
          <p:cNvPr id="9"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pic>
        <p:nvPicPr>
          <p:cNvPr id="2" name="Picture 4" descr="Análisis del papel de la automatización de procesos industriales hoy y  mañana">
            <a:extLst>
              <a:ext uri="{FF2B5EF4-FFF2-40B4-BE49-F238E27FC236}">
                <a16:creationId xmlns:a16="http://schemas.microsoft.com/office/drawing/2014/main" id="{AC008B2B-6883-2457-17DE-D01F4ACEFDE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2565" y="1264349"/>
            <a:ext cx="3931839" cy="281528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cxnSp>
        <p:nvCxnSpPr>
          <p:cNvPr id="137" name="Google Shape;137;p27"/>
          <p:cNvCxnSpPr/>
          <p:nvPr/>
        </p:nvCxnSpPr>
        <p:spPr>
          <a:xfrm>
            <a:off x="4594711" y="2465172"/>
            <a:ext cx="0" cy="630600"/>
          </a:xfrm>
          <a:prstGeom prst="straightConnector1">
            <a:avLst/>
          </a:prstGeom>
          <a:noFill/>
          <a:ln w="19050" cap="flat" cmpd="sng">
            <a:solidFill>
              <a:srgbClr val="F3F3F3"/>
            </a:solidFill>
            <a:prstDash val="solid"/>
            <a:round/>
            <a:headEnd type="oval" w="med" len="med"/>
            <a:tailEnd type="oval" w="med" len="med"/>
          </a:ln>
        </p:spPr>
      </p:cxnSp>
      <p:pic>
        <p:nvPicPr>
          <p:cNvPr id="5" name="Picture 4" descr="The Learning Gate | Tec de Monterrey"/>
          <p:cNvPicPr>
            <a:picLocks noChangeAspect="1" noChangeArrowheads="1"/>
          </p:cNvPicPr>
          <p:nvPr/>
        </p:nvPicPr>
        <p:blipFill>
          <a:blip r:embed="rId3">
            <a:lum bright="100000" contrast="100000"/>
          </a:blip>
          <a:srcRect/>
          <a:stretch>
            <a:fillRect/>
          </a:stretch>
        </p:blipFill>
        <p:spPr bwMode="auto">
          <a:xfrm>
            <a:off x="5506277" y="308115"/>
            <a:ext cx="3345621" cy="587367"/>
          </a:xfrm>
          <a:prstGeom prst="rect">
            <a:avLst/>
          </a:prstGeom>
          <a:noFill/>
        </p:spPr>
      </p:pic>
      <p:sp>
        <p:nvSpPr>
          <p:cNvPr id="7" name="Google Shape;136;p27"/>
          <p:cNvSpPr txBox="1">
            <a:spLocks noGrp="1"/>
          </p:cNvSpPr>
          <p:nvPr>
            <p:ph type="subTitle" idx="1"/>
          </p:nvPr>
        </p:nvSpPr>
        <p:spPr>
          <a:xfrm>
            <a:off x="4333462" y="1921615"/>
            <a:ext cx="3737113" cy="2274300"/>
          </a:xfrm>
          <a:prstGeom prst="rect">
            <a:avLst/>
          </a:prstGeom>
        </p:spPr>
        <p:txBody>
          <a:bodyPr spcFirstLastPara="1" wrap="square" lIns="91425" tIns="91425" rIns="91425" bIns="91425" anchor="ctr" anchorCtr="0">
            <a:noAutofit/>
          </a:bodyPr>
          <a:lstStyle/>
          <a:p>
            <a:pPr algn="l"/>
            <a:r>
              <a:rPr lang="es-ES" dirty="0"/>
              <a:t>     </a:t>
            </a:r>
          </a:p>
          <a:p>
            <a:pPr algn="l"/>
            <a:r>
              <a:rPr lang="es-ES" dirty="0"/>
              <a:t>     </a:t>
            </a:r>
            <a:r>
              <a:rPr lang="es-ES" b="1" dirty="0"/>
              <a:t>“Un modelo matemático de un sistema dinámico es un conjunto de ecuaciones que representan la dinámica del sistema con precisión.”   </a:t>
            </a:r>
          </a:p>
          <a:p>
            <a:pPr algn="l"/>
            <a:r>
              <a:rPr lang="es-ES" dirty="0"/>
              <a:t>       </a:t>
            </a:r>
          </a:p>
          <a:p>
            <a:pPr algn="l"/>
            <a:r>
              <a:rPr lang="es-ES" dirty="0"/>
              <a:t>                                               –</a:t>
            </a:r>
            <a:r>
              <a:rPr lang="es-ES" dirty="0" err="1"/>
              <a:t>Katsuhiko</a:t>
            </a:r>
            <a:r>
              <a:rPr lang="es-ES" dirty="0"/>
              <a:t> Ogata</a:t>
            </a:r>
          </a:p>
          <a:p>
            <a:pPr algn="l"/>
            <a:br>
              <a:rPr lang="es-ES" dirty="0"/>
            </a:br>
            <a:endParaRPr dirty="0"/>
          </a:p>
        </p:txBody>
      </p:sp>
      <p:sp>
        <p:nvSpPr>
          <p:cNvPr id="8"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pic>
        <p:nvPicPr>
          <p:cNvPr id="1026" name="Picture 2" descr="Robots industriales en cifras: así ha aumentado su stock mundial y densidad  por región · THE LOGISTICS WORLD | Conéctate e inspírate.">
            <a:extLst>
              <a:ext uri="{FF2B5EF4-FFF2-40B4-BE49-F238E27FC236}">
                <a16:creationId xmlns:a16="http://schemas.microsoft.com/office/drawing/2014/main" id="{2B53735F-DDFD-1DF0-302F-152E3F98091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9271" y="1468611"/>
            <a:ext cx="3935582" cy="262372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15959AEC-ED10-5002-121D-FB7B069B1975}"/>
            </a:ext>
          </a:extLst>
        </p:cNvPr>
        <p:cNvGrpSpPr/>
        <p:nvPr/>
      </p:nvGrpSpPr>
      <p:grpSpPr>
        <a:xfrm>
          <a:off x="0" y="0"/>
          <a:ext cx="0" cy="0"/>
          <a:chOff x="0" y="0"/>
          <a:chExt cx="0" cy="0"/>
        </a:xfrm>
      </p:grpSpPr>
      <p:sp>
        <p:nvSpPr>
          <p:cNvPr id="174" name="Google Shape;174;p30">
            <a:extLst>
              <a:ext uri="{FF2B5EF4-FFF2-40B4-BE49-F238E27FC236}">
                <a16:creationId xmlns:a16="http://schemas.microsoft.com/office/drawing/2014/main" id="{1D0E53B3-D8BB-0C7F-1330-C7D51AB4655C}"/>
              </a:ext>
            </a:extLst>
          </p:cNvPr>
          <p:cNvSpPr txBox="1">
            <a:spLocks noGrp="1"/>
          </p:cNvSpPr>
          <p:nvPr>
            <p:ph type="title"/>
          </p:nvPr>
        </p:nvSpPr>
        <p:spPr>
          <a:xfrm>
            <a:off x="522825" y="971850"/>
            <a:ext cx="3787800" cy="3199800"/>
          </a:xfrm>
          <a:prstGeom prst="rect">
            <a:avLst/>
          </a:prstGeom>
        </p:spPr>
        <p:txBody>
          <a:bodyPr spcFirstLastPara="1" wrap="square" lIns="91425" tIns="91425" rIns="91425" bIns="91425" anchor="ctr" anchorCtr="0">
            <a:noAutofit/>
          </a:bodyPr>
          <a:lstStyle/>
          <a:p>
            <a:pPr lvl="0"/>
            <a:r>
              <a:rPr lang="en" sz="4000" dirty="0"/>
              <a:t>Clase Anterior</a:t>
            </a:r>
            <a:endParaRPr sz="4000" dirty="0"/>
          </a:p>
        </p:txBody>
      </p:sp>
      <p:sp>
        <p:nvSpPr>
          <p:cNvPr id="175" name="Google Shape;175;p30">
            <a:extLst>
              <a:ext uri="{FF2B5EF4-FFF2-40B4-BE49-F238E27FC236}">
                <a16:creationId xmlns:a16="http://schemas.microsoft.com/office/drawing/2014/main" id="{961459BA-6F88-A406-79EA-45A0F09329D7}"/>
              </a:ext>
            </a:extLst>
          </p:cNvPr>
          <p:cNvSpPr txBox="1">
            <a:spLocks noGrp="1"/>
          </p:cNvSpPr>
          <p:nvPr>
            <p:ph type="subTitle" idx="1"/>
          </p:nvPr>
        </p:nvSpPr>
        <p:spPr>
          <a:xfrm>
            <a:off x="4917750" y="3290550"/>
            <a:ext cx="3175216" cy="881100"/>
          </a:xfrm>
          <a:prstGeom prst="rect">
            <a:avLst/>
          </a:prstGeom>
        </p:spPr>
        <p:txBody>
          <a:bodyPr spcFirstLastPara="1" wrap="square" lIns="91425" tIns="91425" rIns="91425" bIns="91425" anchor="t" anchorCtr="0">
            <a:noAutofit/>
          </a:bodyPr>
          <a:lstStyle/>
          <a:p>
            <a:pPr marL="146050" indent="0">
              <a:buSzPts val="1300"/>
            </a:pPr>
            <a:r>
              <a:rPr lang="es-ES" dirty="0"/>
              <a:t>- Modelo de Energía y </a:t>
            </a:r>
            <a:r>
              <a:rPr lang="es-ES" dirty="0" err="1"/>
              <a:t>Lagrangiano</a:t>
            </a:r>
            <a:endParaRPr lang="es-ES" dirty="0"/>
          </a:p>
          <a:p>
            <a:pPr marL="146050" indent="0">
              <a:buSzPts val="1300"/>
            </a:pPr>
            <a:endParaRPr lang="es-ES" dirty="0"/>
          </a:p>
          <a:p>
            <a:pPr marL="146050" lvl="0" indent="0">
              <a:buSzPts val="1300"/>
            </a:pPr>
            <a:r>
              <a:rPr lang="es-ES" dirty="0"/>
              <a:t> </a:t>
            </a:r>
            <a:endParaRPr dirty="0"/>
          </a:p>
        </p:txBody>
      </p:sp>
      <p:sp>
        <p:nvSpPr>
          <p:cNvPr id="176" name="Google Shape;176;p30">
            <a:extLst>
              <a:ext uri="{FF2B5EF4-FFF2-40B4-BE49-F238E27FC236}">
                <a16:creationId xmlns:a16="http://schemas.microsoft.com/office/drawing/2014/main" id="{4E41D1DB-05F2-5096-9D08-6FCE9E5AE4CF}"/>
              </a:ext>
            </a:extLst>
          </p:cNvPr>
          <p:cNvSpPr txBox="1">
            <a:spLocks noGrp="1"/>
          </p:cNvSpPr>
          <p:nvPr>
            <p:ph type="title" idx="2"/>
          </p:nvPr>
        </p:nvSpPr>
        <p:spPr>
          <a:xfrm>
            <a:off x="4849170" y="1001125"/>
            <a:ext cx="2208122" cy="1814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12</a:t>
            </a:r>
            <a:endParaRPr dirty="0"/>
          </a:p>
        </p:txBody>
      </p:sp>
      <p:cxnSp>
        <p:nvCxnSpPr>
          <p:cNvPr id="177" name="Google Shape;177;p30">
            <a:extLst>
              <a:ext uri="{FF2B5EF4-FFF2-40B4-BE49-F238E27FC236}">
                <a16:creationId xmlns:a16="http://schemas.microsoft.com/office/drawing/2014/main" id="{3BCBC381-6379-A1CF-C866-4474B08B68FE}"/>
              </a:ext>
            </a:extLst>
          </p:cNvPr>
          <p:cNvCxnSpPr/>
          <p:nvPr/>
        </p:nvCxnSpPr>
        <p:spPr>
          <a:xfrm rot="10800000" flipH="1">
            <a:off x="5001175" y="3111650"/>
            <a:ext cx="3425700" cy="2100"/>
          </a:xfrm>
          <a:prstGeom prst="straightConnector1">
            <a:avLst/>
          </a:prstGeom>
          <a:noFill/>
          <a:ln w="19050" cap="flat" cmpd="sng">
            <a:solidFill>
              <a:srgbClr val="F3F3F3"/>
            </a:solidFill>
            <a:prstDash val="solid"/>
            <a:round/>
            <a:headEnd type="oval" w="med" len="med"/>
            <a:tailEnd type="oval" w="med" len="med"/>
          </a:ln>
        </p:spPr>
      </p:cxnSp>
      <p:pic>
        <p:nvPicPr>
          <p:cNvPr id="6" name="Picture 4" descr="The Learning Gate | Tec de Monterrey">
            <a:extLst>
              <a:ext uri="{FF2B5EF4-FFF2-40B4-BE49-F238E27FC236}">
                <a16:creationId xmlns:a16="http://schemas.microsoft.com/office/drawing/2014/main" id="{61F0BFD9-D5DC-A514-57C3-375634FF9B50}"/>
              </a:ext>
            </a:extLst>
          </p:cNvPr>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7" name="Google Shape;136;p27">
            <a:extLst>
              <a:ext uri="{FF2B5EF4-FFF2-40B4-BE49-F238E27FC236}">
                <a16:creationId xmlns:a16="http://schemas.microsoft.com/office/drawing/2014/main" id="{D18A5BAE-B433-45BE-DA8F-CE4E19B78497}"/>
              </a:ext>
            </a:extLst>
          </p:cNvPr>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PhD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extLst>
      <p:ext uri="{BB962C8B-B14F-4D97-AF65-F5344CB8AC3E}">
        <p14:creationId xmlns:p14="http://schemas.microsoft.com/office/powerpoint/2010/main" val="4717175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3910" y="338754"/>
            <a:ext cx="554306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Introducción a Dinámica</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s-ES" sz="3000" b="1" dirty="0">
                <a:solidFill>
                  <a:schemeClr val="bg1">
                    <a:lumMod val="60000"/>
                    <a:lumOff val="40000"/>
                  </a:schemeClr>
                </a:solidFill>
                <a:latin typeface="Rajdhani"/>
                <a:ea typeface="Rajdhani"/>
                <a:cs typeface="Rajdhani"/>
                <a:sym typeface="Rajdhani"/>
              </a:rPr>
              <a:t>Fuerzas</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11554" y="870978"/>
            <a:ext cx="726300" cy="1588"/>
          </a:xfrm>
          <a:prstGeom prst="straightConnector1">
            <a:avLst/>
          </a:prstGeom>
          <a:noFill/>
          <a:ln w="19050" cap="flat" cmpd="sng">
            <a:solidFill>
              <a:srgbClr val="F3F3F3"/>
            </a:solidFill>
            <a:prstDash val="solid"/>
            <a:round/>
            <a:headEnd type="oval" w="med" len="med"/>
            <a:tailEnd type="oval" w="med" len="med"/>
          </a:ln>
        </p:spPr>
      </p:cxnSp>
      <p:sp>
        <p:nvSpPr>
          <p:cNvPr id="17"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3" name="Google Shape;1603;p42">
            <a:extLst>
              <a:ext uri="{FF2B5EF4-FFF2-40B4-BE49-F238E27FC236}">
                <a16:creationId xmlns:a16="http://schemas.microsoft.com/office/drawing/2014/main" id="{3138E399-58F1-33A8-B083-58D01353E1EE}"/>
              </a:ext>
            </a:extLst>
          </p:cNvPr>
          <p:cNvSpPr txBox="1"/>
          <p:nvPr/>
        </p:nvSpPr>
        <p:spPr>
          <a:xfrm>
            <a:off x="229092" y="1550783"/>
            <a:ext cx="4080859" cy="1623496"/>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Introducción</a:t>
            </a:r>
            <a:endParaRPr lang="es-ES" sz="1600" dirty="0">
              <a:solidFill>
                <a:schemeClr val="accent4"/>
              </a:solidFill>
              <a:latin typeface="Fira Sans Condensed Light" panose="020B0604020202020204" charset="0"/>
              <a:cs typeface="Times New Roman" panose="02020603050405020304" pitchFamily="18" charset="0"/>
            </a:endParaRPr>
          </a:p>
          <a:p>
            <a:pPr algn="just"/>
            <a:r>
              <a:rPr lang="es-ES" sz="1600" dirty="0">
                <a:solidFill>
                  <a:schemeClr val="accent4"/>
                </a:solidFill>
                <a:latin typeface="Fira Sans Condensed Light" panose="020B0604020202020204" charset="0"/>
                <a:cs typeface="Times New Roman" panose="02020603050405020304" pitchFamily="18" charset="0"/>
              </a:rPr>
              <a:t>Un </a:t>
            </a:r>
            <a:r>
              <a:rPr lang="es-ES" sz="1600" b="1" dirty="0">
                <a:solidFill>
                  <a:schemeClr val="accent4"/>
                </a:solidFill>
                <a:latin typeface="Fira Sans Condensed Light" panose="020B0604020202020204" charset="0"/>
                <a:cs typeface="Times New Roman" panose="02020603050405020304" pitchFamily="18" charset="0"/>
              </a:rPr>
              <a:t>robot manipulador </a:t>
            </a:r>
            <a:r>
              <a:rPr lang="es-ES" sz="1600" dirty="0">
                <a:solidFill>
                  <a:schemeClr val="accent4"/>
                </a:solidFill>
                <a:latin typeface="Fira Sans Condensed Light" panose="020B0604020202020204" charset="0"/>
                <a:cs typeface="Times New Roman" panose="02020603050405020304" pitchFamily="18" charset="0"/>
              </a:rPr>
              <a:t>es un sistema mecánico muy complejo cuya descripción analítica requiere de ecuaciones diferenciales. El modelo dinámico del robot manipulador permite explicar todos los fenómenos físicos que actúan en su estructura mecánica, tales como: </a:t>
            </a:r>
            <a:r>
              <a:rPr lang="es-ES" sz="1600" b="1" dirty="0">
                <a:solidFill>
                  <a:schemeClr val="accent4"/>
                </a:solidFill>
                <a:latin typeface="Fira Sans Condensed Light" panose="020B0604020202020204" charset="0"/>
                <a:cs typeface="Times New Roman" panose="02020603050405020304" pitchFamily="18" charset="0"/>
              </a:rPr>
              <a:t>efectos inerciales, fuerzas centrípetas y de Coriolis, par gravitacional y fricción</a:t>
            </a:r>
            <a:r>
              <a:rPr lang="es-ES" sz="1600" dirty="0">
                <a:solidFill>
                  <a:schemeClr val="accent4"/>
                </a:solidFill>
                <a:latin typeface="Fira Sans Condensed Light" panose="020B0604020202020204" charset="0"/>
                <a:cs typeface="Times New Roman" panose="02020603050405020304" pitchFamily="18" charset="0"/>
              </a:rPr>
              <a:t>, los cuales son fenómenos físicos intrínsecos o propios de la naturaleza del robot.</a:t>
            </a:r>
            <a:r>
              <a:rPr lang="es-ES" sz="1600" b="1" dirty="0">
                <a:solidFill>
                  <a:schemeClr val="accent4"/>
                </a:solidFill>
                <a:latin typeface="Fira Sans Condensed Light" panose="020B0604020202020204" charset="0"/>
                <a:cs typeface="Times New Roman" panose="02020603050405020304" pitchFamily="18" charset="0"/>
              </a:rPr>
              <a:t> </a:t>
            </a:r>
            <a:endParaRPr lang="es-ES" sz="1600" dirty="0">
              <a:solidFill>
                <a:schemeClr val="accent4"/>
              </a:solidFill>
              <a:latin typeface="Fira Sans Condensed Light" panose="020B0604020202020204" charset="0"/>
              <a:cs typeface="Times New Roman" panose="02020603050405020304" pitchFamily="18" charset="0"/>
            </a:endParaRPr>
          </a:p>
        </p:txBody>
      </p:sp>
      <p:pic>
        <p:nvPicPr>
          <p:cNvPr id="1026" name="Picture 2" descr="▷ Brazos Mecánicos » Los Brazos Robóticos Más Avanzados">
            <a:extLst>
              <a:ext uri="{FF2B5EF4-FFF2-40B4-BE49-F238E27FC236}">
                <a16:creationId xmlns:a16="http://schemas.microsoft.com/office/drawing/2014/main" id="{331AB946-8570-5968-BF2C-1FB21241D0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54062" y="1729644"/>
            <a:ext cx="3938606" cy="22093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6778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98">
          <a:extLst>
            <a:ext uri="{FF2B5EF4-FFF2-40B4-BE49-F238E27FC236}">
              <a16:creationId xmlns:a16="http://schemas.microsoft.com/office/drawing/2014/main" id="{87934563-E3B0-3B18-632C-FDDAED58B5B1}"/>
            </a:ext>
          </a:extLst>
        </p:cNvPr>
        <p:cNvGrpSpPr/>
        <p:nvPr/>
      </p:nvGrpSpPr>
      <p:grpSpPr>
        <a:xfrm>
          <a:off x="0" y="0"/>
          <a:ext cx="0" cy="0"/>
          <a:chOff x="0" y="0"/>
          <a:chExt cx="0" cy="0"/>
        </a:xfrm>
      </p:grpSpPr>
      <p:pic>
        <p:nvPicPr>
          <p:cNvPr id="48" name="Picture 4" descr="The Learning Gate | Tec de Monterrey">
            <a:extLst>
              <a:ext uri="{FF2B5EF4-FFF2-40B4-BE49-F238E27FC236}">
                <a16:creationId xmlns:a16="http://schemas.microsoft.com/office/drawing/2014/main" id="{E7EBEFC7-0D95-5C32-FAE1-AAA06CA41DF6}"/>
              </a:ext>
            </a:extLst>
          </p:cNvPr>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a:extLst>
              <a:ext uri="{FF2B5EF4-FFF2-40B4-BE49-F238E27FC236}">
                <a16:creationId xmlns:a16="http://schemas.microsoft.com/office/drawing/2014/main" id="{75DB2E55-5DD6-A16E-E881-4FFFBED91AC1}"/>
              </a:ext>
            </a:extLst>
          </p:cNvPr>
          <p:cNvSpPr txBox="1">
            <a:spLocks/>
          </p:cNvSpPr>
          <p:nvPr/>
        </p:nvSpPr>
        <p:spPr>
          <a:xfrm>
            <a:off x="373910" y="338754"/>
            <a:ext cx="554306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Introducción a Dinámica</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s-ES" sz="3000" b="1" dirty="0">
                <a:solidFill>
                  <a:schemeClr val="bg1">
                    <a:lumMod val="60000"/>
                    <a:lumOff val="40000"/>
                  </a:schemeClr>
                </a:solidFill>
                <a:latin typeface="Rajdhani"/>
                <a:ea typeface="Rajdhani"/>
                <a:cs typeface="Rajdhani"/>
                <a:sym typeface="Rajdhani"/>
              </a:rPr>
              <a:t>Modelo Dinámico</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a:extLst>
              <a:ext uri="{FF2B5EF4-FFF2-40B4-BE49-F238E27FC236}">
                <a16:creationId xmlns:a16="http://schemas.microsoft.com/office/drawing/2014/main" id="{7367DEC2-CCF2-8CDC-18E2-3963602C6AF0}"/>
              </a:ext>
            </a:extLst>
          </p:cNvPr>
          <p:cNvCxnSpPr/>
          <p:nvPr/>
        </p:nvCxnSpPr>
        <p:spPr>
          <a:xfrm rot="5400000">
            <a:off x="11554" y="870978"/>
            <a:ext cx="726300" cy="1588"/>
          </a:xfrm>
          <a:prstGeom prst="straightConnector1">
            <a:avLst/>
          </a:prstGeom>
          <a:noFill/>
          <a:ln w="19050" cap="flat" cmpd="sng">
            <a:solidFill>
              <a:srgbClr val="F3F3F3"/>
            </a:solidFill>
            <a:prstDash val="solid"/>
            <a:round/>
            <a:headEnd type="oval" w="med" len="med"/>
            <a:tailEnd type="oval" w="med" len="med"/>
          </a:ln>
        </p:spPr>
      </p:cxnSp>
      <p:sp>
        <p:nvSpPr>
          <p:cNvPr id="17" name="Google Shape;136;p27">
            <a:extLst>
              <a:ext uri="{FF2B5EF4-FFF2-40B4-BE49-F238E27FC236}">
                <a16:creationId xmlns:a16="http://schemas.microsoft.com/office/drawing/2014/main" id="{EB1ED9F1-DA4F-939B-6CA1-01F37B3C871D}"/>
              </a:ext>
            </a:extLst>
          </p:cNvPr>
          <p:cNvSpPr txBox="1">
            <a:spLocks/>
          </p:cNvSpPr>
          <p:nvPr/>
        </p:nvSpPr>
        <p:spPr>
          <a:xfrm>
            <a:off x="-29184" y="5010336"/>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3" name="Google Shape;1603;p42">
            <a:extLst>
              <a:ext uri="{FF2B5EF4-FFF2-40B4-BE49-F238E27FC236}">
                <a16:creationId xmlns:a16="http://schemas.microsoft.com/office/drawing/2014/main" id="{3F50835B-0FE1-CAA6-1028-5A75A7E2BD47}"/>
              </a:ext>
            </a:extLst>
          </p:cNvPr>
          <p:cNvSpPr txBox="1"/>
          <p:nvPr/>
        </p:nvSpPr>
        <p:spPr>
          <a:xfrm>
            <a:off x="229092" y="1550783"/>
            <a:ext cx="8621218" cy="1623496"/>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Modelo dinámico de un robot manipulador</a:t>
            </a:r>
            <a:endParaRPr lang="es-ES" sz="1600" dirty="0">
              <a:solidFill>
                <a:schemeClr val="accent4"/>
              </a:solidFill>
              <a:latin typeface="Fira Sans Condensed Light" panose="020B0604020202020204" charset="0"/>
              <a:cs typeface="Times New Roman" panose="02020603050405020304" pitchFamily="18" charset="0"/>
            </a:endParaRPr>
          </a:p>
          <a:p>
            <a:pPr algn="just"/>
            <a:r>
              <a:rPr lang="es-ES" sz="1600" dirty="0">
                <a:solidFill>
                  <a:schemeClr val="accent4"/>
                </a:solidFill>
                <a:latin typeface="Fira Sans Condensed Light" panose="020B0604020202020204" charset="0"/>
                <a:cs typeface="Times New Roman" panose="02020603050405020304" pitchFamily="18" charset="0"/>
              </a:rPr>
              <a:t>El modelo dinámico de un robot manipulador de </a:t>
            </a:r>
            <a:r>
              <a:rPr lang="es-ES" sz="1600" b="1" dirty="0">
                <a:solidFill>
                  <a:schemeClr val="accent4"/>
                </a:solidFill>
                <a:latin typeface="Fira Sans Condensed Light" panose="020B0604020202020204" charset="0"/>
                <a:cs typeface="Times New Roman" panose="02020603050405020304" pitchFamily="18" charset="0"/>
              </a:rPr>
              <a:t>“n” </a:t>
            </a:r>
            <a:r>
              <a:rPr lang="es-ES" sz="1600" dirty="0">
                <a:solidFill>
                  <a:schemeClr val="accent4"/>
                </a:solidFill>
                <a:latin typeface="Fira Sans Condensed Light" panose="020B0604020202020204" charset="0"/>
                <a:cs typeface="Times New Roman" panose="02020603050405020304" pitchFamily="18" charset="0"/>
              </a:rPr>
              <a:t>grados de libertad está dado por la siguiente ecuación, que en su forma compacta y con la notación más utilizada en el área de la robótica se encuentra descrito de la siguiente forma: </a:t>
            </a:r>
          </a:p>
        </p:txBody>
      </p:sp>
      <p:sp>
        <p:nvSpPr>
          <p:cNvPr id="5" name="Google Shape;1603;p42">
            <a:extLst>
              <a:ext uri="{FF2B5EF4-FFF2-40B4-BE49-F238E27FC236}">
                <a16:creationId xmlns:a16="http://schemas.microsoft.com/office/drawing/2014/main" id="{A06297F0-6800-2BE2-AD47-17B9912DC432}"/>
              </a:ext>
            </a:extLst>
          </p:cNvPr>
          <p:cNvSpPr txBox="1"/>
          <p:nvPr/>
        </p:nvSpPr>
        <p:spPr>
          <a:xfrm>
            <a:off x="373910" y="3083246"/>
            <a:ext cx="842896" cy="680175"/>
          </a:xfrm>
          <a:prstGeom prst="rect">
            <a:avLst/>
          </a:prstGeom>
          <a:noFill/>
          <a:ln>
            <a:noFill/>
          </a:ln>
        </p:spPr>
        <p:txBody>
          <a:bodyPr spcFirstLastPara="1" wrap="square" lIns="91425" tIns="182875" rIns="91425" bIns="0" anchor="t" anchorCtr="0">
            <a:noAutofit/>
          </a:bodyPr>
          <a:lstStyle/>
          <a:p>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Donde</a:t>
            </a:r>
            <a:r>
              <a:rPr lang="es-ES" dirty="0">
                <a:solidFill>
                  <a:schemeClr val="tx2"/>
                </a:solidFill>
                <a:latin typeface="Fira Sans Condensed Light" panose="020B0604020202020204" charset="0"/>
                <a:cs typeface="Times New Roman" panose="02020603050405020304" pitchFamily="18" charset="0"/>
              </a:rPr>
              <a:t>:</a:t>
            </a:r>
            <a:endParaRPr lang="ar-AE" sz="1600" b="1" dirty="0">
              <a:solidFill>
                <a:schemeClr val="tx2"/>
              </a:solidFill>
            </a:endParaRPr>
          </a:p>
          <a:p>
            <a:pPr algn="just"/>
            <a:endParaRPr lang="es-ES" sz="1600" dirty="0">
              <a:solidFill>
                <a:schemeClr val="accent4"/>
              </a:solidFill>
              <a:latin typeface="Fira Sans Condensed Light" panose="020B0604020202020204" charset="0"/>
              <a:cs typeface="Times New Roman" panose="02020603050405020304" pitchFamily="18" charset="0"/>
            </a:endParaRPr>
          </a:p>
        </p:txBody>
      </p:sp>
      <p:pic>
        <p:nvPicPr>
          <p:cNvPr id="8" name="Imagen 7">
            <a:extLst>
              <a:ext uri="{FF2B5EF4-FFF2-40B4-BE49-F238E27FC236}">
                <a16:creationId xmlns:a16="http://schemas.microsoft.com/office/drawing/2014/main" id="{254B91AF-50CA-424A-1384-AF25541ABD28}"/>
              </a:ext>
            </a:extLst>
          </p:cNvPr>
          <p:cNvPicPr>
            <a:picLocks noChangeAspect="1"/>
          </p:cNvPicPr>
          <p:nvPr/>
        </p:nvPicPr>
        <p:blipFill>
          <a:blip r:embed="rId4"/>
          <a:stretch>
            <a:fillRect/>
          </a:stretch>
        </p:blipFill>
        <p:spPr>
          <a:xfrm>
            <a:off x="2310602" y="2903555"/>
            <a:ext cx="4061015" cy="359382"/>
          </a:xfrm>
          <a:prstGeom prst="rect">
            <a:avLst/>
          </a:prstGeom>
        </p:spPr>
      </p:pic>
      <mc:AlternateContent xmlns:mc="http://schemas.openxmlformats.org/markup-compatibility/2006" xmlns:a14="http://schemas.microsoft.com/office/drawing/2010/main">
        <mc:Choice Requires="a14">
          <p:sp>
            <p:nvSpPr>
              <p:cNvPr id="11" name="Google Shape;1603;p42">
                <a:extLst>
                  <a:ext uri="{FF2B5EF4-FFF2-40B4-BE49-F238E27FC236}">
                    <a16:creationId xmlns:a16="http://schemas.microsoft.com/office/drawing/2014/main" id="{D7973415-6803-C38B-7B6E-BB452E73CF50}"/>
                  </a:ext>
                </a:extLst>
              </p:cNvPr>
              <p:cNvSpPr txBox="1"/>
              <p:nvPr/>
            </p:nvSpPr>
            <p:spPr>
              <a:xfrm>
                <a:off x="522782" y="3377685"/>
                <a:ext cx="8621218" cy="2018388"/>
              </a:xfrm>
              <a:prstGeom prst="rect">
                <a:avLst/>
              </a:prstGeom>
              <a:noFill/>
              <a:ln>
                <a:noFill/>
              </a:ln>
            </p:spPr>
            <p:txBody>
              <a:bodyPr spcFirstLastPara="1" wrap="square" lIns="91425" tIns="182875" rIns="91425" bIns="0" anchor="t" anchorCtr="0">
                <a:noAutofit/>
              </a:bodyPr>
              <a:lstStyle/>
              <a:p>
                <a:r>
                  <a:rPr lang="es-MX" sz="1600" b="1" dirty="0">
                    <a:solidFill>
                      <a:schemeClr val="tx2"/>
                    </a:solidFill>
                    <a:latin typeface="Fira Sans Condensed Light" panose="020B0403050000020004" pitchFamily="34" charset="0"/>
                  </a:rPr>
                  <a:t>Las variables articulares son:</a:t>
                </a:r>
              </a:p>
              <a:p>
                <a:r>
                  <a:rPr lang="es-MX" sz="1600" dirty="0">
                    <a:solidFill>
                      <a:schemeClr val="tx2"/>
                    </a:solidFill>
                    <a:latin typeface="Fira Sans Condensed Light" panose="020B0403050000020004" pitchFamily="34" charset="0"/>
                  </a:rPr>
                  <a:t>Posición articular                              </a:t>
                </a:r>
                <a14:m>
                  <m:oMath xmlns:m="http://schemas.openxmlformats.org/officeDocument/2006/math">
                    <m:r>
                      <a:rPr lang="es-MX" sz="1600" b="1" i="1">
                        <a:solidFill>
                          <a:schemeClr val="tx2"/>
                        </a:solidFill>
                        <a:latin typeface="Cambria Math" panose="02040503050406030204" pitchFamily="18" charset="0"/>
                      </a:rPr>
                      <m:t>𝒒</m:t>
                    </m:r>
                    <m:r>
                      <a:rPr lang="es-MX" sz="1600" b="1">
                        <a:solidFill>
                          <a:schemeClr val="tx2"/>
                        </a:solidFill>
                        <a:latin typeface="Cambria Math" panose="02040503050406030204" pitchFamily="18" charset="0"/>
                      </a:rPr>
                      <m:t>=</m:t>
                    </m:r>
                    <m:d>
                      <m:dPr>
                        <m:begChr m:val="["/>
                        <m:endChr m:val=","/>
                        <m:sepChr m:val=","/>
                        <m:ctrlPr>
                          <a:rPr lang="ar-AE" sz="1600" b="1" i="1">
                            <a:solidFill>
                              <a:schemeClr val="tx2"/>
                            </a:solidFill>
                            <a:latin typeface="Cambria Math" panose="02040503050406030204" pitchFamily="18" charset="0"/>
                          </a:rPr>
                        </m:ctrlPr>
                      </m:dPr>
                      <m:e>
                        <m:sSub>
                          <m:sSubPr>
                            <m:ctrlPr>
                              <a:rPr lang="ar-AE" sz="1600" b="1" i="1">
                                <a:solidFill>
                                  <a:schemeClr val="tx2"/>
                                </a:solidFill>
                                <a:latin typeface="Cambria Math" panose="02040503050406030204" pitchFamily="18" charset="0"/>
                              </a:rPr>
                            </m:ctrlPr>
                          </m:sSubPr>
                          <m:e>
                            <m:r>
                              <a:rPr lang="ar-AE" sz="1600" b="1" i="1">
                                <a:solidFill>
                                  <a:schemeClr val="tx2"/>
                                </a:solidFill>
                                <a:latin typeface="Cambria Math" panose="02040503050406030204" pitchFamily="18" charset="0"/>
                              </a:rPr>
                              <m:t>𝒒</m:t>
                            </m:r>
                          </m:e>
                          <m:sub>
                            <m:r>
                              <a:rPr lang="ar-AE" sz="1600" b="1" i="1">
                                <a:solidFill>
                                  <a:schemeClr val="tx2"/>
                                </a:solidFill>
                                <a:latin typeface="Cambria Math" panose="02040503050406030204" pitchFamily="18" charset="0"/>
                              </a:rPr>
                              <m:t>𝟏</m:t>
                            </m:r>
                          </m:sub>
                        </m:sSub>
                      </m:e>
                      <m:e>
                        <m:sSub>
                          <m:sSubPr>
                            <m:ctrlPr>
                              <a:rPr lang="ar-AE" sz="1600" b="1" i="1">
                                <a:solidFill>
                                  <a:schemeClr val="tx2"/>
                                </a:solidFill>
                                <a:latin typeface="Cambria Math" panose="02040503050406030204" pitchFamily="18" charset="0"/>
                              </a:rPr>
                            </m:ctrlPr>
                          </m:sSubPr>
                          <m:e>
                            <m:r>
                              <a:rPr lang="ar-AE" sz="1600" b="1" i="1">
                                <a:solidFill>
                                  <a:schemeClr val="tx2"/>
                                </a:solidFill>
                                <a:latin typeface="Cambria Math" panose="02040503050406030204" pitchFamily="18" charset="0"/>
                              </a:rPr>
                              <m:t>𝒒</m:t>
                            </m:r>
                          </m:e>
                          <m:sub>
                            <m:r>
                              <a:rPr lang="ar-AE" sz="1600" b="1" i="1">
                                <a:solidFill>
                                  <a:schemeClr val="tx2"/>
                                </a:solidFill>
                                <a:latin typeface="Cambria Math" panose="02040503050406030204" pitchFamily="18" charset="0"/>
                              </a:rPr>
                              <m:t>𝟐</m:t>
                            </m:r>
                          </m:sub>
                        </m:sSub>
                      </m:e>
                      <m:e>
                        <m:r>
                          <a:rPr lang="ar-AE" sz="1600" b="1">
                            <a:solidFill>
                              <a:schemeClr val="tx2"/>
                            </a:solidFill>
                            <a:latin typeface="Cambria Math" panose="02040503050406030204" pitchFamily="18" charset="0"/>
                          </a:rPr>
                          <m:t>...</m:t>
                        </m:r>
                        <m:sSub>
                          <m:sSubPr>
                            <m:ctrlPr>
                              <a:rPr lang="ar-AE" sz="1600" b="1" i="1">
                                <a:solidFill>
                                  <a:schemeClr val="tx2"/>
                                </a:solidFill>
                                <a:latin typeface="Cambria Math" panose="02040503050406030204" pitchFamily="18" charset="0"/>
                              </a:rPr>
                            </m:ctrlPr>
                          </m:sSubPr>
                          <m:e>
                            <m:r>
                              <a:rPr lang="ar-AE" sz="1600" b="1" i="1">
                                <a:solidFill>
                                  <a:schemeClr val="tx2"/>
                                </a:solidFill>
                                <a:latin typeface="Cambria Math" panose="02040503050406030204" pitchFamily="18" charset="0"/>
                              </a:rPr>
                              <m:t>𝒒</m:t>
                            </m:r>
                          </m:e>
                          <m:sub>
                            <m:r>
                              <a:rPr lang="ar-AE" sz="1600" b="1" i="1">
                                <a:solidFill>
                                  <a:schemeClr val="tx2"/>
                                </a:solidFill>
                                <a:latin typeface="Cambria Math" panose="02040503050406030204" pitchFamily="18" charset="0"/>
                              </a:rPr>
                              <m:t>𝒏</m:t>
                            </m:r>
                          </m:sub>
                        </m:sSub>
                        <m:sSup>
                          <m:sSupPr>
                            <m:ctrlPr>
                              <a:rPr lang="ar-AE" sz="1600" b="1" i="1">
                                <a:solidFill>
                                  <a:schemeClr val="tx2"/>
                                </a:solidFill>
                                <a:latin typeface="Cambria Math" panose="02040503050406030204" pitchFamily="18" charset="0"/>
                              </a:rPr>
                            </m:ctrlPr>
                          </m:sSupPr>
                          <m:e>
                            <m:d>
                              <m:dPr>
                                <m:begChr m:val=""/>
                                <m:endChr m:val=""/>
                                <m:ctrlPr>
                                  <a:rPr lang="ar-AE" sz="1600" b="1" i="1">
                                    <a:solidFill>
                                      <a:schemeClr val="tx2"/>
                                    </a:solidFill>
                                    <a:latin typeface="Cambria Math" panose="02040503050406030204" pitchFamily="18" charset="0"/>
                                  </a:rPr>
                                </m:ctrlPr>
                              </m:dPr>
                              <m:e>
                                <m:r>
                                  <a:rPr lang="ar-AE" sz="1600" b="1">
                                    <a:solidFill>
                                      <a:schemeClr val="tx2"/>
                                    </a:solidFill>
                                    <a:latin typeface="Cambria Math" panose="02040503050406030204" pitchFamily="18" charset="0"/>
                                  </a:rPr>
                                  <m:t>]</m:t>
                                </m:r>
                              </m:e>
                            </m:d>
                          </m:e>
                          <m:sup>
                            <m:r>
                              <a:rPr lang="ar-AE" sz="1600" b="1" i="1">
                                <a:solidFill>
                                  <a:schemeClr val="tx2"/>
                                </a:solidFill>
                                <a:latin typeface="Cambria Math" panose="02040503050406030204" pitchFamily="18" charset="0"/>
                              </a:rPr>
                              <m:t>𝑻</m:t>
                            </m:r>
                          </m:sup>
                        </m:sSup>
                      </m:e>
                    </m:d>
                  </m:oMath>
                </a14:m>
                <a:endParaRPr lang="ar-AE" sz="1600" b="1" dirty="0">
                  <a:solidFill>
                    <a:schemeClr val="tx2"/>
                  </a:solidFill>
                  <a:latin typeface="Fira Sans Condensed Light" panose="020B0403050000020004" pitchFamily="34" charset="0"/>
                </a:endParaRPr>
              </a:p>
              <a:p>
                <a:r>
                  <a:rPr lang="es-MX" sz="1600" dirty="0">
                    <a:solidFill>
                      <a:schemeClr val="tx2"/>
                    </a:solidFill>
                    <a:latin typeface="Fira Sans Condensed Light" panose="020B0403050000020004" pitchFamily="34" charset="0"/>
                  </a:rPr>
                  <a:t>Velocidad articular  </a:t>
                </a:r>
                <a:r>
                  <a:rPr lang="es-MX" sz="1600" b="1" dirty="0">
                    <a:solidFill>
                      <a:schemeClr val="tx2"/>
                    </a:solidFill>
                    <a:latin typeface="Fira Sans Condensed Light" panose="020B0403050000020004" pitchFamily="34" charset="0"/>
                  </a:rPr>
                  <a:t>                          </a:t>
                </a:r>
                <a14:m>
                  <m:oMath xmlns:m="http://schemas.openxmlformats.org/officeDocument/2006/math">
                    <m:acc>
                      <m:accPr>
                        <m:chr m:val="̇"/>
                        <m:ctrlPr>
                          <a:rPr lang="ar-AE" sz="1600" b="1" i="1">
                            <a:solidFill>
                              <a:schemeClr val="tx2"/>
                            </a:solidFill>
                            <a:latin typeface="Cambria Math" panose="02040503050406030204" pitchFamily="18" charset="0"/>
                          </a:rPr>
                        </m:ctrlPr>
                      </m:accPr>
                      <m:e>
                        <m:r>
                          <a:rPr lang="ar-AE" sz="1600" b="1" i="1">
                            <a:solidFill>
                              <a:schemeClr val="tx2"/>
                            </a:solidFill>
                            <a:latin typeface="Cambria Math" panose="02040503050406030204" pitchFamily="18" charset="0"/>
                          </a:rPr>
                          <m:t>𝒒</m:t>
                        </m:r>
                      </m:e>
                    </m:acc>
                  </m:oMath>
                </a14:m>
                <a:r>
                  <a:rPr lang="es-MX" sz="1600" b="1" dirty="0">
                    <a:solidFill>
                      <a:schemeClr val="tx2"/>
                    </a:solidFill>
                    <a:latin typeface="Fira Sans Condensed Light" panose="020B0403050000020004" pitchFamily="34" charset="0"/>
                  </a:rPr>
                  <a:t> </a:t>
                </a:r>
                <a:endParaRPr lang="ar-AE" sz="1600" b="1" dirty="0">
                  <a:solidFill>
                    <a:schemeClr val="tx2"/>
                  </a:solidFill>
                  <a:latin typeface="Fira Sans Condensed Light" panose="020B0403050000020004" pitchFamily="34" charset="0"/>
                </a:endParaRPr>
              </a:p>
              <a:p>
                <a:r>
                  <a:rPr lang="es-MX" sz="1600" dirty="0">
                    <a:solidFill>
                      <a:schemeClr val="tx2"/>
                    </a:solidFill>
                    <a:latin typeface="Fira Sans Condensed Light" panose="020B0403050000020004" pitchFamily="34" charset="0"/>
                  </a:rPr>
                  <a:t>Aceleración articular</a:t>
                </a:r>
                <a:r>
                  <a:rPr lang="es-MX" sz="1600" b="1" dirty="0">
                    <a:solidFill>
                      <a:schemeClr val="tx2"/>
                    </a:solidFill>
                    <a:latin typeface="Fira Sans Condensed Light" panose="020B0403050000020004" pitchFamily="34" charset="0"/>
                  </a:rPr>
                  <a:t>                         </a:t>
                </a:r>
                <a14:m>
                  <m:oMath xmlns:m="http://schemas.openxmlformats.org/officeDocument/2006/math">
                    <m:acc>
                      <m:accPr>
                        <m:chr m:val="̈"/>
                        <m:ctrlPr>
                          <a:rPr lang="ar-AE" sz="1600" b="1" i="1">
                            <a:solidFill>
                              <a:schemeClr val="tx2"/>
                            </a:solidFill>
                            <a:latin typeface="Cambria Math" panose="02040503050406030204" pitchFamily="18" charset="0"/>
                          </a:rPr>
                        </m:ctrlPr>
                      </m:accPr>
                      <m:e>
                        <m:r>
                          <a:rPr lang="ar-AE" sz="1600" b="1" i="1">
                            <a:solidFill>
                              <a:schemeClr val="tx2"/>
                            </a:solidFill>
                            <a:latin typeface="Cambria Math" panose="02040503050406030204" pitchFamily="18" charset="0"/>
                          </a:rPr>
                          <m:t>𝒒</m:t>
                        </m:r>
                      </m:e>
                    </m:acc>
                  </m:oMath>
                </a14:m>
                <a:endParaRPr lang="ar-AE" sz="1600" b="1" dirty="0">
                  <a:latin typeface="Fira Sans Condensed Light" panose="020B0403050000020004" pitchFamily="34" charset="0"/>
                </a:endParaRPr>
              </a:p>
            </p:txBody>
          </p:sp>
        </mc:Choice>
        <mc:Fallback xmlns="">
          <p:sp>
            <p:nvSpPr>
              <p:cNvPr id="11" name="Google Shape;1603;p42">
                <a:extLst>
                  <a:ext uri="{FF2B5EF4-FFF2-40B4-BE49-F238E27FC236}">
                    <a16:creationId xmlns:a16="http://schemas.microsoft.com/office/drawing/2014/main" id="{D7973415-6803-C38B-7B6E-BB452E73CF50}"/>
                  </a:ext>
                </a:extLst>
              </p:cNvPr>
              <p:cNvSpPr txBox="1">
                <a:spLocks noRot="1" noChangeAspect="1" noMove="1" noResize="1" noEditPoints="1" noAdjustHandles="1" noChangeArrowheads="1" noChangeShapeType="1" noTextEdit="1"/>
              </p:cNvSpPr>
              <p:nvPr/>
            </p:nvSpPr>
            <p:spPr>
              <a:xfrm>
                <a:off x="522782" y="3377685"/>
                <a:ext cx="8621218" cy="2018388"/>
              </a:xfrm>
              <a:prstGeom prst="rect">
                <a:avLst/>
              </a:prstGeom>
              <a:blipFill>
                <a:blip r:embed="rId5"/>
                <a:stretch>
                  <a:fillRect l="-424"/>
                </a:stretch>
              </a:blipFill>
              <a:ln>
                <a:noFill/>
              </a:ln>
            </p:spPr>
            <p:txBody>
              <a:bodyPr/>
              <a:lstStyle/>
              <a:p>
                <a:r>
                  <a:rPr lang="es-MX">
                    <a:noFill/>
                  </a:rPr>
                  <a:t> </a:t>
                </a:r>
              </a:p>
            </p:txBody>
          </p:sp>
        </mc:Fallback>
      </mc:AlternateContent>
    </p:spTree>
    <p:extLst>
      <p:ext uri="{BB962C8B-B14F-4D97-AF65-F5344CB8AC3E}">
        <p14:creationId xmlns:p14="http://schemas.microsoft.com/office/powerpoint/2010/main" val="2063994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1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3910" y="338754"/>
            <a:ext cx="554306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Introducción a Dinámica</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s-ES" sz="3000" b="1" dirty="0">
                <a:solidFill>
                  <a:schemeClr val="bg1">
                    <a:lumMod val="60000"/>
                    <a:lumOff val="40000"/>
                  </a:schemeClr>
                </a:solidFill>
                <a:latin typeface="Rajdhani"/>
                <a:ea typeface="Rajdhani"/>
                <a:cs typeface="Rajdhani"/>
                <a:sym typeface="Rajdhani"/>
              </a:rPr>
              <a:t>Modelo Dinámico</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11554" y="870978"/>
            <a:ext cx="726300" cy="1588"/>
          </a:xfrm>
          <a:prstGeom prst="straightConnector1">
            <a:avLst/>
          </a:prstGeom>
          <a:noFill/>
          <a:ln w="19050" cap="flat" cmpd="sng">
            <a:solidFill>
              <a:srgbClr val="F3F3F3"/>
            </a:solidFill>
            <a:prstDash val="solid"/>
            <a:round/>
            <a:headEnd type="oval" w="med" len="med"/>
            <a:tailEnd type="oval" w="med" len="med"/>
          </a:ln>
        </p:spPr>
      </p:cxnSp>
      <p:sp>
        <p:nvSpPr>
          <p:cNvPr id="17"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3" name="Google Shape;1603;p42">
            <a:extLst>
              <a:ext uri="{FF2B5EF4-FFF2-40B4-BE49-F238E27FC236}">
                <a16:creationId xmlns:a16="http://schemas.microsoft.com/office/drawing/2014/main" id="{3138E399-58F1-33A8-B083-58D01353E1EE}"/>
              </a:ext>
            </a:extLst>
          </p:cNvPr>
          <p:cNvSpPr txBox="1"/>
          <p:nvPr/>
        </p:nvSpPr>
        <p:spPr>
          <a:xfrm>
            <a:off x="229092" y="1550783"/>
            <a:ext cx="8621218" cy="1623496"/>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Modelo dinámico de un robot manipulador</a:t>
            </a:r>
            <a:endParaRPr lang="es-ES" sz="1600" dirty="0">
              <a:solidFill>
                <a:schemeClr val="accent4"/>
              </a:solidFill>
              <a:latin typeface="Fira Sans Condensed Light" panose="020B0604020202020204" charset="0"/>
              <a:cs typeface="Times New Roman" panose="02020603050405020304" pitchFamily="18" charset="0"/>
            </a:endParaRPr>
          </a:p>
          <a:p>
            <a:pPr algn="just"/>
            <a:r>
              <a:rPr lang="es-ES" sz="1600" dirty="0">
                <a:solidFill>
                  <a:schemeClr val="accent4"/>
                </a:solidFill>
                <a:latin typeface="Fira Sans Condensed Light" panose="020B0604020202020204" charset="0"/>
                <a:cs typeface="Times New Roman" panose="02020603050405020304" pitchFamily="18" charset="0"/>
              </a:rPr>
              <a:t>El modelo dinámico de un robot manipulador de </a:t>
            </a:r>
            <a:r>
              <a:rPr lang="es-ES" sz="1600" b="1" dirty="0">
                <a:solidFill>
                  <a:schemeClr val="accent4"/>
                </a:solidFill>
                <a:latin typeface="Fira Sans Condensed Light" panose="020B0604020202020204" charset="0"/>
                <a:cs typeface="Times New Roman" panose="02020603050405020304" pitchFamily="18" charset="0"/>
              </a:rPr>
              <a:t>“n” </a:t>
            </a:r>
            <a:r>
              <a:rPr lang="es-ES" sz="1600" dirty="0">
                <a:solidFill>
                  <a:schemeClr val="accent4"/>
                </a:solidFill>
                <a:latin typeface="Fira Sans Condensed Light" panose="020B0604020202020204" charset="0"/>
                <a:cs typeface="Times New Roman" panose="02020603050405020304" pitchFamily="18" charset="0"/>
              </a:rPr>
              <a:t>grados de libertad está dado por la siguiente ecuación, que en su forma compacta y con la notación más utilizada en el área de la robótica se encuentra descrito de la siguiente forma: </a:t>
            </a:r>
          </a:p>
        </p:txBody>
      </p:sp>
      <p:sp>
        <p:nvSpPr>
          <p:cNvPr id="5" name="Google Shape;1603;p42">
            <a:extLst>
              <a:ext uri="{FF2B5EF4-FFF2-40B4-BE49-F238E27FC236}">
                <a16:creationId xmlns:a16="http://schemas.microsoft.com/office/drawing/2014/main" id="{85D1AA7E-56FD-6926-19B0-6A2B8D66E35D}"/>
              </a:ext>
            </a:extLst>
          </p:cNvPr>
          <p:cNvSpPr txBox="1"/>
          <p:nvPr/>
        </p:nvSpPr>
        <p:spPr>
          <a:xfrm>
            <a:off x="373910" y="3083246"/>
            <a:ext cx="842896" cy="680175"/>
          </a:xfrm>
          <a:prstGeom prst="rect">
            <a:avLst/>
          </a:prstGeom>
          <a:noFill/>
          <a:ln>
            <a:noFill/>
          </a:ln>
        </p:spPr>
        <p:txBody>
          <a:bodyPr spcFirstLastPara="1" wrap="square" lIns="91425" tIns="182875" rIns="91425" bIns="0" anchor="t" anchorCtr="0">
            <a:noAutofit/>
          </a:bodyPr>
          <a:lstStyle/>
          <a:p>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Donde</a:t>
            </a:r>
            <a:r>
              <a:rPr lang="es-ES" dirty="0">
                <a:solidFill>
                  <a:schemeClr val="tx2"/>
                </a:solidFill>
                <a:latin typeface="Fira Sans Condensed Light" panose="020B0604020202020204" charset="0"/>
                <a:cs typeface="Times New Roman" panose="02020603050405020304" pitchFamily="18" charset="0"/>
              </a:rPr>
              <a:t>:</a:t>
            </a:r>
            <a:endParaRPr lang="ar-AE" sz="1600" b="1" dirty="0">
              <a:solidFill>
                <a:schemeClr val="tx2"/>
              </a:solidFill>
            </a:endParaRPr>
          </a:p>
          <a:p>
            <a:pPr algn="just"/>
            <a:endParaRPr lang="es-ES" sz="1600" dirty="0">
              <a:solidFill>
                <a:schemeClr val="accent4"/>
              </a:solidFill>
              <a:latin typeface="Fira Sans Condensed Light" panose="020B0604020202020204" charset="0"/>
              <a:cs typeface="Times New Roman" panose="02020603050405020304" pitchFamily="18" charset="0"/>
            </a:endParaRPr>
          </a:p>
        </p:txBody>
      </p:sp>
      <p:pic>
        <p:nvPicPr>
          <p:cNvPr id="8" name="Imagen 7">
            <a:extLst>
              <a:ext uri="{FF2B5EF4-FFF2-40B4-BE49-F238E27FC236}">
                <a16:creationId xmlns:a16="http://schemas.microsoft.com/office/drawing/2014/main" id="{CB13D93F-7DA5-8936-25A1-8D157CDC0899}"/>
              </a:ext>
            </a:extLst>
          </p:cNvPr>
          <p:cNvPicPr>
            <a:picLocks noChangeAspect="1"/>
          </p:cNvPicPr>
          <p:nvPr/>
        </p:nvPicPr>
        <p:blipFill>
          <a:blip r:embed="rId4"/>
          <a:stretch>
            <a:fillRect/>
          </a:stretch>
        </p:blipFill>
        <p:spPr>
          <a:xfrm>
            <a:off x="2310602" y="2903555"/>
            <a:ext cx="4061015" cy="359382"/>
          </a:xfrm>
          <a:prstGeom prst="rect">
            <a:avLst/>
          </a:prstGeom>
        </p:spPr>
      </p:pic>
      <mc:AlternateContent xmlns:mc="http://schemas.openxmlformats.org/markup-compatibility/2006" xmlns:a14="http://schemas.microsoft.com/office/drawing/2010/main">
        <mc:Choice Requires="a14">
          <p:sp>
            <p:nvSpPr>
              <p:cNvPr id="11" name="Google Shape;1603;p42">
                <a:extLst>
                  <a:ext uri="{FF2B5EF4-FFF2-40B4-BE49-F238E27FC236}">
                    <a16:creationId xmlns:a16="http://schemas.microsoft.com/office/drawing/2014/main" id="{C269C44D-6B08-CE19-0040-2244FC66E8B5}"/>
                  </a:ext>
                </a:extLst>
              </p:cNvPr>
              <p:cNvSpPr txBox="1"/>
              <p:nvPr/>
            </p:nvSpPr>
            <p:spPr>
              <a:xfrm>
                <a:off x="522782" y="3387946"/>
                <a:ext cx="8621218" cy="1623496"/>
              </a:xfrm>
              <a:prstGeom prst="rect">
                <a:avLst/>
              </a:prstGeom>
              <a:noFill/>
              <a:ln>
                <a:noFill/>
              </a:ln>
            </p:spPr>
            <p:txBody>
              <a:bodyPr spcFirstLastPara="1" wrap="square" lIns="91425" tIns="182875" rIns="91425" bIns="0" anchor="t" anchorCtr="0">
                <a:noAutofit/>
              </a:bodyPr>
              <a:lstStyle/>
              <a:p>
                <a14:m>
                  <m:oMath xmlns:m="http://schemas.openxmlformats.org/officeDocument/2006/math">
                    <m:r>
                      <a:rPr lang="es-MX" sz="1600" b="1" i="1" smtClean="0">
                        <a:solidFill>
                          <a:schemeClr val="tx2"/>
                        </a:solidFill>
                        <a:latin typeface="Cambria Math" panose="02040503050406030204" pitchFamily="18" charset="0"/>
                      </a:rPr>
                      <m:t>𝝉</m:t>
                    </m:r>
                  </m:oMath>
                </a14:m>
                <a:r>
                  <a:rPr lang="es-MX" sz="1600" b="1" dirty="0">
                    <a:solidFill>
                      <a:schemeClr val="tx2"/>
                    </a:solidFill>
                    <a:latin typeface="Fira Sans Condensed Light" panose="020B0403050000020004" pitchFamily="34" charset="0"/>
                  </a:rPr>
                  <a:t> </a:t>
                </a:r>
                <a:r>
                  <a:rPr lang="el-GR" sz="1600" b="1" dirty="0">
                    <a:solidFill>
                      <a:schemeClr val="tx2"/>
                    </a:solidFill>
                    <a:latin typeface="Fira Sans Condensed Light" panose="020B0403050000020004" pitchFamily="34" charset="0"/>
                  </a:rPr>
                  <a:t>— </a:t>
                </a:r>
                <a:r>
                  <a:rPr lang="es-MX" sz="1600" b="1" dirty="0">
                    <a:solidFill>
                      <a:schemeClr val="tx2"/>
                    </a:solidFill>
                    <a:latin typeface="Fira Sans Condensed Light" panose="020B0403050000020004" pitchFamily="34" charset="0"/>
                  </a:rPr>
                  <a:t>Vector de torques o fuerzas articulares</a:t>
                </a:r>
              </a:p>
              <a:p>
                <a:r>
                  <a:rPr lang="es-MX" sz="1600" dirty="0">
                    <a:solidFill>
                      <a:schemeClr val="tx2"/>
                    </a:solidFill>
                    <a:latin typeface="Fira Sans Condensed Light" panose="020B0403050000020004" pitchFamily="34" charset="0"/>
                  </a:rPr>
                  <a:t>Representa los torques (o fuerzas) que aplican los actuadores en cada articulación del robot.</a:t>
                </a:r>
              </a:p>
              <a:p>
                <a:r>
                  <a:rPr lang="es-MX" sz="1600" dirty="0">
                    <a:solidFill>
                      <a:schemeClr val="tx2"/>
                    </a:solidFill>
                    <a:latin typeface="Fira Sans Condensed Light" panose="020B0403050000020004" pitchFamily="34" charset="0"/>
                  </a:rPr>
                  <a:t>Es un vector de dimensión </a:t>
                </a:r>
                <a14:m>
                  <m:oMath xmlns:m="http://schemas.openxmlformats.org/officeDocument/2006/math">
                    <m:r>
                      <a:rPr lang="es-MX" sz="1600" b="0" i="1">
                        <a:solidFill>
                          <a:schemeClr val="tx2"/>
                        </a:solidFill>
                        <a:latin typeface="Cambria Math" panose="02040503050406030204" pitchFamily="18" charset="0"/>
                      </a:rPr>
                      <m:t>𝑛</m:t>
                    </m:r>
                  </m:oMath>
                </a14:m>
                <a:r>
                  <a:rPr lang="es-MX" sz="1600" dirty="0">
                    <a:solidFill>
                      <a:schemeClr val="tx2"/>
                    </a:solidFill>
                    <a:latin typeface="Fira Sans Condensed Light" panose="020B0403050000020004" pitchFamily="34" charset="0"/>
                  </a:rPr>
                  <a:t> si el robot tiene </a:t>
                </a:r>
                <a14:m>
                  <m:oMath xmlns:m="http://schemas.openxmlformats.org/officeDocument/2006/math">
                    <m:r>
                      <a:rPr lang="es-MX" sz="1600" b="0" i="1">
                        <a:solidFill>
                          <a:schemeClr val="tx2"/>
                        </a:solidFill>
                        <a:latin typeface="Cambria Math" panose="02040503050406030204" pitchFamily="18" charset="0"/>
                      </a:rPr>
                      <m:t>𝑛</m:t>
                    </m:r>
                  </m:oMath>
                </a14:m>
                <a:r>
                  <a:rPr lang="es-MX" sz="1600" dirty="0">
                    <a:solidFill>
                      <a:schemeClr val="tx2"/>
                    </a:solidFill>
                    <a:latin typeface="Fira Sans Condensed Light" panose="020B0403050000020004" pitchFamily="34" charset="0"/>
                  </a:rPr>
                  <a:t> grados de libertad (GDL).</a:t>
                </a:r>
              </a:p>
              <a:p>
                <a:r>
                  <a:rPr lang="es-MX" sz="1600" dirty="0">
                    <a:solidFill>
                      <a:schemeClr val="tx2"/>
                    </a:solidFill>
                    <a:latin typeface="Fira Sans Condensed Light" panose="020B0403050000020004" pitchFamily="34" charset="0"/>
                  </a:rPr>
                  <a:t>Es la entrada del sistema dinámico.</a:t>
                </a:r>
                <a:endParaRPr lang="es-MX" sz="1600" b="1" dirty="0">
                  <a:solidFill>
                    <a:schemeClr val="tx2"/>
                  </a:solidFill>
                  <a:latin typeface="Fira Sans Condensed Light" panose="020B0403050000020004" pitchFamily="34" charset="0"/>
                </a:endParaRPr>
              </a:p>
              <a:p>
                <a:pPr/>
                <a14:m>
                  <m:oMathPara xmlns:m="http://schemas.openxmlformats.org/officeDocument/2006/math">
                    <m:oMathParaPr>
                      <m:jc m:val="centerGroup"/>
                    </m:oMathParaPr>
                    <m:oMath xmlns:m="http://schemas.openxmlformats.org/officeDocument/2006/math">
                      <m:r>
                        <a:rPr lang="es-MX" sz="1600" b="1" i="1" smtClean="0">
                          <a:solidFill>
                            <a:schemeClr val="tx2"/>
                          </a:solidFill>
                          <a:latin typeface="Cambria Math" panose="02040503050406030204" pitchFamily="18" charset="0"/>
                        </a:rPr>
                        <m:t>𝝉</m:t>
                      </m:r>
                      <m:r>
                        <a:rPr lang="es-MX" sz="1600" b="1">
                          <a:solidFill>
                            <a:schemeClr val="tx2"/>
                          </a:solidFill>
                          <a:latin typeface="Cambria Math" panose="02040503050406030204" pitchFamily="18" charset="0"/>
                        </a:rPr>
                        <m:t>=</m:t>
                      </m:r>
                      <m:d>
                        <m:dPr>
                          <m:begChr m:val="["/>
                          <m:endChr m:val=","/>
                          <m:sepChr m:val=","/>
                          <m:ctrlPr>
                            <a:rPr lang="ar-AE" sz="1600" b="1" i="1">
                              <a:solidFill>
                                <a:schemeClr val="tx2"/>
                              </a:solidFill>
                              <a:latin typeface="Cambria Math" panose="02040503050406030204" pitchFamily="18" charset="0"/>
                            </a:rPr>
                          </m:ctrlPr>
                        </m:dPr>
                        <m:e>
                          <m:sSub>
                            <m:sSubPr>
                              <m:ctrlPr>
                                <a:rPr lang="ar-AE" sz="1600" b="1" i="1">
                                  <a:solidFill>
                                    <a:schemeClr val="tx2"/>
                                  </a:solidFill>
                                  <a:latin typeface="Cambria Math" panose="02040503050406030204" pitchFamily="18" charset="0"/>
                                </a:rPr>
                              </m:ctrlPr>
                            </m:sSubPr>
                            <m:e>
                              <m:r>
                                <a:rPr lang="ar-AE" sz="1600" b="1" i="1">
                                  <a:solidFill>
                                    <a:schemeClr val="tx2"/>
                                  </a:solidFill>
                                  <a:latin typeface="Cambria Math" panose="02040503050406030204" pitchFamily="18" charset="0"/>
                                </a:rPr>
                                <m:t>𝝉</m:t>
                              </m:r>
                            </m:e>
                            <m:sub>
                              <m:r>
                                <a:rPr lang="ar-AE" sz="1600" b="1" i="1">
                                  <a:solidFill>
                                    <a:schemeClr val="tx2"/>
                                  </a:solidFill>
                                  <a:latin typeface="Cambria Math" panose="02040503050406030204" pitchFamily="18" charset="0"/>
                                </a:rPr>
                                <m:t>𝟏</m:t>
                              </m:r>
                            </m:sub>
                          </m:sSub>
                        </m:e>
                        <m:e>
                          <m:sSub>
                            <m:sSubPr>
                              <m:ctrlPr>
                                <a:rPr lang="ar-AE" sz="1600" b="1" i="1">
                                  <a:solidFill>
                                    <a:schemeClr val="tx2"/>
                                  </a:solidFill>
                                  <a:latin typeface="Cambria Math" panose="02040503050406030204" pitchFamily="18" charset="0"/>
                                </a:rPr>
                              </m:ctrlPr>
                            </m:sSubPr>
                            <m:e>
                              <m:r>
                                <a:rPr lang="ar-AE" sz="1600" b="1" i="1">
                                  <a:solidFill>
                                    <a:schemeClr val="tx2"/>
                                  </a:solidFill>
                                  <a:latin typeface="Cambria Math" panose="02040503050406030204" pitchFamily="18" charset="0"/>
                                </a:rPr>
                                <m:t>𝝉</m:t>
                              </m:r>
                            </m:e>
                            <m:sub>
                              <m:r>
                                <a:rPr lang="ar-AE" sz="1600" b="1" i="1">
                                  <a:solidFill>
                                    <a:schemeClr val="tx2"/>
                                  </a:solidFill>
                                  <a:latin typeface="Cambria Math" panose="02040503050406030204" pitchFamily="18" charset="0"/>
                                </a:rPr>
                                <m:t>𝟐</m:t>
                              </m:r>
                            </m:sub>
                          </m:sSub>
                        </m:e>
                        <m:e>
                          <m:r>
                            <a:rPr lang="ar-AE" sz="1600" b="1">
                              <a:solidFill>
                                <a:schemeClr val="tx2"/>
                              </a:solidFill>
                              <a:latin typeface="Cambria Math" panose="02040503050406030204" pitchFamily="18" charset="0"/>
                            </a:rPr>
                            <m:t>...</m:t>
                          </m:r>
                          <m:sSub>
                            <m:sSubPr>
                              <m:ctrlPr>
                                <a:rPr lang="ar-AE" sz="1600" b="1" i="1">
                                  <a:solidFill>
                                    <a:schemeClr val="tx2"/>
                                  </a:solidFill>
                                  <a:latin typeface="Cambria Math" panose="02040503050406030204" pitchFamily="18" charset="0"/>
                                </a:rPr>
                              </m:ctrlPr>
                            </m:sSubPr>
                            <m:e>
                              <m:r>
                                <a:rPr lang="ar-AE" sz="1600" b="1" i="1">
                                  <a:solidFill>
                                    <a:schemeClr val="tx2"/>
                                  </a:solidFill>
                                  <a:latin typeface="Cambria Math" panose="02040503050406030204" pitchFamily="18" charset="0"/>
                                </a:rPr>
                                <m:t>𝝉</m:t>
                              </m:r>
                            </m:e>
                            <m:sub>
                              <m:r>
                                <a:rPr lang="ar-AE" sz="1600" b="1" i="1">
                                  <a:solidFill>
                                    <a:schemeClr val="tx2"/>
                                  </a:solidFill>
                                  <a:latin typeface="Cambria Math" panose="02040503050406030204" pitchFamily="18" charset="0"/>
                                </a:rPr>
                                <m:t>𝒏</m:t>
                              </m:r>
                            </m:sub>
                          </m:sSub>
                          <m:sSup>
                            <m:sSupPr>
                              <m:ctrlPr>
                                <a:rPr lang="ar-AE" sz="1600" b="1" i="1">
                                  <a:solidFill>
                                    <a:schemeClr val="tx2"/>
                                  </a:solidFill>
                                  <a:latin typeface="Cambria Math" panose="02040503050406030204" pitchFamily="18" charset="0"/>
                                </a:rPr>
                              </m:ctrlPr>
                            </m:sSupPr>
                            <m:e>
                              <m:d>
                                <m:dPr>
                                  <m:begChr m:val=""/>
                                  <m:endChr m:val=""/>
                                  <m:ctrlPr>
                                    <a:rPr lang="ar-AE" sz="1600" b="1" i="1">
                                      <a:solidFill>
                                        <a:schemeClr val="tx2"/>
                                      </a:solidFill>
                                      <a:latin typeface="Cambria Math" panose="02040503050406030204" pitchFamily="18" charset="0"/>
                                    </a:rPr>
                                  </m:ctrlPr>
                                </m:dPr>
                                <m:e>
                                  <m:r>
                                    <a:rPr lang="ar-AE" sz="1600" b="1">
                                      <a:solidFill>
                                        <a:schemeClr val="tx2"/>
                                      </a:solidFill>
                                      <a:latin typeface="Cambria Math" panose="02040503050406030204" pitchFamily="18" charset="0"/>
                                    </a:rPr>
                                    <m:t>]</m:t>
                                  </m:r>
                                </m:e>
                              </m:d>
                            </m:e>
                            <m:sup>
                              <m:r>
                                <a:rPr lang="ar-AE" sz="1600" b="1" i="1">
                                  <a:solidFill>
                                    <a:schemeClr val="tx2"/>
                                  </a:solidFill>
                                  <a:latin typeface="Cambria Math" panose="02040503050406030204" pitchFamily="18" charset="0"/>
                                </a:rPr>
                                <m:t>𝑻</m:t>
                              </m:r>
                            </m:sup>
                          </m:sSup>
                        </m:e>
                      </m:d>
                    </m:oMath>
                  </m:oMathPara>
                </a14:m>
                <a:endParaRPr lang="ar-AE" sz="1600" b="1" dirty="0">
                  <a:solidFill>
                    <a:schemeClr val="tx2"/>
                  </a:solidFill>
                  <a:latin typeface="Fira Sans Extra Condensed Light" panose="020F0502020204030204" pitchFamily="34" charset="0"/>
                </a:endParaRPr>
              </a:p>
            </p:txBody>
          </p:sp>
        </mc:Choice>
        <mc:Fallback xmlns="">
          <p:sp>
            <p:nvSpPr>
              <p:cNvPr id="11" name="Google Shape;1603;p42">
                <a:extLst>
                  <a:ext uri="{FF2B5EF4-FFF2-40B4-BE49-F238E27FC236}">
                    <a16:creationId xmlns:a16="http://schemas.microsoft.com/office/drawing/2014/main" id="{C269C44D-6B08-CE19-0040-2244FC66E8B5}"/>
                  </a:ext>
                </a:extLst>
              </p:cNvPr>
              <p:cNvSpPr txBox="1">
                <a:spLocks noRot="1" noChangeAspect="1" noMove="1" noResize="1" noEditPoints="1" noAdjustHandles="1" noChangeArrowheads="1" noChangeShapeType="1" noTextEdit="1"/>
              </p:cNvSpPr>
              <p:nvPr/>
            </p:nvSpPr>
            <p:spPr>
              <a:xfrm>
                <a:off x="522782" y="3387946"/>
                <a:ext cx="8621218" cy="1623496"/>
              </a:xfrm>
              <a:prstGeom prst="rect">
                <a:avLst/>
              </a:prstGeom>
              <a:blipFill>
                <a:blip r:embed="rId5"/>
                <a:stretch>
                  <a:fillRect l="-424"/>
                </a:stretch>
              </a:blipFill>
              <a:ln>
                <a:noFill/>
              </a:ln>
            </p:spPr>
            <p:txBody>
              <a:bodyPr/>
              <a:lstStyle/>
              <a:p>
                <a:r>
                  <a:rPr lang="es-MX">
                    <a:noFill/>
                  </a:rPr>
                  <a:t> </a:t>
                </a:r>
              </a:p>
            </p:txBody>
          </p:sp>
        </mc:Fallback>
      </mc:AlternateContent>
    </p:spTree>
    <p:extLst>
      <p:ext uri="{BB962C8B-B14F-4D97-AF65-F5344CB8AC3E}">
        <p14:creationId xmlns:p14="http://schemas.microsoft.com/office/powerpoint/2010/main" val="14689227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1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98">
          <a:extLst>
            <a:ext uri="{FF2B5EF4-FFF2-40B4-BE49-F238E27FC236}">
              <a16:creationId xmlns:a16="http://schemas.microsoft.com/office/drawing/2014/main" id="{4224208E-7CA5-9000-DF4B-97325B136521}"/>
            </a:ext>
          </a:extLst>
        </p:cNvPr>
        <p:cNvGrpSpPr/>
        <p:nvPr/>
      </p:nvGrpSpPr>
      <p:grpSpPr>
        <a:xfrm>
          <a:off x="0" y="0"/>
          <a:ext cx="0" cy="0"/>
          <a:chOff x="0" y="0"/>
          <a:chExt cx="0" cy="0"/>
        </a:xfrm>
      </p:grpSpPr>
      <p:pic>
        <p:nvPicPr>
          <p:cNvPr id="48" name="Picture 4" descr="The Learning Gate | Tec de Monterrey">
            <a:extLst>
              <a:ext uri="{FF2B5EF4-FFF2-40B4-BE49-F238E27FC236}">
                <a16:creationId xmlns:a16="http://schemas.microsoft.com/office/drawing/2014/main" id="{C24DF6D1-0FFA-4CC6-AA41-80F42FFF3B98}"/>
              </a:ext>
            </a:extLst>
          </p:cNvPr>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a:extLst>
              <a:ext uri="{FF2B5EF4-FFF2-40B4-BE49-F238E27FC236}">
                <a16:creationId xmlns:a16="http://schemas.microsoft.com/office/drawing/2014/main" id="{32C1B910-7605-0083-B1F5-CEFFCE8196A9}"/>
              </a:ext>
            </a:extLst>
          </p:cNvPr>
          <p:cNvSpPr txBox="1">
            <a:spLocks/>
          </p:cNvSpPr>
          <p:nvPr/>
        </p:nvSpPr>
        <p:spPr>
          <a:xfrm>
            <a:off x="373910" y="338754"/>
            <a:ext cx="554306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Introducción a Dinámica</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s-ES" sz="3000" b="1" dirty="0">
                <a:solidFill>
                  <a:schemeClr val="bg1">
                    <a:lumMod val="60000"/>
                    <a:lumOff val="40000"/>
                  </a:schemeClr>
                </a:solidFill>
                <a:latin typeface="Rajdhani"/>
                <a:ea typeface="Rajdhani"/>
                <a:cs typeface="Rajdhani"/>
                <a:sym typeface="Rajdhani"/>
              </a:rPr>
              <a:t>Modelo Dinámico</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a:extLst>
              <a:ext uri="{FF2B5EF4-FFF2-40B4-BE49-F238E27FC236}">
                <a16:creationId xmlns:a16="http://schemas.microsoft.com/office/drawing/2014/main" id="{F53C871B-D9FF-6610-3DFB-7163510C8BCB}"/>
              </a:ext>
            </a:extLst>
          </p:cNvPr>
          <p:cNvCxnSpPr/>
          <p:nvPr/>
        </p:nvCxnSpPr>
        <p:spPr>
          <a:xfrm rot="5400000">
            <a:off x="11554" y="870978"/>
            <a:ext cx="726300" cy="1588"/>
          </a:xfrm>
          <a:prstGeom prst="straightConnector1">
            <a:avLst/>
          </a:prstGeom>
          <a:noFill/>
          <a:ln w="19050" cap="flat" cmpd="sng">
            <a:solidFill>
              <a:srgbClr val="F3F3F3"/>
            </a:solidFill>
            <a:prstDash val="solid"/>
            <a:round/>
            <a:headEnd type="oval" w="med" len="med"/>
            <a:tailEnd type="oval" w="med" len="med"/>
          </a:ln>
        </p:spPr>
      </p:cxnSp>
      <p:sp>
        <p:nvSpPr>
          <p:cNvPr id="17" name="Google Shape;136;p27">
            <a:extLst>
              <a:ext uri="{FF2B5EF4-FFF2-40B4-BE49-F238E27FC236}">
                <a16:creationId xmlns:a16="http://schemas.microsoft.com/office/drawing/2014/main" id="{49241047-2475-1488-F7B9-4686E13BCCE1}"/>
              </a:ext>
            </a:extLst>
          </p:cNvPr>
          <p:cNvSpPr txBox="1">
            <a:spLocks/>
          </p:cNvSpPr>
          <p:nvPr/>
        </p:nvSpPr>
        <p:spPr>
          <a:xfrm>
            <a:off x="-29184" y="5010336"/>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3" name="Google Shape;1603;p42">
            <a:extLst>
              <a:ext uri="{FF2B5EF4-FFF2-40B4-BE49-F238E27FC236}">
                <a16:creationId xmlns:a16="http://schemas.microsoft.com/office/drawing/2014/main" id="{77A1FB24-2904-D873-6CB8-EC52B9F95C62}"/>
              </a:ext>
            </a:extLst>
          </p:cNvPr>
          <p:cNvSpPr txBox="1"/>
          <p:nvPr/>
        </p:nvSpPr>
        <p:spPr>
          <a:xfrm>
            <a:off x="229092" y="1550783"/>
            <a:ext cx="8621218" cy="1623496"/>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Modelo dinámico de un robot manipulador</a:t>
            </a:r>
            <a:endParaRPr lang="es-ES" sz="1600" dirty="0">
              <a:solidFill>
                <a:schemeClr val="accent4"/>
              </a:solidFill>
              <a:latin typeface="Fira Sans Condensed Light" panose="020B0604020202020204" charset="0"/>
              <a:cs typeface="Times New Roman" panose="02020603050405020304" pitchFamily="18" charset="0"/>
            </a:endParaRPr>
          </a:p>
          <a:p>
            <a:pPr algn="just"/>
            <a:r>
              <a:rPr lang="es-ES" sz="1600" dirty="0">
                <a:solidFill>
                  <a:schemeClr val="accent4"/>
                </a:solidFill>
                <a:latin typeface="Fira Sans Condensed Light" panose="020B0604020202020204" charset="0"/>
                <a:cs typeface="Times New Roman" panose="02020603050405020304" pitchFamily="18" charset="0"/>
              </a:rPr>
              <a:t>El modelo dinámico de un robot manipulador de </a:t>
            </a:r>
            <a:r>
              <a:rPr lang="es-ES" sz="1600" b="1" dirty="0">
                <a:solidFill>
                  <a:schemeClr val="accent4"/>
                </a:solidFill>
                <a:latin typeface="Fira Sans Condensed Light" panose="020B0604020202020204" charset="0"/>
                <a:cs typeface="Times New Roman" panose="02020603050405020304" pitchFamily="18" charset="0"/>
              </a:rPr>
              <a:t>“n” </a:t>
            </a:r>
            <a:r>
              <a:rPr lang="es-ES" sz="1600" dirty="0">
                <a:solidFill>
                  <a:schemeClr val="accent4"/>
                </a:solidFill>
                <a:latin typeface="Fira Sans Condensed Light" panose="020B0604020202020204" charset="0"/>
                <a:cs typeface="Times New Roman" panose="02020603050405020304" pitchFamily="18" charset="0"/>
              </a:rPr>
              <a:t>grados de libertad está dado por la siguiente ecuación, que en su forma compacta y con la notación más utilizada en el área de la robótica se encuentra descrito de la siguiente forma: </a:t>
            </a:r>
          </a:p>
        </p:txBody>
      </p:sp>
      <p:sp>
        <p:nvSpPr>
          <p:cNvPr id="5" name="Google Shape;1603;p42">
            <a:extLst>
              <a:ext uri="{FF2B5EF4-FFF2-40B4-BE49-F238E27FC236}">
                <a16:creationId xmlns:a16="http://schemas.microsoft.com/office/drawing/2014/main" id="{77573B7B-D47F-FFED-363B-54DCB635445E}"/>
              </a:ext>
            </a:extLst>
          </p:cNvPr>
          <p:cNvSpPr txBox="1"/>
          <p:nvPr/>
        </p:nvSpPr>
        <p:spPr>
          <a:xfrm>
            <a:off x="373910" y="3083246"/>
            <a:ext cx="842896" cy="680175"/>
          </a:xfrm>
          <a:prstGeom prst="rect">
            <a:avLst/>
          </a:prstGeom>
          <a:noFill/>
          <a:ln>
            <a:noFill/>
          </a:ln>
        </p:spPr>
        <p:txBody>
          <a:bodyPr spcFirstLastPara="1" wrap="square" lIns="91425" tIns="182875" rIns="91425" bIns="0" anchor="t" anchorCtr="0">
            <a:noAutofit/>
          </a:bodyPr>
          <a:lstStyle/>
          <a:p>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Donde</a:t>
            </a:r>
            <a:r>
              <a:rPr lang="es-ES" dirty="0">
                <a:solidFill>
                  <a:schemeClr val="tx2"/>
                </a:solidFill>
                <a:latin typeface="Fira Sans Condensed Light" panose="020B0604020202020204" charset="0"/>
                <a:cs typeface="Times New Roman" panose="02020603050405020304" pitchFamily="18" charset="0"/>
              </a:rPr>
              <a:t>:</a:t>
            </a:r>
            <a:endParaRPr lang="ar-AE" sz="1600" b="1" dirty="0">
              <a:solidFill>
                <a:schemeClr val="tx2"/>
              </a:solidFill>
            </a:endParaRPr>
          </a:p>
          <a:p>
            <a:pPr algn="just"/>
            <a:endParaRPr lang="es-ES" sz="1600" dirty="0">
              <a:solidFill>
                <a:schemeClr val="accent4"/>
              </a:solidFill>
              <a:latin typeface="Fira Sans Condensed Light" panose="020B0604020202020204" charset="0"/>
              <a:cs typeface="Times New Roman" panose="02020603050405020304" pitchFamily="18" charset="0"/>
            </a:endParaRPr>
          </a:p>
        </p:txBody>
      </p:sp>
      <p:pic>
        <p:nvPicPr>
          <p:cNvPr id="8" name="Imagen 7">
            <a:extLst>
              <a:ext uri="{FF2B5EF4-FFF2-40B4-BE49-F238E27FC236}">
                <a16:creationId xmlns:a16="http://schemas.microsoft.com/office/drawing/2014/main" id="{8D3D365E-4E07-CB78-F5A4-CA5B3261DEAF}"/>
              </a:ext>
            </a:extLst>
          </p:cNvPr>
          <p:cNvPicPr>
            <a:picLocks noChangeAspect="1"/>
          </p:cNvPicPr>
          <p:nvPr/>
        </p:nvPicPr>
        <p:blipFill>
          <a:blip r:embed="rId4"/>
          <a:stretch>
            <a:fillRect/>
          </a:stretch>
        </p:blipFill>
        <p:spPr>
          <a:xfrm>
            <a:off x="2310602" y="2903555"/>
            <a:ext cx="4061015" cy="359382"/>
          </a:xfrm>
          <a:prstGeom prst="rect">
            <a:avLst/>
          </a:prstGeom>
        </p:spPr>
      </p:pic>
      <mc:AlternateContent xmlns:mc="http://schemas.openxmlformats.org/markup-compatibility/2006" xmlns:a14="http://schemas.microsoft.com/office/drawing/2010/main">
        <mc:Choice Requires="a14">
          <p:sp>
            <p:nvSpPr>
              <p:cNvPr id="11" name="Google Shape;1603;p42">
                <a:extLst>
                  <a:ext uri="{FF2B5EF4-FFF2-40B4-BE49-F238E27FC236}">
                    <a16:creationId xmlns:a16="http://schemas.microsoft.com/office/drawing/2014/main" id="{6B907731-A853-A4D3-9360-5C64763CBA8C}"/>
                  </a:ext>
                </a:extLst>
              </p:cNvPr>
              <p:cNvSpPr txBox="1"/>
              <p:nvPr/>
            </p:nvSpPr>
            <p:spPr>
              <a:xfrm>
                <a:off x="522782" y="3409646"/>
                <a:ext cx="8621218" cy="1623496"/>
              </a:xfrm>
              <a:prstGeom prst="rect">
                <a:avLst/>
              </a:prstGeom>
              <a:noFill/>
              <a:ln>
                <a:noFill/>
              </a:ln>
            </p:spPr>
            <p:txBody>
              <a:bodyPr spcFirstLastPara="1" wrap="square" lIns="91425" tIns="182875" rIns="91425" bIns="0" anchor="t" anchorCtr="0">
                <a:noAutofit/>
              </a:bodyPr>
              <a:lstStyle/>
              <a:p>
                <a:r>
                  <a:rPr lang="es-MX" sz="1600" b="1" dirty="0">
                    <a:solidFill>
                      <a:schemeClr val="tx2"/>
                    </a:solidFill>
                    <a:latin typeface="Fira Sans Condensed Light" panose="020B0403050000020004" pitchFamily="34" charset="0"/>
                  </a:rPr>
                  <a:t>M(q)</a:t>
                </a:r>
                <a14:m>
                  <m:oMath xmlns:m="http://schemas.openxmlformats.org/officeDocument/2006/math">
                    <m:acc>
                      <m:accPr>
                        <m:chr m:val="̈"/>
                        <m:ctrlPr>
                          <a:rPr lang="es-MX" sz="1600" b="1" i="1" smtClean="0">
                            <a:solidFill>
                              <a:schemeClr val="tx2"/>
                            </a:solidFill>
                            <a:latin typeface="Cambria Math" panose="02040503050406030204" pitchFamily="18" charset="0"/>
                          </a:rPr>
                        </m:ctrlPr>
                      </m:accPr>
                      <m:e>
                        <m:r>
                          <a:rPr lang="es-MX" sz="1600" b="1" i="1" smtClean="0">
                            <a:solidFill>
                              <a:schemeClr val="tx2"/>
                            </a:solidFill>
                            <a:latin typeface="Cambria Math" panose="02040503050406030204" pitchFamily="18" charset="0"/>
                          </a:rPr>
                          <m:t>𝒒</m:t>
                        </m:r>
                      </m:e>
                    </m:acc>
                  </m:oMath>
                </a14:m>
                <a:r>
                  <a:rPr lang="es-MX" sz="1600" b="1" dirty="0">
                    <a:solidFill>
                      <a:schemeClr val="tx2"/>
                    </a:solidFill>
                    <a:latin typeface="Fira Sans Condensed Light" panose="020B0403050000020004" pitchFamily="34" charset="0"/>
                  </a:rPr>
                  <a:t>​ — Término de inercia</a:t>
                </a:r>
              </a:p>
              <a:p>
                <a14:m>
                  <m:oMath xmlns:m="http://schemas.openxmlformats.org/officeDocument/2006/math">
                    <m:r>
                      <a:rPr lang="es-MX" sz="1600" b="0" i="1">
                        <a:solidFill>
                          <a:schemeClr val="tx2"/>
                        </a:solidFill>
                        <a:latin typeface="Cambria Math" panose="02040503050406030204" pitchFamily="18" charset="0"/>
                      </a:rPr>
                      <m:t>𝑀</m:t>
                    </m:r>
                    <m:d>
                      <m:dPr>
                        <m:ctrlPr>
                          <a:rPr lang="ar-AE" sz="1600" i="1">
                            <a:solidFill>
                              <a:schemeClr val="tx2"/>
                            </a:solidFill>
                            <a:latin typeface="Cambria Math" panose="02040503050406030204" pitchFamily="18" charset="0"/>
                          </a:rPr>
                        </m:ctrlPr>
                      </m:dPr>
                      <m:e>
                        <m:r>
                          <a:rPr lang="ar-AE" sz="1600" b="0" i="1">
                            <a:solidFill>
                              <a:schemeClr val="tx2"/>
                            </a:solidFill>
                            <a:latin typeface="Cambria Math" panose="02040503050406030204" pitchFamily="18" charset="0"/>
                          </a:rPr>
                          <m:t>𝑞</m:t>
                        </m:r>
                      </m:e>
                    </m:d>
                  </m:oMath>
                </a14:m>
                <a:r>
                  <a:rPr lang="es-MX" sz="1600" dirty="0">
                    <a:solidFill>
                      <a:schemeClr val="tx2"/>
                    </a:solidFill>
                    <a:latin typeface="Fira Sans Condensed Light" panose="020B0403050000020004" pitchFamily="34" charset="0"/>
                  </a:rPr>
                  <a:t>es la matriz de inercia del robot.</a:t>
                </a:r>
              </a:p>
              <a:p>
                <a:r>
                  <a:rPr lang="es-MX" sz="1600" dirty="0">
                    <a:solidFill>
                      <a:schemeClr val="tx2"/>
                    </a:solidFill>
                    <a:latin typeface="Fira Sans Condensed Light" panose="020B0403050000020004" pitchFamily="34" charset="0"/>
                  </a:rPr>
                  <a:t>Depende de la configuración articular </a:t>
                </a:r>
                <a14:m>
                  <m:oMath xmlns:m="http://schemas.openxmlformats.org/officeDocument/2006/math">
                    <m:r>
                      <a:rPr lang="es-MX" sz="1600" b="0" i="1">
                        <a:solidFill>
                          <a:schemeClr val="tx2"/>
                        </a:solidFill>
                        <a:latin typeface="Cambria Math" panose="02040503050406030204" pitchFamily="18" charset="0"/>
                      </a:rPr>
                      <m:t>𝑞</m:t>
                    </m:r>
                  </m:oMath>
                </a14:m>
                <a:r>
                  <a:rPr lang="es-MX" sz="1600" dirty="0">
                    <a:solidFill>
                      <a:schemeClr val="tx2"/>
                    </a:solidFill>
                    <a:latin typeface="Fira Sans Condensed Light" panose="020B0403050000020004" pitchFamily="34" charset="0"/>
                  </a:rPr>
                  <a:t>.</a:t>
                </a:r>
              </a:p>
              <a:p>
                <a:r>
                  <a:rPr lang="es-MX" sz="1600" dirty="0">
                    <a:solidFill>
                      <a:schemeClr val="tx2"/>
                    </a:solidFill>
                    <a:latin typeface="Fira Sans Condensed Light" panose="020B0403050000020004" pitchFamily="34" charset="0"/>
                  </a:rPr>
                  <a:t>Es una matriz simétrica y definida positiva.</a:t>
                </a:r>
                <a:endParaRPr lang="es-MX" sz="1600" b="1" dirty="0">
                  <a:solidFill>
                    <a:schemeClr val="tx2"/>
                  </a:solidFill>
                  <a:latin typeface="Fira Sans Condensed Light" panose="020B0403050000020004" pitchFamily="34" charset="0"/>
                </a:endParaRPr>
              </a:p>
              <a:p>
                <a:pPr/>
                <a14:m>
                  <m:oMathPara xmlns:m="http://schemas.openxmlformats.org/officeDocument/2006/math">
                    <m:oMathParaPr>
                      <m:jc m:val="centerGroup"/>
                    </m:oMathParaPr>
                    <m:oMath xmlns:m="http://schemas.openxmlformats.org/officeDocument/2006/math">
                      <m:r>
                        <a:rPr lang="es-MX" sz="1600" b="1" i="1">
                          <a:solidFill>
                            <a:schemeClr val="tx2"/>
                          </a:solidFill>
                          <a:latin typeface="Cambria Math" panose="02040503050406030204" pitchFamily="18" charset="0"/>
                        </a:rPr>
                        <m:t>𝑴</m:t>
                      </m:r>
                      <m:d>
                        <m:dPr>
                          <m:ctrlPr>
                            <a:rPr lang="ar-AE" sz="1600" b="1" i="1">
                              <a:solidFill>
                                <a:schemeClr val="tx2"/>
                              </a:solidFill>
                              <a:latin typeface="Cambria Math" panose="02040503050406030204" pitchFamily="18" charset="0"/>
                            </a:rPr>
                          </m:ctrlPr>
                        </m:dPr>
                        <m:e>
                          <m:r>
                            <a:rPr lang="ar-AE" sz="1600" b="1" i="1">
                              <a:solidFill>
                                <a:schemeClr val="tx2"/>
                              </a:solidFill>
                              <a:latin typeface="Cambria Math" panose="02040503050406030204" pitchFamily="18" charset="0"/>
                            </a:rPr>
                            <m:t>𝒒</m:t>
                          </m:r>
                        </m:e>
                      </m:d>
                      <m:r>
                        <a:rPr lang="ar-AE" sz="1600" b="1">
                          <a:solidFill>
                            <a:schemeClr val="tx2"/>
                          </a:solidFill>
                          <a:latin typeface="Cambria Math" panose="02040503050406030204" pitchFamily="18" charset="0"/>
                        </a:rPr>
                        <m:t>∈</m:t>
                      </m:r>
                      <m:sSup>
                        <m:sSupPr>
                          <m:ctrlPr>
                            <a:rPr lang="ar-AE" sz="1600" b="1" i="1">
                              <a:solidFill>
                                <a:schemeClr val="tx2"/>
                              </a:solidFill>
                              <a:latin typeface="Cambria Math" panose="02040503050406030204" pitchFamily="18" charset="0"/>
                            </a:rPr>
                          </m:ctrlPr>
                        </m:sSupPr>
                        <m:e>
                          <m:r>
                            <a:rPr lang="ar-AE" sz="1600" b="1">
                              <a:solidFill>
                                <a:schemeClr val="tx2"/>
                              </a:solidFill>
                              <a:latin typeface="Cambria Math" panose="02040503050406030204" pitchFamily="18" charset="0"/>
                            </a:rPr>
                            <m:t>ℝ</m:t>
                          </m:r>
                        </m:e>
                        <m:sup>
                          <m:r>
                            <a:rPr lang="ar-AE" sz="1600" b="1" i="1">
                              <a:solidFill>
                                <a:schemeClr val="tx2"/>
                              </a:solidFill>
                              <a:latin typeface="Cambria Math" panose="02040503050406030204" pitchFamily="18" charset="0"/>
                            </a:rPr>
                            <m:t>𝒏</m:t>
                          </m:r>
                          <m:r>
                            <a:rPr lang="ar-AE" sz="1600" b="1">
                              <a:solidFill>
                                <a:schemeClr val="tx2"/>
                              </a:solidFill>
                              <a:latin typeface="Cambria Math" panose="02040503050406030204" pitchFamily="18" charset="0"/>
                            </a:rPr>
                            <m:t>×</m:t>
                          </m:r>
                          <m:r>
                            <a:rPr lang="ar-AE" sz="1600" b="1" i="1">
                              <a:solidFill>
                                <a:schemeClr val="tx2"/>
                              </a:solidFill>
                              <a:latin typeface="Cambria Math" panose="02040503050406030204" pitchFamily="18" charset="0"/>
                            </a:rPr>
                            <m:t>𝒏</m:t>
                          </m:r>
                        </m:sup>
                      </m:sSup>
                    </m:oMath>
                  </m:oMathPara>
                </a14:m>
                <a:endParaRPr lang="ar-AE" sz="1600" b="1" dirty="0">
                  <a:solidFill>
                    <a:schemeClr val="tx2"/>
                  </a:solidFill>
                  <a:latin typeface="Fira Sans Condensed Light" panose="020B0403050000020004" pitchFamily="34" charset="0"/>
                </a:endParaRPr>
              </a:p>
            </p:txBody>
          </p:sp>
        </mc:Choice>
        <mc:Fallback xmlns="">
          <p:sp>
            <p:nvSpPr>
              <p:cNvPr id="11" name="Google Shape;1603;p42">
                <a:extLst>
                  <a:ext uri="{FF2B5EF4-FFF2-40B4-BE49-F238E27FC236}">
                    <a16:creationId xmlns:a16="http://schemas.microsoft.com/office/drawing/2014/main" id="{6B907731-A853-A4D3-9360-5C64763CBA8C}"/>
                  </a:ext>
                </a:extLst>
              </p:cNvPr>
              <p:cNvSpPr txBox="1">
                <a:spLocks noRot="1" noChangeAspect="1" noMove="1" noResize="1" noEditPoints="1" noAdjustHandles="1" noChangeArrowheads="1" noChangeShapeType="1" noTextEdit="1"/>
              </p:cNvSpPr>
              <p:nvPr/>
            </p:nvSpPr>
            <p:spPr>
              <a:xfrm>
                <a:off x="522782" y="3409646"/>
                <a:ext cx="8621218" cy="1623496"/>
              </a:xfrm>
              <a:prstGeom prst="rect">
                <a:avLst/>
              </a:prstGeom>
              <a:blipFill>
                <a:blip r:embed="rId5"/>
                <a:stretch>
                  <a:fillRect l="-424"/>
                </a:stretch>
              </a:blipFill>
              <a:ln>
                <a:noFill/>
              </a:ln>
            </p:spPr>
            <p:txBody>
              <a:bodyPr/>
              <a:lstStyle/>
              <a:p>
                <a:r>
                  <a:rPr lang="es-MX">
                    <a:noFill/>
                  </a:rPr>
                  <a:t> </a:t>
                </a:r>
              </a:p>
            </p:txBody>
          </p:sp>
        </mc:Fallback>
      </mc:AlternateContent>
    </p:spTree>
    <p:extLst>
      <p:ext uri="{BB962C8B-B14F-4D97-AF65-F5344CB8AC3E}">
        <p14:creationId xmlns:p14="http://schemas.microsoft.com/office/powerpoint/2010/main" val="3070810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1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98">
          <a:extLst>
            <a:ext uri="{FF2B5EF4-FFF2-40B4-BE49-F238E27FC236}">
              <a16:creationId xmlns:a16="http://schemas.microsoft.com/office/drawing/2014/main" id="{40F499E0-CD0F-EE5E-8166-8D3F084E7B38}"/>
            </a:ext>
          </a:extLst>
        </p:cNvPr>
        <p:cNvGrpSpPr/>
        <p:nvPr/>
      </p:nvGrpSpPr>
      <p:grpSpPr>
        <a:xfrm>
          <a:off x="0" y="0"/>
          <a:ext cx="0" cy="0"/>
          <a:chOff x="0" y="0"/>
          <a:chExt cx="0" cy="0"/>
        </a:xfrm>
      </p:grpSpPr>
      <p:pic>
        <p:nvPicPr>
          <p:cNvPr id="48" name="Picture 4" descr="The Learning Gate | Tec de Monterrey">
            <a:extLst>
              <a:ext uri="{FF2B5EF4-FFF2-40B4-BE49-F238E27FC236}">
                <a16:creationId xmlns:a16="http://schemas.microsoft.com/office/drawing/2014/main" id="{8A1C3D26-E15F-3DC2-12DA-1A654D597D6E}"/>
              </a:ext>
            </a:extLst>
          </p:cNvPr>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a:extLst>
              <a:ext uri="{FF2B5EF4-FFF2-40B4-BE49-F238E27FC236}">
                <a16:creationId xmlns:a16="http://schemas.microsoft.com/office/drawing/2014/main" id="{C858581E-6E4A-BA40-1AF5-713C867D8B1B}"/>
              </a:ext>
            </a:extLst>
          </p:cNvPr>
          <p:cNvSpPr txBox="1">
            <a:spLocks/>
          </p:cNvSpPr>
          <p:nvPr/>
        </p:nvSpPr>
        <p:spPr>
          <a:xfrm>
            <a:off x="373910" y="338754"/>
            <a:ext cx="554306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Introducción a Dinámica</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s-ES" sz="3000" b="1" dirty="0">
                <a:solidFill>
                  <a:schemeClr val="bg1">
                    <a:lumMod val="60000"/>
                    <a:lumOff val="40000"/>
                  </a:schemeClr>
                </a:solidFill>
                <a:latin typeface="Rajdhani"/>
                <a:ea typeface="Rajdhani"/>
                <a:cs typeface="Rajdhani"/>
                <a:sym typeface="Rajdhani"/>
              </a:rPr>
              <a:t>Modelo Dinámico</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a:extLst>
              <a:ext uri="{FF2B5EF4-FFF2-40B4-BE49-F238E27FC236}">
                <a16:creationId xmlns:a16="http://schemas.microsoft.com/office/drawing/2014/main" id="{6B19B88F-9C4D-60CD-24A0-5721F393D595}"/>
              </a:ext>
            </a:extLst>
          </p:cNvPr>
          <p:cNvCxnSpPr/>
          <p:nvPr/>
        </p:nvCxnSpPr>
        <p:spPr>
          <a:xfrm rot="5400000">
            <a:off x="11554" y="870978"/>
            <a:ext cx="726300" cy="1588"/>
          </a:xfrm>
          <a:prstGeom prst="straightConnector1">
            <a:avLst/>
          </a:prstGeom>
          <a:noFill/>
          <a:ln w="19050" cap="flat" cmpd="sng">
            <a:solidFill>
              <a:srgbClr val="F3F3F3"/>
            </a:solidFill>
            <a:prstDash val="solid"/>
            <a:round/>
            <a:headEnd type="oval" w="med" len="med"/>
            <a:tailEnd type="oval" w="med" len="med"/>
          </a:ln>
        </p:spPr>
      </p:cxnSp>
      <p:sp>
        <p:nvSpPr>
          <p:cNvPr id="17" name="Google Shape;136;p27">
            <a:extLst>
              <a:ext uri="{FF2B5EF4-FFF2-40B4-BE49-F238E27FC236}">
                <a16:creationId xmlns:a16="http://schemas.microsoft.com/office/drawing/2014/main" id="{70E15B12-BC86-B99B-3496-5F149E599900}"/>
              </a:ext>
            </a:extLst>
          </p:cNvPr>
          <p:cNvSpPr txBox="1">
            <a:spLocks/>
          </p:cNvSpPr>
          <p:nvPr/>
        </p:nvSpPr>
        <p:spPr>
          <a:xfrm>
            <a:off x="-29184" y="5010336"/>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3" name="Google Shape;1603;p42">
            <a:extLst>
              <a:ext uri="{FF2B5EF4-FFF2-40B4-BE49-F238E27FC236}">
                <a16:creationId xmlns:a16="http://schemas.microsoft.com/office/drawing/2014/main" id="{2D4A2803-CA6E-1440-9C51-8687B6F698A3}"/>
              </a:ext>
            </a:extLst>
          </p:cNvPr>
          <p:cNvSpPr txBox="1"/>
          <p:nvPr/>
        </p:nvSpPr>
        <p:spPr>
          <a:xfrm>
            <a:off x="229092" y="1550783"/>
            <a:ext cx="8621218" cy="1623496"/>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Modelo dinámico de un robot manipulador</a:t>
            </a:r>
            <a:endParaRPr lang="es-ES" sz="1600" dirty="0">
              <a:solidFill>
                <a:schemeClr val="accent4"/>
              </a:solidFill>
              <a:latin typeface="Fira Sans Condensed Light" panose="020B0604020202020204" charset="0"/>
              <a:cs typeface="Times New Roman" panose="02020603050405020304" pitchFamily="18" charset="0"/>
            </a:endParaRPr>
          </a:p>
          <a:p>
            <a:pPr algn="just"/>
            <a:r>
              <a:rPr lang="es-ES" sz="1600" dirty="0">
                <a:solidFill>
                  <a:schemeClr val="accent4"/>
                </a:solidFill>
                <a:latin typeface="Fira Sans Condensed Light" panose="020B0604020202020204" charset="0"/>
                <a:cs typeface="Times New Roman" panose="02020603050405020304" pitchFamily="18" charset="0"/>
              </a:rPr>
              <a:t>El modelo dinámico de un robot manipulador de </a:t>
            </a:r>
            <a:r>
              <a:rPr lang="es-ES" sz="1600" b="1" dirty="0">
                <a:solidFill>
                  <a:schemeClr val="accent4"/>
                </a:solidFill>
                <a:latin typeface="Fira Sans Condensed Light" panose="020B0604020202020204" charset="0"/>
                <a:cs typeface="Times New Roman" panose="02020603050405020304" pitchFamily="18" charset="0"/>
              </a:rPr>
              <a:t>“n” </a:t>
            </a:r>
            <a:r>
              <a:rPr lang="es-ES" sz="1600" dirty="0">
                <a:solidFill>
                  <a:schemeClr val="accent4"/>
                </a:solidFill>
                <a:latin typeface="Fira Sans Condensed Light" panose="020B0604020202020204" charset="0"/>
                <a:cs typeface="Times New Roman" panose="02020603050405020304" pitchFamily="18" charset="0"/>
              </a:rPr>
              <a:t>grados de libertad está dado por la siguiente ecuación, que en su forma compacta y con la notación más utilizada en el área de la robótica se encuentra descrito de la siguiente forma: </a:t>
            </a:r>
          </a:p>
        </p:txBody>
      </p:sp>
      <p:sp>
        <p:nvSpPr>
          <p:cNvPr id="5" name="Google Shape;1603;p42">
            <a:extLst>
              <a:ext uri="{FF2B5EF4-FFF2-40B4-BE49-F238E27FC236}">
                <a16:creationId xmlns:a16="http://schemas.microsoft.com/office/drawing/2014/main" id="{2B774F90-46B7-6E4B-5E88-525F646F9553}"/>
              </a:ext>
            </a:extLst>
          </p:cNvPr>
          <p:cNvSpPr txBox="1"/>
          <p:nvPr/>
        </p:nvSpPr>
        <p:spPr>
          <a:xfrm>
            <a:off x="373910" y="3083246"/>
            <a:ext cx="842896" cy="680175"/>
          </a:xfrm>
          <a:prstGeom prst="rect">
            <a:avLst/>
          </a:prstGeom>
          <a:noFill/>
          <a:ln>
            <a:noFill/>
          </a:ln>
        </p:spPr>
        <p:txBody>
          <a:bodyPr spcFirstLastPara="1" wrap="square" lIns="91425" tIns="182875" rIns="91425" bIns="0" anchor="t" anchorCtr="0">
            <a:noAutofit/>
          </a:bodyPr>
          <a:lstStyle/>
          <a:p>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Donde</a:t>
            </a:r>
            <a:r>
              <a:rPr lang="es-ES" dirty="0">
                <a:solidFill>
                  <a:schemeClr val="tx2"/>
                </a:solidFill>
                <a:latin typeface="Fira Sans Condensed Light" panose="020B0604020202020204" charset="0"/>
                <a:cs typeface="Times New Roman" panose="02020603050405020304" pitchFamily="18" charset="0"/>
              </a:rPr>
              <a:t>:</a:t>
            </a:r>
            <a:endParaRPr lang="ar-AE" sz="1600" b="1" dirty="0">
              <a:solidFill>
                <a:schemeClr val="tx2"/>
              </a:solidFill>
            </a:endParaRPr>
          </a:p>
          <a:p>
            <a:pPr algn="just"/>
            <a:endParaRPr lang="es-ES" sz="1600" dirty="0">
              <a:solidFill>
                <a:schemeClr val="accent4"/>
              </a:solidFill>
              <a:latin typeface="Fira Sans Condensed Light" panose="020B0604020202020204" charset="0"/>
              <a:cs typeface="Times New Roman" panose="02020603050405020304" pitchFamily="18" charset="0"/>
            </a:endParaRPr>
          </a:p>
        </p:txBody>
      </p:sp>
      <p:pic>
        <p:nvPicPr>
          <p:cNvPr id="8" name="Imagen 7">
            <a:extLst>
              <a:ext uri="{FF2B5EF4-FFF2-40B4-BE49-F238E27FC236}">
                <a16:creationId xmlns:a16="http://schemas.microsoft.com/office/drawing/2014/main" id="{FD1815A3-8142-FE07-0DB2-FCE193C846A3}"/>
              </a:ext>
            </a:extLst>
          </p:cNvPr>
          <p:cNvPicPr>
            <a:picLocks noChangeAspect="1"/>
          </p:cNvPicPr>
          <p:nvPr/>
        </p:nvPicPr>
        <p:blipFill>
          <a:blip r:embed="rId4"/>
          <a:stretch>
            <a:fillRect/>
          </a:stretch>
        </p:blipFill>
        <p:spPr>
          <a:xfrm>
            <a:off x="2310602" y="2903555"/>
            <a:ext cx="4061015" cy="359382"/>
          </a:xfrm>
          <a:prstGeom prst="rect">
            <a:avLst/>
          </a:prstGeom>
        </p:spPr>
      </p:pic>
      <mc:AlternateContent xmlns:mc="http://schemas.openxmlformats.org/markup-compatibility/2006" xmlns:a14="http://schemas.microsoft.com/office/drawing/2010/main">
        <mc:Choice Requires="a14">
          <p:sp>
            <p:nvSpPr>
              <p:cNvPr id="11" name="Google Shape;1603;p42">
                <a:extLst>
                  <a:ext uri="{FF2B5EF4-FFF2-40B4-BE49-F238E27FC236}">
                    <a16:creationId xmlns:a16="http://schemas.microsoft.com/office/drawing/2014/main" id="{E2C425E5-7085-9F4B-53A2-2FEDC10F9D9A}"/>
                  </a:ext>
                </a:extLst>
              </p:cNvPr>
              <p:cNvSpPr txBox="1"/>
              <p:nvPr/>
            </p:nvSpPr>
            <p:spPr>
              <a:xfrm>
                <a:off x="522782" y="3324888"/>
                <a:ext cx="8621218" cy="1623496"/>
              </a:xfrm>
              <a:prstGeom prst="rect">
                <a:avLst/>
              </a:prstGeom>
              <a:noFill/>
              <a:ln>
                <a:noFill/>
              </a:ln>
            </p:spPr>
            <p:txBody>
              <a:bodyPr spcFirstLastPara="1" wrap="square" lIns="91425" tIns="182875" rIns="91425" bIns="0" anchor="t" anchorCtr="0">
                <a:noAutofit/>
              </a:bodyPr>
              <a:lstStyle/>
              <a:p>
                <a14:m>
                  <m:oMath xmlns:m="http://schemas.openxmlformats.org/officeDocument/2006/math">
                    <m:r>
                      <a:rPr lang="ar-AE" sz="1600" b="1" i="1" smtClean="0">
                        <a:solidFill>
                          <a:schemeClr val="tx2"/>
                        </a:solidFill>
                        <a:latin typeface="Cambria Math" panose="02040503050406030204" pitchFamily="18" charset="0"/>
                      </a:rPr>
                      <m:t>𝑪</m:t>
                    </m:r>
                    <m:d>
                      <m:dPr>
                        <m:sepChr m:val=","/>
                        <m:ctrlPr>
                          <a:rPr lang="ar-AE" sz="1600" b="1" i="1">
                            <a:solidFill>
                              <a:schemeClr val="tx2"/>
                            </a:solidFill>
                            <a:latin typeface="Cambria Math" panose="02040503050406030204" pitchFamily="18" charset="0"/>
                          </a:rPr>
                        </m:ctrlPr>
                      </m:dPr>
                      <m:e>
                        <m:r>
                          <a:rPr lang="ar-AE" sz="1600" b="1" i="1">
                            <a:solidFill>
                              <a:schemeClr val="tx2"/>
                            </a:solidFill>
                            <a:latin typeface="Cambria Math" panose="02040503050406030204" pitchFamily="18" charset="0"/>
                          </a:rPr>
                          <m:t>𝒒</m:t>
                        </m:r>
                      </m:e>
                      <m:e>
                        <m:acc>
                          <m:accPr>
                            <m:chr m:val="̇"/>
                            <m:ctrlPr>
                              <a:rPr lang="ar-AE" sz="1600" b="1" i="1">
                                <a:solidFill>
                                  <a:schemeClr val="tx2"/>
                                </a:solidFill>
                                <a:latin typeface="Cambria Math" panose="02040503050406030204" pitchFamily="18" charset="0"/>
                              </a:rPr>
                            </m:ctrlPr>
                          </m:accPr>
                          <m:e>
                            <m:r>
                              <a:rPr lang="ar-AE" sz="1600" b="1" i="1">
                                <a:solidFill>
                                  <a:schemeClr val="tx2"/>
                                </a:solidFill>
                                <a:latin typeface="Cambria Math" panose="02040503050406030204" pitchFamily="18" charset="0"/>
                              </a:rPr>
                              <m:t>𝒒</m:t>
                            </m:r>
                          </m:e>
                        </m:acc>
                      </m:e>
                    </m:d>
                    <m:acc>
                      <m:accPr>
                        <m:chr m:val="̇"/>
                        <m:ctrlPr>
                          <a:rPr lang="ar-AE" sz="1600" b="1" i="1">
                            <a:solidFill>
                              <a:schemeClr val="tx2"/>
                            </a:solidFill>
                            <a:latin typeface="Cambria Math" panose="02040503050406030204" pitchFamily="18" charset="0"/>
                          </a:rPr>
                        </m:ctrlPr>
                      </m:accPr>
                      <m:e>
                        <m:r>
                          <a:rPr lang="ar-AE" sz="1600" b="1" i="1">
                            <a:solidFill>
                              <a:schemeClr val="tx2"/>
                            </a:solidFill>
                            <a:latin typeface="Cambria Math" panose="02040503050406030204" pitchFamily="18" charset="0"/>
                          </a:rPr>
                          <m:t>𝒒</m:t>
                        </m:r>
                      </m:e>
                    </m:acc>
                  </m:oMath>
                </a14:m>
                <a:r>
                  <a:rPr lang="ar-AE" sz="1600" b="1" dirty="0">
                    <a:solidFill>
                      <a:schemeClr val="tx2"/>
                    </a:solidFill>
                    <a:latin typeface="Fira Sans Condensed Light" panose="020B0403050000020004" pitchFamily="34" charset="0"/>
                  </a:rPr>
                  <a:t>— </a:t>
                </a:r>
                <a:r>
                  <a:rPr lang="es-MX" sz="1600" b="1" dirty="0">
                    <a:solidFill>
                      <a:schemeClr val="tx2"/>
                    </a:solidFill>
                    <a:latin typeface="Fira Sans Condensed Light" panose="020B0403050000020004" pitchFamily="34" charset="0"/>
                  </a:rPr>
                  <a:t>Fuerzas centrífugos y de Coriolis</a:t>
                </a:r>
              </a:p>
              <a:p>
                <a14:m>
                  <m:oMath xmlns:m="http://schemas.openxmlformats.org/officeDocument/2006/math">
                    <m:r>
                      <a:rPr lang="es-MX" sz="1600" b="0" i="1">
                        <a:solidFill>
                          <a:schemeClr val="tx2"/>
                        </a:solidFill>
                        <a:latin typeface="Cambria Math" panose="02040503050406030204" pitchFamily="18" charset="0"/>
                      </a:rPr>
                      <m:t>𝐶</m:t>
                    </m:r>
                    <m:d>
                      <m:dPr>
                        <m:sepChr m:val=","/>
                        <m:ctrlPr>
                          <a:rPr lang="ar-AE" sz="1600" i="1">
                            <a:solidFill>
                              <a:schemeClr val="tx2"/>
                            </a:solidFill>
                            <a:latin typeface="Cambria Math" panose="02040503050406030204" pitchFamily="18" charset="0"/>
                          </a:rPr>
                        </m:ctrlPr>
                      </m:dPr>
                      <m:e>
                        <m:r>
                          <a:rPr lang="ar-AE" sz="1600" b="0" i="1">
                            <a:solidFill>
                              <a:schemeClr val="tx2"/>
                            </a:solidFill>
                            <a:latin typeface="Cambria Math" panose="02040503050406030204" pitchFamily="18" charset="0"/>
                          </a:rPr>
                          <m:t>𝑞</m:t>
                        </m:r>
                      </m:e>
                      <m:e>
                        <m:acc>
                          <m:accPr>
                            <m:chr m:val="̇"/>
                            <m:ctrlPr>
                              <a:rPr lang="ar-AE" sz="1600" i="1">
                                <a:solidFill>
                                  <a:schemeClr val="tx2"/>
                                </a:solidFill>
                                <a:latin typeface="Cambria Math" panose="02040503050406030204" pitchFamily="18" charset="0"/>
                              </a:rPr>
                            </m:ctrlPr>
                          </m:accPr>
                          <m:e>
                            <m:r>
                              <a:rPr lang="ar-AE" sz="1600" b="0" i="1">
                                <a:solidFill>
                                  <a:schemeClr val="tx2"/>
                                </a:solidFill>
                                <a:latin typeface="Cambria Math" panose="02040503050406030204" pitchFamily="18" charset="0"/>
                              </a:rPr>
                              <m:t>𝑞</m:t>
                            </m:r>
                          </m:e>
                        </m:acc>
                      </m:e>
                    </m:d>
                  </m:oMath>
                </a14:m>
                <a:r>
                  <a:rPr lang="es-MX" sz="1600" dirty="0">
                    <a:solidFill>
                      <a:schemeClr val="tx2"/>
                    </a:solidFill>
                    <a:latin typeface="Fira Sans Condensed Light" panose="020B0403050000020004" pitchFamily="34" charset="0"/>
                  </a:rPr>
                  <a:t>es la matriz de Coriolis y fuerzas centrífugas.</a:t>
                </a:r>
              </a:p>
              <a:p>
                <a:r>
                  <a:rPr lang="es-MX" sz="1600" dirty="0">
                    <a:solidFill>
                      <a:schemeClr val="tx2"/>
                    </a:solidFill>
                    <a:latin typeface="Fira Sans Condensed Light" panose="020B0403050000020004" pitchFamily="34" charset="0"/>
                  </a:rPr>
                  <a:t>Depende de:</a:t>
                </a:r>
              </a:p>
              <a:p>
                <a:pPr lvl="1"/>
                <a:r>
                  <a:rPr lang="es-MX" sz="1600" dirty="0">
                    <a:solidFill>
                      <a:schemeClr val="tx2"/>
                    </a:solidFill>
                    <a:latin typeface="Fira Sans Condensed Light" panose="020B0403050000020004" pitchFamily="34" charset="0"/>
                  </a:rPr>
                  <a:t>la posición articular </a:t>
                </a:r>
                <a14:m>
                  <m:oMath xmlns:m="http://schemas.openxmlformats.org/officeDocument/2006/math">
                    <m:r>
                      <a:rPr lang="es-MX" sz="1600" b="0" i="1">
                        <a:solidFill>
                          <a:schemeClr val="tx2"/>
                        </a:solidFill>
                        <a:latin typeface="Cambria Math" panose="02040503050406030204" pitchFamily="18" charset="0"/>
                      </a:rPr>
                      <m:t>𝑞</m:t>
                    </m:r>
                  </m:oMath>
                </a14:m>
                <a:endParaRPr lang="es-MX" sz="1600" dirty="0">
                  <a:solidFill>
                    <a:schemeClr val="tx2"/>
                  </a:solidFill>
                  <a:latin typeface="Fira Sans Condensed Light" panose="020B0403050000020004" pitchFamily="34" charset="0"/>
                </a:endParaRPr>
              </a:p>
              <a:p>
                <a:pPr lvl="1"/>
                <a:r>
                  <a:rPr lang="es-MX" sz="1600" dirty="0">
                    <a:solidFill>
                      <a:schemeClr val="tx2"/>
                    </a:solidFill>
                    <a:latin typeface="Fira Sans Condensed Light" panose="020B0403050000020004" pitchFamily="34" charset="0"/>
                  </a:rPr>
                  <a:t>la velocidad articular </a:t>
                </a:r>
                <a14:m>
                  <m:oMath xmlns:m="http://schemas.openxmlformats.org/officeDocument/2006/math">
                    <m:acc>
                      <m:accPr>
                        <m:chr m:val="̇"/>
                        <m:ctrlPr>
                          <a:rPr lang="ar-AE" sz="1600" i="1">
                            <a:solidFill>
                              <a:schemeClr val="tx2"/>
                            </a:solidFill>
                            <a:latin typeface="Cambria Math" panose="02040503050406030204" pitchFamily="18" charset="0"/>
                          </a:rPr>
                        </m:ctrlPr>
                      </m:accPr>
                      <m:e>
                        <m:r>
                          <a:rPr lang="ar-AE" sz="1600" b="0" i="1">
                            <a:solidFill>
                              <a:schemeClr val="tx2"/>
                            </a:solidFill>
                            <a:latin typeface="Cambria Math" panose="02040503050406030204" pitchFamily="18" charset="0"/>
                          </a:rPr>
                          <m:t>𝑞</m:t>
                        </m:r>
                      </m:e>
                    </m:acc>
                  </m:oMath>
                </a14:m>
                <a:endParaRPr lang="ar-AE" sz="1600" dirty="0">
                  <a:solidFill>
                    <a:schemeClr val="tx2"/>
                  </a:solidFill>
                  <a:latin typeface="Fira Sans Condensed Light" panose="020B0403050000020004" pitchFamily="34" charset="0"/>
                </a:endParaRPr>
              </a:p>
              <a:p>
                <a:pPr/>
                <a14:m>
                  <m:oMathPara xmlns:m="http://schemas.openxmlformats.org/officeDocument/2006/math">
                    <m:oMathParaPr>
                      <m:jc m:val="centerGroup"/>
                    </m:oMathParaPr>
                    <m:oMath xmlns:m="http://schemas.openxmlformats.org/officeDocument/2006/math">
                      <m:r>
                        <a:rPr lang="ar-AE" sz="1600" b="1" i="1">
                          <a:solidFill>
                            <a:schemeClr val="tx2"/>
                          </a:solidFill>
                          <a:latin typeface="Cambria Math" panose="02040503050406030204" pitchFamily="18" charset="0"/>
                        </a:rPr>
                        <m:t>𝑪</m:t>
                      </m:r>
                      <m:d>
                        <m:dPr>
                          <m:sepChr m:val=","/>
                          <m:ctrlPr>
                            <a:rPr lang="ar-AE" sz="1600" b="1" i="1">
                              <a:solidFill>
                                <a:schemeClr val="tx2"/>
                              </a:solidFill>
                              <a:latin typeface="Cambria Math" panose="02040503050406030204" pitchFamily="18" charset="0"/>
                            </a:rPr>
                          </m:ctrlPr>
                        </m:dPr>
                        <m:e>
                          <m:r>
                            <a:rPr lang="ar-AE" sz="1600" b="1" i="1">
                              <a:solidFill>
                                <a:schemeClr val="tx2"/>
                              </a:solidFill>
                              <a:latin typeface="Cambria Math" panose="02040503050406030204" pitchFamily="18" charset="0"/>
                            </a:rPr>
                            <m:t>𝒒</m:t>
                          </m:r>
                        </m:e>
                        <m:e>
                          <m:acc>
                            <m:accPr>
                              <m:chr m:val="̇"/>
                              <m:ctrlPr>
                                <a:rPr lang="ar-AE" sz="1600" b="1" i="1">
                                  <a:solidFill>
                                    <a:schemeClr val="tx2"/>
                                  </a:solidFill>
                                  <a:latin typeface="Cambria Math" panose="02040503050406030204" pitchFamily="18" charset="0"/>
                                </a:rPr>
                              </m:ctrlPr>
                            </m:accPr>
                            <m:e>
                              <m:r>
                                <a:rPr lang="ar-AE" sz="1600" b="1" i="1">
                                  <a:solidFill>
                                    <a:schemeClr val="tx2"/>
                                  </a:solidFill>
                                  <a:latin typeface="Cambria Math" panose="02040503050406030204" pitchFamily="18" charset="0"/>
                                </a:rPr>
                                <m:t>𝒒</m:t>
                              </m:r>
                            </m:e>
                          </m:acc>
                        </m:e>
                      </m:d>
                      <m:acc>
                        <m:accPr>
                          <m:chr m:val="̇"/>
                          <m:ctrlPr>
                            <a:rPr lang="ar-AE" sz="1600" b="1" i="1">
                              <a:solidFill>
                                <a:schemeClr val="tx2"/>
                              </a:solidFill>
                              <a:latin typeface="Cambria Math" panose="02040503050406030204" pitchFamily="18" charset="0"/>
                            </a:rPr>
                          </m:ctrlPr>
                        </m:accPr>
                        <m:e>
                          <m:r>
                            <a:rPr lang="ar-AE" sz="1600" b="1" i="1">
                              <a:solidFill>
                                <a:schemeClr val="tx2"/>
                              </a:solidFill>
                              <a:latin typeface="Cambria Math" panose="02040503050406030204" pitchFamily="18" charset="0"/>
                            </a:rPr>
                            <m:t>𝒒</m:t>
                          </m:r>
                        </m:e>
                      </m:acc>
                    </m:oMath>
                  </m:oMathPara>
                </a14:m>
                <a:endParaRPr lang="ar-AE" sz="1600" b="1" dirty="0">
                  <a:solidFill>
                    <a:schemeClr val="tx2"/>
                  </a:solidFill>
                  <a:latin typeface="Fira Sans Condensed Light" panose="020B0403050000020004" pitchFamily="34" charset="0"/>
                </a:endParaRPr>
              </a:p>
            </p:txBody>
          </p:sp>
        </mc:Choice>
        <mc:Fallback xmlns="">
          <p:sp>
            <p:nvSpPr>
              <p:cNvPr id="11" name="Google Shape;1603;p42">
                <a:extLst>
                  <a:ext uri="{FF2B5EF4-FFF2-40B4-BE49-F238E27FC236}">
                    <a16:creationId xmlns:a16="http://schemas.microsoft.com/office/drawing/2014/main" id="{E2C425E5-7085-9F4B-53A2-2FEDC10F9D9A}"/>
                  </a:ext>
                </a:extLst>
              </p:cNvPr>
              <p:cNvSpPr txBox="1">
                <a:spLocks noRot="1" noChangeAspect="1" noMove="1" noResize="1" noEditPoints="1" noAdjustHandles="1" noChangeArrowheads="1" noChangeShapeType="1" noTextEdit="1"/>
              </p:cNvSpPr>
              <p:nvPr/>
            </p:nvSpPr>
            <p:spPr>
              <a:xfrm>
                <a:off x="522782" y="3324888"/>
                <a:ext cx="8621218" cy="1623496"/>
              </a:xfrm>
              <a:prstGeom prst="rect">
                <a:avLst/>
              </a:prstGeom>
              <a:blipFill>
                <a:blip r:embed="rId5"/>
                <a:stretch>
                  <a:fillRect l="-424" b="-5243"/>
                </a:stretch>
              </a:blipFill>
              <a:ln>
                <a:noFill/>
              </a:ln>
            </p:spPr>
            <p:txBody>
              <a:bodyPr/>
              <a:lstStyle/>
              <a:p>
                <a:r>
                  <a:rPr lang="es-MX">
                    <a:noFill/>
                  </a:rPr>
                  <a:t> </a:t>
                </a:r>
              </a:p>
            </p:txBody>
          </p:sp>
        </mc:Fallback>
      </mc:AlternateContent>
    </p:spTree>
    <p:extLst>
      <p:ext uri="{BB962C8B-B14F-4D97-AF65-F5344CB8AC3E}">
        <p14:creationId xmlns:p14="http://schemas.microsoft.com/office/powerpoint/2010/main" val="1350045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1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98">
          <a:extLst>
            <a:ext uri="{FF2B5EF4-FFF2-40B4-BE49-F238E27FC236}">
              <a16:creationId xmlns:a16="http://schemas.microsoft.com/office/drawing/2014/main" id="{02723E90-3B12-266D-DA93-BD3E0E1583C1}"/>
            </a:ext>
          </a:extLst>
        </p:cNvPr>
        <p:cNvGrpSpPr/>
        <p:nvPr/>
      </p:nvGrpSpPr>
      <p:grpSpPr>
        <a:xfrm>
          <a:off x="0" y="0"/>
          <a:ext cx="0" cy="0"/>
          <a:chOff x="0" y="0"/>
          <a:chExt cx="0" cy="0"/>
        </a:xfrm>
      </p:grpSpPr>
      <p:pic>
        <p:nvPicPr>
          <p:cNvPr id="48" name="Picture 4" descr="The Learning Gate | Tec de Monterrey">
            <a:extLst>
              <a:ext uri="{FF2B5EF4-FFF2-40B4-BE49-F238E27FC236}">
                <a16:creationId xmlns:a16="http://schemas.microsoft.com/office/drawing/2014/main" id="{54AD99AE-20DF-ADA4-671B-C7D2890C1F8F}"/>
              </a:ext>
            </a:extLst>
          </p:cNvPr>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a:extLst>
              <a:ext uri="{FF2B5EF4-FFF2-40B4-BE49-F238E27FC236}">
                <a16:creationId xmlns:a16="http://schemas.microsoft.com/office/drawing/2014/main" id="{07C0AF45-1F33-9327-ADAC-31D2BF335214}"/>
              </a:ext>
            </a:extLst>
          </p:cNvPr>
          <p:cNvSpPr txBox="1">
            <a:spLocks/>
          </p:cNvSpPr>
          <p:nvPr/>
        </p:nvSpPr>
        <p:spPr>
          <a:xfrm>
            <a:off x="373910" y="338754"/>
            <a:ext cx="554306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Introducción a Dinámica</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s-ES" sz="3000" b="1" dirty="0">
                <a:solidFill>
                  <a:schemeClr val="bg1">
                    <a:lumMod val="60000"/>
                    <a:lumOff val="40000"/>
                  </a:schemeClr>
                </a:solidFill>
                <a:latin typeface="Rajdhani"/>
                <a:ea typeface="Rajdhani"/>
                <a:cs typeface="Rajdhani"/>
                <a:sym typeface="Rajdhani"/>
              </a:rPr>
              <a:t>Modelo Dinámico</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a:extLst>
              <a:ext uri="{FF2B5EF4-FFF2-40B4-BE49-F238E27FC236}">
                <a16:creationId xmlns:a16="http://schemas.microsoft.com/office/drawing/2014/main" id="{6C59609B-B99C-B07A-6FBC-3E2D48F6AF6E}"/>
              </a:ext>
            </a:extLst>
          </p:cNvPr>
          <p:cNvCxnSpPr/>
          <p:nvPr/>
        </p:nvCxnSpPr>
        <p:spPr>
          <a:xfrm rot="5400000">
            <a:off x="11554" y="870978"/>
            <a:ext cx="726300" cy="1588"/>
          </a:xfrm>
          <a:prstGeom prst="straightConnector1">
            <a:avLst/>
          </a:prstGeom>
          <a:noFill/>
          <a:ln w="19050" cap="flat" cmpd="sng">
            <a:solidFill>
              <a:srgbClr val="F3F3F3"/>
            </a:solidFill>
            <a:prstDash val="solid"/>
            <a:round/>
            <a:headEnd type="oval" w="med" len="med"/>
            <a:tailEnd type="oval" w="med" len="med"/>
          </a:ln>
        </p:spPr>
      </p:cxnSp>
      <p:sp>
        <p:nvSpPr>
          <p:cNvPr id="17" name="Google Shape;136;p27">
            <a:extLst>
              <a:ext uri="{FF2B5EF4-FFF2-40B4-BE49-F238E27FC236}">
                <a16:creationId xmlns:a16="http://schemas.microsoft.com/office/drawing/2014/main" id="{77D3B63E-DE7F-C36F-A0AF-CAEACECBCF9C}"/>
              </a:ext>
            </a:extLst>
          </p:cNvPr>
          <p:cNvSpPr txBox="1">
            <a:spLocks/>
          </p:cNvSpPr>
          <p:nvPr/>
        </p:nvSpPr>
        <p:spPr>
          <a:xfrm>
            <a:off x="-29184" y="5010336"/>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3" name="Google Shape;1603;p42">
            <a:extLst>
              <a:ext uri="{FF2B5EF4-FFF2-40B4-BE49-F238E27FC236}">
                <a16:creationId xmlns:a16="http://schemas.microsoft.com/office/drawing/2014/main" id="{9E257DDA-C384-32C0-ABDD-0EE8EB1A1F5A}"/>
              </a:ext>
            </a:extLst>
          </p:cNvPr>
          <p:cNvSpPr txBox="1"/>
          <p:nvPr/>
        </p:nvSpPr>
        <p:spPr>
          <a:xfrm>
            <a:off x="229092" y="1550783"/>
            <a:ext cx="8621218" cy="1623496"/>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Modelo dinámico de un robot manipulador</a:t>
            </a:r>
            <a:endParaRPr lang="es-ES" sz="1600" dirty="0">
              <a:solidFill>
                <a:schemeClr val="accent4"/>
              </a:solidFill>
              <a:latin typeface="Fira Sans Condensed Light" panose="020B0604020202020204" charset="0"/>
              <a:cs typeface="Times New Roman" panose="02020603050405020304" pitchFamily="18" charset="0"/>
            </a:endParaRPr>
          </a:p>
          <a:p>
            <a:pPr algn="just"/>
            <a:r>
              <a:rPr lang="es-ES" sz="1600" dirty="0">
                <a:solidFill>
                  <a:schemeClr val="accent4"/>
                </a:solidFill>
                <a:latin typeface="Fira Sans Condensed Light" panose="020B0604020202020204" charset="0"/>
                <a:cs typeface="Times New Roman" panose="02020603050405020304" pitchFamily="18" charset="0"/>
              </a:rPr>
              <a:t>El modelo dinámico de un robot manipulador de </a:t>
            </a:r>
            <a:r>
              <a:rPr lang="es-ES" sz="1600" b="1" dirty="0">
                <a:solidFill>
                  <a:schemeClr val="accent4"/>
                </a:solidFill>
                <a:latin typeface="Fira Sans Condensed Light" panose="020B0604020202020204" charset="0"/>
                <a:cs typeface="Times New Roman" panose="02020603050405020304" pitchFamily="18" charset="0"/>
              </a:rPr>
              <a:t>“n” </a:t>
            </a:r>
            <a:r>
              <a:rPr lang="es-ES" sz="1600" dirty="0">
                <a:solidFill>
                  <a:schemeClr val="accent4"/>
                </a:solidFill>
                <a:latin typeface="Fira Sans Condensed Light" panose="020B0604020202020204" charset="0"/>
                <a:cs typeface="Times New Roman" panose="02020603050405020304" pitchFamily="18" charset="0"/>
              </a:rPr>
              <a:t>grados de libertad está dado por la siguiente ecuación, que en su forma compacta y con la notación más utilizada en el área de la robótica se encuentra descrito de la siguiente forma: </a:t>
            </a:r>
          </a:p>
        </p:txBody>
      </p:sp>
      <p:sp>
        <p:nvSpPr>
          <p:cNvPr id="5" name="Google Shape;1603;p42">
            <a:extLst>
              <a:ext uri="{FF2B5EF4-FFF2-40B4-BE49-F238E27FC236}">
                <a16:creationId xmlns:a16="http://schemas.microsoft.com/office/drawing/2014/main" id="{C1FD6AED-694F-1BE3-0849-DC3443A4CEFD}"/>
              </a:ext>
            </a:extLst>
          </p:cNvPr>
          <p:cNvSpPr txBox="1"/>
          <p:nvPr/>
        </p:nvSpPr>
        <p:spPr>
          <a:xfrm>
            <a:off x="373910" y="3083246"/>
            <a:ext cx="842896" cy="680175"/>
          </a:xfrm>
          <a:prstGeom prst="rect">
            <a:avLst/>
          </a:prstGeom>
          <a:noFill/>
          <a:ln>
            <a:noFill/>
          </a:ln>
        </p:spPr>
        <p:txBody>
          <a:bodyPr spcFirstLastPara="1" wrap="square" lIns="91425" tIns="182875" rIns="91425" bIns="0" anchor="t" anchorCtr="0">
            <a:noAutofit/>
          </a:bodyPr>
          <a:lstStyle/>
          <a:p>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Donde</a:t>
            </a:r>
            <a:r>
              <a:rPr lang="es-ES" dirty="0">
                <a:solidFill>
                  <a:schemeClr val="tx2"/>
                </a:solidFill>
                <a:latin typeface="Fira Sans Condensed Light" panose="020B0604020202020204" charset="0"/>
                <a:cs typeface="Times New Roman" panose="02020603050405020304" pitchFamily="18" charset="0"/>
              </a:rPr>
              <a:t>:</a:t>
            </a:r>
            <a:endParaRPr lang="ar-AE" sz="1600" b="1" dirty="0">
              <a:solidFill>
                <a:schemeClr val="tx2"/>
              </a:solidFill>
            </a:endParaRPr>
          </a:p>
          <a:p>
            <a:pPr algn="just"/>
            <a:endParaRPr lang="es-ES" sz="1600" dirty="0">
              <a:solidFill>
                <a:schemeClr val="accent4"/>
              </a:solidFill>
              <a:latin typeface="Fira Sans Condensed Light" panose="020B0604020202020204" charset="0"/>
              <a:cs typeface="Times New Roman" panose="02020603050405020304" pitchFamily="18" charset="0"/>
            </a:endParaRPr>
          </a:p>
        </p:txBody>
      </p:sp>
      <p:pic>
        <p:nvPicPr>
          <p:cNvPr id="8" name="Imagen 7">
            <a:extLst>
              <a:ext uri="{FF2B5EF4-FFF2-40B4-BE49-F238E27FC236}">
                <a16:creationId xmlns:a16="http://schemas.microsoft.com/office/drawing/2014/main" id="{EC90F483-9900-CA1F-FC54-F7831BE74095}"/>
              </a:ext>
            </a:extLst>
          </p:cNvPr>
          <p:cNvPicPr>
            <a:picLocks noChangeAspect="1"/>
          </p:cNvPicPr>
          <p:nvPr/>
        </p:nvPicPr>
        <p:blipFill>
          <a:blip r:embed="rId4"/>
          <a:stretch>
            <a:fillRect/>
          </a:stretch>
        </p:blipFill>
        <p:spPr>
          <a:xfrm>
            <a:off x="2310602" y="2903555"/>
            <a:ext cx="4061015" cy="359382"/>
          </a:xfrm>
          <a:prstGeom prst="rect">
            <a:avLst/>
          </a:prstGeom>
        </p:spPr>
      </p:pic>
      <mc:AlternateContent xmlns:mc="http://schemas.openxmlformats.org/markup-compatibility/2006" xmlns:a14="http://schemas.microsoft.com/office/drawing/2010/main">
        <mc:Choice Requires="a14">
          <p:sp>
            <p:nvSpPr>
              <p:cNvPr id="11" name="Google Shape;1603;p42">
                <a:extLst>
                  <a:ext uri="{FF2B5EF4-FFF2-40B4-BE49-F238E27FC236}">
                    <a16:creationId xmlns:a16="http://schemas.microsoft.com/office/drawing/2014/main" id="{54A3CC56-6A5E-262D-1C75-E1E5057C8693}"/>
                  </a:ext>
                </a:extLst>
              </p:cNvPr>
              <p:cNvSpPr txBox="1"/>
              <p:nvPr/>
            </p:nvSpPr>
            <p:spPr>
              <a:xfrm>
                <a:off x="522782" y="3386840"/>
                <a:ext cx="8621218" cy="1623496"/>
              </a:xfrm>
              <a:prstGeom prst="rect">
                <a:avLst/>
              </a:prstGeom>
              <a:noFill/>
              <a:ln>
                <a:noFill/>
              </a:ln>
            </p:spPr>
            <p:txBody>
              <a:bodyPr spcFirstLastPara="1" wrap="square" lIns="91425" tIns="182875" rIns="91425" bIns="0" anchor="t" anchorCtr="0">
                <a:noAutofit/>
              </a:bodyPr>
              <a:lstStyle/>
              <a:p>
                <a:r>
                  <a:rPr lang="es-MX" sz="1600" b="1" dirty="0">
                    <a:solidFill>
                      <a:schemeClr val="tx2"/>
                    </a:solidFill>
                    <a:latin typeface="Fira Sans Condensed Light" panose="020B0403050000020004" pitchFamily="34" charset="0"/>
                  </a:rPr>
                  <a:t>g(q) — Vector de gravedad</a:t>
                </a:r>
              </a:p>
              <a:p>
                <a:r>
                  <a:rPr lang="es-MX" sz="1600" dirty="0">
                    <a:solidFill>
                      <a:schemeClr val="tx2"/>
                    </a:solidFill>
                    <a:latin typeface="Fira Sans Condensed Light" panose="020B0403050000020004" pitchFamily="34" charset="0"/>
                  </a:rPr>
                  <a:t>Representa los torques causados por la gravedad sobre cada eslabón.</a:t>
                </a:r>
              </a:p>
              <a:p>
                <a:r>
                  <a:rPr lang="es-MX" sz="1600" dirty="0">
                    <a:solidFill>
                      <a:schemeClr val="tx2"/>
                    </a:solidFill>
                    <a:latin typeface="Fira Sans Condensed Light" panose="020B0403050000020004" pitchFamily="34" charset="0"/>
                  </a:rPr>
                  <a:t>Depende únicamente de:</a:t>
                </a:r>
              </a:p>
              <a:p>
                <a:pPr/>
                <a14:m>
                  <m:oMathPara xmlns:m="http://schemas.openxmlformats.org/officeDocument/2006/math">
                    <m:oMathParaPr>
                      <m:jc m:val="centerGroup"/>
                    </m:oMathParaPr>
                    <m:oMath xmlns:m="http://schemas.openxmlformats.org/officeDocument/2006/math">
                      <m:r>
                        <a:rPr lang="es-MX" sz="1600" b="1" i="1">
                          <a:solidFill>
                            <a:schemeClr val="tx2"/>
                          </a:solidFill>
                          <a:latin typeface="Cambria Math" panose="02040503050406030204" pitchFamily="18" charset="0"/>
                        </a:rPr>
                        <m:t>𝒒</m:t>
                      </m:r>
                    </m:oMath>
                  </m:oMathPara>
                </a14:m>
                <a:endParaRPr lang="es-MX" sz="1600" b="1" dirty="0">
                  <a:solidFill>
                    <a:schemeClr val="tx2"/>
                  </a:solidFill>
                  <a:latin typeface="Fira Sans Condensed Light" panose="020B0403050000020004" pitchFamily="34" charset="0"/>
                </a:endParaRPr>
              </a:p>
            </p:txBody>
          </p:sp>
        </mc:Choice>
        <mc:Fallback xmlns="">
          <p:sp>
            <p:nvSpPr>
              <p:cNvPr id="11" name="Google Shape;1603;p42">
                <a:extLst>
                  <a:ext uri="{FF2B5EF4-FFF2-40B4-BE49-F238E27FC236}">
                    <a16:creationId xmlns:a16="http://schemas.microsoft.com/office/drawing/2014/main" id="{54A3CC56-6A5E-262D-1C75-E1E5057C8693}"/>
                  </a:ext>
                </a:extLst>
              </p:cNvPr>
              <p:cNvSpPr txBox="1">
                <a:spLocks noRot="1" noChangeAspect="1" noMove="1" noResize="1" noEditPoints="1" noAdjustHandles="1" noChangeArrowheads="1" noChangeShapeType="1" noTextEdit="1"/>
              </p:cNvSpPr>
              <p:nvPr/>
            </p:nvSpPr>
            <p:spPr>
              <a:xfrm>
                <a:off x="522782" y="3386840"/>
                <a:ext cx="8621218" cy="1623496"/>
              </a:xfrm>
              <a:prstGeom prst="rect">
                <a:avLst/>
              </a:prstGeom>
              <a:blipFill>
                <a:blip r:embed="rId5"/>
                <a:stretch>
                  <a:fillRect l="-424"/>
                </a:stretch>
              </a:blipFill>
              <a:ln>
                <a:noFill/>
              </a:ln>
            </p:spPr>
            <p:txBody>
              <a:bodyPr/>
              <a:lstStyle/>
              <a:p>
                <a:r>
                  <a:rPr lang="es-MX">
                    <a:noFill/>
                  </a:rPr>
                  <a:t> </a:t>
                </a:r>
              </a:p>
            </p:txBody>
          </p:sp>
        </mc:Fallback>
      </mc:AlternateContent>
    </p:spTree>
    <p:extLst>
      <p:ext uri="{BB962C8B-B14F-4D97-AF65-F5344CB8AC3E}">
        <p14:creationId xmlns:p14="http://schemas.microsoft.com/office/powerpoint/2010/main" val="759175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1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98">
          <a:extLst>
            <a:ext uri="{FF2B5EF4-FFF2-40B4-BE49-F238E27FC236}">
              <a16:creationId xmlns:a16="http://schemas.microsoft.com/office/drawing/2014/main" id="{5D861F1B-929B-26FC-316F-52694A6ADB32}"/>
            </a:ext>
          </a:extLst>
        </p:cNvPr>
        <p:cNvGrpSpPr/>
        <p:nvPr/>
      </p:nvGrpSpPr>
      <p:grpSpPr>
        <a:xfrm>
          <a:off x="0" y="0"/>
          <a:ext cx="0" cy="0"/>
          <a:chOff x="0" y="0"/>
          <a:chExt cx="0" cy="0"/>
        </a:xfrm>
      </p:grpSpPr>
      <p:pic>
        <p:nvPicPr>
          <p:cNvPr id="48" name="Picture 4" descr="The Learning Gate | Tec de Monterrey">
            <a:extLst>
              <a:ext uri="{FF2B5EF4-FFF2-40B4-BE49-F238E27FC236}">
                <a16:creationId xmlns:a16="http://schemas.microsoft.com/office/drawing/2014/main" id="{08DCA23F-CCA8-731A-F2A9-D478CA20F5EB}"/>
              </a:ext>
            </a:extLst>
          </p:cNvPr>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a:extLst>
              <a:ext uri="{FF2B5EF4-FFF2-40B4-BE49-F238E27FC236}">
                <a16:creationId xmlns:a16="http://schemas.microsoft.com/office/drawing/2014/main" id="{936ABA43-0496-3796-DA60-E6D2F64975C5}"/>
              </a:ext>
            </a:extLst>
          </p:cNvPr>
          <p:cNvSpPr txBox="1">
            <a:spLocks/>
          </p:cNvSpPr>
          <p:nvPr/>
        </p:nvSpPr>
        <p:spPr>
          <a:xfrm>
            <a:off x="373910" y="338754"/>
            <a:ext cx="554306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Introducción a Dinámica</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s-ES" sz="3000" b="1" dirty="0">
                <a:solidFill>
                  <a:schemeClr val="bg1">
                    <a:lumMod val="60000"/>
                    <a:lumOff val="40000"/>
                  </a:schemeClr>
                </a:solidFill>
                <a:latin typeface="Rajdhani"/>
                <a:ea typeface="Rajdhani"/>
                <a:cs typeface="Rajdhani"/>
                <a:sym typeface="Rajdhani"/>
              </a:rPr>
              <a:t>Modelo Dinámico</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a:extLst>
              <a:ext uri="{FF2B5EF4-FFF2-40B4-BE49-F238E27FC236}">
                <a16:creationId xmlns:a16="http://schemas.microsoft.com/office/drawing/2014/main" id="{CB1DA039-94B4-1230-F126-CB5BF81D4335}"/>
              </a:ext>
            </a:extLst>
          </p:cNvPr>
          <p:cNvCxnSpPr/>
          <p:nvPr/>
        </p:nvCxnSpPr>
        <p:spPr>
          <a:xfrm rot="5400000">
            <a:off x="11554" y="870978"/>
            <a:ext cx="726300" cy="1588"/>
          </a:xfrm>
          <a:prstGeom prst="straightConnector1">
            <a:avLst/>
          </a:prstGeom>
          <a:noFill/>
          <a:ln w="19050" cap="flat" cmpd="sng">
            <a:solidFill>
              <a:srgbClr val="F3F3F3"/>
            </a:solidFill>
            <a:prstDash val="solid"/>
            <a:round/>
            <a:headEnd type="oval" w="med" len="med"/>
            <a:tailEnd type="oval" w="med" len="med"/>
          </a:ln>
        </p:spPr>
      </p:cxnSp>
      <p:sp>
        <p:nvSpPr>
          <p:cNvPr id="3" name="Google Shape;1603;p42">
            <a:extLst>
              <a:ext uri="{FF2B5EF4-FFF2-40B4-BE49-F238E27FC236}">
                <a16:creationId xmlns:a16="http://schemas.microsoft.com/office/drawing/2014/main" id="{F9E1AEDD-9A06-3FCC-A76D-D1B8055B9CE6}"/>
              </a:ext>
            </a:extLst>
          </p:cNvPr>
          <p:cNvSpPr txBox="1"/>
          <p:nvPr/>
        </p:nvSpPr>
        <p:spPr>
          <a:xfrm>
            <a:off x="229092" y="1550783"/>
            <a:ext cx="8621218" cy="1623496"/>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Modelo dinámico de un robot manipulador</a:t>
            </a:r>
            <a:endParaRPr lang="es-ES" sz="1600" dirty="0">
              <a:solidFill>
                <a:schemeClr val="accent4"/>
              </a:solidFill>
              <a:latin typeface="Fira Sans Condensed Light" panose="020B0604020202020204" charset="0"/>
              <a:cs typeface="Times New Roman" panose="02020603050405020304" pitchFamily="18" charset="0"/>
            </a:endParaRPr>
          </a:p>
          <a:p>
            <a:pPr algn="just"/>
            <a:r>
              <a:rPr lang="es-ES" sz="1600" dirty="0">
                <a:solidFill>
                  <a:schemeClr val="accent4"/>
                </a:solidFill>
                <a:latin typeface="Fira Sans Condensed Light" panose="020B0604020202020204" charset="0"/>
                <a:cs typeface="Times New Roman" panose="02020603050405020304" pitchFamily="18" charset="0"/>
              </a:rPr>
              <a:t>El modelo dinámico de un robot manipulador de </a:t>
            </a:r>
            <a:r>
              <a:rPr lang="es-ES" sz="1600" b="1" dirty="0">
                <a:solidFill>
                  <a:schemeClr val="accent4"/>
                </a:solidFill>
                <a:latin typeface="Fira Sans Condensed Light" panose="020B0604020202020204" charset="0"/>
                <a:cs typeface="Times New Roman" panose="02020603050405020304" pitchFamily="18" charset="0"/>
              </a:rPr>
              <a:t>“n” </a:t>
            </a:r>
            <a:r>
              <a:rPr lang="es-ES" sz="1600" dirty="0">
                <a:solidFill>
                  <a:schemeClr val="accent4"/>
                </a:solidFill>
                <a:latin typeface="Fira Sans Condensed Light" panose="020B0604020202020204" charset="0"/>
                <a:cs typeface="Times New Roman" panose="02020603050405020304" pitchFamily="18" charset="0"/>
              </a:rPr>
              <a:t>grados de libertad está dado por la siguiente ecuación, que en su forma compacta y con la notación más utilizada en el área de la robótica se encuentra descrito de la siguiente forma: </a:t>
            </a:r>
          </a:p>
        </p:txBody>
      </p:sp>
      <p:sp>
        <p:nvSpPr>
          <p:cNvPr id="5" name="Google Shape;1603;p42">
            <a:extLst>
              <a:ext uri="{FF2B5EF4-FFF2-40B4-BE49-F238E27FC236}">
                <a16:creationId xmlns:a16="http://schemas.microsoft.com/office/drawing/2014/main" id="{7F2FE31A-62B4-1A9D-A4E9-67AD7D2976ED}"/>
              </a:ext>
            </a:extLst>
          </p:cNvPr>
          <p:cNvSpPr txBox="1"/>
          <p:nvPr/>
        </p:nvSpPr>
        <p:spPr>
          <a:xfrm>
            <a:off x="373910" y="2876324"/>
            <a:ext cx="842896" cy="680175"/>
          </a:xfrm>
          <a:prstGeom prst="rect">
            <a:avLst/>
          </a:prstGeom>
          <a:noFill/>
          <a:ln>
            <a:noFill/>
          </a:ln>
        </p:spPr>
        <p:txBody>
          <a:bodyPr spcFirstLastPara="1" wrap="square" lIns="91425" tIns="182875" rIns="91425" bIns="0" anchor="t" anchorCtr="0">
            <a:noAutofit/>
          </a:bodyPr>
          <a:lstStyle/>
          <a:p>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Donde</a:t>
            </a:r>
            <a:r>
              <a:rPr lang="es-ES" dirty="0">
                <a:solidFill>
                  <a:schemeClr val="tx2"/>
                </a:solidFill>
                <a:latin typeface="Fira Sans Condensed Light" panose="020B0604020202020204" charset="0"/>
                <a:cs typeface="Times New Roman" panose="02020603050405020304" pitchFamily="18" charset="0"/>
              </a:rPr>
              <a:t>:</a:t>
            </a:r>
            <a:endParaRPr lang="ar-AE" sz="1600" b="1" dirty="0">
              <a:solidFill>
                <a:schemeClr val="tx2"/>
              </a:solidFill>
            </a:endParaRPr>
          </a:p>
          <a:p>
            <a:pPr algn="just"/>
            <a:endParaRPr lang="es-ES" sz="1600" dirty="0">
              <a:solidFill>
                <a:schemeClr val="accent4"/>
              </a:solidFill>
              <a:latin typeface="Fira Sans Condensed Light" panose="020B0604020202020204" charset="0"/>
              <a:cs typeface="Times New Roman" panose="02020603050405020304" pitchFamily="18" charset="0"/>
            </a:endParaRPr>
          </a:p>
        </p:txBody>
      </p:sp>
      <p:pic>
        <p:nvPicPr>
          <p:cNvPr id="8" name="Imagen 7">
            <a:extLst>
              <a:ext uri="{FF2B5EF4-FFF2-40B4-BE49-F238E27FC236}">
                <a16:creationId xmlns:a16="http://schemas.microsoft.com/office/drawing/2014/main" id="{731028FA-2B6F-3C75-3E7D-581F13D224DE}"/>
              </a:ext>
            </a:extLst>
          </p:cNvPr>
          <p:cNvPicPr>
            <a:picLocks noChangeAspect="1"/>
          </p:cNvPicPr>
          <p:nvPr/>
        </p:nvPicPr>
        <p:blipFill>
          <a:blip r:embed="rId4"/>
          <a:stretch>
            <a:fillRect/>
          </a:stretch>
        </p:blipFill>
        <p:spPr>
          <a:xfrm>
            <a:off x="2320330" y="2814897"/>
            <a:ext cx="4061015" cy="359382"/>
          </a:xfrm>
          <a:prstGeom prst="rect">
            <a:avLst/>
          </a:prstGeom>
        </p:spPr>
      </p:pic>
      <mc:AlternateContent xmlns:mc="http://schemas.openxmlformats.org/markup-compatibility/2006" xmlns:a14="http://schemas.microsoft.com/office/drawing/2010/main">
        <mc:Choice Requires="a14">
          <p:sp>
            <p:nvSpPr>
              <p:cNvPr id="11" name="Google Shape;1603;p42">
                <a:extLst>
                  <a:ext uri="{FF2B5EF4-FFF2-40B4-BE49-F238E27FC236}">
                    <a16:creationId xmlns:a16="http://schemas.microsoft.com/office/drawing/2014/main" id="{3A3250C1-4417-843F-06E1-DC74404F74E8}"/>
                  </a:ext>
                </a:extLst>
              </p:cNvPr>
              <p:cNvSpPr txBox="1"/>
              <p:nvPr/>
            </p:nvSpPr>
            <p:spPr>
              <a:xfrm>
                <a:off x="373910" y="3216412"/>
                <a:ext cx="8850310" cy="1623496"/>
              </a:xfrm>
              <a:prstGeom prst="rect">
                <a:avLst/>
              </a:prstGeom>
              <a:noFill/>
              <a:ln>
                <a:noFill/>
              </a:ln>
            </p:spPr>
            <p:txBody>
              <a:bodyPr spcFirstLastPara="1" wrap="square" lIns="91425" tIns="182875" rIns="91425" bIns="0" anchor="t" anchorCtr="0">
                <a:noAutofit/>
              </a:bodyPr>
              <a:lstStyle/>
              <a:p>
                <a14:m>
                  <m:oMath xmlns:m="http://schemas.openxmlformats.org/officeDocument/2006/math">
                    <m:sSub>
                      <m:sSubPr>
                        <m:ctrlPr>
                          <a:rPr lang="ar-AE" sz="1600" b="1" i="1" smtClean="0">
                            <a:solidFill>
                              <a:schemeClr val="tx2"/>
                            </a:solidFill>
                            <a:latin typeface="Cambria Math" panose="02040503050406030204" pitchFamily="18" charset="0"/>
                          </a:rPr>
                        </m:ctrlPr>
                      </m:sSubPr>
                      <m:e>
                        <m:r>
                          <a:rPr lang="ar-AE" sz="1600" b="1" i="1">
                            <a:solidFill>
                              <a:schemeClr val="tx2"/>
                            </a:solidFill>
                            <a:latin typeface="Cambria Math" panose="02040503050406030204" pitchFamily="18" charset="0"/>
                          </a:rPr>
                          <m:t>𝒇</m:t>
                        </m:r>
                      </m:e>
                      <m:sub>
                        <m:r>
                          <a:rPr lang="es-MX" sz="1600" b="1" i="1" smtClean="0">
                            <a:solidFill>
                              <a:schemeClr val="tx2"/>
                            </a:solidFill>
                            <a:latin typeface="Cambria Math" panose="02040503050406030204" pitchFamily="18" charset="0"/>
                          </a:rPr>
                          <m:t>𝒇</m:t>
                        </m:r>
                      </m:sub>
                    </m:sSub>
                    <m:r>
                      <a:rPr lang="ar-AE" sz="1600" b="1" i="1">
                        <a:solidFill>
                          <a:schemeClr val="tx2"/>
                        </a:solidFill>
                        <a:latin typeface="Cambria Math" panose="02040503050406030204" pitchFamily="18" charset="0"/>
                      </a:rPr>
                      <m:t> </m:t>
                    </m:r>
                  </m:oMath>
                </a14:m>
                <a:r>
                  <a:rPr lang="es-MX" sz="1600" b="1" dirty="0">
                    <a:solidFill>
                      <a:schemeClr val="tx2"/>
                    </a:solidFill>
                    <a:latin typeface="Fira Sans Condensed Light" panose="020B0403050000020004" pitchFamily="34" charset="0"/>
                  </a:rPr>
                  <a:t>​(</a:t>
                </a:r>
                <a14:m>
                  <m:oMath xmlns:m="http://schemas.openxmlformats.org/officeDocument/2006/math">
                    <m:acc>
                      <m:accPr>
                        <m:chr m:val="̇"/>
                        <m:ctrlPr>
                          <a:rPr lang="ar-AE" sz="1600" b="1" i="1">
                            <a:solidFill>
                              <a:schemeClr val="tx2"/>
                            </a:solidFill>
                            <a:latin typeface="Cambria Math" panose="02040503050406030204" pitchFamily="18" charset="0"/>
                          </a:rPr>
                        </m:ctrlPr>
                      </m:accPr>
                      <m:e>
                        <m:r>
                          <a:rPr lang="ar-AE" sz="1600" b="1" i="1">
                            <a:solidFill>
                              <a:schemeClr val="tx2"/>
                            </a:solidFill>
                            <a:latin typeface="Cambria Math" panose="02040503050406030204" pitchFamily="18" charset="0"/>
                          </a:rPr>
                          <m:t>𝒒</m:t>
                        </m:r>
                      </m:e>
                    </m:acc>
                  </m:oMath>
                </a14:m>
                <a:r>
                  <a:rPr lang="es-MX" sz="1600" b="1" dirty="0">
                    <a:solidFill>
                      <a:schemeClr val="tx2"/>
                    </a:solidFill>
                    <a:latin typeface="Fira Sans Condensed Light" panose="020B0403050000020004" pitchFamily="34" charset="0"/>
                  </a:rPr>
                  <a:t>,</a:t>
                </a:r>
                <a:r>
                  <a:rPr lang="ar-AE" sz="1600" b="1" dirty="0">
                    <a:solidFill>
                      <a:schemeClr val="tx2"/>
                    </a:solidFill>
                  </a:rPr>
                  <a:t> </a:t>
                </a:r>
                <a14:m>
                  <m:oMath xmlns:m="http://schemas.openxmlformats.org/officeDocument/2006/math">
                    <m:sSub>
                      <m:sSubPr>
                        <m:ctrlPr>
                          <a:rPr lang="ar-AE" sz="1600" b="1" i="1">
                            <a:solidFill>
                              <a:schemeClr val="tx2"/>
                            </a:solidFill>
                            <a:latin typeface="Cambria Math" panose="02040503050406030204" pitchFamily="18" charset="0"/>
                          </a:rPr>
                        </m:ctrlPr>
                      </m:sSubPr>
                      <m:e>
                        <m:r>
                          <a:rPr lang="ar-AE" sz="1600" b="1" i="1">
                            <a:solidFill>
                              <a:schemeClr val="tx2"/>
                            </a:solidFill>
                            <a:latin typeface="Cambria Math" panose="02040503050406030204" pitchFamily="18" charset="0"/>
                          </a:rPr>
                          <m:t>𝒇</m:t>
                        </m:r>
                      </m:e>
                      <m:sub>
                        <m:r>
                          <a:rPr lang="ar-AE" sz="1600" b="1" i="1">
                            <a:solidFill>
                              <a:schemeClr val="tx2"/>
                            </a:solidFill>
                            <a:latin typeface="Cambria Math" panose="02040503050406030204" pitchFamily="18" charset="0"/>
                          </a:rPr>
                          <m:t>𝒆</m:t>
                        </m:r>
                      </m:sub>
                    </m:sSub>
                    <m:r>
                      <a:rPr lang="ar-AE" sz="1600" b="1" i="1">
                        <a:solidFill>
                          <a:schemeClr val="tx2"/>
                        </a:solidFill>
                        <a:latin typeface="Cambria Math" panose="02040503050406030204" pitchFamily="18" charset="0"/>
                      </a:rPr>
                      <m:t> </m:t>
                    </m:r>
                  </m:oMath>
                </a14:m>
                <a:r>
                  <a:rPr lang="es-MX" sz="1600" b="1" dirty="0">
                    <a:solidFill>
                      <a:schemeClr val="tx2"/>
                    </a:solidFill>
                    <a:latin typeface="Fira Sans Condensed Light" panose="020B0403050000020004" pitchFamily="34" charset="0"/>
                  </a:rPr>
                  <a:t>​) — Fricción y fuerzas externas</a:t>
                </a:r>
                <a:r>
                  <a:rPr lang="es-MX" sz="1600" dirty="0">
                    <a:solidFill>
                      <a:schemeClr val="tx2"/>
                    </a:solidFill>
                    <a:latin typeface="Fira Sans Condensed Light" panose="020B0403050000020004" pitchFamily="34" charset="0"/>
                  </a:rPr>
                  <a:t>. Este término modela efectos no ideales. Incluye principalmente:</a:t>
                </a:r>
              </a:p>
              <a:p>
                <a:r>
                  <a:rPr lang="es-MX" sz="1600" dirty="0">
                    <a:solidFill>
                      <a:schemeClr val="tx2"/>
                    </a:solidFill>
                    <a:latin typeface="Fira Sans Condensed Light" panose="020B0403050000020004" pitchFamily="34" charset="0"/>
                  </a:rPr>
                  <a:t>Fricción en articulaciones</a:t>
                </a:r>
              </a:p>
              <a:p>
                <a:r>
                  <a:rPr lang="es-MX" sz="1600" dirty="0">
                    <a:solidFill>
                      <a:schemeClr val="tx2"/>
                    </a:solidFill>
                    <a:latin typeface="Fira Sans Condensed Light" panose="020B0403050000020004" pitchFamily="34" charset="0"/>
                  </a:rPr>
                  <a:t>Fricción viscosa                                                 </a:t>
                </a:r>
                <a14:m>
                  <m:oMath xmlns:m="http://schemas.openxmlformats.org/officeDocument/2006/math">
                    <m:sSub>
                      <m:sSubPr>
                        <m:ctrlPr>
                          <a:rPr lang="ar-AE" sz="1600" b="1" i="1">
                            <a:solidFill>
                              <a:schemeClr val="tx2"/>
                            </a:solidFill>
                            <a:latin typeface="Cambria Math" panose="02040503050406030204" pitchFamily="18" charset="0"/>
                          </a:rPr>
                        </m:ctrlPr>
                      </m:sSubPr>
                      <m:e>
                        <m:r>
                          <a:rPr lang="ar-AE" sz="1600" b="1" i="1">
                            <a:solidFill>
                              <a:schemeClr val="tx2"/>
                            </a:solidFill>
                            <a:latin typeface="Cambria Math" panose="02040503050406030204" pitchFamily="18" charset="0"/>
                          </a:rPr>
                          <m:t>𝒇</m:t>
                        </m:r>
                      </m:e>
                      <m:sub>
                        <m:r>
                          <a:rPr lang="ar-AE" sz="1600" b="1" i="1">
                            <a:solidFill>
                              <a:schemeClr val="tx2"/>
                            </a:solidFill>
                            <a:latin typeface="Cambria Math" panose="02040503050406030204" pitchFamily="18" charset="0"/>
                          </a:rPr>
                          <m:t>𝒗</m:t>
                        </m:r>
                      </m:sub>
                    </m:sSub>
                    <m:r>
                      <a:rPr lang="ar-AE" sz="1600" b="1">
                        <a:solidFill>
                          <a:schemeClr val="tx2"/>
                        </a:solidFill>
                        <a:latin typeface="Cambria Math" panose="02040503050406030204" pitchFamily="18" charset="0"/>
                      </a:rPr>
                      <m:t>=</m:t>
                    </m:r>
                    <m:r>
                      <a:rPr lang="ar-AE" sz="1600" b="1" i="1">
                        <a:solidFill>
                          <a:schemeClr val="tx2"/>
                        </a:solidFill>
                        <a:latin typeface="Cambria Math" panose="02040503050406030204" pitchFamily="18" charset="0"/>
                      </a:rPr>
                      <m:t>𝑩</m:t>
                    </m:r>
                    <m:acc>
                      <m:accPr>
                        <m:chr m:val="̇"/>
                        <m:ctrlPr>
                          <a:rPr lang="ar-AE" sz="1600" b="1" i="1">
                            <a:solidFill>
                              <a:schemeClr val="tx2"/>
                            </a:solidFill>
                            <a:latin typeface="Cambria Math" panose="02040503050406030204" pitchFamily="18" charset="0"/>
                          </a:rPr>
                        </m:ctrlPr>
                      </m:accPr>
                      <m:e>
                        <m:r>
                          <a:rPr lang="ar-AE" sz="1600" b="1" i="1">
                            <a:solidFill>
                              <a:schemeClr val="tx2"/>
                            </a:solidFill>
                            <a:latin typeface="Cambria Math" panose="02040503050406030204" pitchFamily="18" charset="0"/>
                          </a:rPr>
                          <m:t>𝒒</m:t>
                        </m:r>
                      </m:e>
                    </m:acc>
                  </m:oMath>
                </a14:m>
                <a:endParaRPr lang="ar-AE" sz="1600" b="1" dirty="0">
                  <a:solidFill>
                    <a:schemeClr val="tx2"/>
                  </a:solidFill>
                  <a:latin typeface="Fira Sans Condensed Light" panose="020B0403050000020004" pitchFamily="34" charset="0"/>
                </a:endParaRPr>
              </a:p>
              <a:p>
                <a:r>
                  <a:rPr lang="es-MX" sz="1600" dirty="0">
                    <a:solidFill>
                      <a:schemeClr val="tx2"/>
                    </a:solidFill>
                    <a:latin typeface="Fira Sans Condensed Light" panose="020B0403050000020004" pitchFamily="34" charset="0"/>
                  </a:rPr>
                  <a:t>Fricción de Coulomb                                         </a:t>
                </a:r>
                <a14:m>
                  <m:oMath xmlns:m="http://schemas.openxmlformats.org/officeDocument/2006/math">
                    <m:sSub>
                      <m:sSubPr>
                        <m:ctrlPr>
                          <a:rPr lang="ar-AE" sz="1600" b="1" i="1">
                            <a:solidFill>
                              <a:schemeClr val="tx2"/>
                            </a:solidFill>
                            <a:latin typeface="Cambria Math" panose="02040503050406030204" pitchFamily="18" charset="0"/>
                          </a:rPr>
                        </m:ctrlPr>
                      </m:sSubPr>
                      <m:e>
                        <m:r>
                          <a:rPr lang="ar-AE" sz="1600" b="1" i="1">
                            <a:solidFill>
                              <a:schemeClr val="tx2"/>
                            </a:solidFill>
                            <a:latin typeface="Cambria Math" panose="02040503050406030204" pitchFamily="18" charset="0"/>
                          </a:rPr>
                          <m:t>𝒇</m:t>
                        </m:r>
                      </m:e>
                      <m:sub>
                        <m:r>
                          <a:rPr lang="ar-AE" sz="1600" b="1" i="1">
                            <a:solidFill>
                              <a:schemeClr val="tx2"/>
                            </a:solidFill>
                            <a:latin typeface="Cambria Math" panose="02040503050406030204" pitchFamily="18" charset="0"/>
                          </a:rPr>
                          <m:t>𝒄</m:t>
                        </m:r>
                      </m:sub>
                    </m:sSub>
                    <m:r>
                      <a:rPr lang="ar-AE" sz="1600" b="1">
                        <a:solidFill>
                          <a:schemeClr val="tx2"/>
                        </a:solidFill>
                        <a:latin typeface="Cambria Math" panose="02040503050406030204" pitchFamily="18" charset="0"/>
                      </a:rPr>
                      <m:t>=</m:t>
                    </m:r>
                    <m:r>
                      <m:rPr>
                        <m:nor/>
                      </m:rPr>
                      <a:rPr lang="es-MX" sz="1600" b="1" i="1">
                        <a:solidFill>
                          <a:schemeClr val="tx2"/>
                        </a:solidFill>
                        <a:latin typeface="Fira Sans Condensed Light" panose="020B0403050000020004" pitchFamily="34" charset="0"/>
                      </a:rPr>
                      <m:t>sign</m:t>
                    </m:r>
                    <m:d>
                      <m:dPr>
                        <m:ctrlPr>
                          <a:rPr lang="ar-AE" sz="1600" b="1" i="1">
                            <a:solidFill>
                              <a:schemeClr val="tx2"/>
                            </a:solidFill>
                            <a:latin typeface="Cambria Math" panose="02040503050406030204" pitchFamily="18" charset="0"/>
                          </a:rPr>
                        </m:ctrlPr>
                      </m:dPr>
                      <m:e>
                        <m:acc>
                          <m:accPr>
                            <m:chr m:val="̇"/>
                            <m:ctrlPr>
                              <a:rPr lang="ar-AE" sz="1600" b="1" i="1">
                                <a:solidFill>
                                  <a:schemeClr val="tx2"/>
                                </a:solidFill>
                                <a:latin typeface="Cambria Math" panose="02040503050406030204" pitchFamily="18" charset="0"/>
                              </a:rPr>
                            </m:ctrlPr>
                          </m:accPr>
                          <m:e>
                            <m:r>
                              <a:rPr lang="ar-AE" sz="1600" b="1" i="1">
                                <a:solidFill>
                                  <a:schemeClr val="tx2"/>
                                </a:solidFill>
                                <a:latin typeface="Cambria Math" panose="02040503050406030204" pitchFamily="18" charset="0"/>
                              </a:rPr>
                              <m:t>𝒒</m:t>
                            </m:r>
                          </m:e>
                        </m:acc>
                      </m:e>
                    </m:d>
                  </m:oMath>
                </a14:m>
                <a:endParaRPr lang="ar-AE" sz="1600" b="1" dirty="0">
                  <a:solidFill>
                    <a:schemeClr val="tx2"/>
                  </a:solidFill>
                  <a:latin typeface="Fira Sans Condensed Light" panose="020B0403050000020004" pitchFamily="34" charset="0"/>
                </a:endParaRPr>
              </a:p>
              <a:p>
                <a:r>
                  <a:rPr lang="es-MX" sz="1600" dirty="0">
                    <a:solidFill>
                      <a:schemeClr val="tx2"/>
                    </a:solidFill>
                    <a:latin typeface="Fira Sans Condensed Light" panose="020B0403050000020004" pitchFamily="34" charset="0"/>
                  </a:rPr>
                  <a:t>Fuerzas externas                                              </a:t>
                </a:r>
                <a:r>
                  <a:rPr lang="es-MX" sz="1600" b="1" dirty="0">
                    <a:solidFill>
                      <a:schemeClr val="tx2"/>
                    </a:solidFill>
                    <a:latin typeface="Fira Sans Condensed Light" panose="020B0403050000020004" pitchFamily="34" charset="0"/>
                  </a:rPr>
                  <a:t> </a:t>
                </a:r>
                <a14:m>
                  <m:oMath xmlns:m="http://schemas.openxmlformats.org/officeDocument/2006/math">
                    <m:sSub>
                      <m:sSubPr>
                        <m:ctrlPr>
                          <a:rPr lang="ar-AE" sz="1600" b="1" i="1">
                            <a:solidFill>
                              <a:schemeClr val="tx2"/>
                            </a:solidFill>
                            <a:latin typeface="Cambria Math" panose="02040503050406030204" pitchFamily="18" charset="0"/>
                          </a:rPr>
                        </m:ctrlPr>
                      </m:sSubPr>
                      <m:e>
                        <m:r>
                          <a:rPr lang="ar-AE" sz="1600" b="1" i="1">
                            <a:solidFill>
                              <a:schemeClr val="tx2"/>
                            </a:solidFill>
                            <a:latin typeface="Cambria Math" panose="02040503050406030204" pitchFamily="18" charset="0"/>
                          </a:rPr>
                          <m:t>𝒇</m:t>
                        </m:r>
                      </m:e>
                      <m:sub>
                        <m:r>
                          <a:rPr lang="ar-AE" sz="1600" b="1" i="1">
                            <a:solidFill>
                              <a:schemeClr val="tx2"/>
                            </a:solidFill>
                            <a:latin typeface="Cambria Math" panose="02040503050406030204" pitchFamily="18" charset="0"/>
                          </a:rPr>
                          <m:t>𝒆</m:t>
                        </m:r>
                      </m:sub>
                    </m:sSub>
                  </m:oMath>
                </a14:m>
                <a:endParaRPr lang="ar-AE" sz="1600" b="1" dirty="0">
                  <a:solidFill>
                    <a:schemeClr val="tx2"/>
                  </a:solidFill>
                  <a:latin typeface="Fira Sans Condensed Light" panose="020B0403050000020004" pitchFamily="34" charset="0"/>
                </a:endParaRPr>
              </a:p>
              <a:p>
                <a:r>
                  <a:rPr lang="es-MX" sz="1600" dirty="0">
                    <a:solidFill>
                      <a:schemeClr val="tx2"/>
                    </a:solidFill>
                    <a:latin typeface="Fira Sans Condensed Light" panose="020B0403050000020004" pitchFamily="34" charset="0"/>
                  </a:rPr>
                  <a:t>Fuerzas que actúan desde el entorno: contacto con objetos, interacción humano-robot y fuerzas de herramientas</a:t>
                </a:r>
              </a:p>
              <a:p>
                <a:pPr/>
                <a14:m>
                  <m:oMathPara xmlns:m="http://schemas.openxmlformats.org/officeDocument/2006/math">
                    <m:oMathParaPr>
                      <m:jc m:val="centerGroup"/>
                    </m:oMathParaPr>
                    <m:oMath xmlns:m="http://schemas.openxmlformats.org/officeDocument/2006/math">
                      <m:r>
                        <a:rPr lang="es-MX" sz="1600" b="1" i="1">
                          <a:solidFill>
                            <a:schemeClr val="tx2"/>
                          </a:solidFill>
                          <a:latin typeface="Cambria Math" panose="02040503050406030204" pitchFamily="18" charset="0"/>
                        </a:rPr>
                        <m:t>𝒒</m:t>
                      </m:r>
                    </m:oMath>
                  </m:oMathPara>
                </a14:m>
                <a:endParaRPr lang="es-MX" sz="1600" b="1" dirty="0">
                  <a:solidFill>
                    <a:schemeClr val="tx2"/>
                  </a:solidFill>
                  <a:latin typeface="Fira Sans Condensed Light" panose="020B0403050000020004" pitchFamily="34" charset="0"/>
                </a:endParaRPr>
              </a:p>
            </p:txBody>
          </p:sp>
        </mc:Choice>
        <mc:Fallback xmlns="">
          <p:sp>
            <p:nvSpPr>
              <p:cNvPr id="11" name="Google Shape;1603;p42">
                <a:extLst>
                  <a:ext uri="{FF2B5EF4-FFF2-40B4-BE49-F238E27FC236}">
                    <a16:creationId xmlns:a16="http://schemas.microsoft.com/office/drawing/2014/main" id="{3A3250C1-4417-843F-06E1-DC74404F74E8}"/>
                  </a:ext>
                </a:extLst>
              </p:cNvPr>
              <p:cNvSpPr txBox="1">
                <a:spLocks noRot="1" noChangeAspect="1" noMove="1" noResize="1" noEditPoints="1" noAdjustHandles="1" noChangeArrowheads="1" noChangeShapeType="1" noTextEdit="1"/>
              </p:cNvSpPr>
              <p:nvPr/>
            </p:nvSpPr>
            <p:spPr>
              <a:xfrm>
                <a:off x="373910" y="3216412"/>
                <a:ext cx="8850310" cy="1623496"/>
              </a:xfrm>
              <a:prstGeom prst="rect">
                <a:avLst/>
              </a:prstGeom>
              <a:blipFill>
                <a:blip r:embed="rId5"/>
                <a:stretch>
                  <a:fillRect l="-344" b="-36842"/>
                </a:stretch>
              </a:blipFill>
              <a:ln>
                <a:noFill/>
              </a:ln>
            </p:spPr>
            <p:txBody>
              <a:bodyPr/>
              <a:lstStyle/>
              <a:p>
                <a:r>
                  <a:rPr lang="es-MX">
                    <a:noFill/>
                  </a:rPr>
                  <a:t> </a:t>
                </a:r>
              </a:p>
            </p:txBody>
          </p:sp>
        </mc:Fallback>
      </mc:AlternateContent>
    </p:spTree>
    <p:extLst>
      <p:ext uri="{BB962C8B-B14F-4D97-AF65-F5344CB8AC3E}">
        <p14:creationId xmlns:p14="http://schemas.microsoft.com/office/powerpoint/2010/main" val="1747860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1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3910" y="338754"/>
            <a:ext cx="554306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Introducción a Dinámica</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s-ES" sz="3000" b="1" dirty="0">
                <a:solidFill>
                  <a:schemeClr val="bg1">
                    <a:lumMod val="60000"/>
                    <a:lumOff val="40000"/>
                  </a:schemeClr>
                </a:solidFill>
                <a:latin typeface="Rajdhani"/>
                <a:ea typeface="Rajdhani"/>
                <a:cs typeface="Rajdhani"/>
                <a:sym typeface="Rajdhani"/>
              </a:rPr>
              <a:t>Modelo Dinámico</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11554" y="870978"/>
            <a:ext cx="726300" cy="1588"/>
          </a:xfrm>
          <a:prstGeom prst="straightConnector1">
            <a:avLst/>
          </a:prstGeom>
          <a:noFill/>
          <a:ln w="19050" cap="flat" cmpd="sng">
            <a:solidFill>
              <a:srgbClr val="F3F3F3"/>
            </a:solidFill>
            <a:prstDash val="solid"/>
            <a:round/>
            <a:headEnd type="oval" w="med" len="med"/>
            <a:tailEnd type="oval" w="med" len="med"/>
          </a:ln>
        </p:spPr>
      </p:cxnSp>
      <p:sp>
        <p:nvSpPr>
          <p:cNvPr id="17"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3" name="Google Shape;1603;p42">
            <a:extLst>
              <a:ext uri="{FF2B5EF4-FFF2-40B4-BE49-F238E27FC236}">
                <a16:creationId xmlns:a16="http://schemas.microsoft.com/office/drawing/2014/main" id="{96FEA3B8-573B-6452-2ACA-728E21BB251D}"/>
              </a:ext>
            </a:extLst>
          </p:cNvPr>
          <p:cNvSpPr txBox="1"/>
          <p:nvPr/>
        </p:nvSpPr>
        <p:spPr>
          <a:xfrm>
            <a:off x="221583" y="1341233"/>
            <a:ext cx="4094322" cy="726300"/>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Inercia</a:t>
            </a:r>
            <a:endParaRPr lang="es-ES" sz="1600" dirty="0">
              <a:solidFill>
                <a:schemeClr val="accent4"/>
              </a:solidFill>
              <a:latin typeface="Fira Sans Condensed Light" panose="020B0604020202020204" charset="0"/>
              <a:cs typeface="Times New Roman" panose="02020603050405020304" pitchFamily="18" charset="0"/>
            </a:endParaRPr>
          </a:p>
          <a:p>
            <a:pPr algn="just"/>
            <a:r>
              <a:rPr lang="es-ES" sz="1600" b="1" dirty="0">
                <a:solidFill>
                  <a:schemeClr val="accent4"/>
                </a:solidFill>
                <a:latin typeface="Fira Sans Condensed Light" panose="020B0604020202020204" charset="0"/>
                <a:cs typeface="Times New Roman" panose="02020603050405020304" pitchFamily="18" charset="0"/>
              </a:rPr>
              <a:t>El efecto inercial </a:t>
            </a:r>
            <a:r>
              <a:rPr lang="es-ES" sz="1600" dirty="0">
                <a:solidFill>
                  <a:schemeClr val="accent4"/>
                </a:solidFill>
                <a:latin typeface="Fira Sans Condensed Light" panose="020B0604020202020204" charset="0"/>
                <a:cs typeface="Times New Roman" panose="02020603050405020304" pitchFamily="18" charset="0"/>
              </a:rPr>
              <a:t>significa el cambio de estado de movimiento del robot manipulador. </a:t>
            </a:r>
            <a:r>
              <a:rPr lang="es-MX" sz="1600" dirty="0">
                <a:solidFill>
                  <a:schemeClr val="accent4"/>
                </a:solidFill>
                <a:latin typeface="Fira Sans Condensed Light" panose="020B0604020202020204" charset="0"/>
                <a:cs typeface="Times New Roman" panose="02020603050405020304" pitchFamily="18" charset="0"/>
              </a:rPr>
              <a:t>El efecto inercial en robots es la resistencia que presentan los componentes (eslabones, articulaciones, carga útil) a cambiar su estado de movimiento, ya sea iniciar, detener o modificar la velocidad/dirección. Depende de la masa, la carga útil y la distancia al centro de gravedad, afectando el control preciso y la estabilidad.</a:t>
            </a:r>
            <a:r>
              <a:rPr lang="es-ES" sz="1600" dirty="0">
                <a:solidFill>
                  <a:schemeClr val="accent4"/>
                </a:solidFill>
                <a:latin typeface="Fira Sans Condensed Light" panose="020B0604020202020204" charset="0"/>
                <a:cs typeface="Times New Roman" panose="02020603050405020304" pitchFamily="18" charset="0"/>
              </a:rPr>
              <a:t> </a:t>
            </a:r>
          </a:p>
        </p:txBody>
      </p:sp>
      <p:pic>
        <p:nvPicPr>
          <p:cNvPr id="2050" name="Picture 2" descr="Robots manipuladores - Robótica y automatización industrial - HURTADORIVAS">
            <a:extLst>
              <a:ext uri="{FF2B5EF4-FFF2-40B4-BE49-F238E27FC236}">
                <a16:creationId xmlns:a16="http://schemas.microsoft.com/office/drawing/2014/main" id="{14A9476A-616F-AD78-BBBE-7906CEAD406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49468" y="1137563"/>
            <a:ext cx="3485013" cy="37852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7054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3910" y="338754"/>
            <a:ext cx="554306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Introducción a Dinámica</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s-ES" sz="3000" b="1" dirty="0">
                <a:solidFill>
                  <a:schemeClr val="bg1">
                    <a:lumMod val="60000"/>
                    <a:lumOff val="40000"/>
                  </a:schemeClr>
                </a:solidFill>
                <a:latin typeface="Rajdhani"/>
                <a:ea typeface="Rajdhani"/>
                <a:cs typeface="Rajdhani"/>
                <a:sym typeface="Rajdhani"/>
              </a:rPr>
              <a:t>Modelo Dinámico</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11554" y="870978"/>
            <a:ext cx="726300" cy="1588"/>
          </a:xfrm>
          <a:prstGeom prst="straightConnector1">
            <a:avLst/>
          </a:prstGeom>
          <a:noFill/>
          <a:ln w="19050" cap="flat" cmpd="sng">
            <a:solidFill>
              <a:srgbClr val="F3F3F3"/>
            </a:solidFill>
            <a:prstDash val="solid"/>
            <a:round/>
            <a:headEnd type="oval" w="med" len="med"/>
            <a:tailEnd type="oval" w="med" len="med"/>
          </a:ln>
        </p:spPr>
      </p:cxnSp>
      <p:sp>
        <p:nvSpPr>
          <p:cNvPr id="3" name="Google Shape;1603;p42">
            <a:extLst>
              <a:ext uri="{FF2B5EF4-FFF2-40B4-BE49-F238E27FC236}">
                <a16:creationId xmlns:a16="http://schemas.microsoft.com/office/drawing/2014/main" id="{96FEA3B8-573B-6452-2ACA-728E21BB251D}"/>
              </a:ext>
            </a:extLst>
          </p:cNvPr>
          <p:cNvSpPr txBox="1"/>
          <p:nvPr/>
        </p:nvSpPr>
        <p:spPr>
          <a:xfrm>
            <a:off x="229092" y="1258663"/>
            <a:ext cx="6171708" cy="726300"/>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Fuerzas centrípetas y de Coriolis</a:t>
            </a:r>
            <a:endParaRPr lang="es-ES" sz="1600" dirty="0">
              <a:solidFill>
                <a:schemeClr val="accent4"/>
              </a:solidFill>
              <a:latin typeface="Fira Sans Condensed Light" panose="020B0604020202020204" charset="0"/>
              <a:cs typeface="Times New Roman" panose="02020603050405020304" pitchFamily="18" charset="0"/>
            </a:endParaRPr>
          </a:p>
          <a:p>
            <a:pPr algn="just"/>
            <a:r>
              <a:rPr lang="es-ES" sz="1600" dirty="0">
                <a:solidFill>
                  <a:schemeClr val="accent4"/>
                </a:solidFill>
                <a:latin typeface="Fira Sans Condensed Light" panose="020B0604020202020204" charset="0"/>
                <a:cs typeface="Times New Roman" panose="02020603050405020304" pitchFamily="18" charset="0"/>
              </a:rPr>
              <a:t>Las fuerzas centrípetas son fuerzas radiales, teniendo un signo contrario a las fuerzas centrífugas. La fuerza de Coriolis representa una desviación del movimiento de translación debido a su componente en rotación. </a:t>
            </a:r>
          </a:p>
        </p:txBody>
      </p:sp>
      <p:pic>
        <p:nvPicPr>
          <p:cNvPr id="3074" name="Picture 2" descr="Fuerza centrípeta - EcuRed">
            <a:extLst>
              <a:ext uri="{FF2B5EF4-FFF2-40B4-BE49-F238E27FC236}">
                <a16:creationId xmlns:a16="http://schemas.microsoft.com/office/drawing/2014/main" id="{C31FFD7A-11F7-740C-4C58-B8E435D6DE8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53622" y="2479537"/>
            <a:ext cx="4183643" cy="2637848"/>
          </a:xfrm>
          <a:prstGeom prst="rect">
            <a:avLst/>
          </a:prstGeom>
          <a:solidFill>
            <a:srgbClr val="FFFFFF"/>
          </a:solidFill>
        </p:spPr>
      </p:pic>
      <p:pic>
        <p:nvPicPr>
          <p:cNvPr id="2050" name="Picture 2" descr="robótica #automatización #ingeniería #controldinámico #cinemática | Rogelio  Domínguez Gutiérrez">
            <a:extLst>
              <a:ext uri="{FF2B5EF4-FFF2-40B4-BE49-F238E27FC236}">
                <a16:creationId xmlns:a16="http://schemas.microsoft.com/office/drawing/2014/main" id="{D0DA7C8A-5322-EF62-6615-291F30648AD8}"/>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b="14894"/>
          <a:stretch>
            <a:fillRect/>
          </a:stretch>
        </p:blipFill>
        <p:spPr bwMode="auto">
          <a:xfrm>
            <a:off x="6400800" y="1621813"/>
            <a:ext cx="2665095" cy="34022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1172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3910" y="338754"/>
            <a:ext cx="554306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Introducción a Dinámica</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s-ES" sz="3000" b="1" dirty="0">
                <a:solidFill>
                  <a:schemeClr val="bg1">
                    <a:lumMod val="60000"/>
                    <a:lumOff val="40000"/>
                  </a:schemeClr>
                </a:solidFill>
                <a:latin typeface="Rajdhani"/>
                <a:ea typeface="Rajdhani"/>
                <a:cs typeface="Rajdhani"/>
                <a:sym typeface="Rajdhani"/>
              </a:rPr>
              <a:t>Modelo Dinámico</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11554" y="870978"/>
            <a:ext cx="726300" cy="1588"/>
          </a:xfrm>
          <a:prstGeom prst="straightConnector1">
            <a:avLst/>
          </a:prstGeom>
          <a:noFill/>
          <a:ln w="19050" cap="flat" cmpd="sng">
            <a:solidFill>
              <a:srgbClr val="F3F3F3"/>
            </a:solidFill>
            <a:prstDash val="solid"/>
            <a:round/>
            <a:headEnd type="oval" w="med" len="med"/>
            <a:tailEnd type="oval" w="med" len="med"/>
          </a:ln>
        </p:spPr>
      </p:cxnSp>
      <p:sp>
        <p:nvSpPr>
          <p:cNvPr id="17"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3" name="Google Shape;1603;p42">
            <a:extLst>
              <a:ext uri="{FF2B5EF4-FFF2-40B4-BE49-F238E27FC236}">
                <a16:creationId xmlns:a16="http://schemas.microsoft.com/office/drawing/2014/main" id="{96FEA3B8-573B-6452-2ACA-728E21BB251D}"/>
              </a:ext>
            </a:extLst>
          </p:cNvPr>
          <p:cNvSpPr txBox="1"/>
          <p:nvPr/>
        </p:nvSpPr>
        <p:spPr>
          <a:xfrm>
            <a:off x="230681" y="1316304"/>
            <a:ext cx="3485286" cy="726300"/>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Par gravitacional </a:t>
            </a:r>
            <a:endParaRPr lang="es-ES" sz="1600" dirty="0">
              <a:solidFill>
                <a:schemeClr val="accent4"/>
              </a:solidFill>
              <a:latin typeface="Fira Sans Condensed Light" panose="020B0604020202020204" charset="0"/>
              <a:cs typeface="Times New Roman" panose="02020603050405020304" pitchFamily="18" charset="0"/>
            </a:endParaRPr>
          </a:p>
          <a:p>
            <a:pPr algn="just"/>
            <a:r>
              <a:rPr lang="es-MX" sz="1600" dirty="0">
                <a:solidFill>
                  <a:schemeClr val="accent4"/>
                </a:solidFill>
                <a:latin typeface="Fira Sans Condensed Light" panose="020B0604020202020204" charset="0"/>
                <a:cs typeface="Times New Roman" panose="02020603050405020304" pitchFamily="18" charset="0"/>
              </a:rPr>
              <a:t>El par gravitacional en robótica es el torque </a:t>
            </a:r>
            <a:r>
              <a:rPr lang="es-MX" sz="1600" b="1" dirty="0">
                <a:solidFill>
                  <a:schemeClr val="accent4"/>
                </a:solidFill>
                <a:latin typeface="Fira Sans Condensed Light" panose="020B0604020202020204" charset="0"/>
                <a:cs typeface="Times New Roman" panose="02020603050405020304" pitchFamily="18" charset="0"/>
              </a:rPr>
              <a:t>(momento de fuerza) </a:t>
            </a:r>
            <a:r>
              <a:rPr lang="es-MX" sz="1600" dirty="0">
                <a:solidFill>
                  <a:schemeClr val="accent4"/>
                </a:solidFill>
                <a:latin typeface="Fira Sans Condensed Light" panose="020B0604020202020204" charset="0"/>
                <a:cs typeface="Times New Roman" panose="02020603050405020304" pitchFamily="18" charset="0"/>
              </a:rPr>
              <a:t>que la gravedad ejerce sobre las articulaciones de un robot debido al peso de sus propios eslabones y la carga que transporta. Este par varía según la configuración geométrica del robot, y </a:t>
            </a:r>
            <a:r>
              <a:rPr lang="es-MX" sz="1600" b="1" dirty="0">
                <a:solidFill>
                  <a:schemeClr val="accent4"/>
                </a:solidFill>
                <a:latin typeface="Fira Sans Condensed Light" panose="020B0604020202020204" charset="0"/>
                <a:cs typeface="Times New Roman" panose="02020603050405020304" pitchFamily="18" charset="0"/>
              </a:rPr>
              <a:t>debe compensarse </a:t>
            </a:r>
            <a:r>
              <a:rPr lang="es-MX" sz="1600" dirty="0">
                <a:solidFill>
                  <a:schemeClr val="accent4"/>
                </a:solidFill>
                <a:latin typeface="Fira Sans Condensed Light" panose="020B0604020202020204" charset="0"/>
                <a:cs typeface="Times New Roman" panose="02020603050405020304" pitchFamily="18" charset="0"/>
              </a:rPr>
              <a:t>mediante los actuadores (motores) para mantener la posición o moverse con precisión.</a:t>
            </a:r>
            <a:endParaRPr lang="es-ES" sz="1600" dirty="0">
              <a:solidFill>
                <a:schemeClr val="accent4"/>
              </a:solidFill>
              <a:latin typeface="Fira Sans Condensed Light" panose="020B0604020202020204" charset="0"/>
              <a:cs typeface="Times New Roman" panose="02020603050405020304" pitchFamily="18" charset="0"/>
            </a:endParaRPr>
          </a:p>
        </p:txBody>
      </p:sp>
      <p:pic>
        <p:nvPicPr>
          <p:cNvPr id="1026" name="Picture 2" descr="Robot colaborativo para cargas pesadas | Mundo EXPO PACK">
            <a:extLst>
              <a:ext uri="{FF2B5EF4-FFF2-40B4-BE49-F238E27FC236}">
                <a16:creationId xmlns:a16="http://schemas.microsoft.com/office/drawing/2014/main" id="{DC16943C-9B6C-81C4-71DF-2ABAFA37CA6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21606" y="1472524"/>
            <a:ext cx="4978386" cy="34502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54493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3910" y="338754"/>
            <a:ext cx="554306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Introducción a Dinámica</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s-ES" sz="3000" b="1" dirty="0">
                <a:solidFill>
                  <a:schemeClr val="bg1">
                    <a:lumMod val="60000"/>
                    <a:lumOff val="40000"/>
                  </a:schemeClr>
                </a:solidFill>
                <a:latin typeface="Rajdhani"/>
                <a:ea typeface="Rajdhani"/>
                <a:cs typeface="Rajdhani"/>
                <a:sym typeface="Rajdhani"/>
              </a:rPr>
              <a:t>Modelo Dinámico</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11554" y="870978"/>
            <a:ext cx="726300" cy="1588"/>
          </a:xfrm>
          <a:prstGeom prst="straightConnector1">
            <a:avLst/>
          </a:prstGeom>
          <a:noFill/>
          <a:ln w="19050" cap="flat" cmpd="sng">
            <a:solidFill>
              <a:srgbClr val="F3F3F3"/>
            </a:solidFill>
            <a:prstDash val="solid"/>
            <a:round/>
            <a:headEnd type="oval" w="med" len="med"/>
            <a:tailEnd type="oval" w="med" len="med"/>
          </a:ln>
        </p:spPr>
      </p:cxnSp>
      <p:sp>
        <p:nvSpPr>
          <p:cNvPr id="17"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3" name="Google Shape;1603;p42">
            <a:extLst>
              <a:ext uri="{FF2B5EF4-FFF2-40B4-BE49-F238E27FC236}">
                <a16:creationId xmlns:a16="http://schemas.microsoft.com/office/drawing/2014/main" id="{96FEA3B8-573B-6452-2ACA-728E21BB251D}"/>
              </a:ext>
            </a:extLst>
          </p:cNvPr>
          <p:cNvSpPr txBox="1"/>
          <p:nvPr/>
        </p:nvSpPr>
        <p:spPr>
          <a:xfrm>
            <a:off x="261391" y="1234922"/>
            <a:ext cx="8621218" cy="726300"/>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Fenómeno de fricción</a:t>
            </a:r>
            <a:endParaRPr lang="es-ES" sz="1600" dirty="0">
              <a:solidFill>
                <a:schemeClr val="accent4"/>
              </a:solidFill>
              <a:latin typeface="Fira Sans Condensed Light" panose="020B0604020202020204" charset="0"/>
              <a:cs typeface="Times New Roman" panose="02020603050405020304" pitchFamily="18" charset="0"/>
            </a:endParaRPr>
          </a:p>
          <a:p>
            <a:pPr algn="just"/>
            <a:r>
              <a:rPr lang="es-ES" sz="1600" dirty="0">
                <a:solidFill>
                  <a:schemeClr val="accent4"/>
                </a:solidFill>
                <a:latin typeface="Fira Sans Condensed Light" panose="020B0604020202020204" charset="0"/>
                <a:cs typeface="Times New Roman" panose="02020603050405020304" pitchFamily="18" charset="0"/>
              </a:rPr>
              <a:t>El fenómeno de fricción tiene el efecto físico de oponerse al movimiento del robot; su característica principal es un fenómeno disipativo en velocidades diferentes a 0 y con entradas acotadas desde el primer y tercer cuadrante, lo que permite considerar los modelos tradicionales de fricción viscosa, Coulomb y estática. La característica disipativa de la fricción significa que convierte la energía mecánica en energía térmica.</a:t>
            </a:r>
          </a:p>
        </p:txBody>
      </p:sp>
      <p:pic>
        <p:nvPicPr>
          <p:cNvPr id="5124" name="Picture 4" descr="Célula Automática de Soldado por Fricción BWF-30 | AFM">
            <a:extLst>
              <a:ext uri="{FF2B5EF4-FFF2-40B4-BE49-F238E27FC236}">
                <a16:creationId xmlns:a16="http://schemas.microsoft.com/office/drawing/2014/main" id="{3F5DA859-562E-7352-15FC-8A1287CB35C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00965" y="2831624"/>
            <a:ext cx="3232882" cy="21539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1268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3910" y="338754"/>
            <a:ext cx="554306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Metodología Euler-Lagrange</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Lagrangiano</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11554" y="870978"/>
            <a:ext cx="726300" cy="1588"/>
          </a:xfrm>
          <a:prstGeom prst="straightConnector1">
            <a:avLst/>
          </a:prstGeom>
          <a:noFill/>
          <a:ln w="19050" cap="flat" cmpd="sng">
            <a:solidFill>
              <a:srgbClr val="F3F3F3"/>
            </a:solidFill>
            <a:prstDash val="solid"/>
            <a:round/>
            <a:headEnd type="oval" w="med" len="med"/>
            <a:tailEnd type="oval" w="med" len="med"/>
          </a:ln>
        </p:spPr>
      </p:cxnSp>
      <p:sp>
        <p:nvSpPr>
          <p:cNvPr id="17"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3" name="Google Shape;1603;p42">
            <a:extLst>
              <a:ext uri="{FF2B5EF4-FFF2-40B4-BE49-F238E27FC236}">
                <a16:creationId xmlns:a16="http://schemas.microsoft.com/office/drawing/2014/main" id="{96FEA3B8-573B-6452-2ACA-728E21BB251D}"/>
              </a:ext>
            </a:extLst>
          </p:cNvPr>
          <p:cNvSpPr txBox="1"/>
          <p:nvPr/>
        </p:nvSpPr>
        <p:spPr>
          <a:xfrm>
            <a:off x="224478" y="1277561"/>
            <a:ext cx="2903840" cy="726300"/>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Obtención del Modelo Dinámico</a:t>
            </a:r>
          </a:p>
        </p:txBody>
      </p:sp>
      <p:sp>
        <p:nvSpPr>
          <p:cNvPr id="10" name="Google Shape;1603;p42">
            <a:extLst>
              <a:ext uri="{FF2B5EF4-FFF2-40B4-BE49-F238E27FC236}">
                <a16:creationId xmlns:a16="http://schemas.microsoft.com/office/drawing/2014/main" id="{B6AF135A-A7A6-5A21-F085-0F622BC44B05}"/>
              </a:ext>
            </a:extLst>
          </p:cNvPr>
          <p:cNvSpPr txBox="1"/>
          <p:nvPr/>
        </p:nvSpPr>
        <p:spPr>
          <a:xfrm>
            <a:off x="176714" y="1660861"/>
            <a:ext cx="3176085" cy="591256"/>
          </a:xfrm>
          <a:prstGeom prst="rect">
            <a:avLst/>
          </a:prstGeom>
          <a:noFill/>
          <a:ln>
            <a:noFill/>
          </a:ln>
        </p:spPr>
        <p:txBody>
          <a:bodyPr spcFirstLastPara="1" wrap="square" lIns="91425" tIns="182875" rIns="91425" bIns="0" anchor="t" anchorCtr="0">
            <a:noAutofit/>
          </a:bodyPr>
          <a:lstStyle/>
          <a:p>
            <a:pPr algn="just"/>
            <a:r>
              <a:rPr lang="es-ES" sz="1600" dirty="0">
                <a:solidFill>
                  <a:schemeClr val="accent4"/>
                </a:solidFill>
                <a:latin typeface="Fira Sans Condensed Light" panose="020B0604020202020204" charset="0"/>
                <a:cs typeface="Times New Roman" panose="02020603050405020304" pitchFamily="18" charset="0"/>
              </a:rPr>
              <a:t>A continuación, se describe la metodología de las ecuaciones de movimiento de Euler-Lagrange, aplicada a robots manipuladores.</a:t>
            </a:r>
          </a:p>
          <a:p>
            <a:pPr algn="just"/>
            <a:endParaRPr lang="es-ES" sz="1600" b="1" dirty="0">
              <a:solidFill>
                <a:schemeClr val="accent4"/>
              </a:solidFill>
              <a:latin typeface="Fira Sans Condensed Light" panose="020B0604020202020204" charset="0"/>
              <a:cs typeface="Times New Roman" panose="02020603050405020304" pitchFamily="18" charset="0"/>
            </a:endParaRPr>
          </a:p>
          <a:p>
            <a:pPr algn="just"/>
            <a:r>
              <a:rPr lang="es-MX" sz="1600" i="1" dirty="0">
                <a:solidFill>
                  <a:schemeClr val="tx2"/>
                </a:solidFill>
                <a:latin typeface="Fira Sans Condensed Light" panose="020B0403050000020004" pitchFamily="34" charset="0"/>
              </a:rPr>
              <a:t>“Es la </a:t>
            </a:r>
            <a:r>
              <a:rPr lang="es-MX" sz="1600" b="1" i="1" dirty="0">
                <a:solidFill>
                  <a:schemeClr val="tx2"/>
                </a:solidFill>
                <a:latin typeface="Fira Sans Condensed Light" panose="020B0403050000020004" pitchFamily="34" charset="0"/>
              </a:rPr>
              <a:t>derivada total </a:t>
            </a:r>
            <a:r>
              <a:rPr lang="es-MX" sz="1600" i="1" dirty="0">
                <a:solidFill>
                  <a:schemeClr val="tx2"/>
                </a:solidFill>
                <a:latin typeface="Fira Sans Condensed Light" panose="020B0403050000020004" pitchFamily="34" charset="0"/>
              </a:rPr>
              <a:t>respecto al tiempo de la </a:t>
            </a:r>
            <a:r>
              <a:rPr lang="es-MX" sz="1600" b="1" i="1" dirty="0">
                <a:solidFill>
                  <a:schemeClr val="tx2"/>
                </a:solidFill>
                <a:latin typeface="Fira Sans Condensed Light" panose="020B0403050000020004" pitchFamily="34" charset="0"/>
              </a:rPr>
              <a:t>derivada parcial </a:t>
            </a:r>
            <a:r>
              <a:rPr lang="es-MX" sz="1600" i="1" dirty="0">
                <a:solidFill>
                  <a:schemeClr val="tx2"/>
                </a:solidFill>
                <a:latin typeface="Fira Sans Condensed Light" panose="020B0403050000020004" pitchFamily="34" charset="0"/>
              </a:rPr>
              <a:t>del </a:t>
            </a:r>
            <a:r>
              <a:rPr lang="es-MX" sz="1600" i="1" dirty="0" err="1">
                <a:solidFill>
                  <a:schemeClr val="tx2"/>
                </a:solidFill>
                <a:latin typeface="Fira Sans Condensed Light" panose="020B0403050000020004" pitchFamily="34" charset="0"/>
              </a:rPr>
              <a:t>lagrangiano</a:t>
            </a:r>
            <a:r>
              <a:rPr lang="es-MX" sz="1600" i="1" dirty="0">
                <a:solidFill>
                  <a:schemeClr val="tx2"/>
                </a:solidFill>
                <a:latin typeface="Fira Sans Condensed Light" panose="020B0403050000020004" pitchFamily="34" charset="0"/>
              </a:rPr>
              <a:t> con respecto a la velocidad generalizada, menos la </a:t>
            </a:r>
            <a:r>
              <a:rPr lang="es-MX" sz="1600" b="1" i="1" dirty="0">
                <a:solidFill>
                  <a:schemeClr val="tx2"/>
                </a:solidFill>
                <a:latin typeface="Fira Sans Condensed Light" panose="020B0403050000020004" pitchFamily="34" charset="0"/>
              </a:rPr>
              <a:t>derivada parcial </a:t>
            </a:r>
            <a:r>
              <a:rPr lang="es-MX" sz="1600" i="1" dirty="0">
                <a:solidFill>
                  <a:schemeClr val="tx2"/>
                </a:solidFill>
                <a:latin typeface="Fira Sans Condensed Light" panose="020B0403050000020004" pitchFamily="34" charset="0"/>
              </a:rPr>
              <a:t>del </a:t>
            </a:r>
            <a:r>
              <a:rPr lang="es-MX" sz="1600" i="1" dirty="0" err="1">
                <a:solidFill>
                  <a:schemeClr val="tx2"/>
                </a:solidFill>
                <a:latin typeface="Fira Sans Condensed Light" panose="020B0403050000020004" pitchFamily="34" charset="0"/>
              </a:rPr>
              <a:t>lagrangiano</a:t>
            </a:r>
            <a:r>
              <a:rPr lang="es-MX" sz="1600" i="1" dirty="0">
                <a:solidFill>
                  <a:schemeClr val="tx2"/>
                </a:solidFill>
                <a:latin typeface="Fira Sans Condensed Light" panose="020B0403050000020004" pitchFamily="34" charset="0"/>
              </a:rPr>
              <a:t> con respecto a la coordenada generalizada.</a:t>
            </a:r>
          </a:p>
          <a:p>
            <a:pPr algn="just"/>
            <a:r>
              <a:rPr lang="es-MX" sz="1600" i="1" dirty="0">
                <a:solidFill>
                  <a:schemeClr val="tx2"/>
                </a:solidFill>
                <a:latin typeface="Fira Sans Condensed Light" panose="020B0403050000020004" pitchFamily="34" charset="0"/>
              </a:rPr>
              <a:t>𝑞”</a:t>
            </a:r>
            <a:endParaRPr lang="es-ES" sz="1600" b="1" i="1" dirty="0">
              <a:solidFill>
                <a:schemeClr val="tx2"/>
              </a:solidFill>
              <a:latin typeface="Fira Sans Condensed Light" panose="020B0403050000020004" pitchFamily="34" charset="0"/>
              <a:cs typeface="Times New Roman" panose="02020603050405020304" pitchFamily="18" charset="0"/>
            </a:endParaRPr>
          </a:p>
        </p:txBody>
      </p:sp>
      <p:pic>
        <p:nvPicPr>
          <p:cNvPr id="1026" name="Picture 2" descr="Introducción a la Ecuación de Euler-Lagrange - YouTube">
            <a:extLst>
              <a:ext uri="{FF2B5EF4-FFF2-40B4-BE49-F238E27FC236}">
                <a16:creationId xmlns:a16="http://schemas.microsoft.com/office/drawing/2014/main" id="{49C8D2DA-7CE9-68E0-42DF-DD4D3843F5A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52799" y="1660861"/>
            <a:ext cx="5643596" cy="31745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2454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3910" y="338754"/>
            <a:ext cx="554306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Metodología Euler-Lagrange</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Lagrangiano</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11554" y="870978"/>
            <a:ext cx="726300" cy="1588"/>
          </a:xfrm>
          <a:prstGeom prst="straightConnector1">
            <a:avLst/>
          </a:prstGeom>
          <a:noFill/>
          <a:ln w="19050" cap="flat" cmpd="sng">
            <a:solidFill>
              <a:srgbClr val="F3F3F3"/>
            </a:solidFill>
            <a:prstDash val="solid"/>
            <a:round/>
            <a:headEnd type="oval" w="med" len="med"/>
            <a:tailEnd type="oval" w="med" len="med"/>
          </a:ln>
        </p:spPr>
      </p:cxnSp>
      <p:sp>
        <p:nvSpPr>
          <p:cNvPr id="17"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3" name="Google Shape;1603;p42">
            <a:extLst>
              <a:ext uri="{FF2B5EF4-FFF2-40B4-BE49-F238E27FC236}">
                <a16:creationId xmlns:a16="http://schemas.microsoft.com/office/drawing/2014/main" id="{96FEA3B8-573B-6452-2ACA-728E21BB251D}"/>
              </a:ext>
            </a:extLst>
          </p:cNvPr>
          <p:cNvSpPr txBox="1"/>
          <p:nvPr/>
        </p:nvSpPr>
        <p:spPr>
          <a:xfrm>
            <a:off x="241604" y="1404790"/>
            <a:ext cx="2903840" cy="726300"/>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Obtención del Modelo Dinámico</a:t>
            </a:r>
          </a:p>
        </p:txBody>
      </p:sp>
      <p:pic>
        <p:nvPicPr>
          <p:cNvPr id="4" name="Imagen 3">
            <a:extLst>
              <a:ext uri="{FF2B5EF4-FFF2-40B4-BE49-F238E27FC236}">
                <a16:creationId xmlns:a16="http://schemas.microsoft.com/office/drawing/2014/main" id="{7C999086-2505-8C7D-F7B9-5E6C93B2E605}"/>
              </a:ext>
            </a:extLst>
          </p:cNvPr>
          <p:cNvPicPr>
            <a:picLocks noChangeAspect="1"/>
          </p:cNvPicPr>
          <p:nvPr/>
        </p:nvPicPr>
        <p:blipFill>
          <a:blip r:embed="rId4"/>
          <a:stretch>
            <a:fillRect/>
          </a:stretch>
        </p:blipFill>
        <p:spPr>
          <a:xfrm>
            <a:off x="1288439" y="1972041"/>
            <a:ext cx="6848475" cy="2676525"/>
          </a:xfrm>
          <a:prstGeom prst="rect">
            <a:avLst/>
          </a:prstGeom>
        </p:spPr>
      </p:pic>
    </p:spTree>
    <p:extLst>
      <p:ext uri="{BB962C8B-B14F-4D97-AF65-F5344CB8AC3E}">
        <p14:creationId xmlns:p14="http://schemas.microsoft.com/office/powerpoint/2010/main" val="143499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3910" y="338754"/>
            <a:ext cx="554306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Metodología Euler-Lagrange</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Lagrangiano</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11554" y="870978"/>
            <a:ext cx="726300" cy="1588"/>
          </a:xfrm>
          <a:prstGeom prst="straightConnector1">
            <a:avLst/>
          </a:prstGeom>
          <a:noFill/>
          <a:ln w="19050" cap="flat" cmpd="sng">
            <a:solidFill>
              <a:srgbClr val="F3F3F3"/>
            </a:solidFill>
            <a:prstDash val="solid"/>
            <a:round/>
            <a:headEnd type="oval" w="med" len="med"/>
            <a:tailEnd type="oval" w="med" len="med"/>
          </a:ln>
        </p:spPr>
      </p:cxnSp>
      <p:sp>
        <p:nvSpPr>
          <p:cNvPr id="17"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3" name="Google Shape;1603;p42">
            <a:extLst>
              <a:ext uri="{FF2B5EF4-FFF2-40B4-BE49-F238E27FC236}">
                <a16:creationId xmlns:a16="http://schemas.microsoft.com/office/drawing/2014/main" id="{96FEA3B8-573B-6452-2ACA-728E21BB251D}"/>
              </a:ext>
            </a:extLst>
          </p:cNvPr>
          <p:cNvSpPr txBox="1"/>
          <p:nvPr/>
        </p:nvSpPr>
        <p:spPr>
          <a:xfrm>
            <a:off x="241604" y="1404790"/>
            <a:ext cx="2903840" cy="726300"/>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Obtención del Modelo Dinámico</a:t>
            </a:r>
          </a:p>
        </p:txBody>
      </p:sp>
      <p:pic>
        <p:nvPicPr>
          <p:cNvPr id="5" name="Imagen 4">
            <a:extLst>
              <a:ext uri="{FF2B5EF4-FFF2-40B4-BE49-F238E27FC236}">
                <a16:creationId xmlns:a16="http://schemas.microsoft.com/office/drawing/2014/main" id="{745530E0-14E9-2F8A-D1D1-2C6394D95B24}"/>
              </a:ext>
            </a:extLst>
          </p:cNvPr>
          <p:cNvPicPr>
            <a:picLocks noChangeAspect="1"/>
          </p:cNvPicPr>
          <p:nvPr/>
        </p:nvPicPr>
        <p:blipFill>
          <a:blip r:embed="rId4"/>
          <a:stretch>
            <a:fillRect/>
          </a:stretch>
        </p:blipFill>
        <p:spPr>
          <a:xfrm>
            <a:off x="1415195" y="1865260"/>
            <a:ext cx="6462713" cy="2893348"/>
          </a:xfrm>
          <a:prstGeom prst="rect">
            <a:avLst/>
          </a:prstGeom>
        </p:spPr>
      </p:pic>
    </p:spTree>
    <p:extLst>
      <p:ext uri="{BB962C8B-B14F-4D97-AF65-F5344CB8AC3E}">
        <p14:creationId xmlns:p14="http://schemas.microsoft.com/office/powerpoint/2010/main" val="5076862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3910" y="338754"/>
            <a:ext cx="554306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Metodología Euler-Lagrange</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Lagrangiano</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11554" y="870978"/>
            <a:ext cx="726300" cy="1588"/>
          </a:xfrm>
          <a:prstGeom prst="straightConnector1">
            <a:avLst/>
          </a:prstGeom>
          <a:noFill/>
          <a:ln w="19050" cap="flat" cmpd="sng">
            <a:solidFill>
              <a:srgbClr val="F3F3F3"/>
            </a:solidFill>
            <a:prstDash val="solid"/>
            <a:round/>
            <a:headEnd type="oval" w="med" len="med"/>
            <a:tailEnd type="oval" w="med" len="med"/>
          </a:ln>
        </p:spPr>
      </p:cxnSp>
      <p:sp>
        <p:nvSpPr>
          <p:cNvPr id="17"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3" name="Google Shape;1603;p42">
            <a:extLst>
              <a:ext uri="{FF2B5EF4-FFF2-40B4-BE49-F238E27FC236}">
                <a16:creationId xmlns:a16="http://schemas.microsoft.com/office/drawing/2014/main" id="{96FEA3B8-573B-6452-2ACA-728E21BB251D}"/>
              </a:ext>
            </a:extLst>
          </p:cNvPr>
          <p:cNvSpPr txBox="1"/>
          <p:nvPr/>
        </p:nvSpPr>
        <p:spPr>
          <a:xfrm>
            <a:off x="83268" y="1404790"/>
            <a:ext cx="2903840" cy="726300"/>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Obtención del Modelo Dinámico</a:t>
            </a:r>
          </a:p>
        </p:txBody>
      </p:sp>
      <p:pic>
        <p:nvPicPr>
          <p:cNvPr id="4" name="Imagen 3">
            <a:extLst>
              <a:ext uri="{FF2B5EF4-FFF2-40B4-BE49-F238E27FC236}">
                <a16:creationId xmlns:a16="http://schemas.microsoft.com/office/drawing/2014/main" id="{50D2D3A8-C768-00B5-F4A4-81207115E2F1}"/>
              </a:ext>
            </a:extLst>
          </p:cNvPr>
          <p:cNvPicPr>
            <a:picLocks noChangeAspect="1"/>
          </p:cNvPicPr>
          <p:nvPr/>
        </p:nvPicPr>
        <p:blipFill>
          <a:blip r:embed="rId4"/>
          <a:stretch>
            <a:fillRect/>
          </a:stretch>
        </p:blipFill>
        <p:spPr>
          <a:xfrm>
            <a:off x="2987108" y="1082217"/>
            <a:ext cx="6115333" cy="3883833"/>
          </a:xfrm>
          <a:prstGeom prst="rect">
            <a:avLst/>
          </a:prstGeom>
        </p:spPr>
      </p:pic>
    </p:spTree>
    <p:extLst>
      <p:ext uri="{BB962C8B-B14F-4D97-AF65-F5344CB8AC3E}">
        <p14:creationId xmlns:p14="http://schemas.microsoft.com/office/powerpoint/2010/main" val="2708144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3910" y="338754"/>
            <a:ext cx="554306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Metodología Euler-Lagrange</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Lagrangiano</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11554" y="870978"/>
            <a:ext cx="726300" cy="1588"/>
          </a:xfrm>
          <a:prstGeom prst="straightConnector1">
            <a:avLst/>
          </a:prstGeom>
          <a:noFill/>
          <a:ln w="19050" cap="flat" cmpd="sng">
            <a:solidFill>
              <a:srgbClr val="F3F3F3"/>
            </a:solidFill>
            <a:prstDash val="solid"/>
            <a:round/>
            <a:headEnd type="oval" w="med" len="med"/>
            <a:tailEnd type="oval" w="med" len="med"/>
          </a:ln>
        </p:spPr>
      </p:cxnSp>
      <p:sp>
        <p:nvSpPr>
          <p:cNvPr id="17"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3" name="Google Shape;1603;p42">
            <a:extLst>
              <a:ext uri="{FF2B5EF4-FFF2-40B4-BE49-F238E27FC236}">
                <a16:creationId xmlns:a16="http://schemas.microsoft.com/office/drawing/2014/main" id="{96FEA3B8-573B-6452-2ACA-728E21BB251D}"/>
              </a:ext>
            </a:extLst>
          </p:cNvPr>
          <p:cNvSpPr txBox="1"/>
          <p:nvPr/>
        </p:nvSpPr>
        <p:spPr>
          <a:xfrm>
            <a:off x="83268" y="1404790"/>
            <a:ext cx="2903840" cy="726300"/>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Obtención del Modelo Dinámico</a:t>
            </a:r>
          </a:p>
        </p:txBody>
      </p:sp>
      <p:pic>
        <p:nvPicPr>
          <p:cNvPr id="7" name="Imagen 6">
            <a:extLst>
              <a:ext uri="{FF2B5EF4-FFF2-40B4-BE49-F238E27FC236}">
                <a16:creationId xmlns:a16="http://schemas.microsoft.com/office/drawing/2014/main" id="{B7339A4B-589A-E1A8-6082-84D2ECE14622}"/>
              </a:ext>
            </a:extLst>
          </p:cNvPr>
          <p:cNvPicPr>
            <a:picLocks noChangeAspect="1"/>
          </p:cNvPicPr>
          <p:nvPr/>
        </p:nvPicPr>
        <p:blipFill>
          <a:blip r:embed="rId4"/>
          <a:stretch>
            <a:fillRect/>
          </a:stretch>
        </p:blipFill>
        <p:spPr>
          <a:xfrm>
            <a:off x="788029" y="2131090"/>
            <a:ext cx="7802404" cy="2405741"/>
          </a:xfrm>
          <a:prstGeom prst="rect">
            <a:avLst/>
          </a:prstGeom>
        </p:spPr>
      </p:pic>
    </p:spTree>
    <p:extLst>
      <p:ext uri="{BB962C8B-B14F-4D97-AF65-F5344CB8AC3E}">
        <p14:creationId xmlns:p14="http://schemas.microsoft.com/office/powerpoint/2010/main" val="4152031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F5028745-B6F7-C472-C00F-4A0C1CD82E99}"/>
            </a:ext>
          </a:extLst>
        </p:cNvPr>
        <p:cNvGrpSpPr/>
        <p:nvPr/>
      </p:nvGrpSpPr>
      <p:grpSpPr>
        <a:xfrm>
          <a:off x="0" y="0"/>
          <a:ext cx="0" cy="0"/>
          <a:chOff x="0" y="0"/>
          <a:chExt cx="0" cy="0"/>
        </a:xfrm>
      </p:grpSpPr>
      <p:sp>
        <p:nvSpPr>
          <p:cNvPr id="174" name="Google Shape;174;p30">
            <a:extLst>
              <a:ext uri="{FF2B5EF4-FFF2-40B4-BE49-F238E27FC236}">
                <a16:creationId xmlns:a16="http://schemas.microsoft.com/office/drawing/2014/main" id="{9BBCD1EB-93D6-FFE9-657B-EBEDBF78C894}"/>
              </a:ext>
            </a:extLst>
          </p:cNvPr>
          <p:cNvSpPr txBox="1">
            <a:spLocks noGrp="1"/>
          </p:cNvSpPr>
          <p:nvPr>
            <p:ph type="title"/>
          </p:nvPr>
        </p:nvSpPr>
        <p:spPr>
          <a:xfrm>
            <a:off x="522825" y="971850"/>
            <a:ext cx="3787800" cy="3199800"/>
          </a:xfrm>
          <a:prstGeom prst="rect">
            <a:avLst/>
          </a:prstGeom>
        </p:spPr>
        <p:txBody>
          <a:bodyPr spcFirstLastPara="1" wrap="square" lIns="91425" tIns="91425" rIns="91425" bIns="91425" anchor="ctr" anchorCtr="0">
            <a:noAutofit/>
          </a:bodyPr>
          <a:lstStyle/>
          <a:p>
            <a:pPr lvl="0"/>
            <a:r>
              <a:rPr lang="en" sz="4000" dirty="0"/>
              <a:t>Evaluación Final</a:t>
            </a:r>
            <a:endParaRPr sz="4000" dirty="0"/>
          </a:p>
        </p:txBody>
      </p:sp>
      <p:sp>
        <p:nvSpPr>
          <p:cNvPr id="175" name="Google Shape;175;p30">
            <a:extLst>
              <a:ext uri="{FF2B5EF4-FFF2-40B4-BE49-F238E27FC236}">
                <a16:creationId xmlns:a16="http://schemas.microsoft.com/office/drawing/2014/main" id="{865DC224-1C76-A803-E374-D5A6868CEE85}"/>
              </a:ext>
            </a:extLst>
          </p:cNvPr>
          <p:cNvSpPr txBox="1">
            <a:spLocks noGrp="1"/>
          </p:cNvSpPr>
          <p:nvPr>
            <p:ph type="subTitle" idx="1"/>
          </p:nvPr>
        </p:nvSpPr>
        <p:spPr>
          <a:xfrm>
            <a:off x="4917750" y="3290550"/>
            <a:ext cx="3175216" cy="881100"/>
          </a:xfrm>
          <a:prstGeom prst="rect">
            <a:avLst/>
          </a:prstGeom>
        </p:spPr>
        <p:txBody>
          <a:bodyPr spcFirstLastPara="1" wrap="square" lIns="91425" tIns="91425" rIns="91425" bIns="91425" anchor="t" anchorCtr="0">
            <a:noAutofit/>
          </a:bodyPr>
          <a:lstStyle/>
          <a:p>
            <a:pPr marL="146050" indent="0">
              <a:buSzPts val="1300"/>
            </a:pPr>
            <a:r>
              <a:rPr lang="es-ES" dirty="0"/>
              <a:t>- Evaluación Final</a:t>
            </a:r>
          </a:p>
          <a:p>
            <a:pPr marL="431800" indent="-285750">
              <a:buSzPts val="1300"/>
              <a:buFontTx/>
              <a:buChar char="-"/>
            </a:pPr>
            <a:endParaRPr lang="es-ES" dirty="0"/>
          </a:p>
          <a:p>
            <a:pPr marL="146050" lvl="0" indent="0">
              <a:buSzPts val="1300"/>
            </a:pPr>
            <a:r>
              <a:rPr lang="es-ES" dirty="0"/>
              <a:t> </a:t>
            </a:r>
            <a:endParaRPr dirty="0"/>
          </a:p>
        </p:txBody>
      </p:sp>
      <p:sp>
        <p:nvSpPr>
          <p:cNvPr id="176" name="Google Shape;176;p30">
            <a:extLst>
              <a:ext uri="{FF2B5EF4-FFF2-40B4-BE49-F238E27FC236}">
                <a16:creationId xmlns:a16="http://schemas.microsoft.com/office/drawing/2014/main" id="{8FED9E29-096C-0772-53B9-94A60750D071}"/>
              </a:ext>
            </a:extLst>
          </p:cNvPr>
          <p:cNvSpPr txBox="1">
            <a:spLocks noGrp="1"/>
          </p:cNvSpPr>
          <p:nvPr>
            <p:ph type="title" idx="2"/>
          </p:nvPr>
        </p:nvSpPr>
        <p:spPr>
          <a:xfrm>
            <a:off x="4849170" y="1001125"/>
            <a:ext cx="2208122" cy="1814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13</a:t>
            </a:r>
            <a:endParaRPr dirty="0"/>
          </a:p>
        </p:txBody>
      </p:sp>
      <p:cxnSp>
        <p:nvCxnSpPr>
          <p:cNvPr id="177" name="Google Shape;177;p30">
            <a:extLst>
              <a:ext uri="{FF2B5EF4-FFF2-40B4-BE49-F238E27FC236}">
                <a16:creationId xmlns:a16="http://schemas.microsoft.com/office/drawing/2014/main" id="{341DDB48-3E06-6868-C818-BD446B737C5D}"/>
              </a:ext>
            </a:extLst>
          </p:cNvPr>
          <p:cNvCxnSpPr/>
          <p:nvPr/>
        </p:nvCxnSpPr>
        <p:spPr>
          <a:xfrm rot="10800000" flipH="1">
            <a:off x="5001175" y="3111650"/>
            <a:ext cx="3425700" cy="2100"/>
          </a:xfrm>
          <a:prstGeom prst="straightConnector1">
            <a:avLst/>
          </a:prstGeom>
          <a:noFill/>
          <a:ln w="19050" cap="flat" cmpd="sng">
            <a:solidFill>
              <a:srgbClr val="F3F3F3"/>
            </a:solidFill>
            <a:prstDash val="solid"/>
            <a:round/>
            <a:headEnd type="oval" w="med" len="med"/>
            <a:tailEnd type="oval" w="med" len="med"/>
          </a:ln>
        </p:spPr>
      </p:cxnSp>
      <p:pic>
        <p:nvPicPr>
          <p:cNvPr id="6" name="Picture 4" descr="The Learning Gate | Tec de Monterrey">
            <a:extLst>
              <a:ext uri="{FF2B5EF4-FFF2-40B4-BE49-F238E27FC236}">
                <a16:creationId xmlns:a16="http://schemas.microsoft.com/office/drawing/2014/main" id="{172EC4A9-9DC4-5CC7-C931-C80DA26851A9}"/>
              </a:ext>
            </a:extLst>
          </p:cNvPr>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7" name="Google Shape;136;p27">
            <a:extLst>
              <a:ext uri="{FF2B5EF4-FFF2-40B4-BE49-F238E27FC236}">
                <a16:creationId xmlns:a16="http://schemas.microsoft.com/office/drawing/2014/main" id="{BF6838E2-6783-9C52-D21C-A4D18E89EEB6}"/>
              </a:ext>
            </a:extLst>
          </p:cNvPr>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PhD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extLst>
      <p:ext uri="{BB962C8B-B14F-4D97-AF65-F5344CB8AC3E}">
        <p14:creationId xmlns:p14="http://schemas.microsoft.com/office/powerpoint/2010/main" val="35295658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132271"/>
            <a:ext cx="2818846" cy="494885"/>
          </a:xfrm>
          <a:prstGeom prst="rect">
            <a:avLst/>
          </a:prstGeom>
          <a:noFill/>
        </p:spPr>
      </p:pic>
      <p:sp>
        <p:nvSpPr>
          <p:cNvPr id="151" name="Google Shape;699;p36"/>
          <p:cNvSpPr txBox="1">
            <a:spLocks/>
          </p:cNvSpPr>
          <p:nvPr/>
        </p:nvSpPr>
        <p:spPr>
          <a:xfrm>
            <a:off x="378521" y="768707"/>
            <a:ext cx="7511109"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Actividad</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lang="en-US" sz="3000" b="1" dirty="0">
                <a:solidFill>
                  <a:srgbClr val="F3F3F3"/>
                </a:solidFill>
                <a:latin typeface="Rajdhani"/>
                <a:ea typeface="Rajdhani"/>
                <a:cs typeface="Rajdhani"/>
                <a:sym typeface="Rajdhani"/>
              </a:rPr>
              <a:t>7</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Evaluación</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Final)</a:t>
            </a: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93701" y="1481843"/>
            <a:ext cx="5639351" cy="3350105"/>
          </a:xfrm>
          <a:prstGeom prst="rect">
            <a:avLst/>
          </a:prstGeom>
          <a:noFill/>
          <a:ln>
            <a:noFill/>
          </a:ln>
        </p:spPr>
        <p:txBody>
          <a:bodyPr spcFirstLastPara="1" wrap="square" lIns="91425" tIns="182875" rIns="91425" bIns="0" anchor="t" anchorCtr="0">
            <a:noAutofit/>
          </a:bodyPr>
          <a:lstStyle/>
          <a:p>
            <a:pPr algn="just"/>
            <a:r>
              <a:rPr lang="en-US" sz="1600" b="1" dirty="0">
                <a:solidFill>
                  <a:schemeClr val="tx2"/>
                </a:solidFill>
                <a:latin typeface="Fira Sans Condensed Light" panose="020B0604020202020204" charset="0"/>
                <a:cs typeface="Times New Roman" panose="02020603050405020304" pitchFamily="18" charset="0"/>
              </a:rPr>
              <a:t>1. </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Crear </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un nuevo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repositorio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con el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nombre</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b="1" dirty="0" err="1">
                <a:solidFill>
                  <a:schemeClr val="tx2"/>
                </a:solidFill>
                <a:latin typeface="Fira Sans Condensed Light" panose="020B0604020202020204" charset="0"/>
                <a:cs typeface="Times New Roman" panose="02020603050405020304" pitchFamily="18" charset="0"/>
              </a:rPr>
              <a:t>Actividad</a:t>
            </a:r>
            <a:r>
              <a:rPr lang="en-US" sz="1600" b="1" dirty="0">
                <a:solidFill>
                  <a:schemeClr val="tx2"/>
                </a:solidFill>
                <a:latin typeface="Fira Sans Condensed Light" panose="020B0604020202020204" charset="0"/>
                <a:cs typeface="Times New Roman" panose="02020603050405020304" pitchFamily="18" charset="0"/>
              </a:rPr>
              <a:t> 7</a:t>
            </a:r>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n-US" sz="1600" b="1" dirty="0">
                <a:solidFill>
                  <a:schemeClr val="tx2"/>
                </a:solidFill>
                <a:latin typeface="Fira Sans Condensed Light" panose="020B0604020202020204" charset="0"/>
                <a:cs typeface="Times New Roman" panose="02020603050405020304" pitchFamily="18" charset="0"/>
              </a:rPr>
              <a:t>2. </a:t>
            </a:r>
            <a:r>
              <a:rPr lang="en-US" sz="1600" b="1" dirty="0" err="1">
                <a:solidFill>
                  <a:schemeClr val="bg1">
                    <a:lumMod val="60000"/>
                    <a:lumOff val="40000"/>
                  </a:schemeClr>
                </a:solidFill>
                <a:latin typeface="Fira Sans Condensed Light" panose="020B0604020202020204" charset="0"/>
                <a:cs typeface="Times New Roman" panose="02020603050405020304" pitchFamily="18" charset="0"/>
              </a:rPr>
              <a:t>Obtener</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el</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modelo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de la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energía</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total y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Lagrangiano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para la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siguiente</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configuraciónde</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robot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manipulador</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a:t>
            </a: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n-US" sz="1600" b="1" dirty="0">
                <a:solidFill>
                  <a:schemeClr val="tx2"/>
                </a:solidFill>
                <a:latin typeface="Fira Sans Condensed Light" panose="020B0604020202020204" charset="0"/>
                <a:cs typeface="Times New Roman" panose="02020603050405020304" pitchFamily="18" charset="0"/>
              </a:rPr>
              <a:t>3.</a:t>
            </a:r>
            <a:r>
              <a:rPr lang="en-US" sz="1600" dirty="0">
                <a:solidFill>
                  <a:schemeClr val="tx2"/>
                </a:solidFill>
                <a:latin typeface="Fira Sans Condensed Light" panose="020B0604020202020204" charset="0"/>
                <a:cs typeface="Times New Roman" panose="02020603050405020304" pitchFamily="18" charset="0"/>
              </a:rPr>
              <a:t> </a:t>
            </a:r>
            <a:r>
              <a:rPr lang="en-US" sz="1600" b="1" dirty="0" err="1">
                <a:solidFill>
                  <a:schemeClr val="bg1">
                    <a:lumMod val="60000"/>
                    <a:lumOff val="40000"/>
                  </a:schemeClr>
                </a:solidFill>
                <a:latin typeface="Fira Sans Condensed Light" panose="020B0604020202020204" charset="0"/>
                <a:cs typeface="Times New Roman" panose="02020603050405020304" pitchFamily="18" charset="0"/>
              </a:rPr>
              <a:t>Generar</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un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reporte</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de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los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pasos para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poder</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obtener</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la,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cinemática</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directa</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cinemática</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diferencial</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energía</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total y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el</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Lagrangiano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Incluir</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el</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b="1" dirty="0">
                <a:solidFill>
                  <a:schemeClr val="tx2"/>
                </a:solidFill>
                <a:latin typeface="Fira Sans Condensed Light" panose="020B0604020202020204" charset="0"/>
                <a:cs typeface="Times New Roman" panose="02020603050405020304" pitchFamily="18" charset="0"/>
              </a:rPr>
              <a:t>Código </a:t>
            </a:r>
            <a:r>
              <a:rPr lang="en-US" sz="1600" b="1" dirty="0" err="1">
                <a:solidFill>
                  <a:schemeClr val="tx2"/>
                </a:solidFill>
                <a:latin typeface="Fira Sans Condensed Light" panose="020B0604020202020204" charset="0"/>
                <a:cs typeface="Times New Roman" panose="02020603050405020304" pitchFamily="18" charset="0"/>
              </a:rPr>
              <a:t>en</a:t>
            </a:r>
            <a:r>
              <a:rPr lang="en-US" sz="1600" b="1" dirty="0">
                <a:solidFill>
                  <a:schemeClr val="tx2"/>
                </a:solidFill>
                <a:latin typeface="Fira Sans Condensed Light" panose="020B0604020202020204" charset="0"/>
                <a:cs typeface="Times New Roman" panose="02020603050405020304" pitchFamily="18" charset="0"/>
              </a:rPr>
              <a:t>    MATLAB</a:t>
            </a:r>
          </a:p>
          <a:p>
            <a:pPr algn="just"/>
            <a:endParaRPr lang="en-US" sz="1600" b="1" dirty="0">
              <a:solidFill>
                <a:schemeClr val="tx2"/>
              </a:solidFill>
              <a:latin typeface="Fira Sans Condensed Light" panose="020B0604020202020204" charset="0"/>
              <a:cs typeface="Times New Roman" panose="02020603050405020304" pitchFamily="18" charset="0"/>
            </a:endParaRPr>
          </a:p>
          <a:p>
            <a:pPr algn="just"/>
            <a:r>
              <a:rPr lang="en-US" sz="1600" b="1" dirty="0">
                <a:solidFill>
                  <a:schemeClr val="tx2"/>
                </a:solidFill>
                <a:latin typeface="Fira Sans Condensed Light" panose="020B0604020202020204" charset="0"/>
                <a:cs typeface="Times New Roman" panose="02020603050405020304" pitchFamily="18" charset="0"/>
              </a:rPr>
              <a:t>4. Subir </a:t>
            </a:r>
            <a:r>
              <a:rPr lang="en-US" sz="1600" dirty="0" err="1">
                <a:solidFill>
                  <a:schemeClr val="tx2"/>
                </a:solidFill>
                <a:latin typeface="Fira Sans Condensed Light" panose="020B0604020202020204" charset="0"/>
                <a:cs typeface="Times New Roman" panose="02020603050405020304" pitchFamily="18" charset="0"/>
              </a:rPr>
              <a:t>el</a:t>
            </a:r>
            <a:r>
              <a:rPr lang="en-US" sz="1600" dirty="0">
                <a:solidFill>
                  <a:schemeClr val="tx2"/>
                </a:solidFill>
                <a:latin typeface="Fira Sans Condensed Light" panose="020B0604020202020204" charset="0"/>
                <a:cs typeface="Times New Roman" panose="02020603050405020304" pitchFamily="18" charset="0"/>
              </a:rPr>
              <a:t> link del </a:t>
            </a:r>
            <a:r>
              <a:rPr lang="en-US" sz="1600" dirty="0" err="1">
                <a:solidFill>
                  <a:schemeClr val="tx2"/>
                </a:solidFill>
                <a:latin typeface="Fira Sans Condensed Light" panose="020B0604020202020204" charset="0"/>
                <a:cs typeface="Times New Roman" panose="02020603050405020304" pitchFamily="18" charset="0"/>
              </a:rPr>
              <a:t>repositorio</a:t>
            </a:r>
            <a:r>
              <a:rPr lang="en-US" sz="1600" dirty="0">
                <a:solidFill>
                  <a:schemeClr val="tx2"/>
                </a:solidFill>
                <a:latin typeface="Fira Sans Condensed Light" panose="020B0604020202020204" charset="0"/>
                <a:cs typeface="Times New Roman" panose="02020603050405020304" pitchFamily="18" charset="0"/>
              </a:rPr>
              <a:t> </a:t>
            </a:r>
            <a:r>
              <a:rPr lang="en-US" sz="1600" dirty="0" err="1">
                <a:solidFill>
                  <a:schemeClr val="tx2"/>
                </a:solidFill>
                <a:latin typeface="Fira Sans Condensed Light" panose="020B0604020202020204" charset="0"/>
                <a:cs typeface="Times New Roman" panose="02020603050405020304" pitchFamily="18" charset="0"/>
              </a:rPr>
              <a:t>en</a:t>
            </a:r>
            <a:r>
              <a:rPr lang="en-US" sz="1600" dirty="0">
                <a:solidFill>
                  <a:schemeClr val="tx2"/>
                </a:solidFill>
                <a:latin typeface="Fira Sans Condensed Light" panose="020B0604020202020204" charset="0"/>
                <a:cs typeface="Times New Roman" panose="02020603050405020304" pitchFamily="18" charset="0"/>
              </a:rPr>
              <a:t> CANVAS para </a:t>
            </a:r>
            <a:r>
              <a:rPr lang="en-US" sz="1600" b="1" dirty="0">
                <a:solidFill>
                  <a:schemeClr val="tx2"/>
                </a:solidFill>
                <a:latin typeface="Fira Sans Condensed Light" panose="020B0604020202020204" charset="0"/>
                <a:cs typeface="Times New Roman" panose="02020603050405020304" pitchFamily="18" charset="0"/>
              </a:rPr>
              <a:t>“</a:t>
            </a:r>
            <a:r>
              <a:rPr lang="en-US" sz="1600" b="1" dirty="0" err="1">
                <a:solidFill>
                  <a:schemeClr val="bg1">
                    <a:lumMod val="60000"/>
                    <a:lumOff val="40000"/>
                  </a:schemeClr>
                </a:solidFill>
                <a:latin typeface="Fira Sans Condensed Light" panose="020B0604020202020204" charset="0"/>
                <a:cs typeface="Times New Roman" panose="02020603050405020304" pitchFamily="18" charset="0"/>
              </a:rPr>
              <a:t>Evaluación</a:t>
            </a:r>
            <a:r>
              <a:rPr lang="en-US" sz="1600" b="1" dirty="0">
                <a:solidFill>
                  <a:schemeClr val="tx2"/>
                </a:solidFill>
                <a:latin typeface="Fira Sans Condensed Light" panose="020B0604020202020204" charset="0"/>
                <a:cs typeface="Times New Roman" panose="02020603050405020304" pitchFamily="18" charset="0"/>
              </a:rPr>
              <a:t>”</a:t>
            </a:r>
          </a:p>
          <a:p>
            <a:pPr algn="just"/>
            <a:endParaRPr lang="en-US" sz="1600" b="1" dirty="0">
              <a:solidFill>
                <a:schemeClr val="tx2"/>
              </a:solidFill>
              <a:latin typeface="Fira Sans Condensed Light" panose="020B0604020202020204" charset="0"/>
              <a:cs typeface="Times New Roman" panose="02020603050405020304" pitchFamily="18" charset="0"/>
            </a:endParaRPr>
          </a:p>
          <a:p>
            <a:pPr algn="just"/>
            <a:endParaRPr lang="en-US" sz="1600" b="1" dirty="0">
              <a:solidFill>
                <a:schemeClr val="tx2"/>
              </a:solidFill>
              <a:latin typeface="Fira Sans Condensed Light" panose="020B0604020202020204" charset="0"/>
              <a:cs typeface="Times New Roman" panose="02020603050405020304" pitchFamily="18" charset="0"/>
            </a:endParaRPr>
          </a:p>
          <a:p>
            <a:pPr algn="just"/>
            <a:r>
              <a:rPr lang="es-ES" sz="1600" b="1" dirty="0">
                <a:solidFill>
                  <a:schemeClr val="tx2"/>
                </a:solidFill>
                <a:latin typeface="Fira Sans Condensed Light" panose="020B0604020202020204" charset="0"/>
                <a:cs typeface="Times New Roman" panose="02020603050405020304" pitchFamily="18" charset="0"/>
              </a:rPr>
              <a:t>                                        </a:t>
            </a:r>
          </a:p>
          <a:p>
            <a:pPr algn="just"/>
            <a:endParaRPr lang="en-US" sz="1600" dirty="0">
              <a:solidFill>
                <a:schemeClr val="tx2"/>
              </a:solidFill>
              <a:latin typeface="Fira Sans Condensed Light" panose="020B0604020202020204" charset="0"/>
              <a:cs typeface="Times New Roman" panose="02020603050405020304" pitchFamily="18" charset="0"/>
            </a:endParaRPr>
          </a:p>
          <a:p>
            <a:pPr algn="just"/>
            <a:endParaRPr lang="en-US" sz="1600" dirty="0">
              <a:solidFill>
                <a:schemeClr val="tx2"/>
              </a:solidFill>
              <a:latin typeface="Fira Sans Condensed Light" panose="020B0604020202020204" charset="0"/>
              <a:cs typeface="Times New Roman" panose="02020603050405020304" pitchFamily="18" charset="0"/>
            </a:endParaRPr>
          </a:p>
          <a:p>
            <a:pPr algn="just"/>
            <a:endParaRPr lang="en-US" sz="1600" b="1" dirty="0">
              <a:solidFill>
                <a:schemeClr val="tx2"/>
              </a:solidFill>
              <a:latin typeface="Fira Sans Condensed Light" panose="020B0604020202020204" charset="0"/>
              <a:cs typeface="Times New Roman" panose="02020603050405020304" pitchFamily="18" charset="0"/>
            </a:endParaRPr>
          </a:p>
          <a:p>
            <a:pPr algn="just"/>
            <a:endParaRPr lang="en-US" sz="1600" b="1" dirty="0">
              <a:solidFill>
                <a:schemeClr val="tx2"/>
              </a:solidFill>
              <a:latin typeface="Fira Sans Condensed Light" panose="020B0604020202020204" charset="0"/>
              <a:cs typeface="Times New Roman" panose="02020603050405020304" pitchFamily="18" charset="0"/>
            </a:endParaRPr>
          </a:p>
          <a:p>
            <a:pPr algn="r"/>
            <a:endParaRPr lang="en-US" sz="1600" b="1" dirty="0">
              <a:solidFill>
                <a:schemeClr val="tx2"/>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s-ES" sz="1600" b="1" dirty="0">
              <a:solidFill>
                <a:schemeClr val="tx2"/>
              </a:solidFill>
              <a:latin typeface="Fira Sans Condensed Light" panose="020B0604020202020204" charset="0"/>
              <a:cs typeface="Times New Roman" panose="02020603050405020304" pitchFamily="18" charset="0"/>
            </a:endParaRPr>
          </a:p>
        </p:txBody>
      </p:sp>
      <p:sp>
        <p:nvSpPr>
          <p:cNvPr id="11"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pic>
        <p:nvPicPr>
          <p:cNvPr id="14" name="Imagen 13">
            <a:extLst>
              <a:ext uri="{FF2B5EF4-FFF2-40B4-BE49-F238E27FC236}">
                <a16:creationId xmlns:a16="http://schemas.microsoft.com/office/drawing/2014/main" id="{F96572B2-E203-752D-48D3-7F2AFD373F6D}"/>
              </a:ext>
            </a:extLst>
          </p:cNvPr>
          <p:cNvPicPr>
            <a:picLocks noChangeAspect="1"/>
          </p:cNvPicPr>
          <p:nvPr/>
        </p:nvPicPr>
        <p:blipFill>
          <a:blip r:embed="rId4"/>
          <a:srcRect b="261"/>
          <a:stretch/>
        </p:blipFill>
        <p:spPr>
          <a:xfrm>
            <a:off x="6193348" y="638985"/>
            <a:ext cx="2805543" cy="448107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798"/>
        <p:cNvGrpSpPr/>
        <p:nvPr/>
      </p:nvGrpSpPr>
      <p:grpSpPr>
        <a:xfrm>
          <a:off x="0" y="0"/>
          <a:ext cx="0" cy="0"/>
          <a:chOff x="0" y="0"/>
          <a:chExt cx="0" cy="0"/>
        </a:xfrm>
      </p:grpSpPr>
      <p:sp>
        <p:nvSpPr>
          <p:cNvPr id="6" name="Google Shape;1768;p46"/>
          <p:cNvSpPr txBox="1">
            <a:spLocks/>
          </p:cNvSpPr>
          <p:nvPr/>
        </p:nvSpPr>
        <p:spPr>
          <a:xfrm>
            <a:off x="2562175" y="725400"/>
            <a:ext cx="4020000" cy="14628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1pPr>
            <a:lvl2pPr marR="0" lvl="1"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2pPr>
            <a:lvl3pPr marR="0" lvl="2"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3pPr>
            <a:lvl4pPr marR="0" lvl="3"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4pPr>
            <a:lvl5pPr marR="0" lvl="4"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5pPr>
            <a:lvl6pPr marR="0" lvl="5"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6pPr>
            <a:lvl7pPr marR="0" lvl="6"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7pPr>
            <a:lvl8pPr marR="0" lvl="7"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8pPr>
            <a:lvl9pPr marR="0" lvl="8"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9pPr>
          </a:lstStyle>
          <a:p>
            <a:r>
              <a:rPr lang="es-ES" dirty="0"/>
              <a:t>Fin de la Sesión</a:t>
            </a:r>
          </a:p>
        </p:txBody>
      </p:sp>
      <p:sp>
        <p:nvSpPr>
          <p:cNvPr id="7" name="Google Shape;1769;p46"/>
          <p:cNvSpPr txBox="1">
            <a:spLocks/>
          </p:cNvSpPr>
          <p:nvPr/>
        </p:nvSpPr>
        <p:spPr>
          <a:xfrm>
            <a:off x="2561975" y="2105100"/>
            <a:ext cx="4020000" cy="1203900"/>
          </a:xfrm>
          <a:prstGeom prst="rect">
            <a:avLst/>
          </a:prstGeom>
          <a:solidFill>
            <a:srgbClr val="FFFFFF">
              <a:alpha val="45090"/>
            </a:srgbClr>
          </a:solid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98450" algn="l" rtl="0">
              <a:lnSpc>
                <a:spcPct val="100000"/>
              </a:lnSpc>
              <a:spcBef>
                <a:spcPts val="0"/>
              </a:spcBef>
              <a:spcAft>
                <a:spcPts val="0"/>
              </a:spcAft>
              <a:buClr>
                <a:srgbClr val="434343"/>
              </a:buClr>
              <a:buSzPts val="1100"/>
              <a:buFont typeface="Fira Sans Condensed Light"/>
              <a:buAutoNum type="arabicPeriod"/>
              <a:defRPr sz="1300" b="0" i="0" u="none" strike="noStrike" cap="none">
                <a:solidFill>
                  <a:srgbClr val="F3F3F3"/>
                </a:solidFill>
                <a:latin typeface="Fira Sans Condensed Light"/>
                <a:ea typeface="Fira Sans Condensed Light"/>
                <a:cs typeface="Fira Sans Condensed Light"/>
                <a:sym typeface="Fira Sans Condensed Light"/>
              </a:defRPr>
            </a:lvl1pPr>
            <a:lvl2pPr marL="914400" marR="0" lvl="1" indent="-298450" algn="l" rtl="0">
              <a:lnSpc>
                <a:spcPct val="115000"/>
              </a:lnSpc>
              <a:spcBef>
                <a:spcPts val="1600"/>
              </a:spcBef>
              <a:spcAft>
                <a:spcPts val="0"/>
              </a:spcAft>
              <a:buClr>
                <a:srgbClr val="000000"/>
              </a:buClr>
              <a:buSzPts val="1100"/>
              <a:buFont typeface="Fira Sans Condensed Light"/>
              <a:buAutoNum type="alphaLcPeriod"/>
              <a:defRPr sz="1200" b="0" i="0" u="none" strike="noStrike" cap="none">
                <a:solidFill>
                  <a:srgbClr val="F3F3F3"/>
                </a:solidFill>
                <a:latin typeface="Fira Sans Condensed Light"/>
                <a:ea typeface="Fira Sans Condensed Light"/>
                <a:cs typeface="Fira Sans Condensed Light"/>
                <a:sym typeface="Fira Sans Condensed Light"/>
              </a:defRPr>
            </a:lvl2pPr>
            <a:lvl3pPr marL="1371600" marR="0" lvl="2" indent="-298450" algn="l" rtl="0">
              <a:lnSpc>
                <a:spcPct val="115000"/>
              </a:lnSpc>
              <a:spcBef>
                <a:spcPts val="1600"/>
              </a:spcBef>
              <a:spcAft>
                <a:spcPts val="0"/>
              </a:spcAft>
              <a:buClr>
                <a:srgbClr val="000000"/>
              </a:buClr>
              <a:buSzPts val="1100"/>
              <a:buFont typeface="Fira Sans Condensed Light"/>
              <a:buAutoNum type="romanLcPeriod"/>
              <a:defRPr sz="1200" b="0" i="0" u="none" strike="noStrike" cap="none">
                <a:solidFill>
                  <a:srgbClr val="F3F3F3"/>
                </a:solidFill>
                <a:latin typeface="Fira Sans Condensed Light"/>
                <a:ea typeface="Fira Sans Condensed Light"/>
                <a:cs typeface="Fira Sans Condensed Light"/>
                <a:sym typeface="Fira Sans Condensed Light"/>
              </a:defRPr>
            </a:lvl3pPr>
            <a:lvl4pPr marL="1828800" marR="0" lvl="3" indent="-298450" algn="l" rtl="0">
              <a:lnSpc>
                <a:spcPct val="115000"/>
              </a:lnSpc>
              <a:spcBef>
                <a:spcPts val="1600"/>
              </a:spcBef>
              <a:spcAft>
                <a:spcPts val="0"/>
              </a:spcAft>
              <a:buClr>
                <a:srgbClr val="000000"/>
              </a:buClr>
              <a:buSzPts val="1100"/>
              <a:buFont typeface="Fira Sans Condensed Light"/>
              <a:buAutoNum type="arabicPeriod"/>
              <a:defRPr sz="1200" b="0" i="0" u="none" strike="noStrike" cap="none">
                <a:solidFill>
                  <a:srgbClr val="F3F3F3"/>
                </a:solidFill>
                <a:latin typeface="Fira Sans Condensed Light"/>
                <a:ea typeface="Fira Sans Condensed Light"/>
                <a:cs typeface="Fira Sans Condensed Light"/>
                <a:sym typeface="Fira Sans Condensed Light"/>
              </a:defRPr>
            </a:lvl4pPr>
            <a:lvl5pPr marL="2286000" marR="0" lvl="4" indent="-298450" algn="l" rtl="0">
              <a:lnSpc>
                <a:spcPct val="115000"/>
              </a:lnSpc>
              <a:spcBef>
                <a:spcPts val="1600"/>
              </a:spcBef>
              <a:spcAft>
                <a:spcPts val="0"/>
              </a:spcAft>
              <a:buClr>
                <a:srgbClr val="000000"/>
              </a:buClr>
              <a:buSzPts val="1100"/>
              <a:buFont typeface="Fira Sans Condensed Light"/>
              <a:buAutoNum type="alphaLcPeriod"/>
              <a:defRPr sz="1200" b="0" i="0" u="none" strike="noStrike" cap="none">
                <a:solidFill>
                  <a:srgbClr val="F3F3F3"/>
                </a:solidFill>
                <a:latin typeface="Fira Sans Condensed Light"/>
                <a:ea typeface="Fira Sans Condensed Light"/>
                <a:cs typeface="Fira Sans Condensed Light"/>
                <a:sym typeface="Fira Sans Condensed Light"/>
              </a:defRPr>
            </a:lvl5pPr>
            <a:lvl6pPr marL="2743200" marR="0" lvl="5" indent="-298450" algn="l" rtl="0">
              <a:lnSpc>
                <a:spcPct val="115000"/>
              </a:lnSpc>
              <a:spcBef>
                <a:spcPts val="1600"/>
              </a:spcBef>
              <a:spcAft>
                <a:spcPts val="0"/>
              </a:spcAft>
              <a:buClr>
                <a:srgbClr val="000000"/>
              </a:buClr>
              <a:buSzPts val="1100"/>
              <a:buFont typeface="Fira Sans Condensed Light"/>
              <a:buAutoNum type="romanLcPeriod"/>
              <a:defRPr sz="1200" b="0" i="0" u="none" strike="noStrike" cap="none">
                <a:solidFill>
                  <a:srgbClr val="F3F3F3"/>
                </a:solidFill>
                <a:latin typeface="Fira Sans Condensed Light"/>
                <a:ea typeface="Fira Sans Condensed Light"/>
                <a:cs typeface="Fira Sans Condensed Light"/>
                <a:sym typeface="Fira Sans Condensed Light"/>
              </a:defRPr>
            </a:lvl6pPr>
            <a:lvl7pPr marL="3200400" marR="0" lvl="6" indent="-298450" algn="l" rtl="0">
              <a:lnSpc>
                <a:spcPct val="115000"/>
              </a:lnSpc>
              <a:spcBef>
                <a:spcPts val="1600"/>
              </a:spcBef>
              <a:spcAft>
                <a:spcPts val="0"/>
              </a:spcAft>
              <a:buClr>
                <a:srgbClr val="000000"/>
              </a:buClr>
              <a:buSzPts val="1100"/>
              <a:buFont typeface="Fira Sans Condensed Light"/>
              <a:buAutoNum type="arabicPeriod"/>
              <a:defRPr sz="1200" b="0" i="0" u="none" strike="noStrike" cap="none">
                <a:solidFill>
                  <a:srgbClr val="F3F3F3"/>
                </a:solidFill>
                <a:latin typeface="Fira Sans Condensed Light"/>
                <a:ea typeface="Fira Sans Condensed Light"/>
                <a:cs typeface="Fira Sans Condensed Light"/>
                <a:sym typeface="Fira Sans Condensed Light"/>
              </a:defRPr>
            </a:lvl7pPr>
            <a:lvl8pPr marL="3657600" marR="0" lvl="7" indent="-298450" algn="l" rtl="0">
              <a:lnSpc>
                <a:spcPct val="115000"/>
              </a:lnSpc>
              <a:spcBef>
                <a:spcPts val="1600"/>
              </a:spcBef>
              <a:spcAft>
                <a:spcPts val="0"/>
              </a:spcAft>
              <a:buClr>
                <a:srgbClr val="000000"/>
              </a:buClr>
              <a:buSzPts val="1100"/>
              <a:buFont typeface="Fira Sans Condensed Light"/>
              <a:buAutoNum type="alphaLcPeriod"/>
              <a:defRPr sz="1200" b="0" i="0" u="none" strike="noStrike" cap="none">
                <a:solidFill>
                  <a:srgbClr val="F3F3F3"/>
                </a:solidFill>
                <a:latin typeface="Fira Sans Condensed Light"/>
                <a:ea typeface="Fira Sans Condensed Light"/>
                <a:cs typeface="Fira Sans Condensed Light"/>
                <a:sym typeface="Fira Sans Condensed Light"/>
              </a:defRPr>
            </a:lvl8pPr>
            <a:lvl9pPr marL="4114800" marR="0" lvl="8" indent="-298450" algn="l" rtl="0">
              <a:lnSpc>
                <a:spcPct val="115000"/>
              </a:lnSpc>
              <a:spcBef>
                <a:spcPts val="1600"/>
              </a:spcBef>
              <a:spcAft>
                <a:spcPts val="1600"/>
              </a:spcAft>
              <a:buClr>
                <a:srgbClr val="000000"/>
              </a:buClr>
              <a:buSzPts val="1100"/>
              <a:buFont typeface="Fira Sans Condensed Light"/>
              <a:buAutoNum type="romanLcPeriod"/>
              <a:defRPr sz="1200" b="0" i="0" u="none" strike="noStrike" cap="none">
                <a:solidFill>
                  <a:srgbClr val="F3F3F3"/>
                </a:solidFill>
                <a:latin typeface="Fira Sans Condensed Light"/>
                <a:ea typeface="Fira Sans Condensed Light"/>
                <a:cs typeface="Fira Sans Condensed Light"/>
                <a:sym typeface="Fira Sans Condensed Light"/>
              </a:defRPr>
            </a:lvl9pPr>
          </a:lstStyle>
          <a:p>
            <a:pPr marL="0" indent="0" algn="ctr">
              <a:buClr>
                <a:schemeClr val="dk1"/>
              </a:buClr>
              <a:buFont typeface="Arial"/>
              <a:buNone/>
            </a:pPr>
            <a:r>
              <a:rPr lang="es-ES" dirty="0"/>
              <a:t>Preguntas?</a:t>
            </a:r>
          </a:p>
          <a:p>
            <a:pPr marL="0" indent="0" algn="ctr">
              <a:buClr>
                <a:schemeClr val="dk1"/>
              </a:buClr>
              <a:buFont typeface="Arial"/>
              <a:buNone/>
            </a:pPr>
            <a:endParaRPr lang="es-ES" dirty="0"/>
          </a:p>
          <a:p>
            <a:pPr marL="0" indent="0" algn="ctr">
              <a:buClr>
                <a:schemeClr val="dk1"/>
              </a:buClr>
              <a:buFont typeface="Arial"/>
              <a:buNone/>
            </a:pPr>
            <a:r>
              <a:rPr lang="es-ES" dirty="0">
                <a:hlinkClick r:id="rId4"/>
              </a:rPr>
              <a:t>Alfredo.garcias@tec.mx</a:t>
            </a:r>
            <a:endParaRPr lang="es-ES" dirty="0"/>
          </a:p>
          <a:p>
            <a:pPr marL="0" indent="0" algn="ctr">
              <a:buClr>
                <a:schemeClr val="dk1"/>
              </a:buClr>
              <a:buFont typeface="Arial"/>
              <a:buNone/>
            </a:pPr>
            <a:r>
              <a:rPr lang="es-ES"/>
              <a:t>https://itesm.zoom.us/j/9648719322</a:t>
            </a:r>
            <a:endParaRPr lang="es-ES" dirty="0"/>
          </a:p>
          <a:p>
            <a:pPr marL="0" indent="0" algn="ctr">
              <a:buClr>
                <a:schemeClr val="dk1"/>
              </a:buClr>
              <a:buFont typeface="Arial"/>
              <a:buNone/>
            </a:pPr>
            <a:r>
              <a:rPr lang="es-ES" dirty="0"/>
              <a:t> </a:t>
            </a:r>
          </a:p>
        </p:txBody>
      </p:sp>
      <p:grpSp>
        <p:nvGrpSpPr>
          <p:cNvPr id="8" name="Google Shape;1771;p46"/>
          <p:cNvGrpSpPr/>
          <p:nvPr/>
        </p:nvGrpSpPr>
        <p:grpSpPr>
          <a:xfrm>
            <a:off x="3914560" y="3451633"/>
            <a:ext cx="268782" cy="268485"/>
            <a:chOff x="3303268" y="3817349"/>
            <a:chExt cx="346056" cy="345674"/>
          </a:xfrm>
        </p:grpSpPr>
        <p:sp>
          <p:nvSpPr>
            <p:cNvPr id="9" name="Google Shape;1772;p46"/>
            <p:cNvSpPr/>
            <p:nvPr/>
          </p:nvSpPr>
          <p:spPr>
            <a:xfrm>
              <a:off x="3303268" y="3817349"/>
              <a:ext cx="346056" cy="345674"/>
            </a:xfrm>
            <a:custGeom>
              <a:avLst/>
              <a:gdLst/>
              <a:ahLst/>
              <a:cxnLst/>
              <a:rect l="l" t="t" r="r" b="b"/>
              <a:pathLst>
                <a:path w="10872" h="10860" extrusionOk="0">
                  <a:moveTo>
                    <a:pt x="5418" y="334"/>
                  </a:moveTo>
                  <a:cubicBezTo>
                    <a:pt x="8228" y="334"/>
                    <a:pt x="10514" y="2608"/>
                    <a:pt x="10514" y="5430"/>
                  </a:cubicBezTo>
                  <a:cubicBezTo>
                    <a:pt x="10514" y="8240"/>
                    <a:pt x="8228" y="10514"/>
                    <a:pt x="5418" y="10514"/>
                  </a:cubicBezTo>
                  <a:cubicBezTo>
                    <a:pt x="2608" y="10514"/>
                    <a:pt x="334" y="8240"/>
                    <a:pt x="334" y="5430"/>
                  </a:cubicBezTo>
                  <a:cubicBezTo>
                    <a:pt x="334" y="2608"/>
                    <a:pt x="2608" y="334"/>
                    <a:pt x="5418"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3" y="10859"/>
                    <a:pt x="8252" y="10300"/>
                    <a:pt x="9276" y="9264"/>
                  </a:cubicBezTo>
                  <a:cubicBezTo>
                    <a:pt x="10300" y="8240"/>
                    <a:pt x="10871" y="6871"/>
                    <a:pt x="10871" y="5430"/>
                  </a:cubicBezTo>
                  <a:cubicBezTo>
                    <a:pt x="10871" y="3989"/>
                    <a:pt x="10300" y="2620"/>
                    <a:pt x="9276" y="1584"/>
                  </a:cubicBezTo>
                  <a:cubicBezTo>
                    <a:pt x="8252" y="560"/>
                    <a:pt x="6883" y="1"/>
                    <a:pt x="5430"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773;p46"/>
            <p:cNvSpPr/>
            <p:nvPr/>
          </p:nvSpPr>
          <p:spPr>
            <a:xfrm>
              <a:off x="3368074" y="3882537"/>
              <a:ext cx="215298" cy="215298"/>
            </a:xfrm>
            <a:custGeom>
              <a:avLst/>
              <a:gdLst/>
              <a:ahLst/>
              <a:cxnLst/>
              <a:rect l="l" t="t" r="r" b="b"/>
              <a:pathLst>
                <a:path w="6764" h="6764" extrusionOk="0">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774;p46"/>
            <p:cNvSpPr/>
            <p:nvPr/>
          </p:nvSpPr>
          <p:spPr>
            <a:xfrm>
              <a:off x="3418143" y="3933656"/>
              <a:ext cx="114811" cy="112742"/>
            </a:xfrm>
            <a:custGeom>
              <a:avLst/>
              <a:gdLst/>
              <a:ahLst/>
              <a:cxnLst/>
              <a:rect l="l" t="t" r="r" b="b"/>
              <a:pathLst>
                <a:path w="3607" h="3542" extrusionOk="0">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775;p46"/>
            <p:cNvSpPr/>
            <p:nvPr/>
          </p:nvSpPr>
          <p:spPr>
            <a:xfrm>
              <a:off x="3519298" y="3910197"/>
              <a:ext cx="29570" cy="29220"/>
            </a:xfrm>
            <a:custGeom>
              <a:avLst/>
              <a:gdLst/>
              <a:ahLst/>
              <a:cxnLst/>
              <a:rect l="l" t="t" r="r" b="b"/>
              <a:pathLst>
                <a:path w="929" h="918" extrusionOk="0">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 name="Google Shape;1776;p46"/>
          <p:cNvGrpSpPr/>
          <p:nvPr/>
        </p:nvGrpSpPr>
        <p:grpSpPr>
          <a:xfrm>
            <a:off x="4263368" y="3451633"/>
            <a:ext cx="268782" cy="268485"/>
            <a:chOff x="3752358" y="3817349"/>
            <a:chExt cx="346056" cy="345674"/>
          </a:xfrm>
        </p:grpSpPr>
        <p:sp>
          <p:nvSpPr>
            <p:cNvPr id="14" name="Google Shape;1777;p46"/>
            <p:cNvSpPr/>
            <p:nvPr/>
          </p:nvSpPr>
          <p:spPr>
            <a:xfrm>
              <a:off x="3752358" y="3817349"/>
              <a:ext cx="346056" cy="345674"/>
            </a:xfrm>
            <a:custGeom>
              <a:avLst/>
              <a:gdLst/>
              <a:ahLst/>
              <a:cxnLst/>
              <a:rect l="l" t="t" r="r" b="b"/>
              <a:pathLst>
                <a:path w="10872" h="10860" extrusionOk="0">
                  <a:moveTo>
                    <a:pt x="5430" y="334"/>
                  </a:moveTo>
                  <a:cubicBezTo>
                    <a:pt x="8252" y="334"/>
                    <a:pt x="10526" y="2608"/>
                    <a:pt x="10526" y="5430"/>
                  </a:cubicBezTo>
                  <a:cubicBezTo>
                    <a:pt x="10526" y="8240"/>
                    <a:pt x="8228"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300" y="8240"/>
                    <a:pt x="10871" y="6871"/>
                    <a:pt x="10871" y="5430"/>
                  </a:cubicBezTo>
                  <a:cubicBezTo>
                    <a:pt x="10871" y="3989"/>
                    <a:pt x="10300" y="2620"/>
                    <a:pt x="9276" y="1584"/>
                  </a:cubicBezTo>
                  <a:cubicBezTo>
                    <a:pt x="8252" y="560"/>
                    <a:pt x="6882" y="1"/>
                    <a:pt x="5430"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778;p46"/>
            <p:cNvSpPr/>
            <p:nvPr/>
          </p:nvSpPr>
          <p:spPr>
            <a:xfrm>
              <a:off x="3831933" y="3955682"/>
              <a:ext cx="47809" cy="120540"/>
            </a:xfrm>
            <a:custGeom>
              <a:avLst/>
              <a:gdLst/>
              <a:ahLst/>
              <a:cxnLst/>
              <a:rect l="l" t="t" r="r" b="b"/>
              <a:pathLst>
                <a:path w="1502" h="3787" extrusionOk="0">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779;p46"/>
            <p:cNvSpPr/>
            <p:nvPr/>
          </p:nvSpPr>
          <p:spPr>
            <a:xfrm>
              <a:off x="3824739" y="3890112"/>
              <a:ext cx="55002" cy="55002"/>
            </a:xfrm>
            <a:custGeom>
              <a:avLst/>
              <a:gdLst/>
              <a:ahLst/>
              <a:cxnLst/>
              <a:rect l="l" t="t" r="r" b="b"/>
              <a:pathLst>
                <a:path w="1728" h="1728" extrusionOk="0">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80;p46"/>
            <p:cNvSpPr/>
            <p:nvPr/>
          </p:nvSpPr>
          <p:spPr>
            <a:xfrm>
              <a:off x="3904696" y="3955682"/>
              <a:ext cx="128148" cy="120540"/>
            </a:xfrm>
            <a:custGeom>
              <a:avLst/>
              <a:gdLst/>
              <a:ahLst/>
              <a:cxnLst/>
              <a:rect l="l" t="t" r="r" b="b"/>
              <a:pathLst>
                <a:path w="4026" h="3787" extrusionOk="0">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 name="Google Shape;1781;p46"/>
          <p:cNvGrpSpPr/>
          <p:nvPr/>
        </p:nvGrpSpPr>
        <p:grpSpPr>
          <a:xfrm>
            <a:off x="4612176" y="3451633"/>
            <a:ext cx="268757" cy="268485"/>
            <a:chOff x="4201447" y="3817349"/>
            <a:chExt cx="346024" cy="345674"/>
          </a:xfrm>
        </p:grpSpPr>
        <p:sp>
          <p:nvSpPr>
            <p:cNvPr id="19" name="Google Shape;1782;p46"/>
            <p:cNvSpPr/>
            <p:nvPr/>
          </p:nvSpPr>
          <p:spPr>
            <a:xfrm>
              <a:off x="4201447" y="3817349"/>
              <a:ext cx="346024" cy="345674"/>
            </a:xfrm>
            <a:custGeom>
              <a:avLst/>
              <a:gdLst/>
              <a:ahLst/>
              <a:cxnLst/>
              <a:rect l="l" t="t" r="r" b="b"/>
              <a:pathLst>
                <a:path w="10871" h="10860" extrusionOk="0">
                  <a:moveTo>
                    <a:pt x="5430" y="334"/>
                  </a:moveTo>
                  <a:cubicBezTo>
                    <a:pt x="8252" y="334"/>
                    <a:pt x="10526" y="2608"/>
                    <a:pt x="10526" y="5430"/>
                  </a:cubicBezTo>
                  <a:cubicBezTo>
                    <a:pt x="10526" y="8240"/>
                    <a:pt x="8252"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299" y="8240"/>
                    <a:pt x="10871" y="6871"/>
                    <a:pt x="10871" y="5430"/>
                  </a:cubicBezTo>
                  <a:cubicBezTo>
                    <a:pt x="10871" y="3989"/>
                    <a:pt x="10299" y="2620"/>
                    <a:pt x="9276" y="1584"/>
                  </a:cubicBezTo>
                  <a:cubicBezTo>
                    <a:pt x="8252" y="560"/>
                    <a:pt x="6882" y="1"/>
                    <a:pt x="5430"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783;p46"/>
            <p:cNvSpPr/>
            <p:nvPr/>
          </p:nvSpPr>
          <p:spPr>
            <a:xfrm>
              <a:off x="4271569" y="3904531"/>
              <a:ext cx="227394" cy="185728"/>
            </a:xfrm>
            <a:custGeom>
              <a:avLst/>
              <a:gdLst/>
              <a:ahLst/>
              <a:cxnLst/>
              <a:rect l="l" t="t" r="r" b="b"/>
              <a:pathLst>
                <a:path w="7144" h="5835" extrusionOk="0">
                  <a:moveTo>
                    <a:pt x="4620" y="0"/>
                  </a:moveTo>
                  <a:cubicBezTo>
                    <a:pt x="3727" y="0"/>
                    <a:pt x="2977" y="691"/>
                    <a:pt x="2905" y="1572"/>
                  </a:cubicBezTo>
                  <a:cubicBezTo>
                    <a:pt x="2727" y="1548"/>
                    <a:pt x="2358" y="1441"/>
                    <a:pt x="2262" y="1405"/>
                  </a:cubicBezTo>
                  <a:cubicBezTo>
                    <a:pt x="1643" y="1203"/>
                    <a:pt x="1072" y="810"/>
                    <a:pt x="631" y="322"/>
                  </a:cubicBezTo>
                  <a:cubicBezTo>
                    <a:pt x="596" y="298"/>
                    <a:pt x="572" y="274"/>
                    <a:pt x="524" y="262"/>
                  </a:cubicBezTo>
                  <a:cubicBezTo>
                    <a:pt x="517" y="261"/>
                    <a:pt x="509" y="260"/>
                    <a:pt x="501" y="260"/>
                  </a:cubicBezTo>
                  <a:cubicBezTo>
                    <a:pt x="436" y="260"/>
                    <a:pt x="367" y="304"/>
                    <a:pt x="346" y="357"/>
                  </a:cubicBezTo>
                  <a:cubicBezTo>
                    <a:pt x="238" y="572"/>
                    <a:pt x="179" y="810"/>
                    <a:pt x="179" y="1048"/>
                  </a:cubicBezTo>
                  <a:cubicBezTo>
                    <a:pt x="179" y="1393"/>
                    <a:pt x="286" y="1727"/>
                    <a:pt x="476" y="1977"/>
                  </a:cubicBezTo>
                  <a:cubicBezTo>
                    <a:pt x="466" y="1975"/>
                    <a:pt x="456" y="1974"/>
                    <a:pt x="446" y="1974"/>
                  </a:cubicBezTo>
                  <a:cubicBezTo>
                    <a:pt x="397" y="1974"/>
                    <a:pt x="349" y="1997"/>
                    <a:pt x="310" y="2036"/>
                  </a:cubicBezTo>
                  <a:cubicBezTo>
                    <a:pt x="286" y="2060"/>
                    <a:pt x="286" y="2108"/>
                    <a:pt x="274" y="2143"/>
                  </a:cubicBezTo>
                  <a:lnTo>
                    <a:pt x="274" y="2203"/>
                  </a:lnTo>
                  <a:cubicBezTo>
                    <a:pt x="274" y="2655"/>
                    <a:pt x="476" y="3072"/>
                    <a:pt x="822" y="3358"/>
                  </a:cubicBezTo>
                  <a:cubicBezTo>
                    <a:pt x="786" y="3370"/>
                    <a:pt x="774" y="3405"/>
                    <a:pt x="762" y="3417"/>
                  </a:cubicBezTo>
                  <a:cubicBezTo>
                    <a:pt x="750" y="3465"/>
                    <a:pt x="727" y="3513"/>
                    <a:pt x="750" y="3548"/>
                  </a:cubicBezTo>
                  <a:cubicBezTo>
                    <a:pt x="893" y="4024"/>
                    <a:pt x="1262" y="4405"/>
                    <a:pt x="1727" y="4548"/>
                  </a:cubicBezTo>
                  <a:cubicBezTo>
                    <a:pt x="1310" y="4798"/>
                    <a:pt x="834" y="4941"/>
                    <a:pt x="334" y="4941"/>
                  </a:cubicBezTo>
                  <a:lnTo>
                    <a:pt x="191" y="4941"/>
                  </a:lnTo>
                  <a:cubicBezTo>
                    <a:pt x="107" y="4941"/>
                    <a:pt x="36" y="5001"/>
                    <a:pt x="12" y="5084"/>
                  </a:cubicBezTo>
                  <a:cubicBezTo>
                    <a:pt x="0" y="5156"/>
                    <a:pt x="48" y="5239"/>
                    <a:pt x="107" y="5263"/>
                  </a:cubicBezTo>
                  <a:cubicBezTo>
                    <a:pt x="727" y="5632"/>
                    <a:pt x="1465" y="5834"/>
                    <a:pt x="2191" y="5834"/>
                  </a:cubicBezTo>
                  <a:cubicBezTo>
                    <a:pt x="3072" y="5834"/>
                    <a:pt x="3905" y="5560"/>
                    <a:pt x="4596" y="5060"/>
                  </a:cubicBezTo>
                  <a:cubicBezTo>
                    <a:pt x="4691" y="5001"/>
                    <a:pt x="4691" y="4858"/>
                    <a:pt x="4620" y="4786"/>
                  </a:cubicBezTo>
                  <a:cubicBezTo>
                    <a:pt x="4587" y="4754"/>
                    <a:pt x="4544" y="4735"/>
                    <a:pt x="4499" y="4735"/>
                  </a:cubicBezTo>
                  <a:cubicBezTo>
                    <a:pt x="4463" y="4735"/>
                    <a:pt x="4426" y="4748"/>
                    <a:pt x="4394" y="4775"/>
                  </a:cubicBezTo>
                  <a:cubicBezTo>
                    <a:pt x="3763" y="5215"/>
                    <a:pt x="3013" y="5489"/>
                    <a:pt x="2191" y="5489"/>
                  </a:cubicBezTo>
                  <a:cubicBezTo>
                    <a:pt x="1727" y="5489"/>
                    <a:pt x="1262" y="5394"/>
                    <a:pt x="846" y="5239"/>
                  </a:cubicBezTo>
                  <a:cubicBezTo>
                    <a:pt x="1369" y="5144"/>
                    <a:pt x="1846" y="4917"/>
                    <a:pt x="2262" y="4584"/>
                  </a:cubicBezTo>
                  <a:cubicBezTo>
                    <a:pt x="2310" y="4536"/>
                    <a:pt x="2334" y="4477"/>
                    <a:pt x="2322" y="4417"/>
                  </a:cubicBezTo>
                  <a:cubicBezTo>
                    <a:pt x="2310" y="4346"/>
                    <a:pt x="2239" y="4286"/>
                    <a:pt x="2155" y="4286"/>
                  </a:cubicBezTo>
                  <a:cubicBezTo>
                    <a:pt x="1739" y="4263"/>
                    <a:pt x="1369" y="4048"/>
                    <a:pt x="1167" y="3691"/>
                  </a:cubicBezTo>
                  <a:cubicBezTo>
                    <a:pt x="1250" y="3691"/>
                    <a:pt x="1358" y="3667"/>
                    <a:pt x="1441" y="3643"/>
                  </a:cubicBezTo>
                  <a:cubicBezTo>
                    <a:pt x="1524" y="3632"/>
                    <a:pt x="1584" y="3572"/>
                    <a:pt x="1584" y="3489"/>
                  </a:cubicBezTo>
                  <a:cubicBezTo>
                    <a:pt x="1596" y="3405"/>
                    <a:pt x="1536" y="3334"/>
                    <a:pt x="1441" y="3298"/>
                  </a:cubicBezTo>
                  <a:cubicBezTo>
                    <a:pt x="1000" y="3191"/>
                    <a:pt x="667" y="2822"/>
                    <a:pt x="596" y="2381"/>
                  </a:cubicBezTo>
                  <a:lnTo>
                    <a:pt x="596" y="2381"/>
                  </a:lnTo>
                  <a:cubicBezTo>
                    <a:pt x="727" y="2405"/>
                    <a:pt x="869" y="2417"/>
                    <a:pt x="1000" y="2417"/>
                  </a:cubicBezTo>
                  <a:cubicBezTo>
                    <a:pt x="1084" y="2417"/>
                    <a:pt x="1143" y="2358"/>
                    <a:pt x="1167" y="2274"/>
                  </a:cubicBezTo>
                  <a:cubicBezTo>
                    <a:pt x="1179" y="2203"/>
                    <a:pt x="1131" y="2143"/>
                    <a:pt x="1072" y="2108"/>
                  </a:cubicBezTo>
                  <a:cubicBezTo>
                    <a:pt x="703" y="1881"/>
                    <a:pt x="476" y="1488"/>
                    <a:pt x="476" y="1048"/>
                  </a:cubicBezTo>
                  <a:cubicBezTo>
                    <a:pt x="476" y="953"/>
                    <a:pt x="488" y="846"/>
                    <a:pt x="524" y="738"/>
                  </a:cubicBezTo>
                  <a:cubicBezTo>
                    <a:pt x="965" y="1191"/>
                    <a:pt x="1524" y="1524"/>
                    <a:pt x="2120" y="1727"/>
                  </a:cubicBezTo>
                  <a:cubicBezTo>
                    <a:pt x="2120" y="1727"/>
                    <a:pt x="2715" y="1905"/>
                    <a:pt x="2929" y="1917"/>
                  </a:cubicBezTo>
                  <a:lnTo>
                    <a:pt x="3024" y="1917"/>
                  </a:lnTo>
                  <a:cubicBezTo>
                    <a:pt x="3096" y="1917"/>
                    <a:pt x="3167" y="1869"/>
                    <a:pt x="3191" y="1798"/>
                  </a:cubicBezTo>
                  <a:cubicBezTo>
                    <a:pt x="3203" y="1786"/>
                    <a:pt x="3203" y="1750"/>
                    <a:pt x="3203" y="1738"/>
                  </a:cubicBezTo>
                  <a:lnTo>
                    <a:pt x="3203" y="1703"/>
                  </a:lnTo>
                  <a:cubicBezTo>
                    <a:pt x="3203" y="953"/>
                    <a:pt x="3810" y="334"/>
                    <a:pt x="4572" y="334"/>
                  </a:cubicBezTo>
                  <a:cubicBezTo>
                    <a:pt x="4941" y="334"/>
                    <a:pt x="5287" y="488"/>
                    <a:pt x="5549" y="750"/>
                  </a:cubicBezTo>
                  <a:cubicBezTo>
                    <a:pt x="5585" y="787"/>
                    <a:pt x="5621" y="802"/>
                    <a:pt x="5663" y="802"/>
                  </a:cubicBezTo>
                  <a:cubicBezTo>
                    <a:pt x="5676" y="802"/>
                    <a:pt x="5689" y="801"/>
                    <a:pt x="5703" y="798"/>
                  </a:cubicBezTo>
                  <a:cubicBezTo>
                    <a:pt x="5882" y="762"/>
                    <a:pt x="6049" y="738"/>
                    <a:pt x="6203" y="679"/>
                  </a:cubicBezTo>
                  <a:lnTo>
                    <a:pt x="6203" y="679"/>
                  </a:lnTo>
                  <a:cubicBezTo>
                    <a:pt x="6120" y="762"/>
                    <a:pt x="6013" y="857"/>
                    <a:pt x="5894" y="917"/>
                  </a:cubicBezTo>
                  <a:cubicBezTo>
                    <a:pt x="5822" y="965"/>
                    <a:pt x="5787" y="1048"/>
                    <a:pt x="5822" y="1143"/>
                  </a:cubicBezTo>
                  <a:cubicBezTo>
                    <a:pt x="5846" y="1203"/>
                    <a:pt x="5930" y="1250"/>
                    <a:pt x="6001" y="1250"/>
                  </a:cubicBezTo>
                  <a:cubicBezTo>
                    <a:pt x="6144" y="1227"/>
                    <a:pt x="6287" y="1215"/>
                    <a:pt x="6418" y="1167"/>
                  </a:cubicBezTo>
                  <a:lnTo>
                    <a:pt x="6418" y="1167"/>
                  </a:lnTo>
                  <a:cubicBezTo>
                    <a:pt x="6299" y="1286"/>
                    <a:pt x="6168" y="1405"/>
                    <a:pt x="6013" y="1512"/>
                  </a:cubicBezTo>
                  <a:cubicBezTo>
                    <a:pt x="5965" y="1548"/>
                    <a:pt x="5941" y="1608"/>
                    <a:pt x="5941" y="1655"/>
                  </a:cubicBezTo>
                  <a:lnTo>
                    <a:pt x="5941" y="1679"/>
                  </a:lnTo>
                  <a:lnTo>
                    <a:pt x="5941" y="1703"/>
                  </a:lnTo>
                  <a:lnTo>
                    <a:pt x="5941" y="1727"/>
                  </a:lnTo>
                  <a:cubicBezTo>
                    <a:pt x="5941" y="2691"/>
                    <a:pt x="5572" y="3572"/>
                    <a:pt x="4977" y="4227"/>
                  </a:cubicBezTo>
                  <a:cubicBezTo>
                    <a:pt x="4918" y="4298"/>
                    <a:pt x="4918" y="4405"/>
                    <a:pt x="4977" y="4465"/>
                  </a:cubicBezTo>
                  <a:cubicBezTo>
                    <a:pt x="5011" y="4499"/>
                    <a:pt x="5053" y="4514"/>
                    <a:pt x="5096" y="4514"/>
                  </a:cubicBezTo>
                  <a:cubicBezTo>
                    <a:pt x="5143" y="4514"/>
                    <a:pt x="5190" y="4496"/>
                    <a:pt x="5227" y="4465"/>
                  </a:cubicBezTo>
                  <a:cubicBezTo>
                    <a:pt x="5894" y="3715"/>
                    <a:pt x="6263" y="2762"/>
                    <a:pt x="6287" y="1750"/>
                  </a:cubicBezTo>
                  <a:cubicBezTo>
                    <a:pt x="6596" y="1524"/>
                    <a:pt x="6846" y="1250"/>
                    <a:pt x="7061" y="917"/>
                  </a:cubicBezTo>
                  <a:cubicBezTo>
                    <a:pt x="7144" y="857"/>
                    <a:pt x="7132" y="750"/>
                    <a:pt x="7061" y="715"/>
                  </a:cubicBezTo>
                  <a:cubicBezTo>
                    <a:pt x="7029" y="683"/>
                    <a:pt x="6987" y="667"/>
                    <a:pt x="6937" y="667"/>
                  </a:cubicBezTo>
                  <a:cubicBezTo>
                    <a:pt x="6912" y="667"/>
                    <a:pt x="6886" y="671"/>
                    <a:pt x="6858" y="679"/>
                  </a:cubicBezTo>
                  <a:cubicBezTo>
                    <a:pt x="6775" y="726"/>
                    <a:pt x="6680" y="750"/>
                    <a:pt x="6596" y="786"/>
                  </a:cubicBezTo>
                  <a:cubicBezTo>
                    <a:pt x="6680" y="667"/>
                    <a:pt x="6763" y="512"/>
                    <a:pt x="6823" y="369"/>
                  </a:cubicBezTo>
                  <a:cubicBezTo>
                    <a:pt x="6834" y="310"/>
                    <a:pt x="6834" y="238"/>
                    <a:pt x="6787" y="191"/>
                  </a:cubicBezTo>
                  <a:cubicBezTo>
                    <a:pt x="6750" y="153"/>
                    <a:pt x="6703" y="135"/>
                    <a:pt x="6659" y="135"/>
                  </a:cubicBezTo>
                  <a:cubicBezTo>
                    <a:pt x="6632" y="135"/>
                    <a:pt x="6607" y="142"/>
                    <a:pt x="6584" y="155"/>
                  </a:cubicBezTo>
                  <a:cubicBezTo>
                    <a:pt x="6322" y="310"/>
                    <a:pt x="6061" y="393"/>
                    <a:pt x="5775" y="441"/>
                  </a:cubicBezTo>
                  <a:cubicBezTo>
                    <a:pt x="5465" y="143"/>
                    <a:pt x="5048" y="0"/>
                    <a:pt x="4620"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 name="Google Shape;1784;p46"/>
          <p:cNvGrpSpPr/>
          <p:nvPr/>
        </p:nvGrpSpPr>
        <p:grpSpPr>
          <a:xfrm>
            <a:off x="4960939" y="3451633"/>
            <a:ext cx="268460" cy="268485"/>
            <a:chOff x="5549861" y="3817349"/>
            <a:chExt cx="345642" cy="345674"/>
          </a:xfrm>
        </p:grpSpPr>
        <p:sp>
          <p:nvSpPr>
            <p:cNvPr id="22" name="Google Shape;1785;p46"/>
            <p:cNvSpPr/>
            <p:nvPr/>
          </p:nvSpPr>
          <p:spPr>
            <a:xfrm>
              <a:off x="5549861" y="3817349"/>
              <a:ext cx="345642" cy="345674"/>
            </a:xfrm>
            <a:custGeom>
              <a:avLst/>
              <a:gdLst/>
              <a:ahLst/>
              <a:cxnLst/>
              <a:rect l="l" t="t" r="r" b="b"/>
              <a:pathLst>
                <a:path w="10859" h="10860" extrusionOk="0">
                  <a:moveTo>
                    <a:pt x="5429" y="334"/>
                  </a:moveTo>
                  <a:cubicBezTo>
                    <a:pt x="8239" y="334"/>
                    <a:pt x="10513" y="2608"/>
                    <a:pt x="10513" y="5430"/>
                  </a:cubicBezTo>
                  <a:cubicBezTo>
                    <a:pt x="10513" y="8240"/>
                    <a:pt x="8227" y="10514"/>
                    <a:pt x="5429" y="10514"/>
                  </a:cubicBezTo>
                  <a:cubicBezTo>
                    <a:pt x="2619" y="10514"/>
                    <a:pt x="333" y="8240"/>
                    <a:pt x="333" y="5430"/>
                  </a:cubicBezTo>
                  <a:cubicBezTo>
                    <a:pt x="333" y="2608"/>
                    <a:pt x="2619" y="334"/>
                    <a:pt x="5429" y="334"/>
                  </a:cubicBezTo>
                  <a:close/>
                  <a:moveTo>
                    <a:pt x="5429" y="1"/>
                  </a:moveTo>
                  <a:cubicBezTo>
                    <a:pt x="3989" y="1"/>
                    <a:pt x="2619" y="560"/>
                    <a:pt x="1584" y="1584"/>
                  </a:cubicBezTo>
                  <a:cubicBezTo>
                    <a:pt x="560" y="2620"/>
                    <a:pt x="0" y="3989"/>
                    <a:pt x="0" y="5430"/>
                  </a:cubicBezTo>
                  <a:cubicBezTo>
                    <a:pt x="0" y="6871"/>
                    <a:pt x="560" y="8240"/>
                    <a:pt x="1584" y="9264"/>
                  </a:cubicBezTo>
                  <a:cubicBezTo>
                    <a:pt x="2619" y="10300"/>
                    <a:pt x="3989" y="10859"/>
                    <a:pt x="5429" y="10859"/>
                  </a:cubicBezTo>
                  <a:cubicBezTo>
                    <a:pt x="6870" y="10859"/>
                    <a:pt x="8239" y="10300"/>
                    <a:pt x="9263" y="9264"/>
                  </a:cubicBezTo>
                  <a:cubicBezTo>
                    <a:pt x="10299" y="8240"/>
                    <a:pt x="10859" y="6871"/>
                    <a:pt x="10859" y="5430"/>
                  </a:cubicBezTo>
                  <a:cubicBezTo>
                    <a:pt x="10859" y="3989"/>
                    <a:pt x="10299" y="2620"/>
                    <a:pt x="9263" y="1584"/>
                  </a:cubicBezTo>
                  <a:cubicBezTo>
                    <a:pt x="8239" y="560"/>
                    <a:pt x="6870" y="1"/>
                    <a:pt x="5429"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786;p46"/>
            <p:cNvSpPr/>
            <p:nvPr/>
          </p:nvSpPr>
          <p:spPr>
            <a:xfrm>
              <a:off x="5590763" y="3890208"/>
              <a:ext cx="262661" cy="200052"/>
            </a:xfrm>
            <a:custGeom>
              <a:avLst/>
              <a:gdLst/>
              <a:ahLst/>
              <a:cxnLst/>
              <a:rect l="l" t="t" r="r" b="b"/>
              <a:pathLst>
                <a:path w="8252" h="6285" extrusionOk="0">
                  <a:moveTo>
                    <a:pt x="4123" y="1"/>
                  </a:moveTo>
                  <a:cubicBezTo>
                    <a:pt x="3010" y="1"/>
                    <a:pt x="1900" y="63"/>
                    <a:pt x="799" y="188"/>
                  </a:cubicBezTo>
                  <a:cubicBezTo>
                    <a:pt x="513" y="224"/>
                    <a:pt x="287" y="450"/>
                    <a:pt x="239" y="712"/>
                  </a:cubicBezTo>
                  <a:cubicBezTo>
                    <a:pt x="1" y="2319"/>
                    <a:pt x="1" y="3963"/>
                    <a:pt x="239" y="5570"/>
                  </a:cubicBezTo>
                  <a:cubicBezTo>
                    <a:pt x="287" y="5844"/>
                    <a:pt x="513" y="6058"/>
                    <a:pt x="799" y="6082"/>
                  </a:cubicBezTo>
                  <a:cubicBezTo>
                    <a:pt x="1894" y="6201"/>
                    <a:pt x="3013" y="6284"/>
                    <a:pt x="4132" y="6284"/>
                  </a:cubicBezTo>
                  <a:cubicBezTo>
                    <a:pt x="4609" y="6284"/>
                    <a:pt x="5085" y="6260"/>
                    <a:pt x="5561" y="6249"/>
                  </a:cubicBezTo>
                  <a:cubicBezTo>
                    <a:pt x="5644" y="6249"/>
                    <a:pt x="5716" y="6177"/>
                    <a:pt x="5716" y="6070"/>
                  </a:cubicBezTo>
                  <a:cubicBezTo>
                    <a:pt x="5716" y="5963"/>
                    <a:pt x="5633" y="5891"/>
                    <a:pt x="5537" y="5891"/>
                  </a:cubicBezTo>
                  <a:cubicBezTo>
                    <a:pt x="5051" y="5914"/>
                    <a:pt x="4564" y="5925"/>
                    <a:pt x="4076" y="5925"/>
                  </a:cubicBezTo>
                  <a:cubicBezTo>
                    <a:pt x="2998" y="5925"/>
                    <a:pt x="1916" y="5868"/>
                    <a:pt x="834" y="5737"/>
                  </a:cubicBezTo>
                  <a:cubicBezTo>
                    <a:pt x="715" y="5725"/>
                    <a:pt x="620" y="5641"/>
                    <a:pt x="596" y="5498"/>
                  </a:cubicBezTo>
                  <a:cubicBezTo>
                    <a:pt x="382" y="3927"/>
                    <a:pt x="382" y="2319"/>
                    <a:pt x="596" y="736"/>
                  </a:cubicBezTo>
                  <a:cubicBezTo>
                    <a:pt x="620" y="617"/>
                    <a:pt x="715" y="522"/>
                    <a:pt x="834" y="498"/>
                  </a:cubicBezTo>
                  <a:cubicBezTo>
                    <a:pt x="1942" y="379"/>
                    <a:pt x="3037" y="319"/>
                    <a:pt x="4144" y="319"/>
                  </a:cubicBezTo>
                  <a:cubicBezTo>
                    <a:pt x="5240" y="319"/>
                    <a:pt x="6347" y="379"/>
                    <a:pt x="7442" y="498"/>
                  </a:cubicBezTo>
                  <a:cubicBezTo>
                    <a:pt x="7561" y="522"/>
                    <a:pt x="7669" y="605"/>
                    <a:pt x="7680" y="736"/>
                  </a:cubicBezTo>
                  <a:cubicBezTo>
                    <a:pt x="7907" y="2319"/>
                    <a:pt x="7907" y="3927"/>
                    <a:pt x="7680" y="5498"/>
                  </a:cubicBezTo>
                  <a:cubicBezTo>
                    <a:pt x="7669" y="5617"/>
                    <a:pt x="7561" y="5725"/>
                    <a:pt x="7442" y="5737"/>
                  </a:cubicBezTo>
                  <a:cubicBezTo>
                    <a:pt x="7085" y="5784"/>
                    <a:pt x="6752" y="5820"/>
                    <a:pt x="6395" y="5844"/>
                  </a:cubicBezTo>
                  <a:cubicBezTo>
                    <a:pt x="6299" y="5844"/>
                    <a:pt x="6228" y="5927"/>
                    <a:pt x="6228" y="6010"/>
                  </a:cubicBezTo>
                  <a:cubicBezTo>
                    <a:pt x="6228" y="6110"/>
                    <a:pt x="6299" y="6178"/>
                    <a:pt x="6386" y="6178"/>
                  </a:cubicBezTo>
                  <a:cubicBezTo>
                    <a:pt x="6393" y="6178"/>
                    <a:pt x="6399" y="6178"/>
                    <a:pt x="6406" y="6177"/>
                  </a:cubicBezTo>
                  <a:cubicBezTo>
                    <a:pt x="6764" y="6141"/>
                    <a:pt x="7121" y="6118"/>
                    <a:pt x="7478" y="6070"/>
                  </a:cubicBezTo>
                  <a:cubicBezTo>
                    <a:pt x="7764" y="6034"/>
                    <a:pt x="7978" y="5820"/>
                    <a:pt x="8026" y="5546"/>
                  </a:cubicBezTo>
                  <a:cubicBezTo>
                    <a:pt x="8252" y="3963"/>
                    <a:pt x="8252" y="2319"/>
                    <a:pt x="8014" y="712"/>
                  </a:cubicBezTo>
                  <a:cubicBezTo>
                    <a:pt x="7966" y="426"/>
                    <a:pt x="7740" y="224"/>
                    <a:pt x="7466" y="188"/>
                  </a:cubicBezTo>
                  <a:cubicBezTo>
                    <a:pt x="6353" y="63"/>
                    <a:pt x="5237" y="1"/>
                    <a:pt x="4123"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787;p46"/>
            <p:cNvSpPr/>
            <p:nvPr/>
          </p:nvSpPr>
          <p:spPr>
            <a:xfrm>
              <a:off x="5680587" y="3935024"/>
              <a:ext cx="105389" cy="110514"/>
            </a:xfrm>
            <a:custGeom>
              <a:avLst/>
              <a:gdLst/>
              <a:ahLst/>
              <a:cxnLst/>
              <a:rect l="l" t="t" r="r" b="b"/>
              <a:pathLst>
                <a:path w="3311" h="3472" extrusionOk="0">
                  <a:moveTo>
                    <a:pt x="334" y="447"/>
                  </a:moveTo>
                  <a:lnTo>
                    <a:pt x="2763" y="1733"/>
                  </a:lnTo>
                  <a:lnTo>
                    <a:pt x="334" y="3007"/>
                  </a:lnTo>
                  <a:lnTo>
                    <a:pt x="334" y="447"/>
                  </a:lnTo>
                  <a:close/>
                  <a:moveTo>
                    <a:pt x="163" y="1"/>
                  </a:moveTo>
                  <a:cubicBezTo>
                    <a:pt x="135" y="1"/>
                    <a:pt x="108" y="7"/>
                    <a:pt x="84" y="18"/>
                  </a:cubicBezTo>
                  <a:cubicBezTo>
                    <a:pt x="36" y="54"/>
                    <a:pt x="1" y="114"/>
                    <a:pt x="1" y="173"/>
                  </a:cubicBezTo>
                  <a:lnTo>
                    <a:pt x="1" y="3293"/>
                  </a:lnTo>
                  <a:cubicBezTo>
                    <a:pt x="1" y="3352"/>
                    <a:pt x="24" y="3412"/>
                    <a:pt x="84" y="3447"/>
                  </a:cubicBezTo>
                  <a:cubicBezTo>
                    <a:pt x="120" y="3459"/>
                    <a:pt x="144" y="3471"/>
                    <a:pt x="179" y="3471"/>
                  </a:cubicBezTo>
                  <a:cubicBezTo>
                    <a:pt x="203" y="3471"/>
                    <a:pt x="239" y="3471"/>
                    <a:pt x="251" y="3459"/>
                  </a:cubicBezTo>
                  <a:lnTo>
                    <a:pt x="3227" y="1900"/>
                  </a:lnTo>
                  <a:cubicBezTo>
                    <a:pt x="3287" y="1864"/>
                    <a:pt x="3311" y="1804"/>
                    <a:pt x="3311" y="1745"/>
                  </a:cubicBezTo>
                  <a:cubicBezTo>
                    <a:pt x="3311" y="1673"/>
                    <a:pt x="3287" y="1614"/>
                    <a:pt x="3227" y="1578"/>
                  </a:cubicBezTo>
                  <a:lnTo>
                    <a:pt x="251" y="18"/>
                  </a:lnTo>
                  <a:cubicBezTo>
                    <a:pt x="221" y="7"/>
                    <a:pt x="191" y="1"/>
                    <a:pt x="163"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 name="Google Shape;136;p27"/>
          <p:cNvSpPr txBox="1">
            <a:spLocks/>
          </p:cNvSpPr>
          <p:nvPr/>
        </p:nvSpPr>
        <p:spPr>
          <a:xfrm>
            <a:off x="0" y="4922784"/>
            <a:ext cx="3352799" cy="220716"/>
          </a:xfrm>
          <a:prstGeom prst="rect">
            <a:avLst/>
          </a:prstGeom>
          <a:solidFill>
            <a:srgbClr val="FFFFFF">
              <a:alpha val="45090"/>
            </a:srgbClr>
          </a:solidFill>
          <a:ln>
            <a:noFill/>
          </a:ln>
        </p:spPr>
        <p:txBody>
          <a:bodyPr spcFirstLastPara="1" wrap="square" lIns="91425" tIns="91425" rIns="91425" bIns="91425" anchor="ctr" anchorCtr="0">
            <a:noAutofit/>
          </a:bodyPr>
          <a:lstStyle/>
          <a:p>
            <a:pPr marL="457200" marR="0" lvl="0" indent="-298450" algn="l" defTabSz="914400" rtl="0" eaLnBrk="1" fontAlgn="auto" latinLnBrk="0" hangingPunct="1">
              <a:lnSpc>
                <a:spcPct val="100000"/>
              </a:lnSpc>
              <a:spcBef>
                <a:spcPts val="0"/>
              </a:spcBef>
              <a:spcAft>
                <a:spcPts val="0"/>
              </a:spcAft>
              <a:buClr>
                <a:srgbClr val="434343"/>
              </a:buClr>
              <a:buSzPts val="1100"/>
              <a:tabLst/>
              <a:defRPr/>
            </a:pPr>
            <a:r>
              <a:rPr kumimoji="0" lang="es-ES" sz="13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3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3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br>
              <a:rPr kumimoji="0" lang="es-ES" sz="13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3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theme/theme1.xml><?xml version="1.0" encoding="utf-8"?>
<a:theme xmlns:a="http://schemas.openxmlformats.org/drawingml/2006/main" name="Ai Tech Agency by Slidesgo">
  <a:themeElements>
    <a:clrScheme name="Simple Light">
      <a:dk1>
        <a:srgbClr val="0C343D"/>
      </a:dk1>
      <a:lt1>
        <a:srgbClr val="00C3B1"/>
      </a:lt1>
      <a:dk2>
        <a:srgbClr val="CC4125"/>
      </a:dk2>
      <a:lt2>
        <a:srgbClr val="F3F3F3"/>
      </a:lt2>
      <a:accent1>
        <a:srgbClr val="0C343D"/>
      </a:accent1>
      <a:accent2>
        <a:srgbClr val="00C3B1"/>
      </a:accent2>
      <a:accent3>
        <a:srgbClr val="CC4125"/>
      </a:accent3>
      <a:accent4>
        <a:srgbClr val="F3F3F3"/>
      </a:accent4>
      <a:accent5>
        <a:srgbClr val="0C343D"/>
      </a:accent5>
      <a:accent6>
        <a:srgbClr val="00C3B1"/>
      </a:accent6>
      <a:hlink>
        <a:srgbClr val="F3F3F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16438</TotalTime>
  <Words>1361</Words>
  <Application>Microsoft Office PowerPoint</Application>
  <PresentationFormat>Presentación en pantalla (16:9)</PresentationFormat>
  <Paragraphs>213</Paragraphs>
  <Slides>23</Slides>
  <Notes>23</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23</vt:i4>
      </vt:variant>
    </vt:vector>
  </HeadingPairs>
  <TitlesOfParts>
    <vt:vector size="31" baseType="lpstr">
      <vt:lpstr>Fira Sans Condensed Light</vt:lpstr>
      <vt:lpstr>Advent Pro Light</vt:lpstr>
      <vt:lpstr>Fira Sans Extra Condensed Light</vt:lpstr>
      <vt:lpstr>Arial</vt:lpstr>
      <vt:lpstr>Cambria Math</vt:lpstr>
      <vt:lpstr>Anton</vt:lpstr>
      <vt:lpstr>Rajdhani</vt:lpstr>
      <vt:lpstr>Ai Tech Agency by Slidesgo</vt:lpstr>
      <vt:lpstr>Presentación de PowerPoint</vt:lpstr>
      <vt:lpstr>Bienvenida</vt:lpstr>
      <vt:lpstr>Presentación de PowerPoint</vt:lpstr>
      <vt:lpstr>Clase Anterior</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Evaluación Final</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DEFENSA DOCTORAL</dc:title>
  <dc:creator>Alfredo Garcia</dc:creator>
  <cp:lastModifiedBy>Alfredo García Suárez</cp:lastModifiedBy>
  <cp:revision>333</cp:revision>
  <dcterms:modified xsi:type="dcterms:W3CDTF">2026-03-10T20:54:13Z</dcterms:modified>
</cp:coreProperties>
</file>