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7"/>
  </p:notesMasterIdLst>
  <p:sldIdLst>
    <p:sldId id="256" r:id="rId2"/>
    <p:sldId id="357" r:id="rId3"/>
    <p:sldId id="358" r:id="rId4"/>
    <p:sldId id="505" r:id="rId5"/>
    <p:sldId id="517" r:id="rId6"/>
    <p:sldId id="518" r:id="rId7"/>
    <p:sldId id="523" r:id="rId8"/>
    <p:sldId id="527" r:id="rId9"/>
    <p:sldId id="526" r:id="rId10"/>
    <p:sldId id="528" r:id="rId11"/>
    <p:sldId id="529" r:id="rId12"/>
    <p:sldId id="530" r:id="rId13"/>
    <p:sldId id="532" r:id="rId14"/>
    <p:sldId id="531" r:id="rId15"/>
    <p:sldId id="533" r:id="rId16"/>
    <p:sldId id="534" r:id="rId17"/>
    <p:sldId id="499" r:id="rId18"/>
    <p:sldId id="498" r:id="rId19"/>
    <p:sldId id="512" r:id="rId20"/>
    <p:sldId id="524" r:id="rId21"/>
    <p:sldId id="513" r:id="rId22"/>
    <p:sldId id="514" r:id="rId23"/>
    <p:sldId id="389" r:id="rId24"/>
    <p:sldId id="515" r:id="rId25"/>
    <p:sldId id="280" r:id="rId26"/>
  </p:sldIdLst>
  <p:sldSz cx="9144000" cy="5143500" type="screen16x9"/>
  <p:notesSz cx="6858000" cy="9144000"/>
  <p:embeddedFontLst>
    <p:embeddedFont>
      <p:font typeface="Advent Pro Light" panose="020B0604020202020204" charset="0"/>
      <p:regular r:id="rId28"/>
      <p:bold r:id="rId29"/>
    </p:embeddedFont>
    <p:embeddedFont>
      <p:font typeface="Anton" pitchFamily="2" charset="0"/>
      <p:regular r:id="rId30"/>
    </p:embeddedFont>
    <p:embeddedFont>
      <p:font typeface="Cambria Math" panose="02040503050406030204" pitchFamily="18" charset="0"/>
      <p:regular r:id="rId31"/>
    </p:embeddedFont>
    <p:embeddedFont>
      <p:font typeface="Fira Sans Condensed Light" panose="020B0403050000020004" pitchFamily="34" charset="0"/>
      <p:regular r:id="rId32"/>
      <p:bold r:id="rId33"/>
      <p:italic r:id="rId34"/>
      <p:boldItalic r:id="rId35"/>
    </p:embeddedFont>
    <p:embeddedFont>
      <p:font typeface="Rajdhani" panose="020B060402020202020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p:scale>
          <a:sx n="92" d="100"/>
          <a:sy n="92" d="100"/>
        </p:scale>
        <p:origin x="756"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A69F5DC-B637-87C5-459D-BC5B56914ED1}"/>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3103E47C-82C0-3866-AB15-8F84EDD95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B79D7CE9-35D5-C46F-15DF-2DCD73CC8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769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36FF357-2574-6847-2FD0-0FDE9ED293C5}"/>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C0AFAB1F-3057-DBCA-406A-861380E10A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4E53DE2-1A47-CF43-A3F8-9997293145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0445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4C8B8C2A-7A83-1694-3114-B54DD3A55FF5}"/>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D3342C49-29FE-730F-090E-E8C82D0F13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6AE4B2CA-E44C-D96E-DB66-4B37EF4B33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279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E8D7E2FD-B1AC-1EC4-0DA3-41ACFC6B2EF2}"/>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517AA65B-0F8C-7C1A-6C40-A188035F41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5DE1F7DD-B560-72B9-B044-F5E23F2086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4523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101FFFF7-6C74-9EA8-65EF-7BFB88532DCD}"/>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FED8302B-907A-299C-5E70-8591E8CF69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546FEA23-7099-5B9B-465C-FE96907276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0149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784F8327-F28F-4C31-4636-CFC9A8BC56B2}"/>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2AC1F600-7A6C-D28B-3324-531D741292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FC7C65F9-DD52-66ED-9E4B-1B8100BFE9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1455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C103D403-B58F-F851-9856-9206DEAF3045}"/>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006A94D4-1B30-115A-B40A-20B1A8E09C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64C486E0-4A6E-4598-9DA1-136E7E7F71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62083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56A740CE-82F5-44B7-C4E2-20DC75E77B91}"/>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394F4652-9F97-B89C-84DE-2736E8DF37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2A9F02C0-AFB7-D56B-6216-B2A33B656D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4005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E2433E4C-BB2C-8C4E-991A-38EB2BFE7A86}"/>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23CD4F98-E532-1DF9-8AD9-98B3E2569D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9CB2B41F-D321-AAE1-B9ED-E2DCC47BC5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695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6818152D-A916-732E-D85A-9AFA7AF0643C}"/>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045362CD-DA19-7EFC-72D7-03A9E49E4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BD0B6C36-4D3D-4C56-3B49-81A79DE8B3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1401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D25611C8-55E0-C422-78D6-010DB68B510D}"/>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E1E64FB5-3E90-0EDC-61BF-3274C68BCA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CE49A512-8AE4-A0C5-1C68-6AF03D3ED2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7236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717718ED-60A2-0D24-4C0B-F8AD2C1115A0}"/>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620D81BC-4AAE-3C9C-3125-E27DF54FEE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DFF154AC-B564-1060-A9B2-561DCA5436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96579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7527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92145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75575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44653415-09AA-CECF-B743-FEFAF243FBA0}"/>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42870733-5CD7-2E44-7D76-57C647E7CE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39A4BD7C-5660-F80D-DD74-36DBB7B43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7490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4436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1064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4470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1" r:id="rId7"/>
    <p:sldLayoutId id="214748367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18.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18.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5.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18.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40.jpe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4.jpe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Fundamentos de Robótica</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2000" b="1">
                <a:solidFill>
                  <a:schemeClr val="tx2"/>
                </a:solidFill>
                <a:latin typeface="Fira Sans Condensed Light" panose="020B0604020202020204" charset="0"/>
                <a:cs typeface="Times New Roman" panose="02020603050405020304" pitchFamily="18" charset="0"/>
              </a:rPr>
              <a:t> </a:t>
            </a:r>
            <a:r>
              <a:rPr lang="es-ES" sz="1600" b="1">
                <a:solidFill>
                  <a:schemeClr val="tx2"/>
                </a:solidFill>
                <a:latin typeface="Fira Sans Condensed Light" panose="020B0604020202020204" charset="0"/>
                <a:cs typeface="Times New Roman" panose="02020603050405020304" pitchFamily="18" charset="0"/>
              </a:rPr>
              <a:t>04 </a:t>
            </a:r>
            <a:r>
              <a:rPr lang="es-ES" sz="1600" b="1" dirty="0">
                <a:solidFill>
                  <a:schemeClr val="tx2"/>
                </a:solidFill>
                <a:latin typeface="Fira Sans Condensed Light" panose="020B0604020202020204" charset="0"/>
                <a:cs typeface="Times New Roman" panose="02020603050405020304" pitchFamily="18" charset="0"/>
              </a:rPr>
              <a:t>de Marzo </a:t>
            </a:r>
            <a:r>
              <a:rPr lang="es-ES" sz="1600" b="1">
                <a:solidFill>
                  <a:schemeClr val="tx2"/>
                </a:solidFill>
                <a:latin typeface="Fira Sans Condensed Light" panose="020B0604020202020204" charset="0"/>
                <a:cs typeface="Times New Roman" panose="02020603050405020304" pitchFamily="18" charset="0"/>
              </a:rPr>
              <a:t>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“Un modelo matemático de un sistema dinámico es un conjunto de ecuaciones que representan la dinámica del sistema con precisión.”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Robots industriales en cifras: así ha aumentado su stock mundial y densidad  por región · THE LOGISTICS WORLD | Conéctate e inspírate.">
            <a:extLst>
              <a:ext uri="{FF2B5EF4-FFF2-40B4-BE49-F238E27FC236}">
                <a16:creationId xmlns:a16="http://schemas.microsoft.com/office/drawing/2014/main" id="{2B53735F-DDFD-1DF0-302F-152E3F98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71" y="1468611"/>
            <a:ext cx="3935582" cy="2623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15959AEC-ED10-5002-121D-FB7B069B1975}"/>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1D0E53B3-D8BB-0C7F-1330-C7D51AB4655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961459BA-6F88-A406-79EA-45A0F09329D7}"/>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 Evaluación</a:t>
            </a:r>
          </a:p>
          <a:p>
            <a:pPr marL="146050" indent="0">
              <a:buSzPts val="1300"/>
            </a:pPr>
            <a:endParaRPr lang="es-ES" dirty="0"/>
          </a:p>
          <a:p>
            <a:pPr marL="146050" lvl="0" indent="0">
              <a:buSzPts val="1300"/>
            </a:pPr>
            <a:r>
              <a:rPr lang="es-ES" dirty="0"/>
              <a:t> </a:t>
            </a:r>
            <a:endParaRPr dirty="0"/>
          </a:p>
        </p:txBody>
      </p:sp>
      <p:sp>
        <p:nvSpPr>
          <p:cNvPr id="176" name="Google Shape;176;p30">
            <a:extLst>
              <a:ext uri="{FF2B5EF4-FFF2-40B4-BE49-F238E27FC236}">
                <a16:creationId xmlns:a16="http://schemas.microsoft.com/office/drawing/2014/main" id="{4E41D1DB-05F2-5096-9D08-6FCE9E5AE4CF}"/>
              </a:ext>
            </a:extLst>
          </p:cNvPr>
          <p:cNvSpPr txBox="1">
            <a:spLocks noGrp="1"/>
          </p:cNvSpPr>
          <p:nvPr>
            <p:ph type="title" idx="2"/>
          </p:nvPr>
        </p:nvSpPr>
        <p:spPr>
          <a:xfrm>
            <a:off x="4849170" y="1001125"/>
            <a:ext cx="2208122"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10</a:t>
            </a:r>
            <a:endParaRPr dirty="0"/>
          </a:p>
        </p:txBody>
      </p:sp>
      <p:cxnSp>
        <p:nvCxnSpPr>
          <p:cNvPr id="177" name="Google Shape;177;p30">
            <a:extLst>
              <a:ext uri="{FF2B5EF4-FFF2-40B4-BE49-F238E27FC236}">
                <a16:creationId xmlns:a16="http://schemas.microsoft.com/office/drawing/2014/main" id="{3BCBC381-6379-A1CF-C866-4474B08B68FE}"/>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61F0BFD9-D5DC-A514-57C3-375634FF9B5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D18A5BAE-B433-45BE-DA8F-CE4E19B78497}"/>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471717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51995" y="650103"/>
            <a:ext cx="7511109"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4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50167" y="925323"/>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5" y="1121154"/>
            <a:ext cx="8763167" cy="3350105"/>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4 (</a:t>
            </a:r>
            <a:r>
              <a:rPr lang="en-US" sz="1600" b="1" dirty="0" err="1">
                <a:solidFill>
                  <a:schemeClr val="tx2"/>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vector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velocidades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lineales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vector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velocidades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angulares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siguientes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robots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manipuladores</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7139353" y="4885577"/>
            <a:ext cx="2313052" cy="281648"/>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8" name="Picture 4" descr="1.4.- Grados de Libertad – Inteligencia Artificial">
            <a:extLst>
              <a:ext uri="{FF2B5EF4-FFF2-40B4-BE49-F238E27FC236}">
                <a16:creationId xmlns:a16="http://schemas.microsoft.com/office/drawing/2014/main" id="{43736345-5442-3556-FFD8-88EAD6CBCC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8258" y="2353896"/>
            <a:ext cx="1753066" cy="2672505"/>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1603;p42">
            <a:extLst>
              <a:ext uri="{FF2B5EF4-FFF2-40B4-BE49-F238E27FC236}">
                <a16:creationId xmlns:a16="http://schemas.microsoft.com/office/drawing/2014/main" id="{70F432FB-B8F0-B0ED-33A8-CE8DDEFA98CF}"/>
              </a:ext>
            </a:extLst>
          </p:cNvPr>
          <p:cNvSpPr txBox="1"/>
          <p:nvPr/>
        </p:nvSpPr>
        <p:spPr>
          <a:xfrm>
            <a:off x="1580278" y="3970218"/>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7" name="Google Shape;1603;p42">
            <a:extLst>
              <a:ext uri="{FF2B5EF4-FFF2-40B4-BE49-F238E27FC236}">
                <a16:creationId xmlns:a16="http://schemas.microsoft.com/office/drawing/2014/main" id="{AAAB325D-FD99-5947-260E-C87FDD005215}"/>
              </a:ext>
            </a:extLst>
          </p:cNvPr>
          <p:cNvSpPr txBox="1"/>
          <p:nvPr/>
        </p:nvSpPr>
        <p:spPr>
          <a:xfrm>
            <a:off x="1405456" y="3064407"/>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sp>
        <p:nvSpPr>
          <p:cNvPr id="18" name="Google Shape;1603;p42">
            <a:extLst>
              <a:ext uri="{FF2B5EF4-FFF2-40B4-BE49-F238E27FC236}">
                <a16:creationId xmlns:a16="http://schemas.microsoft.com/office/drawing/2014/main" id="{E6A72D2A-EA61-DA54-0F78-BD3ADFB6F8CA}"/>
              </a:ext>
            </a:extLst>
          </p:cNvPr>
          <p:cNvSpPr txBox="1"/>
          <p:nvPr/>
        </p:nvSpPr>
        <p:spPr>
          <a:xfrm>
            <a:off x="1690129" y="2219050"/>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pic>
        <p:nvPicPr>
          <p:cNvPr id="7" name="Imagen 6">
            <a:extLst>
              <a:ext uri="{FF2B5EF4-FFF2-40B4-BE49-F238E27FC236}">
                <a16:creationId xmlns:a16="http://schemas.microsoft.com/office/drawing/2014/main" id="{37B7D95B-8006-CF78-946F-DD12951F13D0}"/>
              </a:ext>
            </a:extLst>
          </p:cNvPr>
          <p:cNvPicPr>
            <a:picLocks noChangeAspect="1"/>
          </p:cNvPicPr>
          <p:nvPr/>
        </p:nvPicPr>
        <p:blipFill>
          <a:blip r:embed="rId5"/>
          <a:stretch>
            <a:fillRect/>
          </a:stretch>
        </p:blipFill>
        <p:spPr>
          <a:xfrm>
            <a:off x="4281118" y="2316741"/>
            <a:ext cx="2701139" cy="2709660"/>
          </a:xfrm>
          <a:prstGeom prst="rect">
            <a:avLst/>
          </a:prstGeom>
        </p:spPr>
      </p:pic>
      <p:sp>
        <p:nvSpPr>
          <p:cNvPr id="21" name="Google Shape;1603;p42">
            <a:extLst>
              <a:ext uri="{FF2B5EF4-FFF2-40B4-BE49-F238E27FC236}">
                <a16:creationId xmlns:a16="http://schemas.microsoft.com/office/drawing/2014/main" id="{9AA44764-60CA-6310-7BA3-42338A78A32D}"/>
              </a:ext>
            </a:extLst>
          </p:cNvPr>
          <p:cNvSpPr txBox="1"/>
          <p:nvPr/>
        </p:nvSpPr>
        <p:spPr>
          <a:xfrm>
            <a:off x="4953025" y="4353771"/>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9" name="Google Shape;1603;p42">
            <a:extLst>
              <a:ext uri="{FF2B5EF4-FFF2-40B4-BE49-F238E27FC236}">
                <a16:creationId xmlns:a16="http://schemas.microsoft.com/office/drawing/2014/main" id="{C2E90091-ACC7-BF87-C8D9-E1C28495C9E7}"/>
              </a:ext>
            </a:extLst>
          </p:cNvPr>
          <p:cNvSpPr txBox="1"/>
          <p:nvPr/>
        </p:nvSpPr>
        <p:spPr>
          <a:xfrm>
            <a:off x="4830495" y="3565448"/>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20" name="Google Shape;1603;p42">
            <a:extLst>
              <a:ext uri="{FF2B5EF4-FFF2-40B4-BE49-F238E27FC236}">
                <a16:creationId xmlns:a16="http://schemas.microsoft.com/office/drawing/2014/main" id="{4A1C79FC-9975-F6E3-5953-1104D31228DB}"/>
              </a:ext>
            </a:extLst>
          </p:cNvPr>
          <p:cNvSpPr txBox="1"/>
          <p:nvPr/>
        </p:nvSpPr>
        <p:spPr>
          <a:xfrm>
            <a:off x="4636424" y="2440053"/>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8" name="Google Shape;1603;p42">
            <a:extLst>
              <a:ext uri="{FF2B5EF4-FFF2-40B4-BE49-F238E27FC236}">
                <a16:creationId xmlns:a16="http://schemas.microsoft.com/office/drawing/2014/main" id="{F0FD33F3-D5AB-E087-37E8-8BC5A94C349E}"/>
              </a:ext>
            </a:extLst>
          </p:cNvPr>
          <p:cNvSpPr txBox="1"/>
          <p:nvPr/>
        </p:nvSpPr>
        <p:spPr>
          <a:xfrm>
            <a:off x="5876218" y="2223733"/>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0" name="Google Shape;1603;p42">
            <a:extLst>
              <a:ext uri="{FF2B5EF4-FFF2-40B4-BE49-F238E27FC236}">
                <a16:creationId xmlns:a16="http://schemas.microsoft.com/office/drawing/2014/main" id="{64921427-B7D1-7480-BE46-B566CD9048CB}"/>
              </a:ext>
            </a:extLst>
          </p:cNvPr>
          <p:cNvSpPr txBox="1"/>
          <p:nvPr/>
        </p:nvSpPr>
        <p:spPr>
          <a:xfrm>
            <a:off x="6594116" y="2345989"/>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2" name="Google Shape;1603;p42">
            <a:extLst>
              <a:ext uri="{FF2B5EF4-FFF2-40B4-BE49-F238E27FC236}">
                <a16:creationId xmlns:a16="http://schemas.microsoft.com/office/drawing/2014/main" id="{BCDD03F9-BF67-B40F-074F-F57759B8B968}"/>
              </a:ext>
            </a:extLst>
          </p:cNvPr>
          <p:cNvSpPr txBox="1"/>
          <p:nvPr/>
        </p:nvSpPr>
        <p:spPr>
          <a:xfrm>
            <a:off x="6070289" y="3096975"/>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1" grpId="0"/>
      <p:bldP spid="19" grpId="0"/>
      <p:bldP spid="20" grpId="0"/>
      <p:bldP spid="8" grpId="0"/>
      <p:bldP spid="10"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5028745-B6F7-C472-C00F-4A0C1CD82E99}"/>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9BBCD1EB-93D6-FFE9-657B-EBEDBF78C894}"/>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865DC224-1C76-A803-E374-D5A6868CEE85}"/>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 Solución de la Evaluación</a:t>
            </a:r>
          </a:p>
          <a:p>
            <a:pPr marL="146050" indent="0">
              <a:buSzPts val="1300"/>
            </a:pPr>
            <a:r>
              <a:rPr lang="es-ES" dirty="0"/>
              <a:t>- Introducción a Dinámica</a:t>
            </a:r>
          </a:p>
          <a:p>
            <a:pPr marL="146050" indent="0">
              <a:buSzPts val="1300"/>
            </a:pPr>
            <a:r>
              <a:rPr lang="es-ES" dirty="0"/>
              <a:t>- Fuerzas</a:t>
            </a:r>
          </a:p>
          <a:p>
            <a:pPr marL="431800" indent="-285750">
              <a:buSzPts val="1300"/>
              <a:buFontTx/>
              <a:buChar char="-"/>
            </a:pPr>
            <a:endParaRPr lang="es-ES" dirty="0"/>
          </a:p>
          <a:p>
            <a:pPr marL="146050" lvl="0" indent="0">
              <a:buSzPts val="1300"/>
            </a:pPr>
            <a:r>
              <a:rPr lang="es-ES" dirty="0"/>
              <a:t> </a:t>
            </a:r>
            <a:endParaRPr dirty="0"/>
          </a:p>
        </p:txBody>
      </p:sp>
      <p:sp>
        <p:nvSpPr>
          <p:cNvPr id="176" name="Google Shape;176;p30">
            <a:extLst>
              <a:ext uri="{FF2B5EF4-FFF2-40B4-BE49-F238E27FC236}">
                <a16:creationId xmlns:a16="http://schemas.microsoft.com/office/drawing/2014/main" id="{8FED9E29-096C-0772-53B9-94A60750D071}"/>
              </a:ext>
            </a:extLst>
          </p:cNvPr>
          <p:cNvSpPr txBox="1">
            <a:spLocks noGrp="1"/>
          </p:cNvSpPr>
          <p:nvPr>
            <p:ph type="title" idx="2"/>
          </p:nvPr>
        </p:nvSpPr>
        <p:spPr>
          <a:xfrm>
            <a:off x="4849170" y="1001125"/>
            <a:ext cx="2208122"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11</a:t>
            </a:r>
            <a:endParaRPr dirty="0"/>
          </a:p>
        </p:txBody>
      </p:sp>
      <p:cxnSp>
        <p:nvCxnSpPr>
          <p:cNvPr id="177" name="Google Shape;177;p30">
            <a:extLst>
              <a:ext uri="{FF2B5EF4-FFF2-40B4-BE49-F238E27FC236}">
                <a16:creationId xmlns:a16="http://schemas.microsoft.com/office/drawing/2014/main" id="{341DDB48-3E06-6868-C818-BD446B737C5D}"/>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172EC4A9-9DC4-5CC7-C931-C80DA26851A9}"/>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BF6838E2-6783-9C52-D21C-A4D18E89EE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29565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1451FDAF-559B-6EE1-3394-6D813D4B2B9A}"/>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2E81116F-9119-E422-B6C1-058F5B7045D6}"/>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775C514E-50F2-530D-CE7C-72DBBBC6A4BD}"/>
              </a:ext>
            </a:extLst>
          </p:cNvPr>
          <p:cNvSpPr txBox="1">
            <a:spLocks/>
          </p:cNvSpPr>
          <p:nvPr/>
        </p:nvSpPr>
        <p:spPr>
          <a:xfrm>
            <a:off x="477885" y="259159"/>
            <a:ext cx="4293834"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cilíndrico 3GDL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CB6333AC-C732-50D7-93F8-F8D1BC8116ED}"/>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p:pic>
        <p:nvPicPr>
          <p:cNvPr id="1028" name="Picture 4" descr="1.4.- Grados de Libertad – Inteligencia Artificial">
            <a:extLst>
              <a:ext uri="{FF2B5EF4-FFF2-40B4-BE49-F238E27FC236}">
                <a16:creationId xmlns:a16="http://schemas.microsoft.com/office/drawing/2014/main" id="{ACED6C5B-4DBC-5FD8-2C11-0A1DA8DBF0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3123" y="1820892"/>
            <a:ext cx="1753066" cy="2672505"/>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1603;p42">
            <a:extLst>
              <a:ext uri="{FF2B5EF4-FFF2-40B4-BE49-F238E27FC236}">
                <a16:creationId xmlns:a16="http://schemas.microsoft.com/office/drawing/2014/main" id="{42AE24FB-B290-98BB-4B69-06E01DF615F8}"/>
              </a:ext>
            </a:extLst>
          </p:cNvPr>
          <p:cNvSpPr txBox="1"/>
          <p:nvPr/>
        </p:nvSpPr>
        <p:spPr>
          <a:xfrm>
            <a:off x="5365143" y="3437214"/>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7" name="Google Shape;1603;p42">
            <a:extLst>
              <a:ext uri="{FF2B5EF4-FFF2-40B4-BE49-F238E27FC236}">
                <a16:creationId xmlns:a16="http://schemas.microsoft.com/office/drawing/2014/main" id="{32FFC287-19EC-EDC1-3BB0-C527225151A3}"/>
              </a:ext>
            </a:extLst>
          </p:cNvPr>
          <p:cNvSpPr txBox="1"/>
          <p:nvPr/>
        </p:nvSpPr>
        <p:spPr>
          <a:xfrm>
            <a:off x="5190321" y="2531403"/>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sp>
        <p:nvSpPr>
          <p:cNvPr id="18" name="Google Shape;1603;p42">
            <a:extLst>
              <a:ext uri="{FF2B5EF4-FFF2-40B4-BE49-F238E27FC236}">
                <a16:creationId xmlns:a16="http://schemas.microsoft.com/office/drawing/2014/main" id="{73992D83-1235-A2B9-1143-2B98568E7710}"/>
              </a:ext>
            </a:extLst>
          </p:cNvPr>
          <p:cNvSpPr txBox="1"/>
          <p:nvPr/>
        </p:nvSpPr>
        <p:spPr>
          <a:xfrm>
            <a:off x="5467526" y="1672918"/>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cxnSp>
        <p:nvCxnSpPr>
          <p:cNvPr id="2" name="Conector recto de flecha 1">
            <a:extLst>
              <a:ext uri="{FF2B5EF4-FFF2-40B4-BE49-F238E27FC236}">
                <a16:creationId xmlns:a16="http://schemas.microsoft.com/office/drawing/2014/main" id="{C79106C0-A2A4-F2C3-1006-E2EA376D74E0}"/>
              </a:ext>
            </a:extLst>
          </p:cNvPr>
          <p:cNvCxnSpPr>
            <a:cxnSpLocks/>
          </p:cNvCxnSpPr>
          <p:nvPr/>
        </p:nvCxnSpPr>
        <p:spPr>
          <a:xfrm>
            <a:off x="5960008" y="3839366"/>
            <a:ext cx="371537" cy="34363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 name="Conector recto de flecha 2">
            <a:extLst>
              <a:ext uri="{FF2B5EF4-FFF2-40B4-BE49-F238E27FC236}">
                <a16:creationId xmlns:a16="http://schemas.microsoft.com/office/drawing/2014/main" id="{357A6234-FE2C-D06D-E6E9-B8467E9C9160}"/>
              </a:ext>
            </a:extLst>
          </p:cNvPr>
          <p:cNvCxnSpPr>
            <a:cxnSpLocks/>
          </p:cNvCxnSpPr>
          <p:nvPr/>
        </p:nvCxnSpPr>
        <p:spPr>
          <a:xfrm flipV="1">
            <a:off x="5963488" y="3611958"/>
            <a:ext cx="451171" cy="24925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4" name="Conector recto de flecha 3">
            <a:extLst>
              <a:ext uri="{FF2B5EF4-FFF2-40B4-BE49-F238E27FC236}">
                <a16:creationId xmlns:a16="http://schemas.microsoft.com/office/drawing/2014/main" id="{F58F781B-3849-CC3D-CB86-D0FB8AD0F5BC}"/>
              </a:ext>
            </a:extLst>
          </p:cNvPr>
          <p:cNvCxnSpPr>
            <a:cxnSpLocks/>
          </p:cNvCxnSpPr>
          <p:nvPr/>
        </p:nvCxnSpPr>
        <p:spPr>
          <a:xfrm flipV="1">
            <a:off x="5960008" y="3418261"/>
            <a:ext cx="16874" cy="4363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5" name="CuadroTexto 4">
            <a:extLst>
              <a:ext uri="{FF2B5EF4-FFF2-40B4-BE49-F238E27FC236}">
                <a16:creationId xmlns:a16="http://schemas.microsoft.com/office/drawing/2014/main" id="{6C61567D-619C-853E-CB8F-23F6877FE630}"/>
              </a:ext>
            </a:extLst>
          </p:cNvPr>
          <p:cNvSpPr txBox="1"/>
          <p:nvPr/>
        </p:nvSpPr>
        <p:spPr>
          <a:xfrm>
            <a:off x="6269090" y="4235741"/>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6" name="CuadroTexto 5">
            <a:extLst>
              <a:ext uri="{FF2B5EF4-FFF2-40B4-BE49-F238E27FC236}">
                <a16:creationId xmlns:a16="http://schemas.microsoft.com/office/drawing/2014/main" id="{B47B26AB-CFAD-CA15-B86E-75A0B5DD0FC9}"/>
              </a:ext>
            </a:extLst>
          </p:cNvPr>
          <p:cNvSpPr txBox="1"/>
          <p:nvPr/>
        </p:nvSpPr>
        <p:spPr>
          <a:xfrm>
            <a:off x="6410332" y="3418261"/>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13" name="CuadroTexto 12">
            <a:extLst>
              <a:ext uri="{FF2B5EF4-FFF2-40B4-BE49-F238E27FC236}">
                <a16:creationId xmlns:a16="http://schemas.microsoft.com/office/drawing/2014/main" id="{27D5A568-4804-79FC-FB6B-D12FF8783ED3}"/>
              </a:ext>
            </a:extLst>
          </p:cNvPr>
          <p:cNvSpPr txBox="1"/>
          <p:nvPr/>
        </p:nvSpPr>
        <p:spPr>
          <a:xfrm>
            <a:off x="5842032" y="3032444"/>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sp>
        <p:nvSpPr>
          <p:cNvPr id="10" name="Google Shape;1603;p42">
            <a:extLst>
              <a:ext uri="{FF2B5EF4-FFF2-40B4-BE49-F238E27FC236}">
                <a16:creationId xmlns:a16="http://schemas.microsoft.com/office/drawing/2014/main" id="{D436CD77-54C3-59F7-C3B3-2D50BD99D120}"/>
              </a:ext>
            </a:extLst>
          </p:cNvPr>
          <p:cNvSpPr txBox="1"/>
          <p:nvPr/>
        </p:nvSpPr>
        <p:spPr>
          <a:xfrm>
            <a:off x="375501" y="1181713"/>
            <a:ext cx="439621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A1</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A2</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“Ninguna Rotación”</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L1 sobre el eje Z1”</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pic>
        <p:nvPicPr>
          <p:cNvPr id="12" name="Picture 4" descr="1.4.- Grados de Libertad – Inteligencia Artificial">
            <a:extLst>
              <a:ext uri="{FF2B5EF4-FFF2-40B4-BE49-F238E27FC236}">
                <a16:creationId xmlns:a16="http://schemas.microsoft.com/office/drawing/2014/main" id="{F3B96B76-6B4E-EB88-49E1-65A503F47D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1567" y="1871013"/>
            <a:ext cx="1753066" cy="2672505"/>
          </a:xfrm>
          <a:prstGeom prst="rect">
            <a:avLst/>
          </a:prstGeom>
          <a:solidFill>
            <a:srgbClr val="FFFF00"/>
          </a:solidFill>
          <a:ln w="53975">
            <a:solidFill>
              <a:srgbClr val="002060"/>
            </a:solidFill>
          </a:ln>
        </p:spPr>
      </p:pic>
      <p:sp>
        <p:nvSpPr>
          <p:cNvPr id="19" name="Google Shape;1603;p42">
            <a:extLst>
              <a:ext uri="{FF2B5EF4-FFF2-40B4-BE49-F238E27FC236}">
                <a16:creationId xmlns:a16="http://schemas.microsoft.com/office/drawing/2014/main" id="{5A21871E-DB5D-A480-EAAA-9C0CBA4FC0FA}"/>
              </a:ext>
            </a:extLst>
          </p:cNvPr>
          <p:cNvSpPr txBox="1"/>
          <p:nvPr/>
        </p:nvSpPr>
        <p:spPr>
          <a:xfrm>
            <a:off x="7513587" y="3487335"/>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20" name="Google Shape;1603;p42">
            <a:extLst>
              <a:ext uri="{FF2B5EF4-FFF2-40B4-BE49-F238E27FC236}">
                <a16:creationId xmlns:a16="http://schemas.microsoft.com/office/drawing/2014/main" id="{B37BB909-6679-5F1F-1EDB-47269768AFAF}"/>
              </a:ext>
            </a:extLst>
          </p:cNvPr>
          <p:cNvSpPr txBox="1"/>
          <p:nvPr/>
        </p:nvSpPr>
        <p:spPr>
          <a:xfrm>
            <a:off x="7338765" y="2581524"/>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cxnSp>
        <p:nvCxnSpPr>
          <p:cNvPr id="21" name="Conector recto de flecha 20">
            <a:extLst>
              <a:ext uri="{FF2B5EF4-FFF2-40B4-BE49-F238E27FC236}">
                <a16:creationId xmlns:a16="http://schemas.microsoft.com/office/drawing/2014/main" id="{35E95FB6-D56E-5422-5E66-45D65CC4B6FD}"/>
              </a:ext>
            </a:extLst>
          </p:cNvPr>
          <p:cNvCxnSpPr>
            <a:cxnSpLocks/>
          </p:cNvCxnSpPr>
          <p:nvPr/>
        </p:nvCxnSpPr>
        <p:spPr>
          <a:xfrm>
            <a:off x="8106969" y="3747264"/>
            <a:ext cx="371537" cy="34363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2" name="Conector recto de flecha 31">
            <a:extLst>
              <a:ext uri="{FF2B5EF4-FFF2-40B4-BE49-F238E27FC236}">
                <a16:creationId xmlns:a16="http://schemas.microsoft.com/office/drawing/2014/main" id="{FE92A88C-056A-CDBB-60BF-DE84E9D9D95C}"/>
              </a:ext>
            </a:extLst>
          </p:cNvPr>
          <p:cNvCxnSpPr>
            <a:cxnSpLocks/>
          </p:cNvCxnSpPr>
          <p:nvPr/>
        </p:nvCxnSpPr>
        <p:spPr>
          <a:xfrm flipV="1">
            <a:off x="8110449" y="3519856"/>
            <a:ext cx="451171" cy="24925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3" name="Conector recto de flecha 32">
            <a:extLst>
              <a:ext uri="{FF2B5EF4-FFF2-40B4-BE49-F238E27FC236}">
                <a16:creationId xmlns:a16="http://schemas.microsoft.com/office/drawing/2014/main" id="{9FBD07C1-38C9-8A5C-3EB3-7C8D1E9E60BF}"/>
              </a:ext>
            </a:extLst>
          </p:cNvPr>
          <p:cNvCxnSpPr>
            <a:cxnSpLocks/>
          </p:cNvCxnSpPr>
          <p:nvPr/>
        </p:nvCxnSpPr>
        <p:spPr>
          <a:xfrm flipV="1">
            <a:off x="8106969" y="3326159"/>
            <a:ext cx="16874" cy="4363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34" name="CuadroTexto 33">
            <a:extLst>
              <a:ext uri="{FF2B5EF4-FFF2-40B4-BE49-F238E27FC236}">
                <a16:creationId xmlns:a16="http://schemas.microsoft.com/office/drawing/2014/main" id="{57C2DE21-85DE-BDCD-FE19-44D519E1899A}"/>
              </a:ext>
            </a:extLst>
          </p:cNvPr>
          <p:cNvSpPr txBox="1"/>
          <p:nvPr/>
        </p:nvSpPr>
        <p:spPr>
          <a:xfrm>
            <a:off x="8416051" y="4143639"/>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35" name="CuadroTexto 34">
            <a:extLst>
              <a:ext uri="{FF2B5EF4-FFF2-40B4-BE49-F238E27FC236}">
                <a16:creationId xmlns:a16="http://schemas.microsoft.com/office/drawing/2014/main" id="{0B4897BD-81C0-6E6C-0128-0FC61A4D4B60}"/>
              </a:ext>
            </a:extLst>
          </p:cNvPr>
          <p:cNvSpPr txBox="1"/>
          <p:nvPr/>
        </p:nvSpPr>
        <p:spPr>
          <a:xfrm>
            <a:off x="8557293" y="3326159"/>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36" name="CuadroTexto 35">
            <a:extLst>
              <a:ext uri="{FF2B5EF4-FFF2-40B4-BE49-F238E27FC236}">
                <a16:creationId xmlns:a16="http://schemas.microsoft.com/office/drawing/2014/main" id="{3BA5C306-8414-5DB6-58E4-65B4260326DD}"/>
              </a:ext>
            </a:extLst>
          </p:cNvPr>
          <p:cNvSpPr txBox="1"/>
          <p:nvPr/>
        </p:nvSpPr>
        <p:spPr>
          <a:xfrm>
            <a:off x="7988993" y="2940342"/>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38" name="Conector recto 37">
            <a:extLst>
              <a:ext uri="{FF2B5EF4-FFF2-40B4-BE49-F238E27FC236}">
                <a16:creationId xmlns:a16="http://schemas.microsoft.com/office/drawing/2014/main" id="{0929B6E1-78EC-EAA7-EF72-D9FC4DDF697C}"/>
              </a:ext>
            </a:extLst>
          </p:cNvPr>
          <p:cNvCxnSpPr>
            <a:cxnSpLocks/>
          </p:cNvCxnSpPr>
          <p:nvPr/>
        </p:nvCxnSpPr>
        <p:spPr>
          <a:xfrm>
            <a:off x="8106969" y="3744402"/>
            <a:ext cx="0" cy="148364"/>
          </a:xfrm>
          <a:prstGeom prst="line">
            <a:avLst/>
          </a:prstGeom>
          <a:ln w="53975">
            <a:solidFill>
              <a:srgbClr val="002060"/>
            </a:solidFill>
          </a:ln>
        </p:spPr>
        <p:style>
          <a:lnRef idx="1">
            <a:schemeClr val="accent1"/>
          </a:lnRef>
          <a:fillRef idx="0">
            <a:schemeClr val="accent1"/>
          </a:fillRef>
          <a:effectRef idx="0">
            <a:schemeClr val="accent1"/>
          </a:effectRef>
          <a:fontRef idx="minor">
            <a:schemeClr val="tx1"/>
          </a:fontRef>
        </p:style>
      </p:cxnSp>
      <p:sp>
        <p:nvSpPr>
          <p:cNvPr id="42" name="CuadroTexto 41">
            <a:extLst>
              <a:ext uri="{FF2B5EF4-FFF2-40B4-BE49-F238E27FC236}">
                <a16:creationId xmlns:a16="http://schemas.microsoft.com/office/drawing/2014/main" id="{D1D55C53-9D8C-94B5-DB43-4833ABD75297}"/>
              </a:ext>
            </a:extLst>
          </p:cNvPr>
          <p:cNvSpPr txBox="1"/>
          <p:nvPr/>
        </p:nvSpPr>
        <p:spPr>
          <a:xfrm>
            <a:off x="7827017" y="3726038"/>
            <a:ext cx="354663"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77CB9F76-55A4-99B2-0103-4C710BDE548F}"/>
                  </a:ext>
                </a:extLst>
              </p:cNvPr>
              <p:cNvSpPr txBox="1"/>
              <p:nvPr/>
            </p:nvSpPr>
            <p:spPr>
              <a:xfrm>
                <a:off x="375501" y="3628079"/>
                <a:ext cx="2388795" cy="6958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m:oMathPara>
                </a14:m>
                <a:endParaRPr lang="es-MX" sz="1600" dirty="0"/>
              </a:p>
            </p:txBody>
          </p:sp>
        </mc:Choice>
        <mc:Fallback>
          <p:sp>
            <p:nvSpPr>
              <p:cNvPr id="43" name="CuadroTexto 42">
                <a:extLst>
                  <a:ext uri="{FF2B5EF4-FFF2-40B4-BE49-F238E27FC236}">
                    <a16:creationId xmlns:a16="http://schemas.microsoft.com/office/drawing/2014/main" id="{77CB9F76-55A4-99B2-0103-4C710BDE548F}"/>
                  </a:ext>
                </a:extLst>
              </p:cNvPr>
              <p:cNvSpPr txBox="1">
                <a:spLocks noRot="1" noChangeAspect="1" noMove="1" noResize="1" noEditPoints="1" noAdjustHandles="1" noChangeArrowheads="1" noChangeShapeType="1" noTextEdit="1"/>
              </p:cNvSpPr>
              <p:nvPr/>
            </p:nvSpPr>
            <p:spPr>
              <a:xfrm>
                <a:off x="375501" y="3628079"/>
                <a:ext cx="2388795" cy="695896"/>
              </a:xfrm>
              <a:prstGeom prst="rect">
                <a:avLst/>
              </a:prstGeom>
              <a:blipFill>
                <a:blip r:embed="rId5"/>
                <a:stretch>
                  <a:fillRect/>
                </a:stretch>
              </a:blipFill>
            </p:spPr>
            <p:txBody>
              <a:bodyPr/>
              <a:lstStyle/>
              <a:p>
                <a:r>
                  <a:rPr lang="es-MX">
                    <a:noFill/>
                  </a:rPr>
                  <a:t> </a:t>
                </a:r>
              </a:p>
            </p:txBody>
          </p:sp>
        </mc:Fallback>
      </mc:AlternateContent>
      <p:sp>
        <p:nvSpPr>
          <p:cNvPr id="44" name="Google Shape;1603;p42">
            <a:extLst>
              <a:ext uri="{FF2B5EF4-FFF2-40B4-BE49-F238E27FC236}">
                <a16:creationId xmlns:a16="http://schemas.microsoft.com/office/drawing/2014/main" id="{E93093F9-82AE-B476-A04A-D71270D5C1C2}"/>
              </a:ext>
            </a:extLst>
          </p:cNvPr>
          <p:cNvSpPr txBox="1"/>
          <p:nvPr/>
        </p:nvSpPr>
        <p:spPr>
          <a:xfrm>
            <a:off x="605274" y="4293291"/>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Z1</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795B1E56-3790-C91A-DCF9-3A8BCBAE598A}"/>
                  </a:ext>
                </a:extLst>
              </p:cNvPr>
              <p:cNvSpPr txBox="1"/>
              <p:nvPr/>
            </p:nvSpPr>
            <p:spPr>
              <a:xfrm>
                <a:off x="3570904" y="3651226"/>
                <a:ext cx="460318" cy="649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0" i="1" smtClean="0">
                                    <a:solidFill>
                                      <a:schemeClr val="tx2"/>
                                    </a:solidFill>
                                    <a:latin typeface="Cambria Math" panose="02040503050406030204" pitchFamily="18" charset="0"/>
                                    <a:cs typeface="Times New Roman" panose="02020603050405020304" pitchFamily="18" charset="0"/>
                                  </a:rPr>
                                  <m:t>0</m:t>
                                </m:r>
                              </m:e>
                            </m:mr>
                            <m:mr>
                              <m:e>
                                <m:r>
                                  <a:rPr lang="es-MX" sz="1600" b="1" i="1" smtClean="0">
                                    <a:solidFill>
                                      <a:schemeClr val="tx2"/>
                                    </a:solidFill>
                                    <a:latin typeface="Cambria Math" panose="02040503050406030204" pitchFamily="18" charset="0"/>
                                  </a:rPr>
                                  <m:t>𝟎</m:t>
                                </m:r>
                              </m:e>
                            </m:mr>
                            <m:mr>
                              <m:e>
                                <m:r>
                                  <a:rPr lang="es-MX" sz="1600" b="1" i="1" smtClean="0">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𝟏</m:t>
                                </m:r>
                              </m:e>
                            </m:mr>
                          </m:m>
                        </m:e>
                      </m:d>
                    </m:oMath>
                  </m:oMathPara>
                </a14:m>
                <a:endParaRPr lang="es-MX" sz="1600" dirty="0"/>
              </a:p>
            </p:txBody>
          </p:sp>
        </mc:Choice>
        <mc:Fallback>
          <p:sp>
            <p:nvSpPr>
              <p:cNvPr id="45" name="CuadroTexto 44">
                <a:extLst>
                  <a:ext uri="{FF2B5EF4-FFF2-40B4-BE49-F238E27FC236}">
                    <a16:creationId xmlns:a16="http://schemas.microsoft.com/office/drawing/2014/main" id="{795B1E56-3790-C91A-DCF9-3A8BCBAE598A}"/>
                  </a:ext>
                </a:extLst>
              </p:cNvPr>
              <p:cNvSpPr txBox="1">
                <a:spLocks noRot="1" noChangeAspect="1" noMove="1" noResize="1" noEditPoints="1" noAdjustHandles="1" noChangeArrowheads="1" noChangeShapeType="1" noTextEdit="1"/>
              </p:cNvSpPr>
              <p:nvPr/>
            </p:nvSpPr>
            <p:spPr>
              <a:xfrm>
                <a:off x="3570904" y="3651226"/>
                <a:ext cx="460318" cy="649601"/>
              </a:xfrm>
              <a:prstGeom prst="rect">
                <a:avLst/>
              </a:prstGeom>
              <a:blipFill>
                <a:blip r:embed="rId6"/>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EB387289-7D6F-AA87-F84A-23DBB85B9578}"/>
              </a:ext>
            </a:extLst>
          </p:cNvPr>
          <p:cNvSpPr txBox="1"/>
          <p:nvPr/>
        </p:nvSpPr>
        <p:spPr>
          <a:xfrm>
            <a:off x="3052551" y="4493397"/>
            <a:ext cx="1719167" cy="523220"/>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A1 a A2</a:t>
            </a:r>
            <a:endParaRPr lang="es-ES" sz="1400" b="1" dirty="0">
              <a:solidFill>
                <a:schemeClr val="tx2"/>
              </a:solidFill>
              <a:latin typeface="Fira Sans Condensed Light" panose="020B0604020202020204" charset="0"/>
              <a:cs typeface="Times New Roman" panose="02020603050405020304" pitchFamily="18" charset="0"/>
            </a:endParaRPr>
          </a:p>
        </p:txBody>
      </p:sp>
      <p:sp>
        <p:nvSpPr>
          <p:cNvPr id="49" name="Google Shape;1603;p42">
            <a:extLst>
              <a:ext uri="{FF2B5EF4-FFF2-40B4-BE49-F238E27FC236}">
                <a16:creationId xmlns:a16="http://schemas.microsoft.com/office/drawing/2014/main" id="{49E5C186-6A25-51D2-49F6-3C0584235291}"/>
              </a:ext>
            </a:extLst>
          </p:cNvPr>
          <p:cNvSpPr txBox="1"/>
          <p:nvPr/>
        </p:nvSpPr>
        <p:spPr>
          <a:xfrm>
            <a:off x="7600852" y="1710611"/>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spTree>
    <p:extLst>
      <p:ext uri="{BB962C8B-B14F-4D97-AF65-F5344CB8AC3E}">
        <p14:creationId xmlns:p14="http://schemas.microsoft.com/office/powerpoint/2010/main" val="404890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9"/>
                                        </p:tgtEl>
                                        <p:attrNameLst>
                                          <p:attrName>style.visibility</p:attrName>
                                        </p:attrNameLst>
                                      </p:cBhvr>
                                      <p:to>
                                        <p:strVal val="visible"/>
                                      </p:to>
                                    </p:set>
                                    <p:anim calcmode="lin" valueType="num">
                                      <p:cBhvr additive="base">
                                        <p:cTn id="49" dur="500" fill="hold"/>
                                        <p:tgtEl>
                                          <p:spTgt spid="49"/>
                                        </p:tgtEl>
                                        <p:attrNameLst>
                                          <p:attrName>ppt_x</p:attrName>
                                        </p:attrNameLst>
                                      </p:cBhvr>
                                      <p:tavLst>
                                        <p:tav tm="0">
                                          <p:val>
                                            <p:strVal val="#ppt_x"/>
                                          </p:val>
                                        </p:tav>
                                        <p:tav tm="100000">
                                          <p:val>
                                            <p:strVal val="#ppt_x"/>
                                          </p:val>
                                        </p:tav>
                                      </p:tavLst>
                                    </p:anim>
                                    <p:anim calcmode="lin" valueType="num">
                                      <p:cBhvr additive="base">
                                        <p:cTn id="5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0" grpId="0"/>
      <p:bldP spid="19" grpId="0"/>
      <p:bldP spid="20" grpId="0"/>
      <p:bldP spid="44"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7F02D90C-6EFE-A46D-73B5-6C9CB84411BB}"/>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AC702F59-0392-BA1E-801B-A58DD0795F5B}"/>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0" name="Google Shape;1603;p42">
            <a:extLst>
              <a:ext uri="{FF2B5EF4-FFF2-40B4-BE49-F238E27FC236}">
                <a16:creationId xmlns:a16="http://schemas.microsoft.com/office/drawing/2014/main" id="{8DCC198E-DD39-C220-A758-9DD786754C48}"/>
              </a:ext>
            </a:extLst>
          </p:cNvPr>
          <p:cNvSpPr txBox="1"/>
          <p:nvPr/>
        </p:nvSpPr>
        <p:spPr>
          <a:xfrm>
            <a:off x="375501" y="1181713"/>
            <a:ext cx="439621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A2</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A3</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“Rotación de -90° alrededor de x2”</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L2(t) sobre el eje Z2”</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79D92D14-960B-F6EC-067F-595F9FF3B8BF}"/>
                  </a:ext>
                </a:extLst>
              </p:cNvPr>
              <p:cNvSpPr txBox="1"/>
              <p:nvPr/>
            </p:nvSpPr>
            <p:spPr>
              <a:xfrm>
                <a:off x="3570904" y="3651226"/>
                <a:ext cx="716799" cy="69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0" i="1" smtClean="0">
                                    <a:solidFill>
                                      <a:schemeClr val="tx2"/>
                                    </a:solidFill>
                                    <a:latin typeface="Cambria Math" panose="02040503050406030204" pitchFamily="18" charset="0"/>
                                    <a:cs typeface="Times New Roman" panose="02020603050405020304" pitchFamily="18" charset="0"/>
                                  </a:rPr>
                                  <m:t>0</m:t>
                                </m:r>
                              </m:e>
                            </m:mr>
                            <m:mr>
                              <m:e>
                                <m:r>
                                  <a:rPr lang="es-MX" sz="1600" b="1" i="1" smtClean="0">
                                    <a:solidFill>
                                      <a:schemeClr val="tx2"/>
                                    </a:solidFill>
                                    <a:latin typeface="Cambria Math" panose="02040503050406030204" pitchFamily="18" charset="0"/>
                                  </a:rPr>
                                  <m:t>𝟎</m:t>
                                </m:r>
                              </m:e>
                            </m:mr>
                            <m:mr>
                              <m:e>
                                <m:r>
                                  <a:rPr lang="es-MX" sz="1600" b="1" i="1" smtClean="0">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𝟐</m:t>
                                </m:r>
                                <m:r>
                                  <a:rPr lang="es-MX" sz="1600" b="1" i="1" smtClean="0">
                                    <a:solidFill>
                                      <a:schemeClr val="tx2"/>
                                    </a:solidFill>
                                    <a:latin typeface="Cambria Math" panose="02040503050406030204" pitchFamily="18" charset="0"/>
                                    <a:cs typeface="Times New Roman" panose="02020603050405020304" pitchFamily="18" charset="0"/>
                                  </a:rPr>
                                  <m:t>(</m:t>
                                </m:r>
                                <m:r>
                                  <a:rPr lang="es-MX" sz="1600" b="1" i="1" smtClean="0">
                                    <a:solidFill>
                                      <a:schemeClr val="tx2"/>
                                    </a:solidFill>
                                    <a:latin typeface="Cambria Math" panose="02040503050406030204" pitchFamily="18" charset="0"/>
                                    <a:cs typeface="Times New Roman" panose="02020603050405020304" pitchFamily="18" charset="0"/>
                                  </a:rPr>
                                  <m:t>𝒕</m:t>
                                </m:r>
                                <m:r>
                                  <a:rPr lang="es-MX" sz="1600" b="1" i="1" smtClean="0">
                                    <a:solidFill>
                                      <a:schemeClr val="tx2"/>
                                    </a:solidFill>
                                    <a:latin typeface="Cambria Math" panose="02040503050406030204" pitchFamily="18" charset="0"/>
                                    <a:cs typeface="Times New Roman" panose="02020603050405020304" pitchFamily="18" charset="0"/>
                                  </a:rPr>
                                  <m:t>)</m:t>
                                </m:r>
                              </m:e>
                            </m:mr>
                          </m:m>
                        </m:e>
                      </m:d>
                    </m:oMath>
                  </m:oMathPara>
                </a14:m>
                <a:endParaRPr lang="es-MX" sz="1600" dirty="0"/>
              </a:p>
            </p:txBody>
          </p:sp>
        </mc:Choice>
        <mc:Fallback>
          <p:sp>
            <p:nvSpPr>
              <p:cNvPr id="45" name="CuadroTexto 44">
                <a:extLst>
                  <a:ext uri="{FF2B5EF4-FFF2-40B4-BE49-F238E27FC236}">
                    <a16:creationId xmlns:a16="http://schemas.microsoft.com/office/drawing/2014/main" id="{79D92D14-960B-F6EC-067F-595F9FF3B8BF}"/>
                  </a:ext>
                </a:extLst>
              </p:cNvPr>
              <p:cNvSpPr txBox="1">
                <a:spLocks noRot="1" noChangeAspect="1" noMove="1" noResize="1" noEditPoints="1" noAdjustHandles="1" noChangeArrowheads="1" noChangeShapeType="1" noTextEdit="1"/>
              </p:cNvSpPr>
              <p:nvPr/>
            </p:nvSpPr>
            <p:spPr>
              <a:xfrm>
                <a:off x="3570904" y="3651226"/>
                <a:ext cx="716799" cy="694870"/>
              </a:xfrm>
              <a:prstGeom prst="rect">
                <a:avLst/>
              </a:prstGeom>
              <a:blipFill>
                <a:blip r:embed="rId4"/>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E5FEBA2F-EBC1-8369-9C9D-D578D9DE6C9D}"/>
              </a:ext>
            </a:extLst>
          </p:cNvPr>
          <p:cNvSpPr txBox="1"/>
          <p:nvPr/>
        </p:nvSpPr>
        <p:spPr>
          <a:xfrm>
            <a:off x="3262709" y="4427418"/>
            <a:ext cx="1719167" cy="523220"/>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A2 a A3</a:t>
            </a:r>
            <a:endParaRPr lang="es-ES" sz="14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A127C91C-97F4-86B5-2469-84AAC599CD29}"/>
                  </a:ext>
                </a:extLst>
              </p:cNvPr>
              <p:cNvSpPr txBox="1"/>
              <p:nvPr/>
            </p:nvSpPr>
            <p:spPr>
              <a:xfrm>
                <a:off x="440593" y="3599367"/>
                <a:ext cx="2641556"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brk m:alnAt="7"/>
                                  </m:rP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m:t>
                                </m:r>
                                <m:r>
                                  <a:rPr lang="es-MX" sz="1600" i="1">
                                    <a:solidFill>
                                      <a:schemeClr val="tx2"/>
                                    </a:solidFill>
                                    <a:latin typeface="Cambria Math" panose="02040503050406030204" pitchFamily="18" charset="0"/>
                                  </a:rPr>
                                  <m:t>𝑠𝑒𝑛</m:t>
                                </m:r>
                                <m:r>
                                  <a:rPr lang="es-MX" sz="1600" i="1">
                                    <a:solidFill>
                                      <a:schemeClr val="tx2"/>
                                    </a:solidFill>
                                    <a:latin typeface="Cambria Math" panose="02040503050406030204" pitchFamily="18" charset="0"/>
                                  </a:rPr>
                                  <m:t>(−90)</m:t>
                                </m:r>
                              </m:e>
                            </m:mr>
                            <m:mr>
                              <m:e>
                                <m:r>
                                  <a:rPr lang="es-MX" sz="1600" b="0" i="1" smtClean="0">
                                    <a:solidFill>
                                      <a:schemeClr val="tx2"/>
                                    </a:solidFill>
                                    <a:latin typeface="Cambria Math" panose="02040503050406030204" pitchFamily="18" charset="0"/>
                                  </a:rPr>
                                  <m:t>0</m:t>
                                </m:r>
                              </m:e>
                              <m:e>
                                <m:r>
                                  <a:rPr lang="es-MX" sz="1600" i="1">
                                    <a:solidFill>
                                      <a:schemeClr val="tx2"/>
                                    </a:solidFill>
                                    <a:latin typeface="Cambria Math" panose="02040503050406030204" pitchFamily="18" charset="0"/>
                                  </a:rPr>
                                  <m:t>𝑠𝑒𝑛</m:t>
                                </m:r>
                                <m:r>
                                  <a:rPr lang="es-MX" sz="1600" i="1">
                                    <a:solidFill>
                                      <a:schemeClr val="tx2"/>
                                    </a:solidFill>
                                    <a:latin typeface="Cambria Math" panose="02040503050406030204" pitchFamily="18" charset="0"/>
                                  </a:rPr>
                                  <m:t>(−90)</m:t>
                                </m:r>
                              </m:e>
                              <m:e>
                                <m:r>
                                  <m:rPr>
                                    <m:sty m:val="p"/>
                                  </m:rPr>
                                  <a:rPr lang="es-MX" sz="1600">
                                    <a:solidFill>
                                      <a:schemeClr val="tx2"/>
                                    </a:solidFill>
                                    <a:latin typeface="Cambria Math" panose="02040503050406030204" pitchFamily="18" charset="0"/>
                                  </a:rPr>
                                  <m:t>cos</m:t>
                                </m:r>
                                <m:r>
                                  <a:rPr lang="es-MX" sz="1600">
                                    <a:solidFill>
                                      <a:schemeClr val="tx2"/>
                                    </a:solidFill>
                                    <a:latin typeface="Cambria Math" panose="02040503050406030204" pitchFamily="18" charset="0"/>
                                  </a:rPr>
                                  <m:t>(−90)</m:t>
                                </m:r>
                              </m:e>
                            </m:mr>
                          </m:m>
                        </m:e>
                      </m:d>
                    </m:oMath>
                  </m:oMathPara>
                </a14:m>
                <a:endParaRPr lang="es-MX" sz="1600" dirty="0"/>
              </a:p>
            </p:txBody>
          </p:sp>
        </mc:Choice>
        <mc:Fallback>
          <p:sp>
            <p:nvSpPr>
              <p:cNvPr id="28" name="CuadroTexto 27">
                <a:extLst>
                  <a:ext uri="{FF2B5EF4-FFF2-40B4-BE49-F238E27FC236}">
                    <a16:creationId xmlns:a16="http://schemas.microsoft.com/office/drawing/2014/main" id="{A127C91C-97F4-86B5-2469-84AAC599CD29}"/>
                  </a:ext>
                </a:extLst>
              </p:cNvPr>
              <p:cNvSpPr txBox="1">
                <a:spLocks noRot="1" noChangeAspect="1" noMove="1" noResize="1" noEditPoints="1" noAdjustHandles="1" noChangeArrowheads="1" noChangeShapeType="1" noTextEdit="1"/>
              </p:cNvSpPr>
              <p:nvPr/>
            </p:nvSpPr>
            <p:spPr>
              <a:xfrm>
                <a:off x="440593" y="3599367"/>
                <a:ext cx="2641556" cy="782587"/>
              </a:xfrm>
              <a:prstGeom prst="rect">
                <a:avLst/>
              </a:prstGeom>
              <a:blipFill>
                <a:blip r:embed="rId5"/>
                <a:stretch>
                  <a:fillRect/>
                </a:stretch>
              </a:blipFill>
            </p:spPr>
            <p:txBody>
              <a:bodyPr/>
              <a:lstStyle/>
              <a:p>
                <a:r>
                  <a:rPr lang="es-MX">
                    <a:noFill/>
                  </a:rPr>
                  <a:t> </a:t>
                </a:r>
              </a:p>
            </p:txBody>
          </p:sp>
        </mc:Fallback>
      </mc:AlternateContent>
      <p:sp>
        <p:nvSpPr>
          <p:cNvPr id="29" name="Google Shape;1603;p42">
            <a:extLst>
              <a:ext uri="{FF2B5EF4-FFF2-40B4-BE49-F238E27FC236}">
                <a16:creationId xmlns:a16="http://schemas.microsoft.com/office/drawing/2014/main" id="{02163E00-E1C3-29FD-7D4B-3E9D53168A44}"/>
              </a:ext>
            </a:extLst>
          </p:cNvPr>
          <p:cNvSpPr txBox="1"/>
          <p:nvPr/>
        </p:nvSpPr>
        <p:spPr>
          <a:xfrm>
            <a:off x="743796" y="4252438"/>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X2 Evaluada en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-90</a:t>
            </a:r>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2" name="Google Shape;699;p36">
            <a:extLst>
              <a:ext uri="{FF2B5EF4-FFF2-40B4-BE49-F238E27FC236}">
                <a16:creationId xmlns:a16="http://schemas.microsoft.com/office/drawing/2014/main" id="{C1BF3247-1D1B-A9B1-9D64-475047E151C4}"/>
              </a:ext>
            </a:extLst>
          </p:cNvPr>
          <p:cNvSpPr txBox="1">
            <a:spLocks/>
          </p:cNvSpPr>
          <p:nvPr/>
        </p:nvSpPr>
        <p:spPr>
          <a:xfrm>
            <a:off x="477885" y="259159"/>
            <a:ext cx="4293834"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cilíndrico 3GDL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3" name="Google Shape;258;p31">
            <a:extLst>
              <a:ext uri="{FF2B5EF4-FFF2-40B4-BE49-F238E27FC236}">
                <a16:creationId xmlns:a16="http://schemas.microsoft.com/office/drawing/2014/main" id="{696CADF2-4FAA-867A-8043-AF8C1657E299}"/>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p:pic>
        <p:nvPicPr>
          <p:cNvPr id="135" name="Picture 4" descr="1.4.- Grados de Libertad – Inteligencia Artificial">
            <a:extLst>
              <a:ext uri="{FF2B5EF4-FFF2-40B4-BE49-F238E27FC236}">
                <a16:creationId xmlns:a16="http://schemas.microsoft.com/office/drawing/2014/main" id="{F0340B05-04BA-6AB9-0216-C84E2495BB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3470" y="1907099"/>
            <a:ext cx="1753066" cy="2672505"/>
          </a:xfrm>
          <a:prstGeom prst="rect">
            <a:avLst/>
          </a:prstGeom>
          <a:solidFill>
            <a:srgbClr val="FFFF00"/>
          </a:solidFill>
          <a:ln w="53975">
            <a:solidFill>
              <a:srgbClr val="002060"/>
            </a:solidFill>
          </a:ln>
        </p:spPr>
      </p:pic>
      <p:sp>
        <p:nvSpPr>
          <p:cNvPr id="136" name="Google Shape;1603;p42">
            <a:extLst>
              <a:ext uri="{FF2B5EF4-FFF2-40B4-BE49-F238E27FC236}">
                <a16:creationId xmlns:a16="http://schemas.microsoft.com/office/drawing/2014/main" id="{CD339E1D-1AEF-3C28-99C2-0D9FB4E5C663}"/>
              </a:ext>
            </a:extLst>
          </p:cNvPr>
          <p:cNvSpPr txBox="1"/>
          <p:nvPr/>
        </p:nvSpPr>
        <p:spPr>
          <a:xfrm>
            <a:off x="5475490" y="3523421"/>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37" name="Google Shape;1603;p42">
            <a:extLst>
              <a:ext uri="{FF2B5EF4-FFF2-40B4-BE49-F238E27FC236}">
                <a16:creationId xmlns:a16="http://schemas.microsoft.com/office/drawing/2014/main" id="{D0C0D5AA-05C0-85FE-8B5F-BDAA8736BB20}"/>
              </a:ext>
            </a:extLst>
          </p:cNvPr>
          <p:cNvSpPr txBox="1"/>
          <p:nvPr/>
        </p:nvSpPr>
        <p:spPr>
          <a:xfrm>
            <a:off x="5300668" y="2617610"/>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cxnSp>
        <p:nvCxnSpPr>
          <p:cNvPr id="138" name="Conector recto de flecha 137">
            <a:extLst>
              <a:ext uri="{FF2B5EF4-FFF2-40B4-BE49-F238E27FC236}">
                <a16:creationId xmlns:a16="http://schemas.microsoft.com/office/drawing/2014/main" id="{E58F18A7-F957-D97D-F46A-2200F67368AC}"/>
              </a:ext>
            </a:extLst>
          </p:cNvPr>
          <p:cNvCxnSpPr>
            <a:cxnSpLocks/>
          </p:cNvCxnSpPr>
          <p:nvPr/>
        </p:nvCxnSpPr>
        <p:spPr>
          <a:xfrm>
            <a:off x="6068872" y="3783350"/>
            <a:ext cx="371537" cy="34363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39" name="Conector recto de flecha 138">
            <a:extLst>
              <a:ext uri="{FF2B5EF4-FFF2-40B4-BE49-F238E27FC236}">
                <a16:creationId xmlns:a16="http://schemas.microsoft.com/office/drawing/2014/main" id="{A85EAE0C-3A6D-C888-CD8F-7B275D9ACEFB}"/>
              </a:ext>
            </a:extLst>
          </p:cNvPr>
          <p:cNvCxnSpPr>
            <a:cxnSpLocks/>
          </p:cNvCxnSpPr>
          <p:nvPr/>
        </p:nvCxnSpPr>
        <p:spPr>
          <a:xfrm flipV="1">
            <a:off x="6072352" y="3555942"/>
            <a:ext cx="451171" cy="24925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40" name="Conector recto de flecha 139">
            <a:extLst>
              <a:ext uri="{FF2B5EF4-FFF2-40B4-BE49-F238E27FC236}">
                <a16:creationId xmlns:a16="http://schemas.microsoft.com/office/drawing/2014/main" id="{1CF487C2-F4FE-65AC-5955-B6272CB80CEC}"/>
              </a:ext>
            </a:extLst>
          </p:cNvPr>
          <p:cNvCxnSpPr>
            <a:cxnSpLocks/>
          </p:cNvCxnSpPr>
          <p:nvPr/>
        </p:nvCxnSpPr>
        <p:spPr>
          <a:xfrm flipV="1">
            <a:off x="6068872" y="3362245"/>
            <a:ext cx="16874" cy="4363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41" name="CuadroTexto 140">
            <a:extLst>
              <a:ext uri="{FF2B5EF4-FFF2-40B4-BE49-F238E27FC236}">
                <a16:creationId xmlns:a16="http://schemas.microsoft.com/office/drawing/2014/main" id="{FDC342FE-3F1C-F7FA-5A45-D8401CFB4BAA}"/>
              </a:ext>
            </a:extLst>
          </p:cNvPr>
          <p:cNvSpPr txBox="1"/>
          <p:nvPr/>
        </p:nvSpPr>
        <p:spPr>
          <a:xfrm>
            <a:off x="6377954" y="4179725"/>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142" name="CuadroTexto 141">
            <a:extLst>
              <a:ext uri="{FF2B5EF4-FFF2-40B4-BE49-F238E27FC236}">
                <a16:creationId xmlns:a16="http://schemas.microsoft.com/office/drawing/2014/main" id="{61DEEF56-F8F1-F2A5-2055-3324FA5868F3}"/>
              </a:ext>
            </a:extLst>
          </p:cNvPr>
          <p:cNvSpPr txBox="1"/>
          <p:nvPr/>
        </p:nvSpPr>
        <p:spPr>
          <a:xfrm>
            <a:off x="6519196" y="3362245"/>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143" name="CuadroTexto 142">
            <a:extLst>
              <a:ext uri="{FF2B5EF4-FFF2-40B4-BE49-F238E27FC236}">
                <a16:creationId xmlns:a16="http://schemas.microsoft.com/office/drawing/2014/main" id="{681AEC8D-9A72-71B4-0F0E-38FC67490B7C}"/>
              </a:ext>
            </a:extLst>
          </p:cNvPr>
          <p:cNvSpPr txBox="1"/>
          <p:nvPr/>
        </p:nvSpPr>
        <p:spPr>
          <a:xfrm>
            <a:off x="5950896" y="2976428"/>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144" name="Conector recto 143">
            <a:extLst>
              <a:ext uri="{FF2B5EF4-FFF2-40B4-BE49-F238E27FC236}">
                <a16:creationId xmlns:a16="http://schemas.microsoft.com/office/drawing/2014/main" id="{BA914062-7EA8-0E60-36F0-0F1B31744FF9}"/>
              </a:ext>
            </a:extLst>
          </p:cNvPr>
          <p:cNvCxnSpPr>
            <a:cxnSpLocks/>
          </p:cNvCxnSpPr>
          <p:nvPr/>
        </p:nvCxnSpPr>
        <p:spPr>
          <a:xfrm>
            <a:off x="6068872" y="3780488"/>
            <a:ext cx="0" cy="148364"/>
          </a:xfrm>
          <a:prstGeom prst="line">
            <a:avLst/>
          </a:prstGeom>
          <a:ln w="53975">
            <a:solidFill>
              <a:srgbClr val="002060"/>
            </a:solidFill>
          </a:ln>
        </p:spPr>
        <p:style>
          <a:lnRef idx="1">
            <a:schemeClr val="accent1"/>
          </a:lnRef>
          <a:fillRef idx="0">
            <a:schemeClr val="accent1"/>
          </a:fillRef>
          <a:effectRef idx="0">
            <a:schemeClr val="accent1"/>
          </a:effectRef>
          <a:fontRef idx="minor">
            <a:schemeClr val="tx1"/>
          </a:fontRef>
        </p:style>
      </p:cxnSp>
      <p:sp>
        <p:nvSpPr>
          <p:cNvPr id="145" name="CuadroTexto 144">
            <a:extLst>
              <a:ext uri="{FF2B5EF4-FFF2-40B4-BE49-F238E27FC236}">
                <a16:creationId xmlns:a16="http://schemas.microsoft.com/office/drawing/2014/main" id="{805596FC-B9D6-3308-AC9D-E420650B9D10}"/>
              </a:ext>
            </a:extLst>
          </p:cNvPr>
          <p:cNvSpPr txBox="1"/>
          <p:nvPr/>
        </p:nvSpPr>
        <p:spPr>
          <a:xfrm>
            <a:off x="5788920" y="3762124"/>
            <a:ext cx="354663"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pic>
        <p:nvPicPr>
          <p:cNvPr id="146" name="Picture 4" descr="1.4.- Grados de Libertad – Inteligencia Artificial">
            <a:extLst>
              <a:ext uri="{FF2B5EF4-FFF2-40B4-BE49-F238E27FC236}">
                <a16:creationId xmlns:a16="http://schemas.microsoft.com/office/drawing/2014/main" id="{686AEF3D-457F-22C6-C1B0-E40CCB0AEA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4368" y="1916779"/>
            <a:ext cx="1753066" cy="2672505"/>
          </a:xfrm>
          <a:prstGeom prst="rect">
            <a:avLst/>
          </a:prstGeom>
          <a:solidFill>
            <a:srgbClr val="FFFF00"/>
          </a:solidFill>
          <a:ln w="53975">
            <a:solidFill>
              <a:srgbClr val="FF0000"/>
            </a:solidFill>
          </a:ln>
        </p:spPr>
      </p:pic>
      <p:sp>
        <p:nvSpPr>
          <p:cNvPr id="147" name="Google Shape;1603;p42">
            <a:extLst>
              <a:ext uri="{FF2B5EF4-FFF2-40B4-BE49-F238E27FC236}">
                <a16:creationId xmlns:a16="http://schemas.microsoft.com/office/drawing/2014/main" id="{0C1E8A8A-2042-833C-CA78-D3EC6D8C0792}"/>
              </a:ext>
            </a:extLst>
          </p:cNvPr>
          <p:cNvSpPr txBox="1"/>
          <p:nvPr/>
        </p:nvSpPr>
        <p:spPr>
          <a:xfrm>
            <a:off x="7485158" y="3523421"/>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48" name="Google Shape;1603;p42">
            <a:extLst>
              <a:ext uri="{FF2B5EF4-FFF2-40B4-BE49-F238E27FC236}">
                <a16:creationId xmlns:a16="http://schemas.microsoft.com/office/drawing/2014/main" id="{EAB98FB3-199D-2E06-4657-DBC374E9669D}"/>
              </a:ext>
            </a:extLst>
          </p:cNvPr>
          <p:cNvSpPr txBox="1"/>
          <p:nvPr/>
        </p:nvSpPr>
        <p:spPr>
          <a:xfrm>
            <a:off x="7310336" y="2617610"/>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sp>
        <p:nvSpPr>
          <p:cNvPr id="149" name="Google Shape;1603;p42">
            <a:extLst>
              <a:ext uri="{FF2B5EF4-FFF2-40B4-BE49-F238E27FC236}">
                <a16:creationId xmlns:a16="http://schemas.microsoft.com/office/drawing/2014/main" id="{1FCC123D-95F6-736D-5D79-4595BAFFE33C}"/>
              </a:ext>
            </a:extLst>
          </p:cNvPr>
          <p:cNvSpPr txBox="1"/>
          <p:nvPr/>
        </p:nvSpPr>
        <p:spPr>
          <a:xfrm>
            <a:off x="7587541" y="1759125"/>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sp>
        <p:nvSpPr>
          <p:cNvPr id="150" name="Google Shape;1603;p42">
            <a:extLst>
              <a:ext uri="{FF2B5EF4-FFF2-40B4-BE49-F238E27FC236}">
                <a16:creationId xmlns:a16="http://schemas.microsoft.com/office/drawing/2014/main" id="{3B201CFA-2271-00E1-F048-D91B943ACE7D}"/>
              </a:ext>
            </a:extLst>
          </p:cNvPr>
          <p:cNvSpPr txBox="1"/>
          <p:nvPr/>
        </p:nvSpPr>
        <p:spPr>
          <a:xfrm>
            <a:off x="5578110" y="1746697"/>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cxnSp>
        <p:nvCxnSpPr>
          <p:cNvPr id="153" name="Conector recto de flecha 152">
            <a:extLst>
              <a:ext uri="{FF2B5EF4-FFF2-40B4-BE49-F238E27FC236}">
                <a16:creationId xmlns:a16="http://schemas.microsoft.com/office/drawing/2014/main" id="{0B8999C5-DE31-FBA0-C1A3-6B8517F8B758}"/>
              </a:ext>
            </a:extLst>
          </p:cNvPr>
          <p:cNvCxnSpPr>
            <a:cxnSpLocks/>
          </p:cNvCxnSpPr>
          <p:nvPr/>
        </p:nvCxnSpPr>
        <p:spPr>
          <a:xfrm>
            <a:off x="7718883" y="2941994"/>
            <a:ext cx="371537" cy="34363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54" name="Conector recto de flecha 153">
            <a:extLst>
              <a:ext uri="{FF2B5EF4-FFF2-40B4-BE49-F238E27FC236}">
                <a16:creationId xmlns:a16="http://schemas.microsoft.com/office/drawing/2014/main" id="{5AC12629-6C91-BB12-375E-514162C0C867}"/>
              </a:ext>
            </a:extLst>
          </p:cNvPr>
          <p:cNvCxnSpPr>
            <a:cxnSpLocks/>
          </p:cNvCxnSpPr>
          <p:nvPr/>
        </p:nvCxnSpPr>
        <p:spPr>
          <a:xfrm flipV="1">
            <a:off x="7722363" y="2798338"/>
            <a:ext cx="480806" cy="14355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55" name="Conector recto de flecha 154">
            <a:extLst>
              <a:ext uri="{FF2B5EF4-FFF2-40B4-BE49-F238E27FC236}">
                <a16:creationId xmlns:a16="http://schemas.microsoft.com/office/drawing/2014/main" id="{B06C5F78-7096-E4AD-4136-03128137808B}"/>
              </a:ext>
            </a:extLst>
          </p:cNvPr>
          <p:cNvCxnSpPr>
            <a:cxnSpLocks/>
          </p:cNvCxnSpPr>
          <p:nvPr/>
        </p:nvCxnSpPr>
        <p:spPr>
          <a:xfrm>
            <a:off x="7718883" y="2935260"/>
            <a:ext cx="0" cy="469756"/>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56" name="CuadroTexto 155">
            <a:extLst>
              <a:ext uri="{FF2B5EF4-FFF2-40B4-BE49-F238E27FC236}">
                <a16:creationId xmlns:a16="http://schemas.microsoft.com/office/drawing/2014/main" id="{CBE34AAC-1CAB-5DAE-D2C6-1C26580EAF00}"/>
              </a:ext>
            </a:extLst>
          </p:cNvPr>
          <p:cNvSpPr txBox="1"/>
          <p:nvPr/>
        </p:nvSpPr>
        <p:spPr>
          <a:xfrm>
            <a:off x="8035278" y="330223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157" name="CuadroTexto 156">
            <a:extLst>
              <a:ext uri="{FF2B5EF4-FFF2-40B4-BE49-F238E27FC236}">
                <a16:creationId xmlns:a16="http://schemas.microsoft.com/office/drawing/2014/main" id="{20965D86-79F9-A7EC-9206-0B77D744687C}"/>
              </a:ext>
            </a:extLst>
          </p:cNvPr>
          <p:cNvSpPr txBox="1"/>
          <p:nvPr/>
        </p:nvSpPr>
        <p:spPr>
          <a:xfrm>
            <a:off x="8153512" y="2490561"/>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sp>
        <p:nvSpPr>
          <p:cNvPr id="158" name="CuadroTexto 157">
            <a:extLst>
              <a:ext uri="{FF2B5EF4-FFF2-40B4-BE49-F238E27FC236}">
                <a16:creationId xmlns:a16="http://schemas.microsoft.com/office/drawing/2014/main" id="{CC06F5AE-D9A5-FA8F-4C21-1BDB4286885F}"/>
              </a:ext>
            </a:extLst>
          </p:cNvPr>
          <p:cNvSpPr txBox="1"/>
          <p:nvPr/>
        </p:nvSpPr>
        <p:spPr>
          <a:xfrm>
            <a:off x="7520598" y="3411750"/>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159" name="CuadroTexto 158">
            <a:extLst>
              <a:ext uri="{FF2B5EF4-FFF2-40B4-BE49-F238E27FC236}">
                <a16:creationId xmlns:a16="http://schemas.microsoft.com/office/drawing/2014/main" id="{2FA00997-9242-D4A9-04E1-776F98129171}"/>
              </a:ext>
            </a:extLst>
          </p:cNvPr>
          <p:cNvSpPr txBox="1"/>
          <p:nvPr/>
        </p:nvSpPr>
        <p:spPr>
          <a:xfrm>
            <a:off x="7406478" y="2190123"/>
            <a:ext cx="513162"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L2(t)</a:t>
            </a:r>
            <a:endParaRPr lang="es-MX" dirty="0">
              <a:solidFill>
                <a:schemeClr val="tx1"/>
              </a:solidFill>
            </a:endParaRPr>
          </a:p>
        </p:txBody>
      </p:sp>
    </p:spTree>
    <p:extLst>
      <p:ext uri="{BB962C8B-B14F-4D97-AF65-F5344CB8AC3E}">
        <p14:creationId xmlns:p14="http://schemas.microsoft.com/office/powerpoint/2010/main" val="544829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6"/>
                                        </p:tgtEl>
                                        <p:attrNameLst>
                                          <p:attrName>style.visibility</p:attrName>
                                        </p:attrNameLst>
                                      </p:cBhvr>
                                      <p:to>
                                        <p:strVal val="visible"/>
                                      </p:to>
                                    </p:set>
                                    <p:anim calcmode="lin" valueType="num">
                                      <p:cBhvr additive="base">
                                        <p:cTn id="19" dur="500" fill="hold"/>
                                        <p:tgtEl>
                                          <p:spTgt spid="136"/>
                                        </p:tgtEl>
                                        <p:attrNameLst>
                                          <p:attrName>ppt_x</p:attrName>
                                        </p:attrNameLst>
                                      </p:cBhvr>
                                      <p:tavLst>
                                        <p:tav tm="0">
                                          <p:val>
                                            <p:strVal val="#ppt_x"/>
                                          </p:val>
                                        </p:tav>
                                        <p:tav tm="100000">
                                          <p:val>
                                            <p:strVal val="#ppt_x"/>
                                          </p:val>
                                        </p:tav>
                                      </p:tavLst>
                                    </p:anim>
                                    <p:anim calcmode="lin" valueType="num">
                                      <p:cBhvr additive="base">
                                        <p:cTn id="20" dur="500" fill="hold"/>
                                        <p:tgtEl>
                                          <p:spTgt spid="13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
                                        </p:tgtEl>
                                        <p:attrNameLst>
                                          <p:attrName>style.visibility</p:attrName>
                                        </p:attrNameLst>
                                      </p:cBhvr>
                                      <p:to>
                                        <p:strVal val="visible"/>
                                      </p:to>
                                    </p:set>
                                    <p:anim calcmode="lin" valueType="num">
                                      <p:cBhvr additive="base">
                                        <p:cTn id="25" dur="500" fill="hold"/>
                                        <p:tgtEl>
                                          <p:spTgt spid="137"/>
                                        </p:tgtEl>
                                        <p:attrNameLst>
                                          <p:attrName>ppt_x</p:attrName>
                                        </p:attrNameLst>
                                      </p:cBhvr>
                                      <p:tavLst>
                                        <p:tav tm="0">
                                          <p:val>
                                            <p:strVal val="#ppt_x"/>
                                          </p:val>
                                        </p:tav>
                                        <p:tav tm="100000">
                                          <p:val>
                                            <p:strVal val="#ppt_x"/>
                                          </p:val>
                                        </p:tav>
                                      </p:tavLst>
                                    </p:anim>
                                    <p:anim calcmode="lin" valueType="num">
                                      <p:cBhvr additive="base">
                                        <p:cTn id="26"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7"/>
                                        </p:tgtEl>
                                        <p:attrNameLst>
                                          <p:attrName>style.visibility</p:attrName>
                                        </p:attrNameLst>
                                      </p:cBhvr>
                                      <p:to>
                                        <p:strVal val="visible"/>
                                      </p:to>
                                    </p:set>
                                    <p:anim calcmode="lin" valueType="num">
                                      <p:cBhvr additive="base">
                                        <p:cTn id="31" dur="500" fill="hold"/>
                                        <p:tgtEl>
                                          <p:spTgt spid="147"/>
                                        </p:tgtEl>
                                        <p:attrNameLst>
                                          <p:attrName>ppt_x</p:attrName>
                                        </p:attrNameLst>
                                      </p:cBhvr>
                                      <p:tavLst>
                                        <p:tav tm="0">
                                          <p:val>
                                            <p:strVal val="#ppt_x"/>
                                          </p:val>
                                        </p:tav>
                                        <p:tav tm="100000">
                                          <p:val>
                                            <p:strVal val="#ppt_x"/>
                                          </p:val>
                                        </p:tav>
                                      </p:tavLst>
                                    </p:anim>
                                    <p:anim calcmode="lin" valueType="num">
                                      <p:cBhvr additive="base">
                                        <p:cTn id="32" dur="500" fill="hold"/>
                                        <p:tgtEl>
                                          <p:spTgt spid="1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8"/>
                                        </p:tgtEl>
                                        <p:attrNameLst>
                                          <p:attrName>style.visibility</p:attrName>
                                        </p:attrNameLst>
                                      </p:cBhvr>
                                      <p:to>
                                        <p:strVal val="visible"/>
                                      </p:to>
                                    </p:set>
                                    <p:anim calcmode="lin" valueType="num">
                                      <p:cBhvr additive="base">
                                        <p:cTn id="37" dur="500" fill="hold"/>
                                        <p:tgtEl>
                                          <p:spTgt spid="148"/>
                                        </p:tgtEl>
                                        <p:attrNameLst>
                                          <p:attrName>ppt_x</p:attrName>
                                        </p:attrNameLst>
                                      </p:cBhvr>
                                      <p:tavLst>
                                        <p:tav tm="0">
                                          <p:val>
                                            <p:strVal val="#ppt_x"/>
                                          </p:val>
                                        </p:tav>
                                        <p:tav tm="100000">
                                          <p:val>
                                            <p:strVal val="#ppt_x"/>
                                          </p:val>
                                        </p:tav>
                                      </p:tavLst>
                                    </p:anim>
                                    <p:anim calcmode="lin" valueType="num">
                                      <p:cBhvr additive="base">
                                        <p:cTn id="38" dur="500" fill="hold"/>
                                        <p:tgtEl>
                                          <p:spTgt spid="14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9"/>
                                        </p:tgtEl>
                                        <p:attrNameLst>
                                          <p:attrName>style.visibility</p:attrName>
                                        </p:attrNameLst>
                                      </p:cBhvr>
                                      <p:to>
                                        <p:strVal val="visible"/>
                                      </p:to>
                                    </p:set>
                                    <p:anim calcmode="lin" valueType="num">
                                      <p:cBhvr additive="base">
                                        <p:cTn id="43" dur="500" fill="hold"/>
                                        <p:tgtEl>
                                          <p:spTgt spid="149"/>
                                        </p:tgtEl>
                                        <p:attrNameLst>
                                          <p:attrName>ppt_x</p:attrName>
                                        </p:attrNameLst>
                                      </p:cBhvr>
                                      <p:tavLst>
                                        <p:tav tm="0">
                                          <p:val>
                                            <p:strVal val="#ppt_x"/>
                                          </p:val>
                                        </p:tav>
                                        <p:tav tm="100000">
                                          <p:val>
                                            <p:strVal val="#ppt_x"/>
                                          </p:val>
                                        </p:tav>
                                      </p:tavLst>
                                    </p:anim>
                                    <p:anim calcmode="lin" valueType="num">
                                      <p:cBhvr additive="base">
                                        <p:cTn id="44" dur="500" fill="hold"/>
                                        <p:tgtEl>
                                          <p:spTgt spid="14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0"/>
                                        </p:tgtEl>
                                        <p:attrNameLst>
                                          <p:attrName>style.visibility</p:attrName>
                                        </p:attrNameLst>
                                      </p:cBhvr>
                                      <p:to>
                                        <p:strVal val="visible"/>
                                      </p:to>
                                    </p:set>
                                    <p:anim calcmode="lin" valueType="num">
                                      <p:cBhvr additive="base">
                                        <p:cTn id="49" dur="500" fill="hold"/>
                                        <p:tgtEl>
                                          <p:spTgt spid="150"/>
                                        </p:tgtEl>
                                        <p:attrNameLst>
                                          <p:attrName>ppt_x</p:attrName>
                                        </p:attrNameLst>
                                      </p:cBhvr>
                                      <p:tavLst>
                                        <p:tav tm="0">
                                          <p:val>
                                            <p:strVal val="#ppt_x"/>
                                          </p:val>
                                        </p:tav>
                                        <p:tav tm="100000">
                                          <p:val>
                                            <p:strVal val="#ppt_x"/>
                                          </p:val>
                                        </p:tav>
                                      </p:tavLst>
                                    </p:anim>
                                    <p:anim calcmode="lin" valueType="num">
                                      <p:cBhvr additive="base">
                                        <p:cTn id="50" dur="500" fill="hold"/>
                                        <p:tgtEl>
                                          <p:spTgt spid="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9" grpId="0"/>
      <p:bldP spid="136" grpId="0"/>
      <p:bldP spid="137" grpId="0"/>
      <p:bldP spid="147" grpId="0"/>
      <p:bldP spid="148" grpId="0"/>
      <p:bldP spid="149" grpId="0"/>
      <p:bldP spid="1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E83E66AA-B25F-D811-AD7B-190D1576DAAD}"/>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0D6FEE2D-0695-C01B-4E27-8540663173DC}"/>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0" name="Google Shape;1603;p42">
            <a:extLst>
              <a:ext uri="{FF2B5EF4-FFF2-40B4-BE49-F238E27FC236}">
                <a16:creationId xmlns:a16="http://schemas.microsoft.com/office/drawing/2014/main" id="{8FF382C2-44F6-8402-931A-D7295ED4DF98}"/>
              </a:ext>
            </a:extLst>
          </p:cNvPr>
          <p:cNvSpPr txBox="1"/>
          <p:nvPr/>
        </p:nvSpPr>
        <p:spPr>
          <a:xfrm>
            <a:off x="375501" y="1181713"/>
            <a:ext cx="439621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A3</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Efector </a:t>
            </a:r>
            <a:r>
              <a:rPr lang="es-ES" sz="1600" b="1" dirty="0" err="1">
                <a:solidFill>
                  <a:schemeClr val="tx2"/>
                </a:solidFill>
                <a:latin typeface="Fira Sans Condensed Light" panose="020B0604020202020204" charset="0"/>
                <a:cs typeface="Times New Roman" panose="02020603050405020304" pitchFamily="18" charset="0"/>
              </a:rPr>
              <a:t>FInal</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“Ninguna Rotación”</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L3(t) sobre el eje Z3”</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2EC514F9-63CD-BE83-3B72-5EE3CBAE644E}"/>
                  </a:ext>
                </a:extLst>
              </p:cNvPr>
              <p:cNvSpPr txBox="1"/>
              <p:nvPr/>
            </p:nvSpPr>
            <p:spPr>
              <a:xfrm>
                <a:off x="3570904" y="3651226"/>
                <a:ext cx="716799" cy="69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0" i="1" smtClean="0">
                                    <a:solidFill>
                                      <a:schemeClr val="tx2"/>
                                    </a:solidFill>
                                    <a:latin typeface="Cambria Math" panose="02040503050406030204" pitchFamily="18" charset="0"/>
                                    <a:cs typeface="Times New Roman" panose="02020603050405020304" pitchFamily="18" charset="0"/>
                                  </a:rPr>
                                  <m:t>0</m:t>
                                </m:r>
                              </m:e>
                            </m:mr>
                            <m:mr>
                              <m:e>
                                <m:r>
                                  <a:rPr lang="es-MX" sz="1600" b="1" i="1" smtClean="0">
                                    <a:solidFill>
                                      <a:schemeClr val="tx2"/>
                                    </a:solidFill>
                                    <a:latin typeface="Cambria Math" panose="02040503050406030204" pitchFamily="18" charset="0"/>
                                  </a:rPr>
                                  <m:t>𝟎</m:t>
                                </m:r>
                              </m:e>
                            </m:mr>
                            <m:mr>
                              <m:e>
                                <m:r>
                                  <a:rPr lang="es-MX" sz="1600" b="1" i="1" smtClean="0">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𝟑</m:t>
                                </m:r>
                                <m:r>
                                  <a:rPr lang="es-MX" sz="1600" b="1" i="1" smtClean="0">
                                    <a:solidFill>
                                      <a:schemeClr val="tx2"/>
                                    </a:solidFill>
                                    <a:latin typeface="Cambria Math" panose="02040503050406030204" pitchFamily="18" charset="0"/>
                                    <a:cs typeface="Times New Roman" panose="02020603050405020304" pitchFamily="18" charset="0"/>
                                  </a:rPr>
                                  <m:t>(</m:t>
                                </m:r>
                                <m:r>
                                  <a:rPr lang="es-MX" sz="1600" b="1" i="1" smtClean="0">
                                    <a:solidFill>
                                      <a:schemeClr val="tx2"/>
                                    </a:solidFill>
                                    <a:latin typeface="Cambria Math" panose="02040503050406030204" pitchFamily="18" charset="0"/>
                                    <a:cs typeface="Times New Roman" panose="02020603050405020304" pitchFamily="18" charset="0"/>
                                  </a:rPr>
                                  <m:t>𝒕</m:t>
                                </m:r>
                                <m:r>
                                  <a:rPr lang="es-MX" sz="1600" b="1" i="1" smtClean="0">
                                    <a:solidFill>
                                      <a:schemeClr val="tx2"/>
                                    </a:solidFill>
                                    <a:latin typeface="Cambria Math" panose="02040503050406030204" pitchFamily="18" charset="0"/>
                                    <a:cs typeface="Times New Roman" panose="02020603050405020304" pitchFamily="18" charset="0"/>
                                  </a:rPr>
                                  <m:t>)</m:t>
                                </m:r>
                              </m:e>
                            </m:mr>
                          </m:m>
                        </m:e>
                      </m:d>
                    </m:oMath>
                  </m:oMathPara>
                </a14:m>
                <a:endParaRPr lang="es-MX" sz="1600" dirty="0"/>
              </a:p>
            </p:txBody>
          </p:sp>
        </mc:Choice>
        <mc:Fallback>
          <p:sp>
            <p:nvSpPr>
              <p:cNvPr id="45" name="CuadroTexto 44">
                <a:extLst>
                  <a:ext uri="{FF2B5EF4-FFF2-40B4-BE49-F238E27FC236}">
                    <a16:creationId xmlns:a16="http://schemas.microsoft.com/office/drawing/2014/main" id="{2EC514F9-63CD-BE83-3B72-5EE3CBAE644E}"/>
                  </a:ext>
                </a:extLst>
              </p:cNvPr>
              <p:cNvSpPr txBox="1">
                <a:spLocks noRot="1" noChangeAspect="1" noMove="1" noResize="1" noEditPoints="1" noAdjustHandles="1" noChangeArrowheads="1" noChangeShapeType="1" noTextEdit="1"/>
              </p:cNvSpPr>
              <p:nvPr/>
            </p:nvSpPr>
            <p:spPr>
              <a:xfrm>
                <a:off x="3570904" y="3651226"/>
                <a:ext cx="716799" cy="694870"/>
              </a:xfrm>
              <a:prstGeom prst="rect">
                <a:avLst/>
              </a:prstGeom>
              <a:blipFill>
                <a:blip r:embed="rId4"/>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F333132A-86B5-1661-3994-95B7A6F4362B}"/>
              </a:ext>
            </a:extLst>
          </p:cNvPr>
          <p:cNvSpPr txBox="1"/>
          <p:nvPr/>
        </p:nvSpPr>
        <p:spPr>
          <a:xfrm>
            <a:off x="3188705" y="4437809"/>
            <a:ext cx="1719167" cy="523220"/>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A3 a </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Efector Final</a:t>
            </a:r>
            <a:endParaRPr lang="es-ES" sz="14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22DB281F-32F0-97BE-ADFB-A35CCC63738F}"/>
                  </a:ext>
                </a:extLst>
              </p:cNvPr>
              <p:cNvSpPr txBox="1"/>
              <p:nvPr/>
            </p:nvSpPr>
            <p:spPr>
              <a:xfrm>
                <a:off x="1130275" y="3693515"/>
                <a:ext cx="973280" cy="651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brk m:alnAt="7"/>
                                  </m:rP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0" smtClean="0">
                                    <a:solidFill>
                                      <a:schemeClr val="tx2"/>
                                    </a:solidFill>
                                    <a:latin typeface="Cambria Math" panose="02040503050406030204" pitchFamily="18" charset="0"/>
                                  </a:rPr>
                                  <m:t>1</m:t>
                                </m:r>
                              </m:e>
                            </m:mr>
                          </m:m>
                        </m:e>
                      </m:d>
                    </m:oMath>
                  </m:oMathPara>
                </a14:m>
                <a:endParaRPr lang="es-MX" sz="1600" dirty="0"/>
              </a:p>
            </p:txBody>
          </p:sp>
        </mc:Choice>
        <mc:Fallback>
          <p:sp>
            <p:nvSpPr>
              <p:cNvPr id="28" name="CuadroTexto 27">
                <a:extLst>
                  <a:ext uri="{FF2B5EF4-FFF2-40B4-BE49-F238E27FC236}">
                    <a16:creationId xmlns:a16="http://schemas.microsoft.com/office/drawing/2014/main" id="{22DB281F-32F0-97BE-ADFB-A35CCC63738F}"/>
                  </a:ext>
                </a:extLst>
              </p:cNvPr>
              <p:cNvSpPr txBox="1">
                <a:spLocks noRot="1" noChangeAspect="1" noMove="1" noResize="1" noEditPoints="1" noAdjustHandles="1" noChangeArrowheads="1" noChangeShapeType="1" noTextEdit="1"/>
              </p:cNvSpPr>
              <p:nvPr/>
            </p:nvSpPr>
            <p:spPr>
              <a:xfrm>
                <a:off x="1130275" y="3693515"/>
                <a:ext cx="973280" cy="651204"/>
              </a:xfrm>
              <a:prstGeom prst="rect">
                <a:avLst/>
              </a:prstGeom>
              <a:blipFill>
                <a:blip r:embed="rId5"/>
                <a:stretch>
                  <a:fillRect/>
                </a:stretch>
              </a:blipFill>
            </p:spPr>
            <p:txBody>
              <a:bodyPr/>
              <a:lstStyle/>
              <a:p>
                <a:r>
                  <a:rPr lang="es-MX">
                    <a:noFill/>
                  </a:rPr>
                  <a:t> </a:t>
                </a:r>
              </a:p>
            </p:txBody>
          </p:sp>
        </mc:Fallback>
      </mc:AlternateContent>
      <p:sp>
        <p:nvSpPr>
          <p:cNvPr id="29" name="Google Shape;1603;p42">
            <a:extLst>
              <a:ext uri="{FF2B5EF4-FFF2-40B4-BE49-F238E27FC236}">
                <a16:creationId xmlns:a16="http://schemas.microsoft.com/office/drawing/2014/main" id="{1566C93F-1688-11A9-22CC-7AB7CC95C7EC}"/>
              </a:ext>
            </a:extLst>
          </p:cNvPr>
          <p:cNvSpPr txBox="1"/>
          <p:nvPr/>
        </p:nvSpPr>
        <p:spPr>
          <a:xfrm>
            <a:off x="709472" y="4231786"/>
            <a:ext cx="2127758" cy="523221"/>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Identidad ya que una junta prismática no tiene rotación</a:t>
            </a:r>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40" name="Google Shape;699;p36">
            <a:extLst>
              <a:ext uri="{FF2B5EF4-FFF2-40B4-BE49-F238E27FC236}">
                <a16:creationId xmlns:a16="http://schemas.microsoft.com/office/drawing/2014/main" id="{10AE07DB-7498-DC51-471A-1D4A270D4D3A}"/>
              </a:ext>
            </a:extLst>
          </p:cNvPr>
          <p:cNvSpPr txBox="1">
            <a:spLocks/>
          </p:cNvSpPr>
          <p:nvPr/>
        </p:nvSpPr>
        <p:spPr>
          <a:xfrm>
            <a:off x="477885" y="259159"/>
            <a:ext cx="4293834"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cilíndrico 3GDL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41" name="Google Shape;258;p31">
            <a:extLst>
              <a:ext uri="{FF2B5EF4-FFF2-40B4-BE49-F238E27FC236}">
                <a16:creationId xmlns:a16="http://schemas.microsoft.com/office/drawing/2014/main" id="{11120E88-F1CF-5087-A6EF-72396A7CB389}"/>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p:pic>
        <p:nvPicPr>
          <p:cNvPr id="160" name="Picture 4" descr="1.4.- Grados de Libertad – Inteligencia Artificial">
            <a:extLst>
              <a:ext uri="{FF2B5EF4-FFF2-40B4-BE49-F238E27FC236}">
                <a16:creationId xmlns:a16="http://schemas.microsoft.com/office/drawing/2014/main" id="{A05B89F2-520C-F66F-A23F-3107CEDE8D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0659" y="1765304"/>
            <a:ext cx="1753066" cy="2672505"/>
          </a:xfrm>
          <a:prstGeom prst="rect">
            <a:avLst/>
          </a:prstGeom>
          <a:solidFill>
            <a:srgbClr val="FFFF00"/>
          </a:solidFill>
          <a:ln w="53975">
            <a:solidFill>
              <a:srgbClr val="FF0000"/>
            </a:solidFill>
          </a:ln>
        </p:spPr>
      </p:pic>
      <p:sp>
        <p:nvSpPr>
          <p:cNvPr id="161" name="Google Shape;1603;p42">
            <a:extLst>
              <a:ext uri="{FF2B5EF4-FFF2-40B4-BE49-F238E27FC236}">
                <a16:creationId xmlns:a16="http://schemas.microsoft.com/office/drawing/2014/main" id="{185A808A-D461-8C12-EC6F-080ADBE8274D}"/>
              </a:ext>
            </a:extLst>
          </p:cNvPr>
          <p:cNvSpPr txBox="1"/>
          <p:nvPr/>
        </p:nvSpPr>
        <p:spPr>
          <a:xfrm>
            <a:off x="6561449" y="3371946"/>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0</a:t>
            </a:r>
          </a:p>
        </p:txBody>
      </p:sp>
      <p:sp>
        <p:nvSpPr>
          <p:cNvPr id="162" name="Google Shape;1603;p42">
            <a:extLst>
              <a:ext uri="{FF2B5EF4-FFF2-40B4-BE49-F238E27FC236}">
                <a16:creationId xmlns:a16="http://schemas.microsoft.com/office/drawing/2014/main" id="{3079D90E-ACA5-6E7F-D948-29E863401637}"/>
              </a:ext>
            </a:extLst>
          </p:cNvPr>
          <p:cNvSpPr txBox="1"/>
          <p:nvPr/>
        </p:nvSpPr>
        <p:spPr>
          <a:xfrm>
            <a:off x="6386627" y="2466135"/>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sp>
        <p:nvSpPr>
          <p:cNvPr id="163" name="Google Shape;1603;p42">
            <a:extLst>
              <a:ext uri="{FF2B5EF4-FFF2-40B4-BE49-F238E27FC236}">
                <a16:creationId xmlns:a16="http://schemas.microsoft.com/office/drawing/2014/main" id="{B5B2FE6F-6CC6-6840-E8CA-4CF99D43311F}"/>
              </a:ext>
            </a:extLst>
          </p:cNvPr>
          <p:cNvSpPr txBox="1"/>
          <p:nvPr/>
        </p:nvSpPr>
        <p:spPr>
          <a:xfrm>
            <a:off x="6663832" y="1607650"/>
            <a:ext cx="388141" cy="501041"/>
          </a:xfrm>
          <a:prstGeom prst="rect">
            <a:avLst/>
          </a:prstGeom>
          <a:noFill/>
          <a:ln>
            <a:noFill/>
          </a:ln>
        </p:spPr>
        <p:txBody>
          <a:bodyPr spcFirstLastPara="1" wrap="square" lIns="91425" tIns="182875" rIns="91425" bIns="0" anchor="t" anchorCtr="0">
            <a:noAutofit/>
          </a:bodyPr>
          <a:lstStyle/>
          <a:p>
            <a:pPr algn="just"/>
            <a:r>
              <a:rPr lang="es-ES" sz="1600" b="1" dirty="0">
                <a:solidFill>
                  <a:srgbClr val="FF0000"/>
                </a:solidFill>
                <a:latin typeface="Fira Sans Condensed Light" panose="020B0604020202020204" charset="0"/>
                <a:cs typeface="Times New Roman" panose="02020603050405020304" pitchFamily="18" charset="0"/>
              </a:rPr>
              <a:t>1</a:t>
            </a:r>
          </a:p>
        </p:txBody>
      </p:sp>
      <p:cxnSp>
        <p:nvCxnSpPr>
          <p:cNvPr id="164" name="Conector recto de flecha 163">
            <a:extLst>
              <a:ext uri="{FF2B5EF4-FFF2-40B4-BE49-F238E27FC236}">
                <a16:creationId xmlns:a16="http://schemas.microsoft.com/office/drawing/2014/main" id="{B8A5D557-DE07-67A9-2A18-EFE640656812}"/>
              </a:ext>
            </a:extLst>
          </p:cNvPr>
          <p:cNvCxnSpPr>
            <a:cxnSpLocks/>
          </p:cNvCxnSpPr>
          <p:nvPr/>
        </p:nvCxnSpPr>
        <p:spPr>
          <a:xfrm>
            <a:off x="6795174" y="2790519"/>
            <a:ext cx="371537" cy="34363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65" name="Conector recto de flecha 164">
            <a:extLst>
              <a:ext uri="{FF2B5EF4-FFF2-40B4-BE49-F238E27FC236}">
                <a16:creationId xmlns:a16="http://schemas.microsoft.com/office/drawing/2014/main" id="{8FEF3967-314C-B013-9FB9-E454A96FBBEB}"/>
              </a:ext>
            </a:extLst>
          </p:cNvPr>
          <p:cNvCxnSpPr>
            <a:cxnSpLocks/>
          </p:cNvCxnSpPr>
          <p:nvPr/>
        </p:nvCxnSpPr>
        <p:spPr>
          <a:xfrm flipV="1">
            <a:off x="6798654" y="2646863"/>
            <a:ext cx="480806" cy="14355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66" name="Conector recto de flecha 165">
            <a:extLst>
              <a:ext uri="{FF2B5EF4-FFF2-40B4-BE49-F238E27FC236}">
                <a16:creationId xmlns:a16="http://schemas.microsoft.com/office/drawing/2014/main" id="{20CFDF14-8032-6ECF-1EE7-8EBAB8EF6F71}"/>
              </a:ext>
            </a:extLst>
          </p:cNvPr>
          <p:cNvCxnSpPr>
            <a:cxnSpLocks/>
          </p:cNvCxnSpPr>
          <p:nvPr/>
        </p:nvCxnSpPr>
        <p:spPr>
          <a:xfrm>
            <a:off x="6795174" y="2783785"/>
            <a:ext cx="0" cy="469756"/>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67" name="CuadroTexto 166">
            <a:extLst>
              <a:ext uri="{FF2B5EF4-FFF2-40B4-BE49-F238E27FC236}">
                <a16:creationId xmlns:a16="http://schemas.microsoft.com/office/drawing/2014/main" id="{3C034DF7-F7F2-26A6-998E-1309220ECF22}"/>
              </a:ext>
            </a:extLst>
          </p:cNvPr>
          <p:cNvSpPr txBox="1"/>
          <p:nvPr/>
        </p:nvSpPr>
        <p:spPr>
          <a:xfrm>
            <a:off x="7111569" y="3150762"/>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168" name="CuadroTexto 167">
            <a:extLst>
              <a:ext uri="{FF2B5EF4-FFF2-40B4-BE49-F238E27FC236}">
                <a16:creationId xmlns:a16="http://schemas.microsoft.com/office/drawing/2014/main" id="{8470549D-8655-1DC5-156D-5164B492557C}"/>
              </a:ext>
            </a:extLst>
          </p:cNvPr>
          <p:cNvSpPr txBox="1"/>
          <p:nvPr/>
        </p:nvSpPr>
        <p:spPr>
          <a:xfrm>
            <a:off x="7229803" y="2339086"/>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sp>
        <p:nvSpPr>
          <p:cNvPr id="169" name="CuadroTexto 168">
            <a:extLst>
              <a:ext uri="{FF2B5EF4-FFF2-40B4-BE49-F238E27FC236}">
                <a16:creationId xmlns:a16="http://schemas.microsoft.com/office/drawing/2014/main" id="{E63A265F-C0B2-2113-38CA-6A7DB6A59B80}"/>
              </a:ext>
            </a:extLst>
          </p:cNvPr>
          <p:cNvSpPr txBox="1"/>
          <p:nvPr/>
        </p:nvSpPr>
        <p:spPr>
          <a:xfrm>
            <a:off x="6596889" y="3260275"/>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170" name="CuadroTexto 169">
            <a:extLst>
              <a:ext uri="{FF2B5EF4-FFF2-40B4-BE49-F238E27FC236}">
                <a16:creationId xmlns:a16="http://schemas.microsoft.com/office/drawing/2014/main" id="{08CAE886-FC69-F03C-B8C0-C6B9BE9FC0EA}"/>
              </a:ext>
            </a:extLst>
          </p:cNvPr>
          <p:cNvSpPr txBox="1"/>
          <p:nvPr/>
        </p:nvSpPr>
        <p:spPr>
          <a:xfrm>
            <a:off x="7519327" y="2115430"/>
            <a:ext cx="513162"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3</a:t>
            </a:r>
            <a:r>
              <a:rPr lang="es-ES" sz="1400" b="1" dirty="0">
                <a:solidFill>
                  <a:schemeClr val="tx1"/>
                </a:solidFill>
                <a:latin typeface="Fira Sans Condensed Light" panose="020B0604020202020204" charset="0"/>
                <a:cs typeface="Times New Roman" panose="02020603050405020304" pitchFamily="18" charset="0"/>
              </a:rPr>
              <a:t>(t)</a:t>
            </a:r>
            <a:endParaRPr lang="es-MX" dirty="0">
              <a:solidFill>
                <a:schemeClr val="tx1"/>
              </a:solidFill>
            </a:endParaRPr>
          </a:p>
        </p:txBody>
      </p:sp>
    </p:spTree>
    <p:extLst>
      <p:ext uri="{BB962C8B-B14F-4D97-AF65-F5344CB8AC3E}">
        <p14:creationId xmlns:p14="http://schemas.microsoft.com/office/powerpoint/2010/main" val="282499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1"/>
                                        </p:tgtEl>
                                        <p:attrNameLst>
                                          <p:attrName>style.visibility</p:attrName>
                                        </p:attrNameLst>
                                      </p:cBhvr>
                                      <p:to>
                                        <p:strVal val="visible"/>
                                      </p:to>
                                    </p:set>
                                    <p:anim calcmode="lin" valueType="num">
                                      <p:cBhvr additive="base">
                                        <p:cTn id="19" dur="500" fill="hold"/>
                                        <p:tgtEl>
                                          <p:spTgt spid="161"/>
                                        </p:tgtEl>
                                        <p:attrNameLst>
                                          <p:attrName>ppt_x</p:attrName>
                                        </p:attrNameLst>
                                      </p:cBhvr>
                                      <p:tavLst>
                                        <p:tav tm="0">
                                          <p:val>
                                            <p:strVal val="#ppt_x"/>
                                          </p:val>
                                        </p:tav>
                                        <p:tav tm="100000">
                                          <p:val>
                                            <p:strVal val="#ppt_x"/>
                                          </p:val>
                                        </p:tav>
                                      </p:tavLst>
                                    </p:anim>
                                    <p:anim calcmode="lin" valueType="num">
                                      <p:cBhvr additive="base">
                                        <p:cTn id="20" dur="500" fill="hold"/>
                                        <p:tgtEl>
                                          <p:spTgt spid="16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2"/>
                                        </p:tgtEl>
                                        <p:attrNameLst>
                                          <p:attrName>style.visibility</p:attrName>
                                        </p:attrNameLst>
                                      </p:cBhvr>
                                      <p:to>
                                        <p:strVal val="visible"/>
                                      </p:to>
                                    </p:set>
                                    <p:anim calcmode="lin" valueType="num">
                                      <p:cBhvr additive="base">
                                        <p:cTn id="25" dur="500" fill="hold"/>
                                        <p:tgtEl>
                                          <p:spTgt spid="162"/>
                                        </p:tgtEl>
                                        <p:attrNameLst>
                                          <p:attrName>ppt_x</p:attrName>
                                        </p:attrNameLst>
                                      </p:cBhvr>
                                      <p:tavLst>
                                        <p:tav tm="0">
                                          <p:val>
                                            <p:strVal val="#ppt_x"/>
                                          </p:val>
                                        </p:tav>
                                        <p:tav tm="100000">
                                          <p:val>
                                            <p:strVal val="#ppt_x"/>
                                          </p:val>
                                        </p:tav>
                                      </p:tavLst>
                                    </p:anim>
                                    <p:anim calcmode="lin" valueType="num">
                                      <p:cBhvr additive="base">
                                        <p:cTn id="26" dur="500" fill="hold"/>
                                        <p:tgtEl>
                                          <p:spTgt spid="16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3"/>
                                        </p:tgtEl>
                                        <p:attrNameLst>
                                          <p:attrName>style.visibility</p:attrName>
                                        </p:attrNameLst>
                                      </p:cBhvr>
                                      <p:to>
                                        <p:strVal val="visible"/>
                                      </p:to>
                                    </p:set>
                                    <p:anim calcmode="lin" valueType="num">
                                      <p:cBhvr additive="base">
                                        <p:cTn id="31" dur="500" fill="hold"/>
                                        <p:tgtEl>
                                          <p:spTgt spid="163"/>
                                        </p:tgtEl>
                                        <p:attrNameLst>
                                          <p:attrName>ppt_x</p:attrName>
                                        </p:attrNameLst>
                                      </p:cBhvr>
                                      <p:tavLst>
                                        <p:tav tm="0">
                                          <p:val>
                                            <p:strVal val="#ppt_x"/>
                                          </p:val>
                                        </p:tav>
                                        <p:tav tm="100000">
                                          <p:val>
                                            <p:strVal val="#ppt_x"/>
                                          </p:val>
                                        </p:tav>
                                      </p:tavLst>
                                    </p:anim>
                                    <p:anim calcmode="lin" valueType="num">
                                      <p:cBhvr additive="base">
                                        <p:cTn id="32" dur="500" fill="hold"/>
                                        <p:tgtEl>
                                          <p:spTgt spid="1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9" grpId="0"/>
      <p:bldP spid="161" grpId="0"/>
      <p:bldP spid="162" grpId="0"/>
      <p:bldP spid="16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514F93B6-6A53-7286-13CB-E04714B58820}"/>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BBDD832F-0CE0-CD82-A353-362E6C4A4511}"/>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EC5511EB-B171-722D-07CA-D526BA1399A7}"/>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D128CFD5-C16B-70E8-AA1E-7B5F65AD63C0}"/>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a:extLst>
              <a:ext uri="{FF2B5EF4-FFF2-40B4-BE49-F238E27FC236}">
                <a16:creationId xmlns:a16="http://schemas.microsoft.com/office/drawing/2014/main" id="{5DCE068E-39E3-F567-4AD7-448BA2ED8FDB}"/>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A1</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A2</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“Rotación de +90° alrededor de Y1”</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L1 sobre el eje Z1”</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C769BE56-1896-12D6-BF12-E2AC6215FDB0}"/>
                  </a:ext>
                </a:extLst>
              </p:cNvPr>
              <p:cNvSpPr txBox="1"/>
              <p:nvPr/>
            </p:nvSpPr>
            <p:spPr>
              <a:xfrm>
                <a:off x="21776" y="3606658"/>
                <a:ext cx="2388795" cy="695896"/>
              </a:xfrm>
              <a:prstGeom prst="rect">
                <a:avLst/>
              </a:prstGeom>
              <a:noFill/>
            </p:spPr>
            <p:txBody>
              <a:bodyPr wrap="none" lIns="0" tIns="0" rIns="0" bIns="0" rtlCol="0">
                <a:spAutoFit/>
              </a:bodyPr>
              <a:lstStyle/>
              <a:p>
                <a:pPr/>
                <a14:m>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1</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a14:m>
                <a:r>
                  <a:rPr lang="es-MX" sz="1600" dirty="0">
                    <a:solidFill>
                      <a:schemeClr val="tx2"/>
                    </a:solidFill>
                  </a:rPr>
                  <a:t>*</a:t>
                </a:r>
              </a:p>
            </p:txBody>
          </p:sp>
        </mc:Choice>
        <mc:Fallback>
          <p:sp>
            <p:nvSpPr>
              <p:cNvPr id="43" name="CuadroTexto 42">
                <a:extLst>
                  <a:ext uri="{FF2B5EF4-FFF2-40B4-BE49-F238E27FC236}">
                    <a16:creationId xmlns:a16="http://schemas.microsoft.com/office/drawing/2014/main" id="{C769BE56-1896-12D6-BF12-E2AC6215FDB0}"/>
                  </a:ext>
                </a:extLst>
              </p:cNvPr>
              <p:cNvSpPr txBox="1">
                <a:spLocks noRot="1" noChangeAspect="1" noMove="1" noResize="1" noEditPoints="1" noAdjustHandles="1" noChangeArrowheads="1" noChangeShapeType="1" noTextEdit="1"/>
              </p:cNvSpPr>
              <p:nvPr/>
            </p:nvSpPr>
            <p:spPr>
              <a:xfrm>
                <a:off x="21776" y="3606658"/>
                <a:ext cx="2388795" cy="695896"/>
              </a:xfrm>
              <a:prstGeom prst="rect">
                <a:avLst/>
              </a:prstGeom>
              <a:blipFill>
                <a:blip r:embed="rId4"/>
                <a:stretch>
                  <a:fillRect r="-2558"/>
                </a:stretch>
              </a:blipFill>
            </p:spPr>
            <p:txBody>
              <a:bodyPr/>
              <a:lstStyle/>
              <a:p>
                <a:r>
                  <a:rPr lang="es-MX">
                    <a:noFill/>
                  </a:rPr>
                  <a:t> </a:t>
                </a:r>
              </a:p>
            </p:txBody>
          </p:sp>
        </mc:Fallback>
      </mc:AlternateContent>
      <p:sp>
        <p:nvSpPr>
          <p:cNvPr id="44" name="Google Shape;1603;p42">
            <a:extLst>
              <a:ext uri="{FF2B5EF4-FFF2-40B4-BE49-F238E27FC236}">
                <a16:creationId xmlns:a16="http://schemas.microsoft.com/office/drawing/2014/main" id="{976131D7-F10D-79A2-4498-564E9013AF4C}"/>
              </a:ext>
            </a:extLst>
          </p:cNvPr>
          <p:cNvSpPr txBox="1"/>
          <p:nvPr/>
        </p:nvSpPr>
        <p:spPr>
          <a:xfrm>
            <a:off x="113667" y="4272771"/>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Z1</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5A2CD011-6681-9B28-4041-C289956EB7F2}"/>
                  </a:ext>
                </a:extLst>
              </p:cNvPr>
              <p:cNvSpPr txBox="1"/>
              <p:nvPr/>
            </p:nvSpPr>
            <p:spPr>
              <a:xfrm>
                <a:off x="4984698" y="3651226"/>
                <a:ext cx="460318" cy="649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0" i="1" smtClean="0">
                                    <a:solidFill>
                                      <a:schemeClr val="tx2"/>
                                    </a:solidFill>
                                    <a:latin typeface="Cambria Math" panose="02040503050406030204" pitchFamily="18" charset="0"/>
                                    <a:cs typeface="Times New Roman" panose="02020603050405020304" pitchFamily="18" charset="0"/>
                                  </a:rPr>
                                  <m:t>0</m:t>
                                </m:r>
                              </m:e>
                            </m:mr>
                            <m:mr>
                              <m:e>
                                <m:r>
                                  <a:rPr lang="es-MX" sz="1600" b="1" i="1" smtClean="0">
                                    <a:solidFill>
                                      <a:schemeClr val="tx2"/>
                                    </a:solidFill>
                                    <a:latin typeface="Cambria Math" panose="02040503050406030204" pitchFamily="18" charset="0"/>
                                  </a:rPr>
                                  <m:t>𝟎</m:t>
                                </m:r>
                              </m:e>
                            </m:mr>
                            <m:mr>
                              <m:e>
                                <m:r>
                                  <a:rPr lang="es-MX" sz="1600" b="1" i="1" smtClean="0">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𝟏</m:t>
                                </m:r>
                              </m:e>
                            </m:mr>
                          </m:m>
                        </m:e>
                      </m:d>
                    </m:oMath>
                  </m:oMathPara>
                </a14:m>
                <a:endParaRPr lang="es-MX" sz="1600" dirty="0"/>
              </a:p>
            </p:txBody>
          </p:sp>
        </mc:Choice>
        <mc:Fallback>
          <p:sp>
            <p:nvSpPr>
              <p:cNvPr id="45" name="CuadroTexto 44">
                <a:extLst>
                  <a:ext uri="{FF2B5EF4-FFF2-40B4-BE49-F238E27FC236}">
                    <a16:creationId xmlns:a16="http://schemas.microsoft.com/office/drawing/2014/main" id="{5A2CD011-6681-9B28-4041-C289956EB7F2}"/>
                  </a:ext>
                </a:extLst>
              </p:cNvPr>
              <p:cNvSpPr txBox="1">
                <a:spLocks noRot="1" noChangeAspect="1" noMove="1" noResize="1" noEditPoints="1" noAdjustHandles="1" noChangeArrowheads="1" noChangeShapeType="1" noTextEdit="1"/>
              </p:cNvSpPr>
              <p:nvPr/>
            </p:nvSpPr>
            <p:spPr>
              <a:xfrm>
                <a:off x="4984698" y="3651226"/>
                <a:ext cx="460318" cy="649601"/>
              </a:xfrm>
              <a:prstGeom prst="rect">
                <a:avLst/>
              </a:prstGeom>
              <a:blipFill>
                <a:blip r:embed="rId5"/>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6CC0E588-65EE-14FB-8968-269B82326331}"/>
              </a:ext>
            </a:extLst>
          </p:cNvPr>
          <p:cNvSpPr txBox="1"/>
          <p:nvPr/>
        </p:nvSpPr>
        <p:spPr>
          <a:xfrm>
            <a:off x="4707081" y="4380485"/>
            <a:ext cx="1036255" cy="738664"/>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A1 a A2</a:t>
            </a:r>
            <a:endParaRPr lang="es-ES" sz="1400" b="1" dirty="0">
              <a:solidFill>
                <a:schemeClr val="tx2"/>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48AE1D55-83CF-77DB-3F46-5936A2F096F3}"/>
              </a:ext>
            </a:extLst>
          </p:cNvPr>
          <p:cNvPicPr>
            <a:picLocks noChangeAspect="1"/>
          </p:cNvPicPr>
          <p:nvPr/>
        </p:nvPicPr>
        <p:blipFill>
          <a:blip r:embed="rId6"/>
          <a:stretch>
            <a:fillRect/>
          </a:stretch>
        </p:blipFill>
        <p:spPr>
          <a:xfrm>
            <a:off x="5744925" y="1312244"/>
            <a:ext cx="3375693" cy="3572097"/>
          </a:xfrm>
          <a:prstGeom prst="rect">
            <a:avLst/>
          </a:prstGeom>
        </p:spPr>
      </p:pic>
      <p:sp>
        <p:nvSpPr>
          <p:cNvPr id="9" name="CuadroTexto 8">
            <a:extLst>
              <a:ext uri="{FF2B5EF4-FFF2-40B4-BE49-F238E27FC236}">
                <a16:creationId xmlns:a16="http://schemas.microsoft.com/office/drawing/2014/main" id="{3AC0FB04-7878-F968-5826-BC6F9EE0B190}"/>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11" name="CuadroTexto 10">
            <a:extLst>
              <a:ext uri="{FF2B5EF4-FFF2-40B4-BE49-F238E27FC236}">
                <a16:creationId xmlns:a16="http://schemas.microsoft.com/office/drawing/2014/main" id="{18E9A27A-60A7-9A23-3B2A-5DE74461409F}"/>
              </a:ext>
            </a:extLst>
          </p:cNvPr>
          <p:cNvSpPr txBox="1"/>
          <p:nvPr/>
        </p:nvSpPr>
        <p:spPr>
          <a:xfrm>
            <a:off x="6234509" y="2289950"/>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14" name="CuadroTexto 13">
            <a:extLst>
              <a:ext uri="{FF2B5EF4-FFF2-40B4-BE49-F238E27FC236}">
                <a16:creationId xmlns:a16="http://schemas.microsoft.com/office/drawing/2014/main" id="{4B612288-C0B7-C841-ADA3-146BAF39AC8C}"/>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15" name="CuadroTexto 14">
            <a:extLst>
              <a:ext uri="{FF2B5EF4-FFF2-40B4-BE49-F238E27FC236}">
                <a16:creationId xmlns:a16="http://schemas.microsoft.com/office/drawing/2014/main" id="{83BF4FC5-1908-3E9E-B5A5-D92744BDC62E}"/>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22" name="CuadroTexto 21">
            <a:extLst>
              <a:ext uri="{FF2B5EF4-FFF2-40B4-BE49-F238E27FC236}">
                <a16:creationId xmlns:a16="http://schemas.microsoft.com/office/drawing/2014/main" id="{41B0A364-AF13-8CC2-6131-59143749EF43}"/>
              </a:ext>
            </a:extLst>
          </p:cNvPr>
          <p:cNvSpPr txBox="1"/>
          <p:nvPr/>
        </p:nvSpPr>
        <p:spPr>
          <a:xfrm>
            <a:off x="8633246" y="213606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23" name="Conector recto de flecha 22">
            <a:extLst>
              <a:ext uri="{FF2B5EF4-FFF2-40B4-BE49-F238E27FC236}">
                <a16:creationId xmlns:a16="http://schemas.microsoft.com/office/drawing/2014/main" id="{2A355A33-5021-F23B-84AE-8C5A4E8EFE2B}"/>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4" name="Conector recto de flecha 23">
            <a:extLst>
              <a:ext uri="{FF2B5EF4-FFF2-40B4-BE49-F238E27FC236}">
                <a16:creationId xmlns:a16="http://schemas.microsoft.com/office/drawing/2014/main" id="{03C45C08-07F7-0448-AE1F-1F373FDFA117}"/>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5" name="Conector recto de flecha 24">
            <a:extLst>
              <a:ext uri="{FF2B5EF4-FFF2-40B4-BE49-F238E27FC236}">
                <a16:creationId xmlns:a16="http://schemas.microsoft.com/office/drawing/2014/main" id="{B41DE9C1-5009-D777-FB73-F6D01EE6AA4C}"/>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26" name="CuadroTexto 25">
            <a:extLst>
              <a:ext uri="{FF2B5EF4-FFF2-40B4-BE49-F238E27FC236}">
                <a16:creationId xmlns:a16="http://schemas.microsoft.com/office/drawing/2014/main" id="{5AC57E27-41F2-50B0-E126-BA6A7B6744D8}"/>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27" name="CuadroTexto 26">
            <a:extLst>
              <a:ext uri="{FF2B5EF4-FFF2-40B4-BE49-F238E27FC236}">
                <a16:creationId xmlns:a16="http://schemas.microsoft.com/office/drawing/2014/main" id="{C39CB09B-8E32-6254-9B89-E38D47A8ED79}"/>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28" name="CuadroTexto 27">
            <a:extLst>
              <a:ext uri="{FF2B5EF4-FFF2-40B4-BE49-F238E27FC236}">
                <a16:creationId xmlns:a16="http://schemas.microsoft.com/office/drawing/2014/main" id="{231EECAF-15C7-FD73-B041-D51BFD434B35}"/>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mc:AlternateContent xmlns:mc="http://schemas.openxmlformats.org/markup-compatibility/2006">
        <mc:Choice xmlns:a14="http://schemas.microsoft.com/office/drawing/2010/main" Requires="a14">
          <p:sp>
            <p:nvSpPr>
              <p:cNvPr id="29" name="CuadroTexto 28">
                <a:extLst>
                  <a:ext uri="{FF2B5EF4-FFF2-40B4-BE49-F238E27FC236}">
                    <a16:creationId xmlns:a16="http://schemas.microsoft.com/office/drawing/2014/main" id="{D22C55B8-EEF1-3931-77A9-481789D287C2}"/>
                  </a:ext>
                </a:extLst>
              </p:cNvPr>
              <p:cNvSpPr txBox="1"/>
              <p:nvPr/>
            </p:nvSpPr>
            <p:spPr>
              <a:xfrm>
                <a:off x="2335638" y="3570493"/>
                <a:ext cx="1632288" cy="7825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a:rPr lang="es-MX" sz="1600" b="0" i="0"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(90)</m:t>
                                </m:r>
                              </m:e>
                            </m:mr>
                            <m:mr>
                              <m:e>
                                <m:r>
                                  <a:rPr lang="es-MX" sz="1600" b="0" i="1" smtClean="0">
                                    <a:solidFill>
                                      <a:schemeClr val="tx2"/>
                                    </a:solidFill>
                                    <a:latin typeface="Cambria Math" panose="02040503050406030204" pitchFamily="18" charset="0"/>
                                  </a:rPr>
                                  <m:t>0</m:t>
                                </m:r>
                              </m:e>
                              <m:e>
                                <m: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0</m:t>
                                </m:r>
                              </m:e>
                              <m:e>
                                <m:r>
                                  <m:rPr>
                                    <m:sty m:val="p"/>
                                  </m:rPr>
                                  <a:rPr lang="es-MX" sz="1600">
                                    <a:solidFill>
                                      <a:schemeClr val="tx2"/>
                                    </a:solidFill>
                                    <a:latin typeface="Cambria Math" panose="02040503050406030204" pitchFamily="18" charset="0"/>
                                  </a:rPr>
                                  <m:t>cos</m:t>
                                </m:r>
                                <m:r>
                                  <a:rPr lang="es-MX" sz="1600">
                                    <a:solidFill>
                                      <a:schemeClr val="tx2"/>
                                    </a:solidFill>
                                    <a:latin typeface="Cambria Math" panose="02040503050406030204" pitchFamily="18" charset="0"/>
                                  </a:rPr>
                                  <m:t>(90)</m:t>
                                </m:r>
                              </m:e>
                            </m:mr>
                          </m:m>
                        </m:e>
                      </m:d>
                    </m:oMath>
                  </m:oMathPara>
                </a14:m>
                <a:endParaRPr lang="es-MX" sz="1600" dirty="0"/>
              </a:p>
            </p:txBody>
          </p:sp>
        </mc:Choice>
        <mc:Fallback>
          <p:sp>
            <p:nvSpPr>
              <p:cNvPr id="29" name="CuadroTexto 28">
                <a:extLst>
                  <a:ext uri="{FF2B5EF4-FFF2-40B4-BE49-F238E27FC236}">
                    <a16:creationId xmlns:a16="http://schemas.microsoft.com/office/drawing/2014/main" id="{D22C55B8-EEF1-3931-77A9-481789D287C2}"/>
                  </a:ext>
                </a:extLst>
              </p:cNvPr>
              <p:cNvSpPr txBox="1">
                <a:spLocks noRot="1" noChangeAspect="1" noMove="1" noResize="1" noEditPoints="1" noAdjustHandles="1" noChangeArrowheads="1" noChangeShapeType="1" noTextEdit="1"/>
              </p:cNvSpPr>
              <p:nvPr/>
            </p:nvSpPr>
            <p:spPr>
              <a:xfrm>
                <a:off x="2335638" y="3570493"/>
                <a:ext cx="1632288" cy="782587"/>
              </a:xfrm>
              <a:prstGeom prst="rect">
                <a:avLst/>
              </a:prstGeom>
              <a:blipFill>
                <a:blip r:embed="rId7"/>
                <a:stretch>
                  <a:fillRect r="-36567"/>
                </a:stretch>
              </a:blipFill>
            </p:spPr>
            <p:txBody>
              <a:bodyPr/>
              <a:lstStyle/>
              <a:p>
                <a:r>
                  <a:rPr lang="es-MX">
                    <a:noFill/>
                  </a:rPr>
                  <a:t> </a:t>
                </a:r>
              </a:p>
            </p:txBody>
          </p:sp>
        </mc:Fallback>
      </mc:AlternateContent>
      <p:sp>
        <p:nvSpPr>
          <p:cNvPr id="30" name="Google Shape;1603;p42">
            <a:extLst>
              <a:ext uri="{FF2B5EF4-FFF2-40B4-BE49-F238E27FC236}">
                <a16:creationId xmlns:a16="http://schemas.microsoft.com/office/drawing/2014/main" id="{FDB3C04F-44DE-8E02-7F4D-1BDCB4B5041D}"/>
              </a:ext>
            </a:extLst>
          </p:cNvPr>
          <p:cNvSpPr txBox="1"/>
          <p:nvPr/>
        </p:nvSpPr>
        <p:spPr>
          <a:xfrm>
            <a:off x="2507672" y="4178530"/>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Y1 Evaluada en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+90</a:t>
            </a:r>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cxnSp>
        <p:nvCxnSpPr>
          <p:cNvPr id="31" name="Conector recto de flecha 30">
            <a:extLst>
              <a:ext uri="{FF2B5EF4-FFF2-40B4-BE49-F238E27FC236}">
                <a16:creationId xmlns:a16="http://schemas.microsoft.com/office/drawing/2014/main" id="{A1EF3782-CBEF-EAC0-E49A-831BA02DDD68}"/>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7" name="Conector recto de flecha 36">
            <a:extLst>
              <a:ext uri="{FF2B5EF4-FFF2-40B4-BE49-F238E27FC236}">
                <a16:creationId xmlns:a16="http://schemas.microsoft.com/office/drawing/2014/main" id="{4B4C5AD3-660D-4C01-27CF-5C5D61D029F4}"/>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9" name="Conector recto de flecha 38">
            <a:extLst>
              <a:ext uri="{FF2B5EF4-FFF2-40B4-BE49-F238E27FC236}">
                <a16:creationId xmlns:a16="http://schemas.microsoft.com/office/drawing/2014/main" id="{783BD3F9-863D-34FC-7477-13C6A1839504}"/>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40" name="CuadroTexto 39">
            <a:extLst>
              <a:ext uri="{FF2B5EF4-FFF2-40B4-BE49-F238E27FC236}">
                <a16:creationId xmlns:a16="http://schemas.microsoft.com/office/drawing/2014/main" id="{9D59B740-2149-4813-6AA0-D56902D08C7A}"/>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41" name="CuadroTexto 40">
            <a:extLst>
              <a:ext uri="{FF2B5EF4-FFF2-40B4-BE49-F238E27FC236}">
                <a16:creationId xmlns:a16="http://schemas.microsoft.com/office/drawing/2014/main" id="{DBF76812-05C0-A21D-2A2E-5EFFBEDDAF59}"/>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46" name="CuadroTexto 45">
            <a:extLst>
              <a:ext uri="{FF2B5EF4-FFF2-40B4-BE49-F238E27FC236}">
                <a16:creationId xmlns:a16="http://schemas.microsoft.com/office/drawing/2014/main" id="{ABDF4CD3-D156-54DD-550D-8EEE586EA4C1}"/>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spTree>
    <p:extLst>
      <p:ext uri="{BB962C8B-B14F-4D97-AF65-F5344CB8AC3E}">
        <p14:creationId xmlns:p14="http://schemas.microsoft.com/office/powerpoint/2010/main" val="420126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4"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A1EC9108-F811-6A22-D93A-AACDF6C3FD0A}"/>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ADFF7CA9-AD17-B1E9-EF86-403C9AD34A7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5511E2BD-E03A-53BA-C175-EBF32D48316A}"/>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15703616-261D-7DEF-5EE5-04B92B5BC6C1}"/>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mc:Choice xmlns:a14="http://schemas.microsoft.com/office/drawing/2010/main" Requires="a14">
          <p:sp>
            <p:nvSpPr>
              <p:cNvPr id="10" name="Google Shape;1603;p42">
                <a:extLst>
                  <a:ext uri="{FF2B5EF4-FFF2-40B4-BE49-F238E27FC236}">
                    <a16:creationId xmlns:a16="http://schemas.microsoft.com/office/drawing/2014/main" id="{E79228D7-7F23-7924-965B-1A8152BCC449}"/>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A2</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A3</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“Ninguna Rotación”</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negativa de -L2*sen(</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i="1">
                            <a:solidFill>
                              <a:srgbClr val="FFFF00"/>
                            </a:solidFill>
                            <a:latin typeface="Cambria Math" panose="02040503050406030204" pitchFamily="18" charset="0"/>
                          </a:rPr>
                          <m:t>2</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X2”</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L2*cos(</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i="1">
                            <a:solidFill>
                              <a:srgbClr val="FFFF00"/>
                            </a:solidFill>
                            <a:latin typeface="Cambria Math" panose="02040503050406030204" pitchFamily="18" charset="0"/>
                          </a:rPr>
                          <m:t>2</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Y2”</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Choice>
        <mc:Fallback>
          <p:sp>
            <p:nvSpPr>
              <p:cNvPr id="10" name="Google Shape;1603;p42">
                <a:extLst>
                  <a:ext uri="{FF2B5EF4-FFF2-40B4-BE49-F238E27FC236}">
                    <a16:creationId xmlns:a16="http://schemas.microsoft.com/office/drawing/2014/main" id="{E79228D7-7F23-7924-965B-1A8152BCC449}"/>
                  </a:ext>
                </a:extLst>
              </p:cNvPr>
              <p:cNvSpPr txBox="1">
                <a:spLocks noRot="1" noChangeAspect="1" noMove="1" noResize="1" noEditPoints="1" noAdjustHandles="1" noChangeArrowheads="1" noChangeShapeType="1" noTextEdit="1"/>
              </p:cNvSpPr>
              <p:nvPr/>
            </p:nvSpPr>
            <p:spPr>
              <a:xfrm>
                <a:off x="375501" y="1181713"/>
                <a:ext cx="5378227" cy="1867434"/>
              </a:xfrm>
              <a:prstGeom prst="rect">
                <a:avLst/>
              </a:prstGeom>
              <a:blipFill>
                <a:blip r:embed="rId4"/>
                <a:stretch>
                  <a:fillRect l="-680" b="-33987"/>
                </a:stretch>
              </a:blipFill>
              <a:ln>
                <a:no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26FF6237-FF9F-CF40-A52A-C6197BC28BE4}"/>
                  </a:ext>
                </a:extLst>
              </p:cNvPr>
              <p:cNvSpPr txBox="1"/>
              <p:nvPr/>
            </p:nvSpPr>
            <p:spPr>
              <a:xfrm>
                <a:off x="375501" y="3656919"/>
                <a:ext cx="2388795" cy="69589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2</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2</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2</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2</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m:oMathPara>
                </a14:m>
                <a:endParaRPr lang="es-MX" sz="1600" dirty="0">
                  <a:solidFill>
                    <a:schemeClr val="tx2"/>
                  </a:solidFill>
                </a:endParaRPr>
              </a:p>
            </p:txBody>
          </p:sp>
        </mc:Choice>
        <mc:Fallback>
          <p:sp>
            <p:nvSpPr>
              <p:cNvPr id="43" name="CuadroTexto 42">
                <a:extLst>
                  <a:ext uri="{FF2B5EF4-FFF2-40B4-BE49-F238E27FC236}">
                    <a16:creationId xmlns:a16="http://schemas.microsoft.com/office/drawing/2014/main" id="{26FF6237-FF9F-CF40-A52A-C6197BC28BE4}"/>
                  </a:ext>
                </a:extLst>
              </p:cNvPr>
              <p:cNvSpPr txBox="1">
                <a:spLocks noRot="1" noChangeAspect="1" noMove="1" noResize="1" noEditPoints="1" noAdjustHandles="1" noChangeArrowheads="1" noChangeShapeType="1" noTextEdit="1"/>
              </p:cNvSpPr>
              <p:nvPr/>
            </p:nvSpPr>
            <p:spPr>
              <a:xfrm>
                <a:off x="375501" y="3656919"/>
                <a:ext cx="2388795" cy="695896"/>
              </a:xfrm>
              <a:prstGeom prst="rect">
                <a:avLst/>
              </a:prstGeom>
              <a:blipFill>
                <a:blip r:embed="rId5"/>
                <a:stretch>
                  <a:fillRect/>
                </a:stretch>
              </a:blipFill>
            </p:spPr>
            <p:txBody>
              <a:bodyPr/>
              <a:lstStyle/>
              <a:p>
                <a:r>
                  <a:rPr lang="es-MX">
                    <a:noFill/>
                  </a:rPr>
                  <a:t> </a:t>
                </a:r>
              </a:p>
            </p:txBody>
          </p:sp>
        </mc:Fallback>
      </mc:AlternateContent>
      <p:sp>
        <p:nvSpPr>
          <p:cNvPr id="44" name="Google Shape;1603;p42">
            <a:extLst>
              <a:ext uri="{FF2B5EF4-FFF2-40B4-BE49-F238E27FC236}">
                <a16:creationId xmlns:a16="http://schemas.microsoft.com/office/drawing/2014/main" id="{05461871-2459-49B4-0858-102F8D7222E2}"/>
              </a:ext>
            </a:extLst>
          </p:cNvPr>
          <p:cNvSpPr txBox="1"/>
          <p:nvPr/>
        </p:nvSpPr>
        <p:spPr>
          <a:xfrm>
            <a:off x="605274" y="4264691"/>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Z2</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9EEA6A1F-C89B-8FF7-CEFA-DD6C00A0C5F2}"/>
                  </a:ext>
                </a:extLst>
              </p:cNvPr>
              <p:cNvSpPr txBox="1"/>
              <p:nvPr/>
            </p:nvSpPr>
            <p:spPr>
              <a:xfrm>
                <a:off x="3674764" y="3661183"/>
                <a:ext cx="1361719" cy="6873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1" i="1">
                                    <a:solidFill>
                                      <a:schemeClr val="tx2"/>
                                    </a:solidFill>
                                    <a:latin typeface="Cambria Math" panose="02040503050406030204" pitchFamily="18" charset="0"/>
                                    <a:cs typeface="Times New Roman" panose="02020603050405020304" pitchFamily="18" charset="0"/>
                                  </a:rPr>
                                  <m:t>−</m:t>
                                </m:r>
                                <m:r>
                                  <a:rPr lang="es-MX" sz="1600" b="1" i="1">
                                    <a:solidFill>
                                      <a:schemeClr val="tx2"/>
                                    </a:solidFill>
                                    <a:latin typeface="Cambria Math" panose="02040503050406030204" pitchFamily="18" charset="0"/>
                                    <a:cs typeface="Times New Roman" panose="02020603050405020304" pitchFamily="18" charset="0"/>
                                  </a:rPr>
                                  <m:t>𝑳</m:t>
                                </m:r>
                                <m:r>
                                  <a:rPr lang="es-MX" sz="1600" b="1" i="1">
                                    <a:solidFill>
                                      <a:schemeClr val="tx2"/>
                                    </a:solidFill>
                                    <a:latin typeface="Cambria Math" panose="02040503050406030204" pitchFamily="18" charset="0"/>
                                    <a:cs typeface="Times New Roman" panose="02020603050405020304" pitchFamily="18" charset="0"/>
                                  </a:rPr>
                                  <m:t>𝟐</m:t>
                                </m:r>
                                <m:r>
                                  <a:rPr lang="es-MX" sz="1600" b="1" i="1">
                                    <a:solidFill>
                                      <a:schemeClr val="tx2"/>
                                    </a:solidFill>
                                    <a:latin typeface="Cambria Math" panose="02040503050406030204" pitchFamily="18" charset="0"/>
                                    <a:cs typeface="Times New Roman" panose="02020603050405020304" pitchFamily="18" charset="0"/>
                                  </a:rPr>
                                  <m:t>𝒔𝒆𝒏</m:t>
                                </m:r>
                                <m:r>
                                  <a:rPr lang="es-MX" sz="1600" b="1" i="1">
                                    <a:solidFill>
                                      <a:schemeClr val="tx2"/>
                                    </a:solidFill>
                                    <a:latin typeface="Cambria Math" panose="02040503050406030204" pitchFamily="18" charset="0"/>
                                    <a:cs typeface="Times New Roman" panose="020206030504050203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i="1">
                                        <a:solidFill>
                                          <a:schemeClr val="tx2"/>
                                        </a:solidFill>
                                        <a:latin typeface="Cambria Math" panose="02040503050406030204" pitchFamily="18" charset="0"/>
                                      </a:rPr>
                                      <m:t>2</m:t>
                                    </m:r>
                                  </m:sub>
                                </m:sSub>
                                <m:r>
                                  <m:rPr>
                                    <m:brk m:alnAt="7"/>
                                  </m:rPr>
                                  <a:rPr lang="es-MX" sz="1600" b="1" i="1">
                                    <a:solidFill>
                                      <a:schemeClr val="tx2"/>
                                    </a:solidFill>
                                    <a:latin typeface="Cambria Math" panose="02040503050406030204" pitchFamily="18" charset="0"/>
                                    <a:cs typeface="Times New Roman" panose="02020603050405020304" pitchFamily="18" charset="0"/>
                                  </a:rPr>
                                  <m:t>)</m:t>
                                </m:r>
                              </m:e>
                            </m:mr>
                            <m:mr>
                              <m:e>
                                <m:r>
                                  <m:rPr>
                                    <m:brk m:alnAt="7"/>
                                  </m:rPr>
                                  <a:rPr lang="es-MX" sz="1600" b="1" i="1">
                                    <a:solidFill>
                                      <a:schemeClr val="tx2"/>
                                    </a:solidFill>
                                    <a:latin typeface="Cambria Math" panose="02040503050406030204" pitchFamily="18" charset="0"/>
                                    <a:cs typeface="Times New Roman" panose="02020603050405020304" pitchFamily="18" charset="0"/>
                                  </a:rPr>
                                  <m:t>𝑳</m:t>
                                </m:r>
                                <m:r>
                                  <a:rPr lang="es-MX" sz="1600" b="1" i="1">
                                    <a:solidFill>
                                      <a:schemeClr val="tx2"/>
                                    </a:solidFill>
                                    <a:latin typeface="Cambria Math" panose="02040503050406030204" pitchFamily="18" charset="0"/>
                                    <a:cs typeface="Times New Roman" panose="02020603050405020304" pitchFamily="18" charset="0"/>
                                  </a:rPr>
                                  <m:t>𝟐</m:t>
                                </m:r>
                                <m:r>
                                  <a:rPr lang="es-MX" sz="1600" b="1" i="1">
                                    <a:solidFill>
                                      <a:schemeClr val="tx2"/>
                                    </a:solidFill>
                                    <a:latin typeface="Cambria Math" panose="02040503050406030204" pitchFamily="18" charset="0"/>
                                    <a:cs typeface="Times New Roman" panose="02020603050405020304" pitchFamily="18" charset="0"/>
                                  </a:rPr>
                                  <m:t>𝒄𝒐𝒔</m:t>
                                </m:r>
                                <m:r>
                                  <a:rPr lang="es-MX" sz="1600" b="1" i="1">
                                    <a:solidFill>
                                      <a:schemeClr val="tx2"/>
                                    </a:solidFill>
                                    <a:latin typeface="Cambria Math" panose="02040503050406030204" pitchFamily="18" charset="0"/>
                                    <a:cs typeface="Times New Roman" panose="020206030504050203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i="1">
                                        <a:solidFill>
                                          <a:schemeClr val="tx2"/>
                                        </a:solidFill>
                                        <a:latin typeface="Cambria Math" panose="02040503050406030204" pitchFamily="18" charset="0"/>
                                      </a:rPr>
                                      <m:t>2</m:t>
                                    </m:r>
                                  </m:sub>
                                </m:sSub>
                                <m:r>
                                  <a:rPr lang="es-MX" sz="1600" i="1">
                                    <a:solidFill>
                                      <a:schemeClr val="tx2"/>
                                    </a:solidFill>
                                    <a:latin typeface="Cambria Math" panose="02040503050406030204" pitchFamily="18" charset="0"/>
                                  </a:rPr>
                                  <m:t>)</m:t>
                                </m:r>
                              </m:e>
                            </m:mr>
                            <m:mr>
                              <m:e>
                                <m:r>
                                  <a:rPr lang="es-MX" sz="1600" b="1" i="1" smtClean="0">
                                    <a:solidFill>
                                      <a:schemeClr val="tx2"/>
                                    </a:solidFill>
                                    <a:latin typeface="Cambria Math" panose="02040503050406030204" pitchFamily="18" charset="0"/>
                                  </a:rPr>
                                  <m:t>𝟎</m:t>
                                </m:r>
                              </m:e>
                            </m:mr>
                          </m:m>
                        </m:e>
                      </m:d>
                    </m:oMath>
                  </m:oMathPara>
                </a14:m>
                <a:endParaRPr lang="es-MX" sz="1600" dirty="0"/>
              </a:p>
            </p:txBody>
          </p:sp>
        </mc:Choice>
        <mc:Fallback>
          <p:sp>
            <p:nvSpPr>
              <p:cNvPr id="45" name="CuadroTexto 44">
                <a:extLst>
                  <a:ext uri="{FF2B5EF4-FFF2-40B4-BE49-F238E27FC236}">
                    <a16:creationId xmlns:a16="http://schemas.microsoft.com/office/drawing/2014/main" id="{9EEA6A1F-C89B-8FF7-CEFA-DD6C00A0C5F2}"/>
                  </a:ext>
                </a:extLst>
              </p:cNvPr>
              <p:cNvSpPr txBox="1">
                <a:spLocks noRot="1" noChangeAspect="1" noMove="1" noResize="1" noEditPoints="1" noAdjustHandles="1" noChangeArrowheads="1" noChangeShapeType="1" noTextEdit="1"/>
              </p:cNvSpPr>
              <p:nvPr/>
            </p:nvSpPr>
            <p:spPr>
              <a:xfrm>
                <a:off x="3674764" y="3661183"/>
                <a:ext cx="1361719" cy="687368"/>
              </a:xfrm>
              <a:prstGeom prst="rect">
                <a:avLst/>
              </a:prstGeom>
              <a:blipFill>
                <a:blip r:embed="rId6"/>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C0096F22-6C77-0364-56BB-23A06D4AEB1F}"/>
              </a:ext>
            </a:extLst>
          </p:cNvPr>
          <p:cNvSpPr txBox="1"/>
          <p:nvPr/>
        </p:nvSpPr>
        <p:spPr>
          <a:xfrm>
            <a:off x="3785352" y="4360525"/>
            <a:ext cx="1150293" cy="738664"/>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A2 a A3</a:t>
            </a:r>
            <a:endParaRPr lang="es-ES" sz="1400" b="1" dirty="0">
              <a:solidFill>
                <a:schemeClr val="tx2"/>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1752B807-4916-4716-FDA8-B62BE16C2FD8}"/>
              </a:ext>
            </a:extLst>
          </p:cNvPr>
          <p:cNvPicPr>
            <a:picLocks noChangeAspect="1"/>
          </p:cNvPicPr>
          <p:nvPr/>
        </p:nvPicPr>
        <p:blipFill>
          <a:blip r:embed="rId7"/>
          <a:stretch>
            <a:fillRect/>
          </a:stretch>
        </p:blipFill>
        <p:spPr>
          <a:xfrm>
            <a:off x="5744925" y="1312244"/>
            <a:ext cx="3375693" cy="3572097"/>
          </a:xfrm>
          <a:prstGeom prst="rect">
            <a:avLst/>
          </a:prstGeom>
        </p:spPr>
      </p:pic>
      <p:sp>
        <p:nvSpPr>
          <p:cNvPr id="9" name="CuadroTexto 8">
            <a:extLst>
              <a:ext uri="{FF2B5EF4-FFF2-40B4-BE49-F238E27FC236}">
                <a16:creationId xmlns:a16="http://schemas.microsoft.com/office/drawing/2014/main" id="{783A82FC-9FAF-40F4-0B99-286498415913}"/>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11" name="CuadroTexto 10">
            <a:extLst>
              <a:ext uri="{FF2B5EF4-FFF2-40B4-BE49-F238E27FC236}">
                <a16:creationId xmlns:a16="http://schemas.microsoft.com/office/drawing/2014/main" id="{57ADECF3-F21F-C440-C2C8-0468F173554E}"/>
              </a:ext>
            </a:extLst>
          </p:cNvPr>
          <p:cNvSpPr txBox="1"/>
          <p:nvPr/>
        </p:nvSpPr>
        <p:spPr>
          <a:xfrm>
            <a:off x="6307246" y="2237995"/>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14" name="CuadroTexto 13">
            <a:extLst>
              <a:ext uri="{FF2B5EF4-FFF2-40B4-BE49-F238E27FC236}">
                <a16:creationId xmlns:a16="http://schemas.microsoft.com/office/drawing/2014/main" id="{4A77A96B-E275-22C1-A36F-A21DF9452FEA}"/>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15" name="CuadroTexto 14">
            <a:extLst>
              <a:ext uri="{FF2B5EF4-FFF2-40B4-BE49-F238E27FC236}">
                <a16:creationId xmlns:a16="http://schemas.microsoft.com/office/drawing/2014/main" id="{45F96E44-FFFC-C5DE-247C-7121A6E84904}"/>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22" name="CuadroTexto 21">
            <a:extLst>
              <a:ext uri="{FF2B5EF4-FFF2-40B4-BE49-F238E27FC236}">
                <a16:creationId xmlns:a16="http://schemas.microsoft.com/office/drawing/2014/main" id="{91D5627F-A04D-E86E-AFA7-0A42049FA3CD}"/>
              </a:ext>
            </a:extLst>
          </p:cNvPr>
          <p:cNvSpPr txBox="1"/>
          <p:nvPr/>
        </p:nvSpPr>
        <p:spPr>
          <a:xfrm>
            <a:off x="8633246" y="213606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23" name="Conector recto de flecha 22">
            <a:extLst>
              <a:ext uri="{FF2B5EF4-FFF2-40B4-BE49-F238E27FC236}">
                <a16:creationId xmlns:a16="http://schemas.microsoft.com/office/drawing/2014/main" id="{73F7D075-3AD9-18D2-9F38-8202A78B00C0}"/>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4" name="Conector recto de flecha 23">
            <a:extLst>
              <a:ext uri="{FF2B5EF4-FFF2-40B4-BE49-F238E27FC236}">
                <a16:creationId xmlns:a16="http://schemas.microsoft.com/office/drawing/2014/main" id="{00314142-9BA4-EB0F-6EED-7F0691D8B667}"/>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5" name="Conector recto de flecha 24">
            <a:extLst>
              <a:ext uri="{FF2B5EF4-FFF2-40B4-BE49-F238E27FC236}">
                <a16:creationId xmlns:a16="http://schemas.microsoft.com/office/drawing/2014/main" id="{2545D4A3-10F4-67A9-C27B-C211A659027A}"/>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26" name="CuadroTexto 25">
            <a:extLst>
              <a:ext uri="{FF2B5EF4-FFF2-40B4-BE49-F238E27FC236}">
                <a16:creationId xmlns:a16="http://schemas.microsoft.com/office/drawing/2014/main" id="{3FB71D84-62B8-D679-567B-1E77601CB8FD}"/>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27" name="CuadroTexto 26">
            <a:extLst>
              <a:ext uri="{FF2B5EF4-FFF2-40B4-BE49-F238E27FC236}">
                <a16:creationId xmlns:a16="http://schemas.microsoft.com/office/drawing/2014/main" id="{B0C19858-0D7B-8A88-0766-68A3CCF4A443}"/>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28" name="CuadroTexto 27">
            <a:extLst>
              <a:ext uri="{FF2B5EF4-FFF2-40B4-BE49-F238E27FC236}">
                <a16:creationId xmlns:a16="http://schemas.microsoft.com/office/drawing/2014/main" id="{7EDFEEA8-7255-C238-3599-BF7D80F0825A}"/>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cxnSp>
        <p:nvCxnSpPr>
          <p:cNvPr id="31" name="Conector recto de flecha 30">
            <a:extLst>
              <a:ext uri="{FF2B5EF4-FFF2-40B4-BE49-F238E27FC236}">
                <a16:creationId xmlns:a16="http://schemas.microsoft.com/office/drawing/2014/main" id="{9B4C2AA1-C527-4310-16A3-B6FA6DD25DAA}"/>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7" name="Conector recto de flecha 36">
            <a:extLst>
              <a:ext uri="{FF2B5EF4-FFF2-40B4-BE49-F238E27FC236}">
                <a16:creationId xmlns:a16="http://schemas.microsoft.com/office/drawing/2014/main" id="{93B56985-82E8-207D-A092-BB56266C58A7}"/>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9" name="Conector recto de flecha 38">
            <a:extLst>
              <a:ext uri="{FF2B5EF4-FFF2-40B4-BE49-F238E27FC236}">
                <a16:creationId xmlns:a16="http://schemas.microsoft.com/office/drawing/2014/main" id="{07AE89D5-D191-46E9-E984-12EF0EC66578}"/>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40" name="CuadroTexto 39">
            <a:extLst>
              <a:ext uri="{FF2B5EF4-FFF2-40B4-BE49-F238E27FC236}">
                <a16:creationId xmlns:a16="http://schemas.microsoft.com/office/drawing/2014/main" id="{28AF5FF5-5512-CF73-195C-41D3166BBAE9}"/>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41" name="CuadroTexto 40">
            <a:extLst>
              <a:ext uri="{FF2B5EF4-FFF2-40B4-BE49-F238E27FC236}">
                <a16:creationId xmlns:a16="http://schemas.microsoft.com/office/drawing/2014/main" id="{944895E2-291E-5191-5928-3127B6B06238}"/>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46" name="CuadroTexto 45">
            <a:extLst>
              <a:ext uri="{FF2B5EF4-FFF2-40B4-BE49-F238E27FC236}">
                <a16:creationId xmlns:a16="http://schemas.microsoft.com/office/drawing/2014/main" id="{3AE46AC6-743F-9248-2186-018709F2027B}"/>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3" name="Conector recto 2">
            <a:extLst>
              <a:ext uri="{FF2B5EF4-FFF2-40B4-BE49-F238E27FC236}">
                <a16:creationId xmlns:a16="http://schemas.microsoft.com/office/drawing/2014/main" id="{CA833A92-E435-6FD9-6D81-18FAEF1EEEB4}"/>
              </a:ext>
            </a:extLst>
          </p:cNvPr>
          <p:cNvCxnSpPr>
            <a:cxnSpLocks/>
          </p:cNvCxnSpPr>
          <p:nvPr/>
        </p:nvCxnSpPr>
        <p:spPr>
          <a:xfrm flipH="1" flipV="1">
            <a:off x="6352868" y="2545307"/>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B84F249-0081-3CD8-ED84-55813544C904}"/>
              </a:ext>
            </a:extLst>
          </p:cNvPr>
          <p:cNvSpPr txBox="1"/>
          <p:nvPr/>
        </p:nvSpPr>
        <p:spPr>
          <a:xfrm>
            <a:off x="5947611" y="2423642"/>
            <a:ext cx="469601"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cxnSp>
        <p:nvCxnSpPr>
          <p:cNvPr id="6" name="Conector recto de flecha 5">
            <a:extLst>
              <a:ext uri="{FF2B5EF4-FFF2-40B4-BE49-F238E27FC236}">
                <a16:creationId xmlns:a16="http://schemas.microsoft.com/office/drawing/2014/main" id="{9BCBC414-6162-3026-641D-BBB112434818}"/>
              </a:ext>
            </a:extLst>
          </p:cNvPr>
          <p:cNvCxnSpPr>
            <a:cxnSpLocks/>
          </p:cNvCxnSpPr>
          <p:nvPr/>
        </p:nvCxnSpPr>
        <p:spPr>
          <a:xfrm>
            <a:off x="6835714" y="1963721"/>
            <a:ext cx="361325" cy="11511"/>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7" name="Conector recto de flecha 6">
            <a:extLst>
              <a:ext uri="{FF2B5EF4-FFF2-40B4-BE49-F238E27FC236}">
                <a16:creationId xmlns:a16="http://schemas.microsoft.com/office/drawing/2014/main" id="{E5CF507D-6BA3-9010-E390-2ADCABDF15FA}"/>
              </a:ext>
            </a:extLst>
          </p:cNvPr>
          <p:cNvCxnSpPr>
            <a:cxnSpLocks/>
          </p:cNvCxnSpPr>
          <p:nvPr/>
        </p:nvCxnSpPr>
        <p:spPr>
          <a:xfrm flipH="1">
            <a:off x="6568661" y="1978579"/>
            <a:ext cx="249674" cy="25152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2" name="Conector recto de flecha 11">
            <a:extLst>
              <a:ext uri="{FF2B5EF4-FFF2-40B4-BE49-F238E27FC236}">
                <a16:creationId xmlns:a16="http://schemas.microsoft.com/office/drawing/2014/main" id="{BF536582-11E6-4BC6-FACB-E4F4021BE197}"/>
              </a:ext>
            </a:extLst>
          </p:cNvPr>
          <p:cNvCxnSpPr>
            <a:cxnSpLocks/>
          </p:cNvCxnSpPr>
          <p:nvPr/>
        </p:nvCxnSpPr>
        <p:spPr>
          <a:xfrm>
            <a:off x="6841370" y="194293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 name="CuadroTexto 12">
            <a:extLst>
              <a:ext uri="{FF2B5EF4-FFF2-40B4-BE49-F238E27FC236}">
                <a16:creationId xmlns:a16="http://schemas.microsoft.com/office/drawing/2014/main" id="{A3BD9569-4D3D-DC20-2A47-5DF90CA71C1B}"/>
              </a:ext>
            </a:extLst>
          </p:cNvPr>
          <p:cNvSpPr txBox="1"/>
          <p:nvPr/>
        </p:nvSpPr>
        <p:spPr>
          <a:xfrm>
            <a:off x="6812078" y="212976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16" name="CuadroTexto 15">
            <a:extLst>
              <a:ext uri="{FF2B5EF4-FFF2-40B4-BE49-F238E27FC236}">
                <a16:creationId xmlns:a16="http://schemas.microsoft.com/office/drawing/2014/main" id="{2A674935-2ADF-64A1-035D-7050EB0BEFC9}"/>
              </a:ext>
            </a:extLst>
          </p:cNvPr>
          <p:cNvSpPr txBox="1"/>
          <p:nvPr/>
        </p:nvSpPr>
        <p:spPr>
          <a:xfrm>
            <a:off x="7027373" y="1614791"/>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17" name="CuadroTexto 16">
            <a:extLst>
              <a:ext uri="{FF2B5EF4-FFF2-40B4-BE49-F238E27FC236}">
                <a16:creationId xmlns:a16="http://schemas.microsoft.com/office/drawing/2014/main" id="{C7385C36-5E08-ABAA-02D3-CF1DA505529E}"/>
              </a:ext>
            </a:extLst>
          </p:cNvPr>
          <p:cNvSpPr txBox="1"/>
          <p:nvPr/>
        </p:nvSpPr>
        <p:spPr>
          <a:xfrm>
            <a:off x="6352889" y="1883408"/>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spTree>
    <p:extLst>
      <p:ext uri="{BB962C8B-B14F-4D97-AF65-F5344CB8AC3E}">
        <p14:creationId xmlns:p14="http://schemas.microsoft.com/office/powerpoint/2010/main" val="172399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AF50B374-E93A-7ABB-4AA9-73DEB698E630}"/>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811C178D-F23C-4E39-5352-F6C226AB330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36D179CD-101D-B8F4-F345-B2E467C5C6FD}"/>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D0C3E25E-D088-8BB5-A74D-DDD2A3A364AA}"/>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mc:Choice xmlns:a14="http://schemas.microsoft.com/office/drawing/2010/main" Requires="a14">
          <p:sp>
            <p:nvSpPr>
              <p:cNvPr id="10" name="Google Shape;1603;p42">
                <a:extLst>
                  <a:ext uri="{FF2B5EF4-FFF2-40B4-BE49-F238E27FC236}">
                    <a16:creationId xmlns:a16="http://schemas.microsoft.com/office/drawing/2014/main" id="{23ADD49E-9B79-7D92-B554-88C47538BD46}"/>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A3</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A4</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“Rotación de -90° alrededor de X3”</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negativa de –L3*sen(</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b="0" i="1" smtClean="0">
                            <a:solidFill>
                              <a:srgbClr val="FFFF00"/>
                            </a:solidFill>
                            <a:latin typeface="Cambria Math" panose="02040503050406030204" pitchFamily="18" charset="0"/>
                          </a:rPr>
                          <m:t>3</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X3”</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L3*cos(</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b="0" i="1" smtClean="0">
                            <a:solidFill>
                              <a:srgbClr val="FFFF00"/>
                            </a:solidFill>
                            <a:latin typeface="Cambria Math" panose="02040503050406030204" pitchFamily="18" charset="0"/>
                          </a:rPr>
                          <m:t>3</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Y3”</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Choice>
        <mc:Fallback>
          <p:sp>
            <p:nvSpPr>
              <p:cNvPr id="10" name="Google Shape;1603;p42">
                <a:extLst>
                  <a:ext uri="{FF2B5EF4-FFF2-40B4-BE49-F238E27FC236}">
                    <a16:creationId xmlns:a16="http://schemas.microsoft.com/office/drawing/2014/main" id="{23ADD49E-9B79-7D92-B554-88C47538BD46}"/>
                  </a:ext>
                </a:extLst>
              </p:cNvPr>
              <p:cNvSpPr txBox="1">
                <a:spLocks noRot="1" noChangeAspect="1" noMove="1" noResize="1" noEditPoints="1" noAdjustHandles="1" noChangeArrowheads="1" noChangeShapeType="1" noTextEdit="1"/>
              </p:cNvSpPr>
              <p:nvPr/>
            </p:nvSpPr>
            <p:spPr>
              <a:xfrm>
                <a:off x="375501" y="1181713"/>
                <a:ext cx="5378227" cy="1867434"/>
              </a:xfrm>
              <a:prstGeom prst="rect">
                <a:avLst/>
              </a:prstGeom>
              <a:blipFill>
                <a:blip r:embed="rId4"/>
                <a:stretch>
                  <a:fillRect l="-680" b="-33987"/>
                </a:stretch>
              </a:blipFill>
              <a:ln>
                <a:no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CC4B618F-4B23-919A-C1DC-D7234F51B6FA}"/>
                  </a:ext>
                </a:extLst>
              </p:cNvPr>
              <p:cNvSpPr txBox="1"/>
              <p:nvPr/>
            </p:nvSpPr>
            <p:spPr>
              <a:xfrm>
                <a:off x="453979" y="3686144"/>
                <a:ext cx="2387247" cy="695896"/>
              </a:xfrm>
              <a:prstGeom prst="rect">
                <a:avLst/>
              </a:prstGeom>
              <a:noFill/>
            </p:spPr>
            <p:txBody>
              <a:bodyPr wrap="square" lIns="0" tIns="0" rIns="0" bIns="0" rtlCol="0">
                <a:spAutoFit/>
              </a:bodyPr>
              <a:lstStyle/>
              <a:p>
                <a:pPr/>
                <a14:m>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3</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3</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3</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3</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a14:m>
                <a:r>
                  <a:rPr lang="es-MX" sz="1600" dirty="0">
                    <a:solidFill>
                      <a:schemeClr val="tx2"/>
                    </a:solidFill>
                  </a:rPr>
                  <a:t>*</a:t>
                </a:r>
              </a:p>
            </p:txBody>
          </p:sp>
        </mc:Choice>
        <mc:Fallback>
          <p:sp>
            <p:nvSpPr>
              <p:cNvPr id="43" name="CuadroTexto 42">
                <a:extLst>
                  <a:ext uri="{FF2B5EF4-FFF2-40B4-BE49-F238E27FC236}">
                    <a16:creationId xmlns:a16="http://schemas.microsoft.com/office/drawing/2014/main" id="{CC4B618F-4B23-919A-C1DC-D7234F51B6FA}"/>
                  </a:ext>
                </a:extLst>
              </p:cNvPr>
              <p:cNvSpPr txBox="1">
                <a:spLocks noRot="1" noChangeAspect="1" noMove="1" noResize="1" noEditPoints="1" noAdjustHandles="1" noChangeArrowheads="1" noChangeShapeType="1" noTextEdit="1"/>
              </p:cNvSpPr>
              <p:nvPr/>
            </p:nvSpPr>
            <p:spPr>
              <a:xfrm>
                <a:off x="453979" y="3686144"/>
                <a:ext cx="2387247" cy="695896"/>
              </a:xfrm>
              <a:prstGeom prst="rect">
                <a:avLst/>
              </a:prstGeom>
              <a:blipFill>
                <a:blip r:embed="rId5"/>
                <a:stretch>
                  <a:fillRect r="-3061"/>
                </a:stretch>
              </a:blipFill>
            </p:spPr>
            <p:txBody>
              <a:bodyPr/>
              <a:lstStyle/>
              <a:p>
                <a:r>
                  <a:rPr lang="es-MX">
                    <a:noFill/>
                  </a:rPr>
                  <a:t> </a:t>
                </a:r>
              </a:p>
            </p:txBody>
          </p:sp>
        </mc:Fallback>
      </mc:AlternateContent>
      <p:sp>
        <p:nvSpPr>
          <p:cNvPr id="44" name="Google Shape;1603;p42">
            <a:extLst>
              <a:ext uri="{FF2B5EF4-FFF2-40B4-BE49-F238E27FC236}">
                <a16:creationId xmlns:a16="http://schemas.microsoft.com/office/drawing/2014/main" id="{2FC53E2A-69E4-D7EE-5714-D695497F7A5F}"/>
              </a:ext>
            </a:extLst>
          </p:cNvPr>
          <p:cNvSpPr txBox="1"/>
          <p:nvPr/>
        </p:nvSpPr>
        <p:spPr>
          <a:xfrm>
            <a:off x="564578" y="4253738"/>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Z3</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E32AA491-C151-D8E2-042E-DB772F2E2B3E}"/>
              </a:ext>
            </a:extLst>
          </p:cNvPr>
          <p:cNvPicPr>
            <a:picLocks noChangeAspect="1"/>
          </p:cNvPicPr>
          <p:nvPr/>
        </p:nvPicPr>
        <p:blipFill>
          <a:blip r:embed="rId6"/>
          <a:stretch>
            <a:fillRect/>
          </a:stretch>
        </p:blipFill>
        <p:spPr>
          <a:xfrm>
            <a:off x="5744925" y="1312244"/>
            <a:ext cx="3375693" cy="3572097"/>
          </a:xfrm>
          <a:prstGeom prst="rect">
            <a:avLst/>
          </a:prstGeom>
        </p:spPr>
      </p:pic>
      <p:sp>
        <p:nvSpPr>
          <p:cNvPr id="9" name="CuadroTexto 8">
            <a:extLst>
              <a:ext uri="{FF2B5EF4-FFF2-40B4-BE49-F238E27FC236}">
                <a16:creationId xmlns:a16="http://schemas.microsoft.com/office/drawing/2014/main" id="{53E187F2-3332-E996-D30A-6EC73F7CFF1A}"/>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11" name="CuadroTexto 10">
            <a:extLst>
              <a:ext uri="{FF2B5EF4-FFF2-40B4-BE49-F238E27FC236}">
                <a16:creationId xmlns:a16="http://schemas.microsoft.com/office/drawing/2014/main" id="{A3225AFB-35A9-81E6-9FC6-A1EE0D99E099}"/>
              </a:ext>
            </a:extLst>
          </p:cNvPr>
          <p:cNvSpPr txBox="1"/>
          <p:nvPr/>
        </p:nvSpPr>
        <p:spPr>
          <a:xfrm>
            <a:off x="6307246" y="2237995"/>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14" name="CuadroTexto 13">
            <a:extLst>
              <a:ext uri="{FF2B5EF4-FFF2-40B4-BE49-F238E27FC236}">
                <a16:creationId xmlns:a16="http://schemas.microsoft.com/office/drawing/2014/main" id="{4E46D43A-D801-87D8-14EC-2276541B4A3C}"/>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15" name="CuadroTexto 14">
            <a:extLst>
              <a:ext uri="{FF2B5EF4-FFF2-40B4-BE49-F238E27FC236}">
                <a16:creationId xmlns:a16="http://schemas.microsoft.com/office/drawing/2014/main" id="{4AA3A45D-8FBC-3476-2C87-07D2CA6FDDEF}"/>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22" name="CuadroTexto 21">
            <a:extLst>
              <a:ext uri="{FF2B5EF4-FFF2-40B4-BE49-F238E27FC236}">
                <a16:creationId xmlns:a16="http://schemas.microsoft.com/office/drawing/2014/main" id="{3CAAC22B-9A99-176B-5B69-065EF6314547}"/>
              </a:ext>
            </a:extLst>
          </p:cNvPr>
          <p:cNvSpPr txBox="1"/>
          <p:nvPr/>
        </p:nvSpPr>
        <p:spPr>
          <a:xfrm>
            <a:off x="8633246" y="213606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23" name="Conector recto de flecha 22">
            <a:extLst>
              <a:ext uri="{FF2B5EF4-FFF2-40B4-BE49-F238E27FC236}">
                <a16:creationId xmlns:a16="http://schemas.microsoft.com/office/drawing/2014/main" id="{CD6C8D0F-2DF0-F951-9F8D-16094BDDE3AC}"/>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4" name="Conector recto de flecha 23">
            <a:extLst>
              <a:ext uri="{FF2B5EF4-FFF2-40B4-BE49-F238E27FC236}">
                <a16:creationId xmlns:a16="http://schemas.microsoft.com/office/drawing/2014/main" id="{1F27361F-7C26-65C0-9F76-7ED0E1D01D6F}"/>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5" name="Conector recto de flecha 24">
            <a:extLst>
              <a:ext uri="{FF2B5EF4-FFF2-40B4-BE49-F238E27FC236}">
                <a16:creationId xmlns:a16="http://schemas.microsoft.com/office/drawing/2014/main" id="{A8E17794-C812-E509-738D-5D625A4E544E}"/>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26" name="CuadroTexto 25">
            <a:extLst>
              <a:ext uri="{FF2B5EF4-FFF2-40B4-BE49-F238E27FC236}">
                <a16:creationId xmlns:a16="http://schemas.microsoft.com/office/drawing/2014/main" id="{8E26CAB1-0BA7-4654-014F-66EAF991B24F}"/>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27" name="CuadroTexto 26">
            <a:extLst>
              <a:ext uri="{FF2B5EF4-FFF2-40B4-BE49-F238E27FC236}">
                <a16:creationId xmlns:a16="http://schemas.microsoft.com/office/drawing/2014/main" id="{236A505E-F772-BB8B-8D61-FE418510762C}"/>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28" name="CuadroTexto 27">
            <a:extLst>
              <a:ext uri="{FF2B5EF4-FFF2-40B4-BE49-F238E27FC236}">
                <a16:creationId xmlns:a16="http://schemas.microsoft.com/office/drawing/2014/main" id="{5BC9CB15-6E0A-D134-155A-D6FCFC2657AD}"/>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cxnSp>
        <p:nvCxnSpPr>
          <p:cNvPr id="31" name="Conector recto de flecha 30">
            <a:extLst>
              <a:ext uri="{FF2B5EF4-FFF2-40B4-BE49-F238E27FC236}">
                <a16:creationId xmlns:a16="http://schemas.microsoft.com/office/drawing/2014/main" id="{7FF6C1C7-D8A1-E4FA-3662-C8AA6DFBC531}"/>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7" name="Conector recto de flecha 36">
            <a:extLst>
              <a:ext uri="{FF2B5EF4-FFF2-40B4-BE49-F238E27FC236}">
                <a16:creationId xmlns:a16="http://schemas.microsoft.com/office/drawing/2014/main" id="{7043DFF6-02F3-DA5B-6FA4-6CC0A73EED54}"/>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9" name="Conector recto de flecha 38">
            <a:extLst>
              <a:ext uri="{FF2B5EF4-FFF2-40B4-BE49-F238E27FC236}">
                <a16:creationId xmlns:a16="http://schemas.microsoft.com/office/drawing/2014/main" id="{B473F592-5FF1-434F-B983-C432802AE15B}"/>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40" name="CuadroTexto 39">
            <a:extLst>
              <a:ext uri="{FF2B5EF4-FFF2-40B4-BE49-F238E27FC236}">
                <a16:creationId xmlns:a16="http://schemas.microsoft.com/office/drawing/2014/main" id="{9928231A-ECCB-D1AD-2D08-FF0C7493DDC9}"/>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41" name="CuadroTexto 40">
            <a:extLst>
              <a:ext uri="{FF2B5EF4-FFF2-40B4-BE49-F238E27FC236}">
                <a16:creationId xmlns:a16="http://schemas.microsoft.com/office/drawing/2014/main" id="{F184A53D-6C92-5B53-4A0E-85B2D5481579}"/>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46" name="CuadroTexto 45">
            <a:extLst>
              <a:ext uri="{FF2B5EF4-FFF2-40B4-BE49-F238E27FC236}">
                <a16:creationId xmlns:a16="http://schemas.microsoft.com/office/drawing/2014/main" id="{6D47ADCC-914B-A2FD-68A3-55059B3E71E3}"/>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3" name="Conector recto 2">
            <a:extLst>
              <a:ext uri="{FF2B5EF4-FFF2-40B4-BE49-F238E27FC236}">
                <a16:creationId xmlns:a16="http://schemas.microsoft.com/office/drawing/2014/main" id="{A15BED3B-E4DC-AB6B-4CA8-C58B4009205B}"/>
              </a:ext>
            </a:extLst>
          </p:cNvPr>
          <p:cNvCxnSpPr>
            <a:cxnSpLocks/>
          </p:cNvCxnSpPr>
          <p:nvPr/>
        </p:nvCxnSpPr>
        <p:spPr>
          <a:xfrm flipH="1" flipV="1">
            <a:off x="6352868" y="2545307"/>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83C28C6-408C-8115-1F51-C6BEAB6F5ECF}"/>
              </a:ext>
            </a:extLst>
          </p:cNvPr>
          <p:cNvSpPr txBox="1"/>
          <p:nvPr/>
        </p:nvSpPr>
        <p:spPr>
          <a:xfrm>
            <a:off x="5947611" y="2423642"/>
            <a:ext cx="469601"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cxnSp>
        <p:nvCxnSpPr>
          <p:cNvPr id="6" name="Conector recto de flecha 5">
            <a:extLst>
              <a:ext uri="{FF2B5EF4-FFF2-40B4-BE49-F238E27FC236}">
                <a16:creationId xmlns:a16="http://schemas.microsoft.com/office/drawing/2014/main" id="{337F0699-1A4A-600B-1C75-437966858F9C}"/>
              </a:ext>
            </a:extLst>
          </p:cNvPr>
          <p:cNvCxnSpPr>
            <a:cxnSpLocks/>
          </p:cNvCxnSpPr>
          <p:nvPr/>
        </p:nvCxnSpPr>
        <p:spPr>
          <a:xfrm>
            <a:off x="6835714" y="1963721"/>
            <a:ext cx="361325" cy="11511"/>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7" name="Conector recto de flecha 6">
            <a:extLst>
              <a:ext uri="{FF2B5EF4-FFF2-40B4-BE49-F238E27FC236}">
                <a16:creationId xmlns:a16="http://schemas.microsoft.com/office/drawing/2014/main" id="{5C836634-A4EA-F5E7-ED88-5ADFECEA9850}"/>
              </a:ext>
            </a:extLst>
          </p:cNvPr>
          <p:cNvCxnSpPr>
            <a:cxnSpLocks/>
          </p:cNvCxnSpPr>
          <p:nvPr/>
        </p:nvCxnSpPr>
        <p:spPr>
          <a:xfrm flipH="1">
            <a:off x="6568661" y="1978579"/>
            <a:ext cx="249674" cy="25152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2" name="Conector recto de flecha 11">
            <a:extLst>
              <a:ext uri="{FF2B5EF4-FFF2-40B4-BE49-F238E27FC236}">
                <a16:creationId xmlns:a16="http://schemas.microsoft.com/office/drawing/2014/main" id="{23F4F7C5-170B-ADC3-2B99-F0BAB2A565F9}"/>
              </a:ext>
            </a:extLst>
          </p:cNvPr>
          <p:cNvCxnSpPr>
            <a:cxnSpLocks/>
          </p:cNvCxnSpPr>
          <p:nvPr/>
        </p:nvCxnSpPr>
        <p:spPr>
          <a:xfrm>
            <a:off x="6841370" y="194293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 name="CuadroTexto 12">
            <a:extLst>
              <a:ext uri="{FF2B5EF4-FFF2-40B4-BE49-F238E27FC236}">
                <a16:creationId xmlns:a16="http://schemas.microsoft.com/office/drawing/2014/main" id="{39B4B8C0-B775-DDA0-1686-6B056824CAF4}"/>
              </a:ext>
            </a:extLst>
          </p:cNvPr>
          <p:cNvSpPr txBox="1"/>
          <p:nvPr/>
        </p:nvSpPr>
        <p:spPr>
          <a:xfrm>
            <a:off x="6812078" y="212976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16" name="CuadroTexto 15">
            <a:extLst>
              <a:ext uri="{FF2B5EF4-FFF2-40B4-BE49-F238E27FC236}">
                <a16:creationId xmlns:a16="http://schemas.microsoft.com/office/drawing/2014/main" id="{9DC42672-9585-2084-F4F3-D21B94B4544C}"/>
              </a:ext>
            </a:extLst>
          </p:cNvPr>
          <p:cNvSpPr txBox="1"/>
          <p:nvPr/>
        </p:nvSpPr>
        <p:spPr>
          <a:xfrm>
            <a:off x="7027373" y="1614791"/>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17" name="CuadroTexto 16">
            <a:extLst>
              <a:ext uri="{FF2B5EF4-FFF2-40B4-BE49-F238E27FC236}">
                <a16:creationId xmlns:a16="http://schemas.microsoft.com/office/drawing/2014/main" id="{99BBD616-38B3-C72E-256C-522EB192ACB2}"/>
              </a:ext>
            </a:extLst>
          </p:cNvPr>
          <p:cNvSpPr txBox="1"/>
          <p:nvPr/>
        </p:nvSpPr>
        <p:spPr>
          <a:xfrm>
            <a:off x="6352889" y="1883408"/>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cxnSp>
        <p:nvCxnSpPr>
          <p:cNvPr id="2" name="Conector recto 1">
            <a:extLst>
              <a:ext uri="{FF2B5EF4-FFF2-40B4-BE49-F238E27FC236}">
                <a16:creationId xmlns:a16="http://schemas.microsoft.com/office/drawing/2014/main" id="{FA7A95D4-1700-2677-D6AE-9086B446E509}"/>
              </a:ext>
            </a:extLst>
          </p:cNvPr>
          <p:cNvCxnSpPr>
            <a:cxnSpLocks/>
          </p:cNvCxnSpPr>
          <p:nvPr/>
        </p:nvCxnSpPr>
        <p:spPr>
          <a:xfrm flipH="1" flipV="1">
            <a:off x="6818553" y="1429901"/>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B94D5995-FC2A-7FEE-DA5D-7351617627EF}"/>
              </a:ext>
            </a:extLst>
          </p:cNvPr>
          <p:cNvSpPr txBox="1"/>
          <p:nvPr/>
        </p:nvSpPr>
        <p:spPr>
          <a:xfrm>
            <a:off x="6440803" y="1353134"/>
            <a:ext cx="469601"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EE30A920-AE7C-9E60-77C6-F52561591752}"/>
                  </a:ext>
                </a:extLst>
              </p:cNvPr>
              <p:cNvSpPr txBox="1"/>
              <p:nvPr/>
            </p:nvSpPr>
            <p:spPr>
              <a:xfrm>
                <a:off x="2708950" y="3629071"/>
                <a:ext cx="2641556"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brk m:alnAt="7"/>
                                  </m:rP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m:t>
                                </m:r>
                                <m:r>
                                  <a:rPr lang="es-MX" sz="1600" i="1">
                                    <a:solidFill>
                                      <a:schemeClr val="tx2"/>
                                    </a:solidFill>
                                    <a:latin typeface="Cambria Math" panose="02040503050406030204" pitchFamily="18" charset="0"/>
                                  </a:rPr>
                                  <m:t>𝑠𝑒𝑛</m:t>
                                </m:r>
                                <m:r>
                                  <a:rPr lang="es-MX" sz="1600" i="1">
                                    <a:solidFill>
                                      <a:schemeClr val="tx2"/>
                                    </a:solidFill>
                                    <a:latin typeface="Cambria Math" panose="02040503050406030204" pitchFamily="18" charset="0"/>
                                  </a:rPr>
                                  <m:t>(−90)</m:t>
                                </m:r>
                              </m:e>
                            </m:mr>
                            <m:mr>
                              <m:e>
                                <m:r>
                                  <a:rPr lang="es-MX" sz="1600" b="0" i="1" smtClean="0">
                                    <a:solidFill>
                                      <a:schemeClr val="tx2"/>
                                    </a:solidFill>
                                    <a:latin typeface="Cambria Math" panose="02040503050406030204" pitchFamily="18" charset="0"/>
                                  </a:rPr>
                                  <m:t>0</m:t>
                                </m:r>
                              </m:e>
                              <m:e>
                                <m:r>
                                  <a:rPr lang="es-MX" sz="1600" i="1">
                                    <a:solidFill>
                                      <a:schemeClr val="tx2"/>
                                    </a:solidFill>
                                    <a:latin typeface="Cambria Math" panose="02040503050406030204" pitchFamily="18" charset="0"/>
                                  </a:rPr>
                                  <m:t>𝑠𝑒𝑛</m:t>
                                </m:r>
                                <m:r>
                                  <a:rPr lang="es-MX" sz="1600" i="1">
                                    <a:solidFill>
                                      <a:schemeClr val="tx2"/>
                                    </a:solidFill>
                                    <a:latin typeface="Cambria Math" panose="02040503050406030204" pitchFamily="18" charset="0"/>
                                  </a:rPr>
                                  <m:t>(−90)</m:t>
                                </m:r>
                              </m:e>
                              <m:e>
                                <m:r>
                                  <m:rPr>
                                    <m:sty m:val="p"/>
                                  </m:rPr>
                                  <a:rPr lang="es-MX" sz="1600">
                                    <a:solidFill>
                                      <a:schemeClr val="tx2"/>
                                    </a:solidFill>
                                    <a:latin typeface="Cambria Math" panose="02040503050406030204" pitchFamily="18" charset="0"/>
                                  </a:rPr>
                                  <m:t>cos</m:t>
                                </m:r>
                                <m:r>
                                  <a:rPr lang="es-MX" sz="1600">
                                    <a:solidFill>
                                      <a:schemeClr val="tx2"/>
                                    </a:solidFill>
                                    <a:latin typeface="Cambria Math" panose="02040503050406030204" pitchFamily="18" charset="0"/>
                                  </a:rPr>
                                  <m:t>(−90)</m:t>
                                </m:r>
                              </m:e>
                            </m:mr>
                          </m:m>
                        </m:e>
                      </m:d>
                    </m:oMath>
                  </m:oMathPara>
                </a14:m>
                <a:endParaRPr lang="es-MX" sz="1600" dirty="0"/>
              </a:p>
            </p:txBody>
          </p:sp>
        </mc:Choice>
        <mc:Fallback>
          <p:sp>
            <p:nvSpPr>
              <p:cNvPr id="18" name="CuadroTexto 17">
                <a:extLst>
                  <a:ext uri="{FF2B5EF4-FFF2-40B4-BE49-F238E27FC236}">
                    <a16:creationId xmlns:a16="http://schemas.microsoft.com/office/drawing/2014/main" id="{EE30A920-AE7C-9E60-77C6-F52561591752}"/>
                  </a:ext>
                </a:extLst>
              </p:cNvPr>
              <p:cNvSpPr txBox="1">
                <a:spLocks noRot="1" noChangeAspect="1" noMove="1" noResize="1" noEditPoints="1" noAdjustHandles="1" noChangeArrowheads="1" noChangeShapeType="1" noTextEdit="1"/>
              </p:cNvSpPr>
              <p:nvPr/>
            </p:nvSpPr>
            <p:spPr>
              <a:xfrm>
                <a:off x="2708950" y="3629071"/>
                <a:ext cx="2641556" cy="782587"/>
              </a:xfrm>
              <a:prstGeom prst="rect">
                <a:avLst/>
              </a:prstGeom>
              <a:blipFill>
                <a:blip r:embed="rId7"/>
                <a:stretch>
                  <a:fillRect/>
                </a:stretch>
              </a:blipFill>
            </p:spPr>
            <p:txBody>
              <a:bodyPr/>
              <a:lstStyle/>
              <a:p>
                <a:r>
                  <a:rPr lang="es-MX">
                    <a:noFill/>
                  </a:rPr>
                  <a:t> </a:t>
                </a:r>
              </a:p>
            </p:txBody>
          </p:sp>
        </mc:Fallback>
      </mc:AlternateContent>
      <p:sp>
        <p:nvSpPr>
          <p:cNvPr id="19" name="Google Shape;1603;p42">
            <a:extLst>
              <a:ext uri="{FF2B5EF4-FFF2-40B4-BE49-F238E27FC236}">
                <a16:creationId xmlns:a16="http://schemas.microsoft.com/office/drawing/2014/main" id="{9296F89B-46F2-855D-C65B-364A958F0189}"/>
              </a:ext>
            </a:extLst>
          </p:cNvPr>
          <p:cNvSpPr txBox="1"/>
          <p:nvPr/>
        </p:nvSpPr>
        <p:spPr>
          <a:xfrm>
            <a:off x="2930515" y="4218614"/>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X3 Evaluada en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-90</a:t>
            </a:r>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cxnSp>
        <p:nvCxnSpPr>
          <p:cNvPr id="20" name="Conector recto de flecha 19">
            <a:extLst>
              <a:ext uri="{FF2B5EF4-FFF2-40B4-BE49-F238E27FC236}">
                <a16:creationId xmlns:a16="http://schemas.microsoft.com/office/drawing/2014/main" id="{766554EF-F614-5FC3-385E-D51029836012}"/>
              </a:ext>
            </a:extLst>
          </p:cNvPr>
          <p:cNvCxnSpPr>
            <a:cxnSpLocks/>
          </p:cNvCxnSpPr>
          <p:nvPr/>
        </p:nvCxnSpPr>
        <p:spPr>
          <a:xfrm>
            <a:off x="7867074" y="1978579"/>
            <a:ext cx="428979" cy="24835"/>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1" name="Conector recto de flecha 20">
            <a:extLst>
              <a:ext uri="{FF2B5EF4-FFF2-40B4-BE49-F238E27FC236}">
                <a16:creationId xmlns:a16="http://schemas.microsoft.com/office/drawing/2014/main" id="{50DB2085-E089-0448-96B3-6978EFB968B1}"/>
              </a:ext>
            </a:extLst>
          </p:cNvPr>
          <p:cNvCxnSpPr>
            <a:cxnSpLocks/>
          </p:cNvCxnSpPr>
          <p:nvPr/>
        </p:nvCxnSpPr>
        <p:spPr>
          <a:xfrm flipV="1">
            <a:off x="7868669" y="1666402"/>
            <a:ext cx="254075" cy="31654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9" name="Conector recto de flecha 28">
            <a:extLst>
              <a:ext uri="{FF2B5EF4-FFF2-40B4-BE49-F238E27FC236}">
                <a16:creationId xmlns:a16="http://schemas.microsoft.com/office/drawing/2014/main" id="{970BBCAC-AC3A-DB69-415A-0907F8EC956E}"/>
              </a:ext>
            </a:extLst>
          </p:cNvPr>
          <p:cNvCxnSpPr>
            <a:cxnSpLocks/>
          </p:cNvCxnSpPr>
          <p:nvPr/>
        </p:nvCxnSpPr>
        <p:spPr>
          <a:xfrm>
            <a:off x="7862339" y="197857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30" name="CuadroTexto 29">
            <a:extLst>
              <a:ext uri="{FF2B5EF4-FFF2-40B4-BE49-F238E27FC236}">
                <a16:creationId xmlns:a16="http://schemas.microsoft.com/office/drawing/2014/main" id="{F71D7021-BBC0-BAAC-DFB2-6E4BE6BC4515}"/>
              </a:ext>
            </a:extLst>
          </p:cNvPr>
          <p:cNvSpPr txBox="1"/>
          <p:nvPr/>
        </p:nvSpPr>
        <p:spPr>
          <a:xfrm>
            <a:off x="7676570" y="2413461"/>
            <a:ext cx="371537" cy="307777"/>
          </a:xfrm>
          <a:prstGeom prst="rect">
            <a:avLst/>
          </a:prstGeom>
          <a:noFill/>
        </p:spPr>
        <p:txBody>
          <a:bodyPr wrap="square" rtlCol="0">
            <a:spAutoFit/>
          </a:bodyPr>
          <a:lstStyle/>
          <a:p>
            <a:r>
              <a:rPr lang="es-ES" dirty="0">
                <a:highlight>
                  <a:srgbClr val="00FF00"/>
                </a:highlight>
              </a:rPr>
              <a:t>x4</a:t>
            </a:r>
            <a:endParaRPr lang="es-MX" dirty="0">
              <a:highlight>
                <a:srgbClr val="00FF00"/>
              </a:highlight>
            </a:endParaRPr>
          </a:p>
        </p:txBody>
      </p:sp>
      <p:sp>
        <p:nvSpPr>
          <p:cNvPr id="32" name="CuadroTexto 31">
            <a:extLst>
              <a:ext uri="{FF2B5EF4-FFF2-40B4-BE49-F238E27FC236}">
                <a16:creationId xmlns:a16="http://schemas.microsoft.com/office/drawing/2014/main" id="{C1052A9F-1538-1F91-99B5-ACE638BDBA63}"/>
              </a:ext>
            </a:extLst>
          </p:cNvPr>
          <p:cNvSpPr txBox="1"/>
          <p:nvPr/>
        </p:nvSpPr>
        <p:spPr>
          <a:xfrm>
            <a:off x="7684020" y="1513500"/>
            <a:ext cx="371536" cy="307777"/>
          </a:xfrm>
          <a:prstGeom prst="rect">
            <a:avLst/>
          </a:prstGeom>
          <a:noFill/>
        </p:spPr>
        <p:txBody>
          <a:bodyPr wrap="square" rtlCol="0">
            <a:spAutoFit/>
          </a:bodyPr>
          <a:lstStyle/>
          <a:p>
            <a:r>
              <a:rPr lang="es-ES" dirty="0">
                <a:highlight>
                  <a:srgbClr val="FFFF00"/>
                </a:highlight>
              </a:rPr>
              <a:t>y4</a:t>
            </a:r>
            <a:endParaRPr lang="es-MX" dirty="0">
              <a:highlight>
                <a:srgbClr val="FFFF00"/>
              </a:highlight>
            </a:endParaRPr>
          </a:p>
        </p:txBody>
      </p:sp>
      <p:sp>
        <p:nvSpPr>
          <p:cNvPr id="33" name="CuadroTexto 32">
            <a:extLst>
              <a:ext uri="{FF2B5EF4-FFF2-40B4-BE49-F238E27FC236}">
                <a16:creationId xmlns:a16="http://schemas.microsoft.com/office/drawing/2014/main" id="{F60C7B42-1781-8448-7581-D12F3FAF9B1F}"/>
              </a:ext>
            </a:extLst>
          </p:cNvPr>
          <p:cNvSpPr txBox="1"/>
          <p:nvPr/>
        </p:nvSpPr>
        <p:spPr>
          <a:xfrm>
            <a:off x="7953088" y="1994814"/>
            <a:ext cx="371537" cy="307777"/>
          </a:xfrm>
          <a:prstGeom prst="rect">
            <a:avLst/>
          </a:prstGeom>
          <a:noFill/>
        </p:spPr>
        <p:txBody>
          <a:bodyPr wrap="square" rtlCol="0">
            <a:spAutoFit/>
          </a:bodyPr>
          <a:lstStyle/>
          <a:p>
            <a:r>
              <a:rPr lang="es-ES" dirty="0">
                <a:highlight>
                  <a:srgbClr val="00FFFF"/>
                </a:highlight>
              </a:rPr>
              <a:t>z4</a:t>
            </a:r>
            <a:endParaRPr lang="es-MX" dirty="0">
              <a:highlight>
                <a:srgbClr val="00FFFF"/>
              </a:highlight>
            </a:endParaRPr>
          </a:p>
        </p:txBody>
      </p:sp>
    </p:spTree>
    <p:extLst>
      <p:ext uri="{BB962C8B-B14F-4D97-AF65-F5344CB8AC3E}">
        <p14:creationId xmlns:p14="http://schemas.microsoft.com/office/powerpoint/2010/main" val="192534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4"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0745582F-211D-14FC-5EB1-27E17414B01F}"/>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9119877C-4111-AA69-1F5A-2B80199633C3}"/>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87840AF0-F19B-E2E1-F5B7-5F37CC13997D}"/>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F7573B93-FAFF-E261-5C33-51EDD0855943}"/>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mc:Choice xmlns:a14="http://schemas.microsoft.com/office/drawing/2010/main" Requires="a14">
          <p:sp>
            <p:nvSpPr>
              <p:cNvPr id="10" name="Google Shape;1603;p42">
                <a:extLst>
                  <a:ext uri="{FF2B5EF4-FFF2-40B4-BE49-F238E27FC236}">
                    <a16:creationId xmlns:a16="http://schemas.microsoft.com/office/drawing/2014/main" id="{8DAD5A39-409E-1E4F-BFCA-9DD8EE5C679D}"/>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A3</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A4</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“Rotación de -90° alrededor de X3”</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negativa de –L3*sen(</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b="0" i="1" smtClean="0">
                            <a:solidFill>
                              <a:srgbClr val="FFFF00"/>
                            </a:solidFill>
                            <a:latin typeface="Cambria Math" panose="02040503050406030204" pitchFamily="18" charset="0"/>
                          </a:rPr>
                          <m:t>3</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X3”</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L3*cos(</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b="0" i="1" smtClean="0">
                            <a:solidFill>
                              <a:srgbClr val="FFFF00"/>
                            </a:solidFill>
                            <a:latin typeface="Cambria Math" panose="02040503050406030204" pitchFamily="18" charset="0"/>
                          </a:rPr>
                          <m:t>3</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Y3”</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Choice>
        <mc:Fallback>
          <p:sp>
            <p:nvSpPr>
              <p:cNvPr id="10" name="Google Shape;1603;p42">
                <a:extLst>
                  <a:ext uri="{FF2B5EF4-FFF2-40B4-BE49-F238E27FC236}">
                    <a16:creationId xmlns:a16="http://schemas.microsoft.com/office/drawing/2014/main" id="{8DAD5A39-409E-1E4F-BFCA-9DD8EE5C679D}"/>
                  </a:ext>
                </a:extLst>
              </p:cNvPr>
              <p:cNvSpPr txBox="1">
                <a:spLocks noRot="1" noChangeAspect="1" noMove="1" noResize="1" noEditPoints="1" noAdjustHandles="1" noChangeArrowheads="1" noChangeShapeType="1" noTextEdit="1"/>
              </p:cNvSpPr>
              <p:nvPr/>
            </p:nvSpPr>
            <p:spPr>
              <a:xfrm>
                <a:off x="375501" y="1181713"/>
                <a:ext cx="5378227" cy="1867434"/>
              </a:xfrm>
              <a:prstGeom prst="rect">
                <a:avLst/>
              </a:prstGeom>
              <a:blipFill>
                <a:blip r:embed="rId4"/>
                <a:stretch>
                  <a:fillRect l="-680" b="-33987"/>
                </a:stretch>
              </a:blipFill>
              <a:ln>
                <a:noFill/>
              </a:ln>
            </p:spPr>
            <p:txBody>
              <a:bodyPr/>
              <a:lstStyle/>
              <a:p>
                <a:r>
                  <a:rPr lang="es-MX">
                    <a:noFill/>
                  </a:rPr>
                  <a:t> </a:t>
                </a:r>
              </a:p>
            </p:txBody>
          </p:sp>
        </mc:Fallback>
      </mc:AlternateContent>
      <p:pic>
        <p:nvPicPr>
          <p:cNvPr id="8" name="Imagen 7">
            <a:extLst>
              <a:ext uri="{FF2B5EF4-FFF2-40B4-BE49-F238E27FC236}">
                <a16:creationId xmlns:a16="http://schemas.microsoft.com/office/drawing/2014/main" id="{054A1C05-2139-DD29-C06B-3D02A8CE74B6}"/>
              </a:ext>
            </a:extLst>
          </p:cNvPr>
          <p:cNvPicPr>
            <a:picLocks noChangeAspect="1"/>
          </p:cNvPicPr>
          <p:nvPr/>
        </p:nvPicPr>
        <p:blipFill>
          <a:blip r:embed="rId5"/>
          <a:stretch>
            <a:fillRect/>
          </a:stretch>
        </p:blipFill>
        <p:spPr>
          <a:xfrm>
            <a:off x="5744925" y="1312244"/>
            <a:ext cx="3375693" cy="3572097"/>
          </a:xfrm>
          <a:prstGeom prst="rect">
            <a:avLst/>
          </a:prstGeom>
        </p:spPr>
      </p:pic>
      <p:sp>
        <p:nvSpPr>
          <p:cNvPr id="9" name="CuadroTexto 8">
            <a:extLst>
              <a:ext uri="{FF2B5EF4-FFF2-40B4-BE49-F238E27FC236}">
                <a16:creationId xmlns:a16="http://schemas.microsoft.com/office/drawing/2014/main" id="{88029AB4-9655-D7C8-D574-D42D2ECAD3BC}"/>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11" name="CuadroTexto 10">
            <a:extLst>
              <a:ext uri="{FF2B5EF4-FFF2-40B4-BE49-F238E27FC236}">
                <a16:creationId xmlns:a16="http://schemas.microsoft.com/office/drawing/2014/main" id="{41F0F03E-B9A7-B4C7-39F3-284B3C4F5F2E}"/>
              </a:ext>
            </a:extLst>
          </p:cNvPr>
          <p:cNvSpPr txBox="1"/>
          <p:nvPr/>
        </p:nvSpPr>
        <p:spPr>
          <a:xfrm>
            <a:off x="6307246" y="2237995"/>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14" name="CuadroTexto 13">
            <a:extLst>
              <a:ext uri="{FF2B5EF4-FFF2-40B4-BE49-F238E27FC236}">
                <a16:creationId xmlns:a16="http://schemas.microsoft.com/office/drawing/2014/main" id="{4B9EFB67-14D6-9857-6D01-071B2EBB60E0}"/>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15" name="CuadroTexto 14">
            <a:extLst>
              <a:ext uri="{FF2B5EF4-FFF2-40B4-BE49-F238E27FC236}">
                <a16:creationId xmlns:a16="http://schemas.microsoft.com/office/drawing/2014/main" id="{FA69E54B-14DC-476B-C0EA-2FA98604F593}"/>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22" name="CuadroTexto 21">
            <a:extLst>
              <a:ext uri="{FF2B5EF4-FFF2-40B4-BE49-F238E27FC236}">
                <a16:creationId xmlns:a16="http://schemas.microsoft.com/office/drawing/2014/main" id="{775A85C5-983E-9FAA-3182-BDC9500D7DE1}"/>
              </a:ext>
            </a:extLst>
          </p:cNvPr>
          <p:cNvSpPr txBox="1"/>
          <p:nvPr/>
        </p:nvSpPr>
        <p:spPr>
          <a:xfrm>
            <a:off x="8633246" y="213606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23" name="Conector recto de flecha 22">
            <a:extLst>
              <a:ext uri="{FF2B5EF4-FFF2-40B4-BE49-F238E27FC236}">
                <a16:creationId xmlns:a16="http://schemas.microsoft.com/office/drawing/2014/main" id="{0A36EB4C-242F-6842-A337-2C9D3E020702}"/>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4" name="Conector recto de flecha 23">
            <a:extLst>
              <a:ext uri="{FF2B5EF4-FFF2-40B4-BE49-F238E27FC236}">
                <a16:creationId xmlns:a16="http://schemas.microsoft.com/office/drawing/2014/main" id="{2E245981-5C60-BE07-C190-313DC9B3951C}"/>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5" name="Conector recto de flecha 24">
            <a:extLst>
              <a:ext uri="{FF2B5EF4-FFF2-40B4-BE49-F238E27FC236}">
                <a16:creationId xmlns:a16="http://schemas.microsoft.com/office/drawing/2014/main" id="{0B811D91-28FE-371A-0DCC-66DC552E8BE1}"/>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26" name="CuadroTexto 25">
            <a:extLst>
              <a:ext uri="{FF2B5EF4-FFF2-40B4-BE49-F238E27FC236}">
                <a16:creationId xmlns:a16="http://schemas.microsoft.com/office/drawing/2014/main" id="{9932BD80-D9AD-BD6E-7C59-2205AC45B6AA}"/>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27" name="CuadroTexto 26">
            <a:extLst>
              <a:ext uri="{FF2B5EF4-FFF2-40B4-BE49-F238E27FC236}">
                <a16:creationId xmlns:a16="http://schemas.microsoft.com/office/drawing/2014/main" id="{BF78E048-DD59-DC64-D49B-57046C788263}"/>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28" name="CuadroTexto 27">
            <a:extLst>
              <a:ext uri="{FF2B5EF4-FFF2-40B4-BE49-F238E27FC236}">
                <a16:creationId xmlns:a16="http://schemas.microsoft.com/office/drawing/2014/main" id="{D82933B4-AD16-D074-A806-6E5A045C46D0}"/>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cxnSp>
        <p:nvCxnSpPr>
          <p:cNvPr id="31" name="Conector recto de flecha 30">
            <a:extLst>
              <a:ext uri="{FF2B5EF4-FFF2-40B4-BE49-F238E27FC236}">
                <a16:creationId xmlns:a16="http://schemas.microsoft.com/office/drawing/2014/main" id="{DCF3D3B1-840D-92C1-85B8-28AC825DEEF2}"/>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7" name="Conector recto de flecha 36">
            <a:extLst>
              <a:ext uri="{FF2B5EF4-FFF2-40B4-BE49-F238E27FC236}">
                <a16:creationId xmlns:a16="http://schemas.microsoft.com/office/drawing/2014/main" id="{53499B35-3ACD-A8A1-167D-7C3B3F6D3469}"/>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39" name="Conector recto de flecha 38">
            <a:extLst>
              <a:ext uri="{FF2B5EF4-FFF2-40B4-BE49-F238E27FC236}">
                <a16:creationId xmlns:a16="http://schemas.microsoft.com/office/drawing/2014/main" id="{385B65DD-5C37-95DD-DE5F-0F3E673A4FB8}"/>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40" name="CuadroTexto 39">
            <a:extLst>
              <a:ext uri="{FF2B5EF4-FFF2-40B4-BE49-F238E27FC236}">
                <a16:creationId xmlns:a16="http://schemas.microsoft.com/office/drawing/2014/main" id="{924BA27F-9620-90EC-E376-693A31717CF2}"/>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41" name="CuadroTexto 40">
            <a:extLst>
              <a:ext uri="{FF2B5EF4-FFF2-40B4-BE49-F238E27FC236}">
                <a16:creationId xmlns:a16="http://schemas.microsoft.com/office/drawing/2014/main" id="{D7E485BD-FA24-8B4F-52C5-5114B8655746}"/>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46" name="CuadroTexto 45">
            <a:extLst>
              <a:ext uri="{FF2B5EF4-FFF2-40B4-BE49-F238E27FC236}">
                <a16:creationId xmlns:a16="http://schemas.microsoft.com/office/drawing/2014/main" id="{FC5C40D9-988C-9614-5F80-8AF8296BC092}"/>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3" name="Conector recto 2">
            <a:extLst>
              <a:ext uri="{FF2B5EF4-FFF2-40B4-BE49-F238E27FC236}">
                <a16:creationId xmlns:a16="http://schemas.microsoft.com/office/drawing/2014/main" id="{209D9EEA-0213-3982-A945-F078A660A302}"/>
              </a:ext>
            </a:extLst>
          </p:cNvPr>
          <p:cNvCxnSpPr>
            <a:cxnSpLocks/>
          </p:cNvCxnSpPr>
          <p:nvPr/>
        </p:nvCxnSpPr>
        <p:spPr>
          <a:xfrm flipH="1" flipV="1">
            <a:off x="6352868" y="2545307"/>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8460DBB7-9524-24A3-5C20-C0C32CD750A4}"/>
              </a:ext>
            </a:extLst>
          </p:cNvPr>
          <p:cNvSpPr txBox="1"/>
          <p:nvPr/>
        </p:nvSpPr>
        <p:spPr>
          <a:xfrm>
            <a:off x="5947611" y="2423642"/>
            <a:ext cx="469601"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cxnSp>
        <p:nvCxnSpPr>
          <p:cNvPr id="6" name="Conector recto de flecha 5">
            <a:extLst>
              <a:ext uri="{FF2B5EF4-FFF2-40B4-BE49-F238E27FC236}">
                <a16:creationId xmlns:a16="http://schemas.microsoft.com/office/drawing/2014/main" id="{E4D2A1CA-0C44-53FB-1476-E59D5D1DAB85}"/>
              </a:ext>
            </a:extLst>
          </p:cNvPr>
          <p:cNvCxnSpPr>
            <a:cxnSpLocks/>
          </p:cNvCxnSpPr>
          <p:nvPr/>
        </p:nvCxnSpPr>
        <p:spPr>
          <a:xfrm>
            <a:off x="6835714" y="1963721"/>
            <a:ext cx="361325" cy="11511"/>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7" name="Conector recto de flecha 6">
            <a:extLst>
              <a:ext uri="{FF2B5EF4-FFF2-40B4-BE49-F238E27FC236}">
                <a16:creationId xmlns:a16="http://schemas.microsoft.com/office/drawing/2014/main" id="{D85A13EA-322D-9161-BBAB-6D695077A9A2}"/>
              </a:ext>
            </a:extLst>
          </p:cNvPr>
          <p:cNvCxnSpPr>
            <a:cxnSpLocks/>
          </p:cNvCxnSpPr>
          <p:nvPr/>
        </p:nvCxnSpPr>
        <p:spPr>
          <a:xfrm flipH="1">
            <a:off x="6568661" y="1978579"/>
            <a:ext cx="249674" cy="25152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2" name="Conector recto de flecha 11">
            <a:extLst>
              <a:ext uri="{FF2B5EF4-FFF2-40B4-BE49-F238E27FC236}">
                <a16:creationId xmlns:a16="http://schemas.microsoft.com/office/drawing/2014/main" id="{E154DEB8-EC4C-3940-ED05-EC60CB56310B}"/>
              </a:ext>
            </a:extLst>
          </p:cNvPr>
          <p:cNvCxnSpPr>
            <a:cxnSpLocks/>
          </p:cNvCxnSpPr>
          <p:nvPr/>
        </p:nvCxnSpPr>
        <p:spPr>
          <a:xfrm>
            <a:off x="6841370" y="194293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 name="CuadroTexto 12">
            <a:extLst>
              <a:ext uri="{FF2B5EF4-FFF2-40B4-BE49-F238E27FC236}">
                <a16:creationId xmlns:a16="http://schemas.microsoft.com/office/drawing/2014/main" id="{A824F7C1-FBDB-FEF3-19E4-ED04CA6AF8FF}"/>
              </a:ext>
            </a:extLst>
          </p:cNvPr>
          <p:cNvSpPr txBox="1"/>
          <p:nvPr/>
        </p:nvSpPr>
        <p:spPr>
          <a:xfrm>
            <a:off x="6812078" y="212976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16" name="CuadroTexto 15">
            <a:extLst>
              <a:ext uri="{FF2B5EF4-FFF2-40B4-BE49-F238E27FC236}">
                <a16:creationId xmlns:a16="http://schemas.microsoft.com/office/drawing/2014/main" id="{BC951627-4A0D-9DDE-83DF-03A6524C3903}"/>
              </a:ext>
            </a:extLst>
          </p:cNvPr>
          <p:cNvSpPr txBox="1"/>
          <p:nvPr/>
        </p:nvSpPr>
        <p:spPr>
          <a:xfrm>
            <a:off x="7027373" y="1614791"/>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17" name="CuadroTexto 16">
            <a:extLst>
              <a:ext uri="{FF2B5EF4-FFF2-40B4-BE49-F238E27FC236}">
                <a16:creationId xmlns:a16="http://schemas.microsoft.com/office/drawing/2014/main" id="{B5E6B3A2-E80D-ED5D-8FDB-442EAD79636B}"/>
              </a:ext>
            </a:extLst>
          </p:cNvPr>
          <p:cNvSpPr txBox="1"/>
          <p:nvPr/>
        </p:nvSpPr>
        <p:spPr>
          <a:xfrm>
            <a:off x="6352889" y="1883408"/>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cxnSp>
        <p:nvCxnSpPr>
          <p:cNvPr id="2" name="Conector recto 1">
            <a:extLst>
              <a:ext uri="{FF2B5EF4-FFF2-40B4-BE49-F238E27FC236}">
                <a16:creationId xmlns:a16="http://schemas.microsoft.com/office/drawing/2014/main" id="{99E656B8-EF1F-0141-1280-0935808900D3}"/>
              </a:ext>
            </a:extLst>
          </p:cNvPr>
          <p:cNvCxnSpPr>
            <a:cxnSpLocks/>
          </p:cNvCxnSpPr>
          <p:nvPr/>
        </p:nvCxnSpPr>
        <p:spPr>
          <a:xfrm flipH="1" flipV="1">
            <a:off x="6818553" y="1429901"/>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495E3624-10C9-F011-FCD1-FB726BD107E3}"/>
              </a:ext>
            </a:extLst>
          </p:cNvPr>
          <p:cNvSpPr txBox="1"/>
          <p:nvPr/>
        </p:nvSpPr>
        <p:spPr>
          <a:xfrm>
            <a:off x="6440803" y="1353134"/>
            <a:ext cx="469601"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cxnSp>
        <p:nvCxnSpPr>
          <p:cNvPr id="20" name="Conector recto de flecha 19">
            <a:extLst>
              <a:ext uri="{FF2B5EF4-FFF2-40B4-BE49-F238E27FC236}">
                <a16:creationId xmlns:a16="http://schemas.microsoft.com/office/drawing/2014/main" id="{9FA2A3A6-C843-0EFA-D68D-3DDFF52164ED}"/>
              </a:ext>
            </a:extLst>
          </p:cNvPr>
          <p:cNvCxnSpPr>
            <a:cxnSpLocks/>
          </p:cNvCxnSpPr>
          <p:nvPr/>
        </p:nvCxnSpPr>
        <p:spPr>
          <a:xfrm>
            <a:off x="7867074" y="1978579"/>
            <a:ext cx="428979" cy="24835"/>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1" name="Conector recto de flecha 20">
            <a:extLst>
              <a:ext uri="{FF2B5EF4-FFF2-40B4-BE49-F238E27FC236}">
                <a16:creationId xmlns:a16="http://schemas.microsoft.com/office/drawing/2014/main" id="{D43C0862-200D-8518-9C65-87CF2F2F72EC}"/>
              </a:ext>
            </a:extLst>
          </p:cNvPr>
          <p:cNvCxnSpPr>
            <a:cxnSpLocks/>
          </p:cNvCxnSpPr>
          <p:nvPr/>
        </p:nvCxnSpPr>
        <p:spPr>
          <a:xfrm flipV="1">
            <a:off x="7868669" y="1666402"/>
            <a:ext cx="254075" cy="31654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29" name="Conector recto de flecha 28">
            <a:extLst>
              <a:ext uri="{FF2B5EF4-FFF2-40B4-BE49-F238E27FC236}">
                <a16:creationId xmlns:a16="http://schemas.microsoft.com/office/drawing/2014/main" id="{6BC00D1E-5FD5-819E-EC7E-905274316E12}"/>
              </a:ext>
            </a:extLst>
          </p:cNvPr>
          <p:cNvCxnSpPr>
            <a:cxnSpLocks/>
          </p:cNvCxnSpPr>
          <p:nvPr/>
        </p:nvCxnSpPr>
        <p:spPr>
          <a:xfrm>
            <a:off x="7862339" y="197857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30" name="CuadroTexto 29">
            <a:extLst>
              <a:ext uri="{FF2B5EF4-FFF2-40B4-BE49-F238E27FC236}">
                <a16:creationId xmlns:a16="http://schemas.microsoft.com/office/drawing/2014/main" id="{5ADF8FDD-66AC-DC9E-61FA-2F60A2A056C8}"/>
              </a:ext>
            </a:extLst>
          </p:cNvPr>
          <p:cNvSpPr txBox="1"/>
          <p:nvPr/>
        </p:nvSpPr>
        <p:spPr>
          <a:xfrm>
            <a:off x="7676570" y="2413461"/>
            <a:ext cx="371537" cy="307777"/>
          </a:xfrm>
          <a:prstGeom prst="rect">
            <a:avLst/>
          </a:prstGeom>
          <a:noFill/>
        </p:spPr>
        <p:txBody>
          <a:bodyPr wrap="square" rtlCol="0">
            <a:spAutoFit/>
          </a:bodyPr>
          <a:lstStyle/>
          <a:p>
            <a:r>
              <a:rPr lang="es-ES" dirty="0">
                <a:highlight>
                  <a:srgbClr val="00FF00"/>
                </a:highlight>
              </a:rPr>
              <a:t>x4</a:t>
            </a:r>
            <a:endParaRPr lang="es-MX" dirty="0">
              <a:highlight>
                <a:srgbClr val="00FF00"/>
              </a:highlight>
            </a:endParaRPr>
          </a:p>
        </p:txBody>
      </p:sp>
      <p:sp>
        <p:nvSpPr>
          <p:cNvPr id="32" name="CuadroTexto 31">
            <a:extLst>
              <a:ext uri="{FF2B5EF4-FFF2-40B4-BE49-F238E27FC236}">
                <a16:creationId xmlns:a16="http://schemas.microsoft.com/office/drawing/2014/main" id="{6C5D4266-38F4-68B7-5497-249EEB6FD2BD}"/>
              </a:ext>
            </a:extLst>
          </p:cNvPr>
          <p:cNvSpPr txBox="1"/>
          <p:nvPr/>
        </p:nvSpPr>
        <p:spPr>
          <a:xfrm>
            <a:off x="7684020" y="1513500"/>
            <a:ext cx="371536" cy="307777"/>
          </a:xfrm>
          <a:prstGeom prst="rect">
            <a:avLst/>
          </a:prstGeom>
          <a:noFill/>
        </p:spPr>
        <p:txBody>
          <a:bodyPr wrap="square" rtlCol="0">
            <a:spAutoFit/>
          </a:bodyPr>
          <a:lstStyle/>
          <a:p>
            <a:r>
              <a:rPr lang="es-ES" dirty="0">
                <a:highlight>
                  <a:srgbClr val="FFFF00"/>
                </a:highlight>
              </a:rPr>
              <a:t>y4</a:t>
            </a:r>
            <a:endParaRPr lang="es-MX" dirty="0">
              <a:highlight>
                <a:srgbClr val="FFFF00"/>
              </a:highlight>
            </a:endParaRPr>
          </a:p>
        </p:txBody>
      </p:sp>
      <p:sp>
        <p:nvSpPr>
          <p:cNvPr id="33" name="CuadroTexto 32">
            <a:extLst>
              <a:ext uri="{FF2B5EF4-FFF2-40B4-BE49-F238E27FC236}">
                <a16:creationId xmlns:a16="http://schemas.microsoft.com/office/drawing/2014/main" id="{5416D75B-C98E-98BA-AFFA-2AF4F45C0DCC}"/>
              </a:ext>
            </a:extLst>
          </p:cNvPr>
          <p:cNvSpPr txBox="1"/>
          <p:nvPr/>
        </p:nvSpPr>
        <p:spPr>
          <a:xfrm>
            <a:off x="7953088" y="1994814"/>
            <a:ext cx="371537" cy="307777"/>
          </a:xfrm>
          <a:prstGeom prst="rect">
            <a:avLst/>
          </a:prstGeom>
          <a:noFill/>
        </p:spPr>
        <p:txBody>
          <a:bodyPr wrap="square" rtlCol="0">
            <a:spAutoFit/>
          </a:bodyPr>
          <a:lstStyle/>
          <a:p>
            <a:r>
              <a:rPr lang="es-ES" dirty="0">
                <a:highlight>
                  <a:srgbClr val="00FFFF"/>
                </a:highlight>
              </a:rPr>
              <a:t>z4</a:t>
            </a:r>
            <a:endParaRPr lang="es-MX" dirty="0">
              <a:highlight>
                <a:srgbClr val="00FFFF"/>
              </a:highlight>
            </a:endParaRPr>
          </a:p>
        </p:txBody>
      </p:sp>
      <mc:AlternateContent xmlns:mc="http://schemas.openxmlformats.org/markup-compatibility/2006">
        <mc:Choice xmlns:a14="http://schemas.microsoft.com/office/drawing/2010/main" Requires="a14">
          <p:sp>
            <p:nvSpPr>
              <p:cNvPr id="34" name="CuadroTexto 33">
                <a:extLst>
                  <a:ext uri="{FF2B5EF4-FFF2-40B4-BE49-F238E27FC236}">
                    <a16:creationId xmlns:a16="http://schemas.microsoft.com/office/drawing/2014/main" id="{57E348C7-0D28-16AC-3CB6-FFBCDC03C342}"/>
                  </a:ext>
                </a:extLst>
              </p:cNvPr>
              <p:cNvSpPr txBox="1"/>
              <p:nvPr/>
            </p:nvSpPr>
            <p:spPr>
              <a:xfrm>
                <a:off x="2466547" y="3588167"/>
                <a:ext cx="1413016" cy="6810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1" i="1">
                                    <a:solidFill>
                                      <a:schemeClr val="tx2"/>
                                    </a:solidFill>
                                    <a:latin typeface="Cambria Math" panose="02040503050406030204" pitchFamily="18" charset="0"/>
                                    <a:cs typeface="Times New Roman" panose="02020603050405020304" pitchFamily="18" charset="0"/>
                                  </a:rPr>
                                  <m:t>−</m:t>
                                </m:r>
                                <m:r>
                                  <a:rPr lang="es-MX" sz="1600" b="1" i="1">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𝟑</m:t>
                                </m:r>
                                <m:r>
                                  <a:rPr lang="es-MX" sz="1600" b="1" i="1">
                                    <a:solidFill>
                                      <a:schemeClr val="tx2"/>
                                    </a:solidFill>
                                    <a:latin typeface="Cambria Math" panose="02040503050406030204" pitchFamily="18" charset="0"/>
                                    <a:cs typeface="Times New Roman" panose="02020603050405020304" pitchFamily="18" charset="0"/>
                                  </a:rPr>
                                  <m:t>𝒔𝒆𝒏</m:t>
                                </m:r>
                                <m:r>
                                  <a:rPr lang="es-MX" sz="1600" b="1" i="1">
                                    <a:solidFill>
                                      <a:schemeClr val="tx2"/>
                                    </a:solidFill>
                                    <a:latin typeface="Cambria Math" panose="02040503050406030204" pitchFamily="18" charset="0"/>
                                    <a:cs typeface="Times New Roman" panose="020206030504050203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3</m:t>
                                    </m:r>
                                  </m:sub>
                                </m:sSub>
                                <m:r>
                                  <m:rPr>
                                    <m:brk m:alnAt="7"/>
                                  </m:rPr>
                                  <a:rPr lang="es-MX" sz="1600" b="1" i="1">
                                    <a:solidFill>
                                      <a:schemeClr val="tx2"/>
                                    </a:solidFill>
                                    <a:latin typeface="Cambria Math" panose="02040503050406030204" pitchFamily="18" charset="0"/>
                                    <a:cs typeface="Times New Roman" panose="02020603050405020304" pitchFamily="18" charset="0"/>
                                  </a:rPr>
                                  <m:t>)</m:t>
                                </m:r>
                              </m:e>
                            </m:mr>
                            <m:mr>
                              <m:e>
                                <m:r>
                                  <m:rPr>
                                    <m:brk m:alnAt="7"/>
                                  </m:rPr>
                                  <a:rPr lang="es-MX" sz="1600" b="1" i="1">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𝟑</m:t>
                                </m:r>
                                <m:r>
                                  <a:rPr lang="es-MX" sz="1600" b="1" i="1">
                                    <a:solidFill>
                                      <a:schemeClr val="tx2"/>
                                    </a:solidFill>
                                    <a:latin typeface="Cambria Math" panose="02040503050406030204" pitchFamily="18" charset="0"/>
                                    <a:cs typeface="Times New Roman" panose="02020603050405020304" pitchFamily="18" charset="0"/>
                                  </a:rPr>
                                  <m:t>𝒄𝒐𝒔</m:t>
                                </m:r>
                                <m:r>
                                  <a:rPr lang="es-MX" sz="1600" b="1" i="1">
                                    <a:solidFill>
                                      <a:schemeClr val="tx2"/>
                                    </a:solidFill>
                                    <a:latin typeface="Cambria Math" panose="02040503050406030204" pitchFamily="18" charset="0"/>
                                    <a:cs typeface="Times New Roman" panose="020206030504050203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3</m:t>
                                    </m:r>
                                  </m:sub>
                                </m:sSub>
                                <m:r>
                                  <a:rPr lang="es-MX" sz="1600" i="1">
                                    <a:solidFill>
                                      <a:schemeClr val="tx2"/>
                                    </a:solidFill>
                                    <a:latin typeface="Cambria Math" panose="02040503050406030204" pitchFamily="18" charset="0"/>
                                  </a:rPr>
                                  <m:t>)</m:t>
                                </m:r>
                              </m:e>
                            </m:mr>
                            <m:mr>
                              <m:e>
                                <m:r>
                                  <a:rPr lang="es-MX" sz="1600" b="1" i="1" smtClean="0">
                                    <a:solidFill>
                                      <a:schemeClr val="tx2"/>
                                    </a:solidFill>
                                    <a:latin typeface="Cambria Math" panose="02040503050406030204" pitchFamily="18" charset="0"/>
                                  </a:rPr>
                                  <m:t>𝟎</m:t>
                                </m:r>
                              </m:e>
                            </m:mr>
                          </m:m>
                        </m:e>
                      </m:d>
                    </m:oMath>
                  </m:oMathPara>
                </a14:m>
                <a:endParaRPr lang="es-MX" sz="1600" dirty="0"/>
              </a:p>
            </p:txBody>
          </p:sp>
        </mc:Choice>
        <mc:Fallback>
          <p:sp>
            <p:nvSpPr>
              <p:cNvPr id="34" name="CuadroTexto 33">
                <a:extLst>
                  <a:ext uri="{FF2B5EF4-FFF2-40B4-BE49-F238E27FC236}">
                    <a16:creationId xmlns:a16="http://schemas.microsoft.com/office/drawing/2014/main" id="{57E348C7-0D28-16AC-3CB6-FFBCDC03C342}"/>
                  </a:ext>
                </a:extLst>
              </p:cNvPr>
              <p:cNvSpPr txBox="1">
                <a:spLocks noRot="1" noChangeAspect="1" noMove="1" noResize="1" noEditPoints="1" noAdjustHandles="1" noChangeArrowheads="1" noChangeShapeType="1" noTextEdit="1"/>
              </p:cNvSpPr>
              <p:nvPr/>
            </p:nvSpPr>
            <p:spPr>
              <a:xfrm>
                <a:off x="2466547" y="3588167"/>
                <a:ext cx="1413016" cy="681084"/>
              </a:xfrm>
              <a:prstGeom prst="rect">
                <a:avLst/>
              </a:prstGeom>
              <a:blipFill>
                <a:blip r:embed="rId6"/>
                <a:stretch>
                  <a:fillRect/>
                </a:stretch>
              </a:blipFill>
            </p:spPr>
            <p:txBody>
              <a:bodyPr/>
              <a:lstStyle/>
              <a:p>
                <a:r>
                  <a:rPr lang="es-MX">
                    <a:noFill/>
                  </a:rPr>
                  <a:t> </a:t>
                </a:r>
              </a:p>
            </p:txBody>
          </p:sp>
        </mc:Fallback>
      </mc:AlternateContent>
      <p:sp>
        <p:nvSpPr>
          <p:cNvPr id="35" name="CuadroTexto 34">
            <a:extLst>
              <a:ext uri="{FF2B5EF4-FFF2-40B4-BE49-F238E27FC236}">
                <a16:creationId xmlns:a16="http://schemas.microsoft.com/office/drawing/2014/main" id="{289414AF-0A69-906B-0A9D-4250947EE760}"/>
              </a:ext>
            </a:extLst>
          </p:cNvPr>
          <p:cNvSpPr txBox="1"/>
          <p:nvPr/>
        </p:nvSpPr>
        <p:spPr>
          <a:xfrm>
            <a:off x="2633059" y="4313572"/>
            <a:ext cx="1150293" cy="738664"/>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A3 a A4</a:t>
            </a:r>
            <a:endParaRPr lang="es-ES" sz="1400" b="1" dirty="0">
              <a:solidFill>
                <a:schemeClr val="tx2"/>
              </a:solidFill>
              <a:latin typeface="Fira Sans Condensed Light" panose="020B0604020202020204" charset="0"/>
              <a:cs typeface="Times New Roman" panose="02020603050405020304" pitchFamily="18" charset="0"/>
            </a:endParaRPr>
          </a:p>
        </p:txBody>
      </p:sp>
    </p:spTree>
    <p:extLst>
      <p:ext uri="{BB962C8B-B14F-4D97-AF65-F5344CB8AC3E}">
        <p14:creationId xmlns:p14="http://schemas.microsoft.com/office/powerpoint/2010/main" val="342857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BC6B053E-93AA-AF31-50C2-C40CC4D9CB13}"/>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D2790CB6-C1B4-2601-5BE9-2756AFEF5EBF}"/>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9A84D612-35B4-199B-40EB-3330DAB1FEF1}"/>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34E74BAB-644C-ED4B-1EFF-8C1EDAD658FD}"/>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a:extLst>
              <a:ext uri="{FF2B5EF4-FFF2-40B4-BE49-F238E27FC236}">
                <a16:creationId xmlns:a16="http://schemas.microsoft.com/office/drawing/2014/main" id="{AE0731D2-0EC5-1F1C-484B-C09EDC72A8AA}"/>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A4</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A5</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“Rotación de +90° alrededor de X4”</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L4 sobre el eje Z4”</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2A678851-2B9C-A60C-2BB2-42C309E8B8C3}"/>
                  </a:ext>
                </a:extLst>
              </p:cNvPr>
              <p:cNvSpPr txBox="1"/>
              <p:nvPr/>
            </p:nvSpPr>
            <p:spPr>
              <a:xfrm>
                <a:off x="5004376" y="3467161"/>
                <a:ext cx="420243" cy="672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1" i="1" smtClean="0">
                                    <a:solidFill>
                                      <a:schemeClr val="tx2"/>
                                    </a:solidFill>
                                    <a:latin typeface="Cambria Math" panose="02040503050406030204" pitchFamily="18" charset="0"/>
                                    <a:cs typeface="Times New Roman" panose="02020603050405020304" pitchFamily="18" charset="0"/>
                                  </a:rPr>
                                  <m:t>𝟎</m:t>
                                </m:r>
                              </m:e>
                            </m:mr>
                            <m:mr>
                              <m:e>
                                <m:r>
                                  <a:rPr lang="es-MX" sz="1600" b="1" i="1" smtClean="0">
                                    <a:solidFill>
                                      <a:schemeClr val="tx2"/>
                                    </a:solidFill>
                                    <a:latin typeface="Cambria Math" panose="02040503050406030204" pitchFamily="18" charset="0"/>
                                    <a:cs typeface="Times New Roman" panose="02020603050405020304" pitchFamily="18" charset="0"/>
                                  </a:rPr>
                                  <m:t>𝟎</m:t>
                                </m:r>
                              </m:e>
                            </m:mr>
                            <m:mr>
                              <m:e>
                                <m:r>
                                  <a:rPr lang="es-MX" sz="1600" b="1" i="1" smtClean="0">
                                    <a:solidFill>
                                      <a:schemeClr val="tx2"/>
                                    </a:solidFill>
                                    <a:latin typeface="Cambria Math" panose="02040503050406030204" pitchFamily="18" charset="0"/>
                                  </a:rPr>
                                  <m:t>𝒍</m:t>
                                </m:r>
                                <m:r>
                                  <a:rPr lang="es-MX" sz="1600" b="1" i="1" smtClean="0">
                                    <a:solidFill>
                                      <a:schemeClr val="tx2"/>
                                    </a:solidFill>
                                    <a:latin typeface="Cambria Math" panose="02040503050406030204" pitchFamily="18" charset="0"/>
                                  </a:rPr>
                                  <m:t>𝟒</m:t>
                                </m:r>
                              </m:e>
                            </m:mr>
                          </m:m>
                        </m:e>
                      </m:d>
                    </m:oMath>
                  </m:oMathPara>
                </a14:m>
                <a:endParaRPr lang="es-MX" sz="1600" dirty="0"/>
              </a:p>
            </p:txBody>
          </p:sp>
        </mc:Choice>
        <mc:Fallback>
          <p:sp>
            <p:nvSpPr>
              <p:cNvPr id="45" name="CuadroTexto 44">
                <a:extLst>
                  <a:ext uri="{FF2B5EF4-FFF2-40B4-BE49-F238E27FC236}">
                    <a16:creationId xmlns:a16="http://schemas.microsoft.com/office/drawing/2014/main" id="{2A678851-2B9C-A60C-2BB2-42C309E8B8C3}"/>
                  </a:ext>
                </a:extLst>
              </p:cNvPr>
              <p:cNvSpPr txBox="1">
                <a:spLocks noRot="1" noChangeAspect="1" noMove="1" noResize="1" noEditPoints="1" noAdjustHandles="1" noChangeArrowheads="1" noChangeShapeType="1" noTextEdit="1"/>
              </p:cNvSpPr>
              <p:nvPr/>
            </p:nvSpPr>
            <p:spPr>
              <a:xfrm>
                <a:off x="5004376" y="3467161"/>
                <a:ext cx="420243" cy="672428"/>
              </a:xfrm>
              <a:prstGeom prst="rect">
                <a:avLst/>
              </a:prstGeom>
              <a:blipFill>
                <a:blip r:embed="rId4"/>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20E4E94B-2314-D53B-4195-DA34C29971AC}"/>
              </a:ext>
            </a:extLst>
          </p:cNvPr>
          <p:cNvSpPr txBox="1"/>
          <p:nvPr/>
        </p:nvSpPr>
        <p:spPr>
          <a:xfrm>
            <a:off x="4637776" y="4196214"/>
            <a:ext cx="1150293" cy="738664"/>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A4 a A5</a:t>
            </a:r>
            <a:endParaRPr lang="es-ES" sz="1400" b="1" dirty="0">
              <a:solidFill>
                <a:schemeClr val="tx2"/>
              </a:solidFill>
              <a:latin typeface="Fira Sans Condensed Light" panose="020B0604020202020204" charset="0"/>
              <a:cs typeface="Times New Roman" panose="02020603050405020304" pitchFamily="18" charset="0"/>
            </a:endParaRPr>
          </a:p>
        </p:txBody>
      </p:sp>
      <p:pic>
        <p:nvPicPr>
          <p:cNvPr id="20" name="Imagen 19">
            <a:extLst>
              <a:ext uri="{FF2B5EF4-FFF2-40B4-BE49-F238E27FC236}">
                <a16:creationId xmlns:a16="http://schemas.microsoft.com/office/drawing/2014/main" id="{4DF82F7C-FC9A-02E0-0DD7-E1E2E954617D}"/>
              </a:ext>
            </a:extLst>
          </p:cNvPr>
          <p:cNvPicPr>
            <a:picLocks noChangeAspect="1"/>
          </p:cNvPicPr>
          <p:nvPr/>
        </p:nvPicPr>
        <p:blipFill>
          <a:blip r:embed="rId5"/>
          <a:stretch>
            <a:fillRect/>
          </a:stretch>
        </p:blipFill>
        <p:spPr>
          <a:xfrm>
            <a:off x="5744925" y="1312244"/>
            <a:ext cx="3375693" cy="3572097"/>
          </a:xfrm>
          <a:prstGeom prst="rect">
            <a:avLst/>
          </a:prstGeom>
        </p:spPr>
      </p:pic>
      <p:sp>
        <p:nvSpPr>
          <p:cNvPr id="21" name="CuadroTexto 20">
            <a:extLst>
              <a:ext uri="{FF2B5EF4-FFF2-40B4-BE49-F238E27FC236}">
                <a16:creationId xmlns:a16="http://schemas.microsoft.com/office/drawing/2014/main" id="{42ECC386-13F4-F520-6195-9F1C1B07C0C9}"/>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29" name="CuadroTexto 28">
            <a:extLst>
              <a:ext uri="{FF2B5EF4-FFF2-40B4-BE49-F238E27FC236}">
                <a16:creationId xmlns:a16="http://schemas.microsoft.com/office/drawing/2014/main" id="{12175353-3788-95B6-A7BA-F7D30648A53A}"/>
              </a:ext>
            </a:extLst>
          </p:cNvPr>
          <p:cNvSpPr txBox="1"/>
          <p:nvPr/>
        </p:nvSpPr>
        <p:spPr>
          <a:xfrm>
            <a:off x="6307246" y="2237995"/>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30" name="CuadroTexto 29">
            <a:extLst>
              <a:ext uri="{FF2B5EF4-FFF2-40B4-BE49-F238E27FC236}">
                <a16:creationId xmlns:a16="http://schemas.microsoft.com/office/drawing/2014/main" id="{1968B4CC-072B-86F5-E635-027385C4A061}"/>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32" name="CuadroTexto 31">
            <a:extLst>
              <a:ext uri="{FF2B5EF4-FFF2-40B4-BE49-F238E27FC236}">
                <a16:creationId xmlns:a16="http://schemas.microsoft.com/office/drawing/2014/main" id="{6BD1E0D2-3860-3922-C1C0-C1290AB496CD}"/>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33" name="CuadroTexto 32">
            <a:extLst>
              <a:ext uri="{FF2B5EF4-FFF2-40B4-BE49-F238E27FC236}">
                <a16:creationId xmlns:a16="http://schemas.microsoft.com/office/drawing/2014/main" id="{4DBB1B7A-9886-346D-0C7D-E5D222E85070}"/>
              </a:ext>
            </a:extLst>
          </p:cNvPr>
          <p:cNvSpPr txBox="1"/>
          <p:nvPr/>
        </p:nvSpPr>
        <p:spPr>
          <a:xfrm>
            <a:off x="8760900" y="2108070"/>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34" name="Conector recto de flecha 33">
            <a:extLst>
              <a:ext uri="{FF2B5EF4-FFF2-40B4-BE49-F238E27FC236}">
                <a16:creationId xmlns:a16="http://schemas.microsoft.com/office/drawing/2014/main" id="{7EA810C7-E09F-2037-570F-2FA8957DC7DE}"/>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5" name="Conector recto de flecha 34">
            <a:extLst>
              <a:ext uri="{FF2B5EF4-FFF2-40B4-BE49-F238E27FC236}">
                <a16:creationId xmlns:a16="http://schemas.microsoft.com/office/drawing/2014/main" id="{18969BBE-455A-F5CD-E4A7-E82BB41DC861}"/>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6" name="Conector recto de flecha 35">
            <a:extLst>
              <a:ext uri="{FF2B5EF4-FFF2-40B4-BE49-F238E27FC236}">
                <a16:creationId xmlns:a16="http://schemas.microsoft.com/office/drawing/2014/main" id="{F17FE927-4681-2C70-C208-61B4D675737D}"/>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38" name="CuadroTexto 37">
            <a:extLst>
              <a:ext uri="{FF2B5EF4-FFF2-40B4-BE49-F238E27FC236}">
                <a16:creationId xmlns:a16="http://schemas.microsoft.com/office/drawing/2014/main" id="{2CFA9558-30AA-0A01-FD30-6A585C0EF1F6}"/>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42" name="CuadroTexto 41">
            <a:extLst>
              <a:ext uri="{FF2B5EF4-FFF2-40B4-BE49-F238E27FC236}">
                <a16:creationId xmlns:a16="http://schemas.microsoft.com/office/drawing/2014/main" id="{2095D61D-4CEC-6BF2-7A5C-536BEB90F895}"/>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49" name="CuadroTexto 48">
            <a:extLst>
              <a:ext uri="{FF2B5EF4-FFF2-40B4-BE49-F238E27FC236}">
                <a16:creationId xmlns:a16="http://schemas.microsoft.com/office/drawing/2014/main" id="{1828C471-28CC-802A-7533-57A21EE28DAE}"/>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cxnSp>
        <p:nvCxnSpPr>
          <p:cNvPr id="50" name="Conector recto de flecha 49">
            <a:extLst>
              <a:ext uri="{FF2B5EF4-FFF2-40B4-BE49-F238E27FC236}">
                <a16:creationId xmlns:a16="http://schemas.microsoft.com/office/drawing/2014/main" id="{A585E7EE-D6A8-976C-A4DF-446EED433093}"/>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51" name="Conector recto de flecha 50">
            <a:extLst>
              <a:ext uri="{FF2B5EF4-FFF2-40B4-BE49-F238E27FC236}">
                <a16:creationId xmlns:a16="http://schemas.microsoft.com/office/drawing/2014/main" id="{E09EBBC3-ECFD-D8A0-3D1C-68232414E29E}"/>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52" name="Conector recto de flecha 51">
            <a:extLst>
              <a:ext uri="{FF2B5EF4-FFF2-40B4-BE49-F238E27FC236}">
                <a16:creationId xmlns:a16="http://schemas.microsoft.com/office/drawing/2014/main" id="{83325F90-9339-6A38-4489-1C0AF88D6307}"/>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53" name="CuadroTexto 52">
            <a:extLst>
              <a:ext uri="{FF2B5EF4-FFF2-40B4-BE49-F238E27FC236}">
                <a16:creationId xmlns:a16="http://schemas.microsoft.com/office/drawing/2014/main" id="{AC88C692-508A-1A18-4519-27FA9D35E952}"/>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54" name="CuadroTexto 53">
            <a:extLst>
              <a:ext uri="{FF2B5EF4-FFF2-40B4-BE49-F238E27FC236}">
                <a16:creationId xmlns:a16="http://schemas.microsoft.com/office/drawing/2014/main" id="{62F09C7B-B4AC-45EB-59CF-9948493E2702}"/>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55" name="CuadroTexto 54">
            <a:extLst>
              <a:ext uri="{FF2B5EF4-FFF2-40B4-BE49-F238E27FC236}">
                <a16:creationId xmlns:a16="http://schemas.microsoft.com/office/drawing/2014/main" id="{4E245ED3-6A6C-2B45-EF81-2D9723A7A531}"/>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56" name="Conector recto 55">
            <a:extLst>
              <a:ext uri="{FF2B5EF4-FFF2-40B4-BE49-F238E27FC236}">
                <a16:creationId xmlns:a16="http://schemas.microsoft.com/office/drawing/2014/main" id="{4083B30A-E209-885A-1A39-30628DD1836B}"/>
              </a:ext>
            </a:extLst>
          </p:cNvPr>
          <p:cNvCxnSpPr>
            <a:cxnSpLocks/>
          </p:cNvCxnSpPr>
          <p:nvPr/>
        </p:nvCxnSpPr>
        <p:spPr>
          <a:xfrm flipH="1" flipV="1">
            <a:off x="6352868" y="2545307"/>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7" name="CuadroTexto 56">
            <a:extLst>
              <a:ext uri="{FF2B5EF4-FFF2-40B4-BE49-F238E27FC236}">
                <a16:creationId xmlns:a16="http://schemas.microsoft.com/office/drawing/2014/main" id="{7B88D4CA-5AC4-B6DB-1093-62F37A045778}"/>
              </a:ext>
            </a:extLst>
          </p:cNvPr>
          <p:cNvSpPr txBox="1"/>
          <p:nvPr/>
        </p:nvSpPr>
        <p:spPr>
          <a:xfrm>
            <a:off x="5947611" y="2423642"/>
            <a:ext cx="469601"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cxnSp>
        <p:nvCxnSpPr>
          <p:cNvPr id="58" name="Conector recto de flecha 57">
            <a:extLst>
              <a:ext uri="{FF2B5EF4-FFF2-40B4-BE49-F238E27FC236}">
                <a16:creationId xmlns:a16="http://schemas.microsoft.com/office/drawing/2014/main" id="{2EF9526D-7485-0A81-8E2E-39B00BC09747}"/>
              </a:ext>
            </a:extLst>
          </p:cNvPr>
          <p:cNvCxnSpPr>
            <a:cxnSpLocks/>
          </p:cNvCxnSpPr>
          <p:nvPr/>
        </p:nvCxnSpPr>
        <p:spPr>
          <a:xfrm>
            <a:off x="6835714" y="1963721"/>
            <a:ext cx="361325" cy="11511"/>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59" name="Conector recto de flecha 58">
            <a:extLst>
              <a:ext uri="{FF2B5EF4-FFF2-40B4-BE49-F238E27FC236}">
                <a16:creationId xmlns:a16="http://schemas.microsoft.com/office/drawing/2014/main" id="{9E810A61-7BCD-585D-B51E-389CC250318F}"/>
              </a:ext>
            </a:extLst>
          </p:cNvPr>
          <p:cNvCxnSpPr>
            <a:cxnSpLocks/>
          </p:cNvCxnSpPr>
          <p:nvPr/>
        </p:nvCxnSpPr>
        <p:spPr>
          <a:xfrm flipH="1">
            <a:off x="6568661" y="1978579"/>
            <a:ext cx="249674" cy="25152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60" name="Conector recto de flecha 59">
            <a:extLst>
              <a:ext uri="{FF2B5EF4-FFF2-40B4-BE49-F238E27FC236}">
                <a16:creationId xmlns:a16="http://schemas.microsoft.com/office/drawing/2014/main" id="{031631C6-99A9-9F5E-625F-33F80E1828B4}"/>
              </a:ext>
            </a:extLst>
          </p:cNvPr>
          <p:cNvCxnSpPr>
            <a:cxnSpLocks/>
          </p:cNvCxnSpPr>
          <p:nvPr/>
        </p:nvCxnSpPr>
        <p:spPr>
          <a:xfrm>
            <a:off x="6841370" y="194293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61" name="CuadroTexto 60">
            <a:extLst>
              <a:ext uri="{FF2B5EF4-FFF2-40B4-BE49-F238E27FC236}">
                <a16:creationId xmlns:a16="http://schemas.microsoft.com/office/drawing/2014/main" id="{B831511D-457E-363F-A89D-3DF80ED02C6D}"/>
              </a:ext>
            </a:extLst>
          </p:cNvPr>
          <p:cNvSpPr txBox="1"/>
          <p:nvPr/>
        </p:nvSpPr>
        <p:spPr>
          <a:xfrm>
            <a:off x="6812078" y="212976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62" name="CuadroTexto 61">
            <a:extLst>
              <a:ext uri="{FF2B5EF4-FFF2-40B4-BE49-F238E27FC236}">
                <a16:creationId xmlns:a16="http://schemas.microsoft.com/office/drawing/2014/main" id="{0C1C1A64-FA97-2101-0BF3-904AA7EAD8E0}"/>
              </a:ext>
            </a:extLst>
          </p:cNvPr>
          <p:cNvSpPr txBox="1"/>
          <p:nvPr/>
        </p:nvSpPr>
        <p:spPr>
          <a:xfrm>
            <a:off x="7027373" y="1614791"/>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63" name="CuadroTexto 62">
            <a:extLst>
              <a:ext uri="{FF2B5EF4-FFF2-40B4-BE49-F238E27FC236}">
                <a16:creationId xmlns:a16="http://schemas.microsoft.com/office/drawing/2014/main" id="{6F687ED5-963E-4528-3C46-AEEC18C8D799}"/>
              </a:ext>
            </a:extLst>
          </p:cNvPr>
          <p:cNvSpPr txBox="1"/>
          <p:nvPr/>
        </p:nvSpPr>
        <p:spPr>
          <a:xfrm>
            <a:off x="6352889" y="1883408"/>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cxnSp>
        <p:nvCxnSpPr>
          <p:cNvPr id="128" name="Conector recto 127">
            <a:extLst>
              <a:ext uri="{FF2B5EF4-FFF2-40B4-BE49-F238E27FC236}">
                <a16:creationId xmlns:a16="http://schemas.microsoft.com/office/drawing/2014/main" id="{13402CC3-BC3E-8C39-770E-62BD970D76C3}"/>
              </a:ext>
            </a:extLst>
          </p:cNvPr>
          <p:cNvCxnSpPr>
            <a:cxnSpLocks/>
          </p:cNvCxnSpPr>
          <p:nvPr/>
        </p:nvCxnSpPr>
        <p:spPr>
          <a:xfrm flipH="1" flipV="1">
            <a:off x="6818553" y="1429901"/>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29" name="CuadroTexto 128">
            <a:extLst>
              <a:ext uri="{FF2B5EF4-FFF2-40B4-BE49-F238E27FC236}">
                <a16:creationId xmlns:a16="http://schemas.microsoft.com/office/drawing/2014/main" id="{0401DF3D-AF56-D025-456D-46DB54685ED3}"/>
              </a:ext>
            </a:extLst>
          </p:cNvPr>
          <p:cNvSpPr txBox="1"/>
          <p:nvPr/>
        </p:nvSpPr>
        <p:spPr>
          <a:xfrm>
            <a:off x="6440803" y="1353134"/>
            <a:ext cx="469601"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cxnSp>
        <p:nvCxnSpPr>
          <p:cNvPr id="130" name="Conector recto de flecha 129">
            <a:extLst>
              <a:ext uri="{FF2B5EF4-FFF2-40B4-BE49-F238E27FC236}">
                <a16:creationId xmlns:a16="http://schemas.microsoft.com/office/drawing/2014/main" id="{DF56D5A1-BE4D-26CC-CFBE-18FE4D970FB1}"/>
              </a:ext>
            </a:extLst>
          </p:cNvPr>
          <p:cNvCxnSpPr>
            <a:cxnSpLocks/>
          </p:cNvCxnSpPr>
          <p:nvPr/>
        </p:nvCxnSpPr>
        <p:spPr>
          <a:xfrm>
            <a:off x="7867074" y="1978579"/>
            <a:ext cx="390672" cy="785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1" name="Conector recto de flecha 130">
            <a:extLst>
              <a:ext uri="{FF2B5EF4-FFF2-40B4-BE49-F238E27FC236}">
                <a16:creationId xmlns:a16="http://schemas.microsoft.com/office/drawing/2014/main" id="{C24F25FF-1394-2111-EFEF-B17A69E26E8C}"/>
              </a:ext>
            </a:extLst>
          </p:cNvPr>
          <p:cNvCxnSpPr>
            <a:cxnSpLocks/>
          </p:cNvCxnSpPr>
          <p:nvPr/>
        </p:nvCxnSpPr>
        <p:spPr>
          <a:xfrm flipV="1">
            <a:off x="7868669" y="1666402"/>
            <a:ext cx="254075" cy="31654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2" name="Conector recto de flecha 131">
            <a:extLst>
              <a:ext uri="{FF2B5EF4-FFF2-40B4-BE49-F238E27FC236}">
                <a16:creationId xmlns:a16="http://schemas.microsoft.com/office/drawing/2014/main" id="{ABFFF0B7-6A9C-0060-F864-8A0EEDDCA660}"/>
              </a:ext>
            </a:extLst>
          </p:cNvPr>
          <p:cNvCxnSpPr>
            <a:cxnSpLocks/>
          </p:cNvCxnSpPr>
          <p:nvPr/>
        </p:nvCxnSpPr>
        <p:spPr>
          <a:xfrm>
            <a:off x="7862339" y="197857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3" name="CuadroTexto 132">
            <a:extLst>
              <a:ext uri="{FF2B5EF4-FFF2-40B4-BE49-F238E27FC236}">
                <a16:creationId xmlns:a16="http://schemas.microsoft.com/office/drawing/2014/main" id="{36731055-F019-C77E-CDA9-B5EFC2A2F69B}"/>
              </a:ext>
            </a:extLst>
          </p:cNvPr>
          <p:cNvSpPr txBox="1"/>
          <p:nvPr/>
        </p:nvSpPr>
        <p:spPr>
          <a:xfrm>
            <a:off x="7676570" y="2413461"/>
            <a:ext cx="371537" cy="307777"/>
          </a:xfrm>
          <a:prstGeom prst="rect">
            <a:avLst/>
          </a:prstGeom>
          <a:noFill/>
        </p:spPr>
        <p:txBody>
          <a:bodyPr wrap="square" rtlCol="0">
            <a:spAutoFit/>
          </a:bodyPr>
          <a:lstStyle/>
          <a:p>
            <a:r>
              <a:rPr lang="es-ES" dirty="0">
                <a:highlight>
                  <a:srgbClr val="00FF00"/>
                </a:highlight>
              </a:rPr>
              <a:t>x4</a:t>
            </a:r>
            <a:endParaRPr lang="es-MX" dirty="0">
              <a:highlight>
                <a:srgbClr val="00FF00"/>
              </a:highlight>
            </a:endParaRPr>
          </a:p>
        </p:txBody>
      </p:sp>
      <p:sp>
        <p:nvSpPr>
          <p:cNvPr id="134" name="CuadroTexto 133">
            <a:extLst>
              <a:ext uri="{FF2B5EF4-FFF2-40B4-BE49-F238E27FC236}">
                <a16:creationId xmlns:a16="http://schemas.microsoft.com/office/drawing/2014/main" id="{33640915-95D6-5B32-B5E7-64F2416C5899}"/>
              </a:ext>
            </a:extLst>
          </p:cNvPr>
          <p:cNvSpPr txBox="1"/>
          <p:nvPr/>
        </p:nvSpPr>
        <p:spPr>
          <a:xfrm>
            <a:off x="7684020" y="1513500"/>
            <a:ext cx="371536" cy="307777"/>
          </a:xfrm>
          <a:prstGeom prst="rect">
            <a:avLst/>
          </a:prstGeom>
          <a:noFill/>
        </p:spPr>
        <p:txBody>
          <a:bodyPr wrap="square" rtlCol="0">
            <a:spAutoFit/>
          </a:bodyPr>
          <a:lstStyle/>
          <a:p>
            <a:r>
              <a:rPr lang="es-ES" dirty="0">
                <a:highlight>
                  <a:srgbClr val="FFFF00"/>
                </a:highlight>
              </a:rPr>
              <a:t>y4</a:t>
            </a:r>
            <a:endParaRPr lang="es-MX" dirty="0">
              <a:highlight>
                <a:srgbClr val="FFFF00"/>
              </a:highlight>
            </a:endParaRPr>
          </a:p>
        </p:txBody>
      </p:sp>
      <p:sp>
        <p:nvSpPr>
          <p:cNvPr id="135" name="CuadroTexto 134">
            <a:extLst>
              <a:ext uri="{FF2B5EF4-FFF2-40B4-BE49-F238E27FC236}">
                <a16:creationId xmlns:a16="http://schemas.microsoft.com/office/drawing/2014/main" id="{C2D7713B-DF6E-7BDD-B0F3-3633C70969F0}"/>
              </a:ext>
            </a:extLst>
          </p:cNvPr>
          <p:cNvSpPr txBox="1"/>
          <p:nvPr/>
        </p:nvSpPr>
        <p:spPr>
          <a:xfrm>
            <a:off x="7849749" y="1951808"/>
            <a:ext cx="371537" cy="307777"/>
          </a:xfrm>
          <a:prstGeom prst="rect">
            <a:avLst/>
          </a:prstGeom>
          <a:noFill/>
        </p:spPr>
        <p:txBody>
          <a:bodyPr wrap="square" rtlCol="0">
            <a:spAutoFit/>
          </a:bodyPr>
          <a:lstStyle/>
          <a:p>
            <a:r>
              <a:rPr lang="es-ES" dirty="0">
                <a:highlight>
                  <a:srgbClr val="00FFFF"/>
                </a:highlight>
              </a:rPr>
              <a:t>z4</a:t>
            </a:r>
            <a:endParaRPr lang="es-MX" dirty="0">
              <a:highlight>
                <a:srgbClr val="00FFFF"/>
              </a:highlight>
            </a:endParaRPr>
          </a:p>
        </p:txBody>
      </p:sp>
      <p:cxnSp>
        <p:nvCxnSpPr>
          <p:cNvPr id="136" name="Conector recto de flecha 135">
            <a:extLst>
              <a:ext uri="{FF2B5EF4-FFF2-40B4-BE49-F238E27FC236}">
                <a16:creationId xmlns:a16="http://schemas.microsoft.com/office/drawing/2014/main" id="{46AE4DF7-1E18-5DFE-05E5-7887255C12D2}"/>
              </a:ext>
            </a:extLst>
          </p:cNvPr>
          <p:cNvCxnSpPr>
            <a:cxnSpLocks/>
          </p:cNvCxnSpPr>
          <p:nvPr/>
        </p:nvCxnSpPr>
        <p:spPr>
          <a:xfrm>
            <a:off x="8531526" y="2022533"/>
            <a:ext cx="347901" cy="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7" name="Conector recto de flecha 136">
            <a:extLst>
              <a:ext uri="{FF2B5EF4-FFF2-40B4-BE49-F238E27FC236}">
                <a16:creationId xmlns:a16="http://schemas.microsoft.com/office/drawing/2014/main" id="{F9DA1171-57CC-0878-45BA-3C7D1E6332CA}"/>
              </a:ext>
            </a:extLst>
          </p:cNvPr>
          <p:cNvCxnSpPr>
            <a:cxnSpLocks/>
          </p:cNvCxnSpPr>
          <p:nvPr/>
        </p:nvCxnSpPr>
        <p:spPr>
          <a:xfrm flipH="1">
            <a:off x="8233784" y="2026899"/>
            <a:ext cx="299337" cy="228155"/>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8" name="Conector recto de flecha 137">
            <a:extLst>
              <a:ext uri="{FF2B5EF4-FFF2-40B4-BE49-F238E27FC236}">
                <a16:creationId xmlns:a16="http://schemas.microsoft.com/office/drawing/2014/main" id="{5D91D4F8-F6CB-C023-A81E-7EABDD6651C3}"/>
              </a:ext>
            </a:extLst>
          </p:cNvPr>
          <p:cNvCxnSpPr>
            <a:cxnSpLocks/>
          </p:cNvCxnSpPr>
          <p:nvPr/>
        </p:nvCxnSpPr>
        <p:spPr>
          <a:xfrm>
            <a:off x="8537182" y="2022533"/>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9" name="CuadroTexto 138">
            <a:extLst>
              <a:ext uri="{FF2B5EF4-FFF2-40B4-BE49-F238E27FC236}">
                <a16:creationId xmlns:a16="http://schemas.microsoft.com/office/drawing/2014/main" id="{9EF0CD8E-FDFD-31A8-F322-58F245275A7C}"/>
              </a:ext>
            </a:extLst>
          </p:cNvPr>
          <p:cNvSpPr txBox="1"/>
          <p:nvPr/>
        </p:nvSpPr>
        <p:spPr>
          <a:xfrm>
            <a:off x="8507890" y="2219752"/>
            <a:ext cx="371537" cy="307777"/>
          </a:xfrm>
          <a:prstGeom prst="rect">
            <a:avLst/>
          </a:prstGeom>
          <a:noFill/>
        </p:spPr>
        <p:txBody>
          <a:bodyPr wrap="square" rtlCol="0">
            <a:spAutoFit/>
          </a:bodyPr>
          <a:lstStyle/>
          <a:p>
            <a:r>
              <a:rPr lang="es-ES" dirty="0">
                <a:highlight>
                  <a:srgbClr val="00FF00"/>
                </a:highlight>
              </a:rPr>
              <a:t>x5</a:t>
            </a:r>
            <a:endParaRPr lang="es-MX" dirty="0">
              <a:highlight>
                <a:srgbClr val="00FF00"/>
              </a:highlight>
            </a:endParaRPr>
          </a:p>
        </p:txBody>
      </p:sp>
      <p:sp>
        <p:nvSpPr>
          <p:cNvPr id="140" name="CuadroTexto 139">
            <a:extLst>
              <a:ext uri="{FF2B5EF4-FFF2-40B4-BE49-F238E27FC236}">
                <a16:creationId xmlns:a16="http://schemas.microsoft.com/office/drawing/2014/main" id="{17D90636-D718-5BB7-B902-B4D98E4DEF93}"/>
              </a:ext>
            </a:extLst>
          </p:cNvPr>
          <p:cNvSpPr txBox="1"/>
          <p:nvPr/>
        </p:nvSpPr>
        <p:spPr>
          <a:xfrm>
            <a:off x="8723185" y="1663212"/>
            <a:ext cx="371536" cy="307777"/>
          </a:xfrm>
          <a:prstGeom prst="rect">
            <a:avLst/>
          </a:prstGeom>
          <a:noFill/>
        </p:spPr>
        <p:txBody>
          <a:bodyPr wrap="square" rtlCol="0">
            <a:spAutoFit/>
          </a:bodyPr>
          <a:lstStyle/>
          <a:p>
            <a:r>
              <a:rPr lang="es-ES" dirty="0">
                <a:highlight>
                  <a:srgbClr val="FFFF00"/>
                </a:highlight>
              </a:rPr>
              <a:t>y5</a:t>
            </a:r>
            <a:endParaRPr lang="es-MX" dirty="0">
              <a:highlight>
                <a:srgbClr val="FFFF00"/>
              </a:highlight>
            </a:endParaRPr>
          </a:p>
        </p:txBody>
      </p:sp>
      <p:sp>
        <p:nvSpPr>
          <p:cNvPr id="141" name="CuadroTexto 140">
            <a:extLst>
              <a:ext uri="{FF2B5EF4-FFF2-40B4-BE49-F238E27FC236}">
                <a16:creationId xmlns:a16="http://schemas.microsoft.com/office/drawing/2014/main" id="{FC806D64-FCB9-4B5C-9A8C-CBE339F2A504}"/>
              </a:ext>
            </a:extLst>
          </p:cNvPr>
          <p:cNvSpPr txBox="1"/>
          <p:nvPr/>
        </p:nvSpPr>
        <p:spPr>
          <a:xfrm>
            <a:off x="8037624" y="2255054"/>
            <a:ext cx="371537" cy="307777"/>
          </a:xfrm>
          <a:prstGeom prst="rect">
            <a:avLst/>
          </a:prstGeom>
          <a:noFill/>
        </p:spPr>
        <p:txBody>
          <a:bodyPr wrap="square" rtlCol="0">
            <a:spAutoFit/>
          </a:bodyPr>
          <a:lstStyle/>
          <a:p>
            <a:r>
              <a:rPr lang="es-ES" dirty="0">
                <a:highlight>
                  <a:srgbClr val="00FFFF"/>
                </a:highlight>
              </a:rPr>
              <a:t>z5</a:t>
            </a:r>
            <a:endParaRPr lang="es-MX" dirty="0">
              <a:highlight>
                <a:srgbClr val="00FFFF"/>
              </a:highlight>
            </a:endParaRPr>
          </a:p>
        </p:txBody>
      </p:sp>
      <mc:AlternateContent xmlns:mc="http://schemas.openxmlformats.org/markup-compatibility/2006">
        <mc:Choice xmlns:a14="http://schemas.microsoft.com/office/drawing/2010/main" Requires="a14">
          <p:sp>
            <p:nvSpPr>
              <p:cNvPr id="145" name="CuadroTexto 144">
                <a:extLst>
                  <a:ext uri="{FF2B5EF4-FFF2-40B4-BE49-F238E27FC236}">
                    <a16:creationId xmlns:a16="http://schemas.microsoft.com/office/drawing/2014/main" id="{294D036E-C5BE-1ED0-0DA2-053FB1416171}"/>
                  </a:ext>
                </a:extLst>
              </p:cNvPr>
              <p:cNvSpPr txBox="1"/>
              <p:nvPr/>
            </p:nvSpPr>
            <p:spPr>
              <a:xfrm>
                <a:off x="48605" y="3426019"/>
                <a:ext cx="2387247" cy="695896"/>
              </a:xfrm>
              <a:prstGeom prst="rect">
                <a:avLst/>
              </a:prstGeom>
              <a:noFill/>
            </p:spPr>
            <p:txBody>
              <a:bodyPr wrap="square" lIns="0" tIns="0" rIns="0" bIns="0" rtlCol="0">
                <a:spAutoFit/>
              </a:bodyPr>
              <a:lstStyle/>
              <a:p>
                <a:pPr/>
                <a14:m>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4</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4</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4</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4</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a14:m>
                <a:r>
                  <a:rPr lang="es-MX" sz="1600" dirty="0">
                    <a:solidFill>
                      <a:schemeClr val="tx2"/>
                    </a:solidFill>
                  </a:rPr>
                  <a:t>*</a:t>
                </a:r>
              </a:p>
            </p:txBody>
          </p:sp>
        </mc:Choice>
        <mc:Fallback>
          <p:sp>
            <p:nvSpPr>
              <p:cNvPr id="145" name="CuadroTexto 144">
                <a:extLst>
                  <a:ext uri="{FF2B5EF4-FFF2-40B4-BE49-F238E27FC236}">
                    <a16:creationId xmlns:a16="http://schemas.microsoft.com/office/drawing/2014/main" id="{294D036E-C5BE-1ED0-0DA2-053FB1416171}"/>
                  </a:ext>
                </a:extLst>
              </p:cNvPr>
              <p:cNvSpPr txBox="1">
                <a:spLocks noRot="1" noChangeAspect="1" noMove="1" noResize="1" noEditPoints="1" noAdjustHandles="1" noChangeArrowheads="1" noChangeShapeType="1" noTextEdit="1"/>
              </p:cNvSpPr>
              <p:nvPr/>
            </p:nvSpPr>
            <p:spPr>
              <a:xfrm>
                <a:off x="48605" y="3426019"/>
                <a:ext cx="2387247" cy="695896"/>
              </a:xfrm>
              <a:prstGeom prst="rect">
                <a:avLst/>
              </a:prstGeom>
              <a:blipFill>
                <a:blip r:embed="rId6"/>
                <a:stretch>
                  <a:fillRect r="-2806"/>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46" name="CuadroTexto 145">
                <a:extLst>
                  <a:ext uri="{FF2B5EF4-FFF2-40B4-BE49-F238E27FC236}">
                    <a16:creationId xmlns:a16="http://schemas.microsoft.com/office/drawing/2014/main" id="{B5B74ADE-ACD7-1BC9-AFEC-DE59A15891C4}"/>
                  </a:ext>
                </a:extLst>
              </p:cNvPr>
              <p:cNvSpPr txBox="1"/>
              <p:nvPr/>
            </p:nvSpPr>
            <p:spPr>
              <a:xfrm>
                <a:off x="2303576" y="3368946"/>
                <a:ext cx="2333779"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brk m:alnAt="7"/>
                                  </m:rP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m:t>
                                </m:r>
                                <m:r>
                                  <a:rPr lang="es-MX" sz="1600" i="1">
                                    <a:solidFill>
                                      <a:schemeClr val="tx2"/>
                                    </a:solidFill>
                                    <a:latin typeface="Cambria Math" panose="02040503050406030204" pitchFamily="18" charset="0"/>
                                  </a:rPr>
                                  <m:t>𝑠𝑒𝑛</m:t>
                                </m:r>
                                <m:r>
                                  <a:rPr lang="es-MX" sz="1600" i="1">
                                    <a:solidFill>
                                      <a:schemeClr val="tx2"/>
                                    </a:solidFill>
                                    <a:latin typeface="Cambria Math" panose="02040503050406030204" pitchFamily="18" charset="0"/>
                                  </a:rPr>
                                  <m:t>(90)</m:t>
                                </m:r>
                              </m:e>
                            </m:mr>
                            <m:mr>
                              <m:e>
                                <m:r>
                                  <a:rPr lang="es-MX" sz="1600" b="0" i="1" smtClean="0">
                                    <a:solidFill>
                                      <a:schemeClr val="tx2"/>
                                    </a:solidFill>
                                    <a:latin typeface="Cambria Math" panose="02040503050406030204" pitchFamily="18" charset="0"/>
                                  </a:rPr>
                                  <m:t>0</m:t>
                                </m:r>
                              </m:e>
                              <m:e>
                                <m:r>
                                  <a:rPr lang="es-MX" sz="1600" i="1">
                                    <a:solidFill>
                                      <a:schemeClr val="tx2"/>
                                    </a:solidFill>
                                    <a:latin typeface="Cambria Math" panose="02040503050406030204" pitchFamily="18" charset="0"/>
                                  </a:rPr>
                                  <m:t>𝑠𝑒𝑛</m:t>
                                </m:r>
                                <m:r>
                                  <a:rPr lang="es-MX" sz="1600" i="1">
                                    <a:solidFill>
                                      <a:schemeClr val="tx2"/>
                                    </a:solidFill>
                                    <a:latin typeface="Cambria Math" panose="02040503050406030204" pitchFamily="18" charset="0"/>
                                  </a:rPr>
                                  <m:t>(90)</m:t>
                                </m:r>
                              </m:e>
                              <m:e>
                                <m:r>
                                  <m:rPr>
                                    <m:sty m:val="p"/>
                                  </m:rPr>
                                  <a:rPr lang="es-MX" sz="1600">
                                    <a:solidFill>
                                      <a:schemeClr val="tx2"/>
                                    </a:solidFill>
                                    <a:latin typeface="Cambria Math" panose="02040503050406030204" pitchFamily="18" charset="0"/>
                                  </a:rPr>
                                  <m:t>cos</m:t>
                                </m:r>
                                <m:r>
                                  <a:rPr lang="es-MX" sz="1600">
                                    <a:solidFill>
                                      <a:schemeClr val="tx2"/>
                                    </a:solidFill>
                                    <a:latin typeface="Cambria Math" panose="02040503050406030204" pitchFamily="18" charset="0"/>
                                  </a:rPr>
                                  <m:t>(90)</m:t>
                                </m:r>
                              </m:e>
                            </m:mr>
                          </m:m>
                        </m:e>
                      </m:d>
                    </m:oMath>
                  </m:oMathPara>
                </a14:m>
                <a:endParaRPr lang="es-MX" sz="1600" dirty="0"/>
              </a:p>
            </p:txBody>
          </p:sp>
        </mc:Choice>
        <mc:Fallback>
          <p:sp>
            <p:nvSpPr>
              <p:cNvPr id="146" name="CuadroTexto 145">
                <a:extLst>
                  <a:ext uri="{FF2B5EF4-FFF2-40B4-BE49-F238E27FC236}">
                    <a16:creationId xmlns:a16="http://schemas.microsoft.com/office/drawing/2014/main" id="{B5B74ADE-ACD7-1BC9-AFEC-DE59A15891C4}"/>
                  </a:ext>
                </a:extLst>
              </p:cNvPr>
              <p:cNvSpPr txBox="1">
                <a:spLocks noRot="1" noChangeAspect="1" noMove="1" noResize="1" noEditPoints="1" noAdjustHandles="1" noChangeArrowheads="1" noChangeShapeType="1" noTextEdit="1"/>
              </p:cNvSpPr>
              <p:nvPr/>
            </p:nvSpPr>
            <p:spPr>
              <a:xfrm>
                <a:off x="2303576" y="3368946"/>
                <a:ext cx="2333779" cy="782587"/>
              </a:xfrm>
              <a:prstGeom prst="rect">
                <a:avLst/>
              </a:prstGeom>
              <a:blipFill>
                <a:blip r:embed="rId7"/>
                <a:stretch>
                  <a:fillRect/>
                </a:stretch>
              </a:blipFill>
            </p:spPr>
            <p:txBody>
              <a:bodyPr/>
              <a:lstStyle/>
              <a:p>
                <a:r>
                  <a:rPr lang="es-MX">
                    <a:noFill/>
                  </a:rPr>
                  <a:t> </a:t>
                </a:r>
              </a:p>
            </p:txBody>
          </p:sp>
        </mc:Fallback>
      </mc:AlternateContent>
      <p:sp>
        <p:nvSpPr>
          <p:cNvPr id="147" name="Google Shape;1603;p42">
            <a:extLst>
              <a:ext uri="{FF2B5EF4-FFF2-40B4-BE49-F238E27FC236}">
                <a16:creationId xmlns:a16="http://schemas.microsoft.com/office/drawing/2014/main" id="{1F993825-0611-7E8F-EBDE-5514D5FBD1A7}"/>
              </a:ext>
            </a:extLst>
          </p:cNvPr>
          <p:cNvSpPr txBox="1"/>
          <p:nvPr/>
        </p:nvSpPr>
        <p:spPr>
          <a:xfrm>
            <a:off x="230727" y="4150839"/>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Z4</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48" name="Google Shape;1603;p42">
            <a:extLst>
              <a:ext uri="{FF2B5EF4-FFF2-40B4-BE49-F238E27FC236}">
                <a16:creationId xmlns:a16="http://schemas.microsoft.com/office/drawing/2014/main" id="{DA8BE19A-7C68-376C-23E0-45D56E34E3DC}"/>
              </a:ext>
            </a:extLst>
          </p:cNvPr>
          <p:cNvSpPr txBox="1"/>
          <p:nvPr/>
        </p:nvSpPr>
        <p:spPr>
          <a:xfrm>
            <a:off x="2607089" y="4088384"/>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X4 Evaluada en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90</a:t>
            </a:r>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Tree>
    <p:extLst>
      <p:ext uri="{BB962C8B-B14F-4D97-AF65-F5344CB8AC3E}">
        <p14:creationId xmlns:p14="http://schemas.microsoft.com/office/powerpoint/2010/main" val="185878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
                                        </p:tgtEl>
                                        <p:attrNameLst>
                                          <p:attrName>style.visibility</p:attrName>
                                        </p:attrNameLst>
                                      </p:cBhvr>
                                      <p:to>
                                        <p:strVal val="visible"/>
                                      </p:to>
                                    </p:set>
                                    <p:anim calcmode="lin" valueType="num">
                                      <p:cBhvr additive="base">
                                        <p:cTn id="13" dur="500" fill="hold"/>
                                        <p:tgtEl>
                                          <p:spTgt spid="147"/>
                                        </p:tgtEl>
                                        <p:attrNameLst>
                                          <p:attrName>ppt_x</p:attrName>
                                        </p:attrNameLst>
                                      </p:cBhvr>
                                      <p:tavLst>
                                        <p:tav tm="0">
                                          <p:val>
                                            <p:strVal val="#ppt_x"/>
                                          </p:val>
                                        </p:tav>
                                        <p:tav tm="100000">
                                          <p:val>
                                            <p:strVal val="#ppt_x"/>
                                          </p:val>
                                        </p:tav>
                                      </p:tavLst>
                                    </p:anim>
                                    <p:anim calcmode="lin" valueType="num">
                                      <p:cBhvr additive="base">
                                        <p:cTn id="14" dur="500" fill="hold"/>
                                        <p:tgtEl>
                                          <p:spTgt spid="1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
                                        </p:tgtEl>
                                        <p:attrNameLst>
                                          <p:attrName>style.visibility</p:attrName>
                                        </p:attrNameLst>
                                      </p:cBhvr>
                                      <p:to>
                                        <p:strVal val="visible"/>
                                      </p:to>
                                    </p:set>
                                    <p:anim calcmode="lin" valueType="num">
                                      <p:cBhvr additive="base">
                                        <p:cTn id="19" dur="500" fill="hold"/>
                                        <p:tgtEl>
                                          <p:spTgt spid="148"/>
                                        </p:tgtEl>
                                        <p:attrNameLst>
                                          <p:attrName>ppt_x</p:attrName>
                                        </p:attrNameLst>
                                      </p:cBhvr>
                                      <p:tavLst>
                                        <p:tav tm="0">
                                          <p:val>
                                            <p:strVal val="#ppt_x"/>
                                          </p:val>
                                        </p:tav>
                                        <p:tav tm="100000">
                                          <p:val>
                                            <p:strVal val="#ppt_x"/>
                                          </p:val>
                                        </p:tav>
                                      </p:tavLst>
                                    </p:anim>
                                    <p:anim calcmode="lin" valueType="num">
                                      <p:cBhvr additive="base">
                                        <p:cTn id="20" dur="500" fill="hold"/>
                                        <p:tgtEl>
                                          <p:spTgt spid="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7" grpId="0"/>
      <p:bldP spid="1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B3C1E753-3305-13B1-7DA8-2BF6A7B37AAD}"/>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C3A56F7C-9191-8C94-0820-681E66B84645}"/>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9FBDC8EA-DF1A-ACC2-7B2B-995B75E5E833}"/>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CB7B27C3-6132-435A-0E93-42D4578C99CD}"/>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mc:Choice xmlns:a14="http://schemas.microsoft.com/office/drawing/2010/main" Requires="a14">
          <p:sp>
            <p:nvSpPr>
              <p:cNvPr id="10" name="Google Shape;1603;p42">
                <a:extLst>
                  <a:ext uri="{FF2B5EF4-FFF2-40B4-BE49-F238E27FC236}">
                    <a16:creationId xmlns:a16="http://schemas.microsoft.com/office/drawing/2014/main" id="{184AF217-9404-CBA5-97AC-0A58B6929FDC}"/>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A5</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A6</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“Rotación de +90° alrededor de Y5”</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L5*sen(</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b="0" i="1" smtClean="0">
                            <a:solidFill>
                              <a:srgbClr val="FFFF00"/>
                            </a:solidFill>
                            <a:latin typeface="Cambria Math" panose="02040503050406030204" pitchFamily="18" charset="0"/>
                          </a:rPr>
                          <m:t>5</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X5”</a:t>
                </a:r>
              </a:p>
              <a:p>
                <a:pPr algn="just"/>
                <a:r>
                  <a:rPr lang="es-ES" sz="1600" b="1" dirty="0">
                    <a:solidFill>
                      <a:srgbClr val="FFFF00"/>
                    </a:solidFill>
                    <a:latin typeface="Fira Sans Condensed Light" panose="020B0604020202020204" charset="0"/>
                    <a:cs typeface="Times New Roman" panose="02020603050405020304" pitchFamily="18" charset="0"/>
                  </a:rPr>
                  <a:t>“Translación positiva de L5*cos(</a:t>
                </a:r>
                <a14:m>
                  <m:oMath xmlns:m="http://schemas.openxmlformats.org/officeDocument/2006/math">
                    <m:sSub>
                      <m:sSubPr>
                        <m:ctrlPr>
                          <a:rPr lang="es-MX" sz="1600" i="1">
                            <a:solidFill>
                              <a:srgbClr val="FFFF00"/>
                            </a:solidFill>
                            <a:latin typeface="Cambria Math" panose="02040503050406030204" pitchFamily="18" charset="0"/>
                          </a:rPr>
                        </m:ctrlPr>
                      </m:sSubPr>
                      <m:e>
                        <m:r>
                          <a:rPr lang="es-MX" sz="1600" i="1">
                            <a:solidFill>
                              <a:srgbClr val="FFFF00"/>
                            </a:solidFill>
                            <a:latin typeface="Cambria Math" panose="02040503050406030204" pitchFamily="18" charset="0"/>
                          </a:rPr>
                          <m:t>Ɵ</m:t>
                        </m:r>
                      </m:e>
                      <m:sub>
                        <m:r>
                          <a:rPr lang="es-MX" sz="1600" b="0" i="1" smtClean="0">
                            <a:solidFill>
                              <a:srgbClr val="FFFF00"/>
                            </a:solidFill>
                            <a:latin typeface="Cambria Math" panose="02040503050406030204" pitchFamily="18" charset="0"/>
                          </a:rPr>
                          <m:t>5</m:t>
                        </m:r>
                      </m:sub>
                    </m:sSub>
                  </m:oMath>
                </a14:m>
                <a:r>
                  <a:rPr lang="es-ES" sz="1600" b="1" dirty="0">
                    <a:solidFill>
                      <a:srgbClr val="FFFF00"/>
                    </a:solidFill>
                    <a:latin typeface="Fira Sans Condensed Light" panose="020B0604020202020204" charset="0"/>
                    <a:cs typeface="Times New Roman" panose="02020603050405020304" pitchFamily="18" charset="0"/>
                  </a:rPr>
                  <a:t>) sobre el eje Y5”</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Choice>
        <mc:Fallback>
          <p:sp>
            <p:nvSpPr>
              <p:cNvPr id="10" name="Google Shape;1603;p42">
                <a:extLst>
                  <a:ext uri="{FF2B5EF4-FFF2-40B4-BE49-F238E27FC236}">
                    <a16:creationId xmlns:a16="http://schemas.microsoft.com/office/drawing/2014/main" id="{184AF217-9404-CBA5-97AC-0A58B6929FDC}"/>
                  </a:ext>
                </a:extLst>
              </p:cNvPr>
              <p:cNvSpPr txBox="1">
                <a:spLocks noRot="1" noChangeAspect="1" noMove="1" noResize="1" noEditPoints="1" noAdjustHandles="1" noChangeArrowheads="1" noChangeShapeType="1" noTextEdit="1"/>
              </p:cNvSpPr>
              <p:nvPr/>
            </p:nvSpPr>
            <p:spPr>
              <a:xfrm>
                <a:off x="375501" y="1181713"/>
                <a:ext cx="5378227" cy="1867434"/>
              </a:xfrm>
              <a:prstGeom prst="rect">
                <a:avLst/>
              </a:prstGeom>
              <a:blipFill>
                <a:blip r:embed="rId4"/>
                <a:stretch>
                  <a:fillRect l="-680" r="-454" b="-20915"/>
                </a:stretch>
              </a:blipFill>
              <a:ln>
                <a:no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38794F21-3DE3-46E6-D98E-447C767752B9}"/>
                  </a:ext>
                </a:extLst>
              </p:cNvPr>
              <p:cNvSpPr txBox="1"/>
              <p:nvPr/>
            </p:nvSpPr>
            <p:spPr>
              <a:xfrm>
                <a:off x="4578736" y="3403548"/>
                <a:ext cx="1207831" cy="6810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1" i="1">
                                    <a:solidFill>
                                      <a:schemeClr val="tx2"/>
                                    </a:solidFill>
                                    <a:latin typeface="Cambria Math" panose="02040503050406030204" pitchFamily="18" charset="0"/>
                                    <a:cs typeface="Times New Roman" panose="02020603050405020304" pitchFamily="18" charset="0"/>
                                  </a:rPr>
                                  <m:t>𝑳</m:t>
                                </m:r>
                                <m:r>
                                  <a:rPr lang="es-MX" sz="1600" b="1" i="1" smtClean="0">
                                    <a:solidFill>
                                      <a:schemeClr val="tx2"/>
                                    </a:solidFill>
                                    <a:latin typeface="Cambria Math" panose="02040503050406030204" pitchFamily="18" charset="0"/>
                                    <a:cs typeface="Times New Roman" panose="02020603050405020304" pitchFamily="18" charset="0"/>
                                  </a:rPr>
                                  <m:t>𝟓</m:t>
                                </m:r>
                                <m:r>
                                  <a:rPr lang="es-MX" sz="1600" b="1" i="1" smtClean="0">
                                    <a:solidFill>
                                      <a:schemeClr val="tx2"/>
                                    </a:solidFill>
                                    <a:latin typeface="Cambria Math" panose="02040503050406030204" pitchFamily="18" charset="0"/>
                                    <a:cs typeface="Times New Roman" panose="02020603050405020304" pitchFamily="18" charset="0"/>
                                  </a:rPr>
                                  <m:t>𝒔𝒆𝒏</m:t>
                                </m:r>
                                <m:r>
                                  <a:rPr lang="es-MX" sz="1600" b="1" i="1">
                                    <a:solidFill>
                                      <a:schemeClr val="tx2"/>
                                    </a:solidFill>
                                    <a:latin typeface="Cambria Math" panose="02040503050406030204" pitchFamily="18" charset="0"/>
                                    <a:cs typeface="Times New Roman" panose="020206030504050203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5</m:t>
                                    </m:r>
                                  </m:sub>
                                </m:sSub>
                                <m:r>
                                  <a:rPr lang="es-MX" sz="1600" i="1">
                                    <a:solidFill>
                                      <a:schemeClr val="tx2"/>
                                    </a:solidFill>
                                    <a:latin typeface="Cambria Math" panose="02040503050406030204" pitchFamily="18" charset="0"/>
                                  </a:rPr>
                                  <m:t>)</m:t>
                                </m:r>
                              </m:e>
                            </m:mr>
                            <m:mr>
                              <m:e>
                                <m:r>
                                  <m:rPr>
                                    <m:brk m:alnAt="7"/>
                                  </m:rPr>
                                  <a:rPr lang="es-MX" sz="1600" b="1" i="1">
                                    <a:solidFill>
                                      <a:schemeClr val="tx2"/>
                                    </a:solidFill>
                                    <a:latin typeface="Cambria Math" panose="02040503050406030204" pitchFamily="18" charset="0"/>
                                    <a:cs typeface="Times New Roman" panose="02020603050405020304" pitchFamily="18" charset="0"/>
                                  </a:rPr>
                                  <m:t>𝑳</m:t>
                                </m:r>
                                <m:r>
                                  <a:rPr lang="es-MX" sz="1600" b="1" i="1">
                                    <a:solidFill>
                                      <a:schemeClr val="tx2"/>
                                    </a:solidFill>
                                    <a:latin typeface="Cambria Math" panose="02040503050406030204" pitchFamily="18" charset="0"/>
                                    <a:cs typeface="Times New Roman" panose="02020603050405020304" pitchFamily="18" charset="0"/>
                                  </a:rPr>
                                  <m:t>𝟓</m:t>
                                </m:r>
                                <m:r>
                                  <a:rPr lang="es-MX" sz="1600" b="1" i="1">
                                    <a:solidFill>
                                      <a:schemeClr val="tx2"/>
                                    </a:solidFill>
                                    <a:latin typeface="Cambria Math" panose="02040503050406030204" pitchFamily="18" charset="0"/>
                                    <a:cs typeface="Times New Roman" panose="02020603050405020304" pitchFamily="18" charset="0"/>
                                  </a:rPr>
                                  <m:t>𝒄𝒐𝒔</m:t>
                                </m:r>
                                <m:r>
                                  <a:rPr lang="es-MX" sz="1600" b="1" i="1">
                                    <a:solidFill>
                                      <a:schemeClr val="tx2"/>
                                    </a:solidFill>
                                    <a:latin typeface="Cambria Math" panose="02040503050406030204" pitchFamily="18" charset="0"/>
                                    <a:cs typeface="Times New Roman" panose="020206030504050203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i="1">
                                        <a:solidFill>
                                          <a:schemeClr val="tx2"/>
                                        </a:solidFill>
                                        <a:latin typeface="Cambria Math" panose="02040503050406030204" pitchFamily="18" charset="0"/>
                                      </a:rPr>
                                      <m:t>5</m:t>
                                    </m:r>
                                  </m:sub>
                                </m:sSub>
                                <m:r>
                                  <a:rPr lang="es-MX" sz="1600" i="1">
                                    <a:solidFill>
                                      <a:schemeClr val="tx2"/>
                                    </a:solidFill>
                                    <a:latin typeface="Cambria Math" panose="02040503050406030204" pitchFamily="18" charset="0"/>
                                  </a:rPr>
                                  <m:t>)</m:t>
                                </m:r>
                              </m:e>
                            </m:mr>
                            <m:mr>
                              <m:e>
                                <m:r>
                                  <a:rPr lang="es-MX" sz="1600" b="1" i="1" smtClean="0">
                                    <a:solidFill>
                                      <a:schemeClr val="tx2"/>
                                    </a:solidFill>
                                    <a:latin typeface="Cambria Math" panose="02040503050406030204" pitchFamily="18" charset="0"/>
                                    <a:cs typeface="Times New Roman" panose="02020603050405020304" pitchFamily="18" charset="0"/>
                                  </a:rPr>
                                  <m:t>𝟎</m:t>
                                </m:r>
                              </m:e>
                            </m:mr>
                          </m:m>
                        </m:e>
                      </m:d>
                    </m:oMath>
                  </m:oMathPara>
                </a14:m>
                <a:endParaRPr lang="es-MX" sz="1600" dirty="0"/>
              </a:p>
            </p:txBody>
          </p:sp>
        </mc:Choice>
        <mc:Fallback>
          <p:sp>
            <p:nvSpPr>
              <p:cNvPr id="45" name="CuadroTexto 44">
                <a:extLst>
                  <a:ext uri="{FF2B5EF4-FFF2-40B4-BE49-F238E27FC236}">
                    <a16:creationId xmlns:a16="http://schemas.microsoft.com/office/drawing/2014/main" id="{38794F21-3DE3-46E6-D98E-447C767752B9}"/>
                  </a:ext>
                </a:extLst>
              </p:cNvPr>
              <p:cNvSpPr txBox="1">
                <a:spLocks noRot="1" noChangeAspect="1" noMove="1" noResize="1" noEditPoints="1" noAdjustHandles="1" noChangeArrowheads="1" noChangeShapeType="1" noTextEdit="1"/>
              </p:cNvSpPr>
              <p:nvPr/>
            </p:nvSpPr>
            <p:spPr>
              <a:xfrm>
                <a:off x="4578736" y="3403548"/>
                <a:ext cx="1207831" cy="681084"/>
              </a:xfrm>
              <a:prstGeom prst="rect">
                <a:avLst/>
              </a:prstGeom>
              <a:blipFill>
                <a:blip r:embed="rId5"/>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E331007E-1707-7077-46F2-23D8F19C299B}"/>
              </a:ext>
            </a:extLst>
          </p:cNvPr>
          <p:cNvSpPr txBox="1"/>
          <p:nvPr/>
        </p:nvSpPr>
        <p:spPr>
          <a:xfrm>
            <a:off x="4637776" y="4196214"/>
            <a:ext cx="1150293" cy="738664"/>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A4 a A5</a:t>
            </a:r>
            <a:endParaRPr lang="es-ES" sz="1400" b="1" dirty="0">
              <a:solidFill>
                <a:schemeClr val="tx2"/>
              </a:solidFill>
              <a:latin typeface="Fira Sans Condensed Light" panose="020B0604020202020204" charset="0"/>
              <a:cs typeface="Times New Roman" panose="02020603050405020304" pitchFamily="18" charset="0"/>
            </a:endParaRPr>
          </a:p>
        </p:txBody>
      </p:sp>
      <p:pic>
        <p:nvPicPr>
          <p:cNvPr id="20" name="Imagen 19">
            <a:extLst>
              <a:ext uri="{FF2B5EF4-FFF2-40B4-BE49-F238E27FC236}">
                <a16:creationId xmlns:a16="http://schemas.microsoft.com/office/drawing/2014/main" id="{C35354AF-32EE-5B9B-0606-5CE258CCFEDF}"/>
              </a:ext>
            </a:extLst>
          </p:cNvPr>
          <p:cNvPicPr>
            <a:picLocks noChangeAspect="1"/>
          </p:cNvPicPr>
          <p:nvPr/>
        </p:nvPicPr>
        <p:blipFill>
          <a:blip r:embed="rId6"/>
          <a:stretch>
            <a:fillRect/>
          </a:stretch>
        </p:blipFill>
        <p:spPr>
          <a:xfrm>
            <a:off x="5744925" y="1312244"/>
            <a:ext cx="3375693" cy="3572097"/>
          </a:xfrm>
          <a:prstGeom prst="rect">
            <a:avLst/>
          </a:prstGeom>
        </p:spPr>
      </p:pic>
      <p:sp>
        <p:nvSpPr>
          <p:cNvPr id="21" name="CuadroTexto 20">
            <a:extLst>
              <a:ext uri="{FF2B5EF4-FFF2-40B4-BE49-F238E27FC236}">
                <a16:creationId xmlns:a16="http://schemas.microsoft.com/office/drawing/2014/main" id="{A95F8420-F764-8C62-50A8-FD6329BCCF74}"/>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29" name="CuadroTexto 28">
            <a:extLst>
              <a:ext uri="{FF2B5EF4-FFF2-40B4-BE49-F238E27FC236}">
                <a16:creationId xmlns:a16="http://schemas.microsoft.com/office/drawing/2014/main" id="{EF3DBF07-F1CA-128D-AF60-3209B3E1C2F3}"/>
              </a:ext>
            </a:extLst>
          </p:cNvPr>
          <p:cNvSpPr txBox="1"/>
          <p:nvPr/>
        </p:nvSpPr>
        <p:spPr>
          <a:xfrm>
            <a:off x="6307246" y="2237995"/>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30" name="CuadroTexto 29">
            <a:extLst>
              <a:ext uri="{FF2B5EF4-FFF2-40B4-BE49-F238E27FC236}">
                <a16:creationId xmlns:a16="http://schemas.microsoft.com/office/drawing/2014/main" id="{C576E96A-270D-051A-6FF2-31E669FC1A7A}"/>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32" name="CuadroTexto 31">
            <a:extLst>
              <a:ext uri="{FF2B5EF4-FFF2-40B4-BE49-F238E27FC236}">
                <a16:creationId xmlns:a16="http://schemas.microsoft.com/office/drawing/2014/main" id="{55E42AF0-2496-0B33-84E8-5BBFF88A662C}"/>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33" name="CuadroTexto 32">
            <a:extLst>
              <a:ext uri="{FF2B5EF4-FFF2-40B4-BE49-F238E27FC236}">
                <a16:creationId xmlns:a16="http://schemas.microsoft.com/office/drawing/2014/main" id="{C698BF71-1D08-5C6F-0FAA-8E4535445416}"/>
              </a:ext>
            </a:extLst>
          </p:cNvPr>
          <p:cNvSpPr txBox="1"/>
          <p:nvPr/>
        </p:nvSpPr>
        <p:spPr>
          <a:xfrm>
            <a:off x="8760900" y="2108070"/>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34" name="Conector recto de flecha 33">
            <a:extLst>
              <a:ext uri="{FF2B5EF4-FFF2-40B4-BE49-F238E27FC236}">
                <a16:creationId xmlns:a16="http://schemas.microsoft.com/office/drawing/2014/main" id="{576AF3C3-91CA-9030-177C-35D76DBA3685}"/>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5" name="Conector recto de flecha 34">
            <a:extLst>
              <a:ext uri="{FF2B5EF4-FFF2-40B4-BE49-F238E27FC236}">
                <a16:creationId xmlns:a16="http://schemas.microsoft.com/office/drawing/2014/main" id="{54BBB3E8-050D-055D-C68C-A54708B6AD01}"/>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6" name="Conector recto de flecha 35">
            <a:extLst>
              <a:ext uri="{FF2B5EF4-FFF2-40B4-BE49-F238E27FC236}">
                <a16:creationId xmlns:a16="http://schemas.microsoft.com/office/drawing/2014/main" id="{14F2388C-2244-C8C7-131C-4123B2A5423D}"/>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38" name="CuadroTexto 37">
            <a:extLst>
              <a:ext uri="{FF2B5EF4-FFF2-40B4-BE49-F238E27FC236}">
                <a16:creationId xmlns:a16="http://schemas.microsoft.com/office/drawing/2014/main" id="{32D6E48A-D6C8-54E9-6B74-A5D4F8118937}"/>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42" name="CuadroTexto 41">
            <a:extLst>
              <a:ext uri="{FF2B5EF4-FFF2-40B4-BE49-F238E27FC236}">
                <a16:creationId xmlns:a16="http://schemas.microsoft.com/office/drawing/2014/main" id="{647BA57F-491F-6181-DD97-E203BF417CB9}"/>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49" name="CuadroTexto 48">
            <a:extLst>
              <a:ext uri="{FF2B5EF4-FFF2-40B4-BE49-F238E27FC236}">
                <a16:creationId xmlns:a16="http://schemas.microsoft.com/office/drawing/2014/main" id="{841AD00F-4AA1-4E92-9D4E-AF5B08431CAC}"/>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cxnSp>
        <p:nvCxnSpPr>
          <p:cNvPr id="50" name="Conector recto de flecha 49">
            <a:extLst>
              <a:ext uri="{FF2B5EF4-FFF2-40B4-BE49-F238E27FC236}">
                <a16:creationId xmlns:a16="http://schemas.microsoft.com/office/drawing/2014/main" id="{A015996B-ED5A-F932-3208-25CE5E59AA00}"/>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51" name="Conector recto de flecha 50">
            <a:extLst>
              <a:ext uri="{FF2B5EF4-FFF2-40B4-BE49-F238E27FC236}">
                <a16:creationId xmlns:a16="http://schemas.microsoft.com/office/drawing/2014/main" id="{6693B5BA-85B4-D6EA-940A-D368C12B6F82}"/>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52" name="Conector recto de flecha 51">
            <a:extLst>
              <a:ext uri="{FF2B5EF4-FFF2-40B4-BE49-F238E27FC236}">
                <a16:creationId xmlns:a16="http://schemas.microsoft.com/office/drawing/2014/main" id="{699366E0-312B-923B-8733-8FBD4CDF1012}"/>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53" name="CuadroTexto 52">
            <a:extLst>
              <a:ext uri="{FF2B5EF4-FFF2-40B4-BE49-F238E27FC236}">
                <a16:creationId xmlns:a16="http://schemas.microsoft.com/office/drawing/2014/main" id="{181A13F2-5428-78C9-C0A8-8AACB0E5945A}"/>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54" name="CuadroTexto 53">
            <a:extLst>
              <a:ext uri="{FF2B5EF4-FFF2-40B4-BE49-F238E27FC236}">
                <a16:creationId xmlns:a16="http://schemas.microsoft.com/office/drawing/2014/main" id="{1B68CB56-11F2-321A-DF95-2E80D1B4051F}"/>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55" name="CuadroTexto 54">
            <a:extLst>
              <a:ext uri="{FF2B5EF4-FFF2-40B4-BE49-F238E27FC236}">
                <a16:creationId xmlns:a16="http://schemas.microsoft.com/office/drawing/2014/main" id="{94E134D4-5F66-6719-2BB0-9D4AE3142590}"/>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56" name="Conector recto 55">
            <a:extLst>
              <a:ext uri="{FF2B5EF4-FFF2-40B4-BE49-F238E27FC236}">
                <a16:creationId xmlns:a16="http://schemas.microsoft.com/office/drawing/2014/main" id="{99B834F5-3972-D39F-23A8-28DA0511412E}"/>
              </a:ext>
            </a:extLst>
          </p:cNvPr>
          <p:cNvCxnSpPr>
            <a:cxnSpLocks/>
          </p:cNvCxnSpPr>
          <p:nvPr/>
        </p:nvCxnSpPr>
        <p:spPr>
          <a:xfrm flipH="1" flipV="1">
            <a:off x="6352868" y="2545307"/>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7" name="CuadroTexto 56">
            <a:extLst>
              <a:ext uri="{FF2B5EF4-FFF2-40B4-BE49-F238E27FC236}">
                <a16:creationId xmlns:a16="http://schemas.microsoft.com/office/drawing/2014/main" id="{91F16F5B-B6BF-B864-44C6-BEFD2F002D20}"/>
              </a:ext>
            </a:extLst>
          </p:cNvPr>
          <p:cNvSpPr txBox="1"/>
          <p:nvPr/>
        </p:nvSpPr>
        <p:spPr>
          <a:xfrm>
            <a:off x="5947611" y="2423642"/>
            <a:ext cx="469601"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cxnSp>
        <p:nvCxnSpPr>
          <p:cNvPr id="58" name="Conector recto de flecha 57">
            <a:extLst>
              <a:ext uri="{FF2B5EF4-FFF2-40B4-BE49-F238E27FC236}">
                <a16:creationId xmlns:a16="http://schemas.microsoft.com/office/drawing/2014/main" id="{21FE777D-3888-0A6F-180F-B861248C28B6}"/>
              </a:ext>
            </a:extLst>
          </p:cNvPr>
          <p:cNvCxnSpPr>
            <a:cxnSpLocks/>
          </p:cNvCxnSpPr>
          <p:nvPr/>
        </p:nvCxnSpPr>
        <p:spPr>
          <a:xfrm>
            <a:off x="6835714" y="1963721"/>
            <a:ext cx="361325" cy="11511"/>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59" name="Conector recto de flecha 58">
            <a:extLst>
              <a:ext uri="{FF2B5EF4-FFF2-40B4-BE49-F238E27FC236}">
                <a16:creationId xmlns:a16="http://schemas.microsoft.com/office/drawing/2014/main" id="{E6B5115D-E66E-8B4F-7D51-A9003DF9F4F4}"/>
              </a:ext>
            </a:extLst>
          </p:cNvPr>
          <p:cNvCxnSpPr>
            <a:cxnSpLocks/>
          </p:cNvCxnSpPr>
          <p:nvPr/>
        </p:nvCxnSpPr>
        <p:spPr>
          <a:xfrm flipH="1">
            <a:off x="6568661" y="1978579"/>
            <a:ext cx="249674" cy="25152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60" name="Conector recto de flecha 59">
            <a:extLst>
              <a:ext uri="{FF2B5EF4-FFF2-40B4-BE49-F238E27FC236}">
                <a16:creationId xmlns:a16="http://schemas.microsoft.com/office/drawing/2014/main" id="{4501DD6B-016B-7615-9A4B-2271FA9706DB}"/>
              </a:ext>
            </a:extLst>
          </p:cNvPr>
          <p:cNvCxnSpPr>
            <a:cxnSpLocks/>
          </p:cNvCxnSpPr>
          <p:nvPr/>
        </p:nvCxnSpPr>
        <p:spPr>
          <a:xfrm>
            <a:off x="6841370" y="194293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61" name="CuadroTexto 60">
            <a:extLst>
              <a:ext uri="{FF2B5EF4-FFF2-40B4-BE49-F238E27FC236}">
                <a16:creationId xmlns:a16="http://schemas.microsoft.com/office/drawing/2014/main" id="{155891E2-A3E2-3D32-CCC0-D9D051A5258E}"/>
              </a:ext>
            </a:extLst>
          </p:cNvPr>
          <p:cNvSpPr txBox="1"/>
          <p:nvPr/>
        </p:nvSpPr>
        <p:spPr>
          <a:xfrm>
            <a:off x="6812078" y="212976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62" name="CuadroTexto 61">
            <a:extLst>
              <a:ext uri="{FF2B5EF4-FFF2-40B4-BE49-F238E27FC236}">
                <a16:creationId xmlns:a16="http://schemas.microsoft.com/office/drawing/2014/main" id="{B4287F45-430D-EDD9-1944-3ECB8ADB06CF}"/>
              </a:ext>
            </a:extLst>
          </p:cNvPr>
          <p:cNvSpPr txBox="1"/>
          <p:nvPr/>
        </p:nvSpPr>
        <p:spPr>
          <a:xfrm>
            <a:off x="7027373" y="1614791"/>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63" name="CuadroTexto 62">
            <a:extLst>
              <a:ext uri="{FF2B5EF4-FFF2-40B4-BE49-F238E27FC236}">
                <a16:creationId xmlns:a16="http://schemas.microsoft.com/office/drawing/2014/main" id="{A7A31DD6-7635-114D-FD7A-6F1CF1D3013D}"/>
              </a:ext>
            </a:extLst>
          </p:cNvPr>
          <p:cNvSpPr txBox="1"/>
          <p:nvPr/>
        </p:nvSpPr>
        <p:spPr>
          <a:xfrm>
            <a:off x="6352889" y="1883408"/>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cxnSp>
        <p:nvCxnSpPr>
          <p:cNvPr id="128" name="Conector recto 127">
            <a:extLst>
              <a:ext uri="{FF2B5EF4-FFF2-40B4-BE49-F238E27FC236}">
                <a16:creationId xmlns:a16="http://schemas.microsoft.com/office/drawing/2014/main" id="{81B8B938-92B8-0ED2-DF0C-D95A8AD5816D}"/>
              </a:ext>
            </a:extLst>
          </p:cNvPr>
          <p:cNvCxnSpPr>
            <a:cxnSpLocks/>
          </p:cNvCxnSpPr>
          <p:nvPr/>
        </p:nvCxnSpPr>
        <p:spPr>
          <a:xfrm flipH="1" flipV="1">
            <a:off x="6818553" y="1429901"/>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29" name="CuadroTexto 128">
            <a:extLst>
              <a:ext uri="{FF2B5EF4-FFF2-40B4-BE49-F238E27FC236}">
                <a16:creationId xmlns:a16="http://schemas.microsoft.com/office/drawing/2014/main" id="{203412D5-B5B3-D00D-B870-A906007B1D8A}"/>
              </a:ext>
            </a:extLst>
          </p:cNvPr>
          <p:cNvSpPr txBox="1"/>
          <p:nvPr/>
        </p:nvSpPr>
        <p:spPr>
          <a:xfrm>
            <a:off x="6440803" y="1353134"/>
            <a:ext cx="469601"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cxnSp>
        <p:nvCxnSpPr>
          <p:cNvPr id="130" name="Conector recto de flecha 129">
            <a:extLst>
              <a:ext uri="{FF2B5EF4-FFF2-40B4-BE49-F238E27FC236}">
                <a16:creationId xmlns:a16="http://schemas.microsoft.com/office/drawing/2014/main" id="{3B667B1B-4812-893A-6666-332EBB497CCE}"/>
              </a:ext>
            </a:extLst>
          </p:cNvPr>
          <p:cNvCxnSpPr>
            <a:cxnSpLocks/>
          </p:cNvCxnSpPr>
          <p:nvPr/>
        </p:nvCxnSpPr>
        <p:spPr>
          <a:xfrm>
            <a:off x="7867074" y="1978579"/>
            <a:ext cx="390672" cy="785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1" name="Conector recto de flecha 130">
            <a:extLst>
              <a:ext uri="{FF2B5EF4-FFF2-40B4-BE49-F238E27FC236}">
                <a16:creationId xmlns:a16="http://schemas.microsoft.com/office/drawing/2014/main" id="{587E8626-DF5C-0F8D-EF44-BDD22793781F}"/>
              </a:ext>
            </a:extLst>
          </p:cNvPr>
          <p:cNvCxnSpPr>
            <a:cxnSpLocks/>
          </p:cNvCxnSpPr>
          <p:nvPr/>
        </p:nvCxnSpPr>
        <p:spPr>
          <a:xfrm flipV="1">
            <a:off x="7868669" y="1666402"/>
            <a:ext cx="254075" cy="31654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2" name="Conector recto de flecha 131">
            <a:extLst>
              <a:ext uri="{FF2B5EF4-FFF2-40B4-BE49-F238E27FC236}">
                <a16:creationId xmlns:a16="http://schemas.microsoft.com/office/drawing/2014/main" id="{9A4FE620-3667-EE78-819E-0F9EB7E97B90}"/>
              </a:ext>
            </a:extLst>
          </p:cNvPr>
          <p:cNvCxnSpPr>
            <a:cxnSpLocks/>
          </p:cNvCxnSpPr>
          <p:nvPr/>
        </p:nvCxnSpPr>
        <p:spPr>
          <a:xfrm>
            <a:off x="7862339" y="197857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3" name="CuadroTexto 132">
            <a:extLst>
              <a:ext uri="{FF2B5EF4-FFF2-40B4-BE49-F238E27FC236}">
                <a16:creationId xmlns:a16="http://schemas.microsoft.com/office/drawing/2014/main" id="{91C9497E-9FCB-F517-699D-33361C7341F5}"/>
              </a:ext>
            </a:extLst>
          </p:cNvPr>
          <p:cNvSpPr txBox="1"/>
          <p:nvPr/>
        </p:nvSpPr>
        <p:spPr>
          <a:xfrm>
            <a:off x="7676570" y="2413461"/>
            <a:ext cx="371537" cy="307777"/>
          </a:xfrm>
          <a:prstGeom prst="rect">
            <a:avLst/>
          </a:prstGeom>
          <a:noFill/>
        </p:spPr>
        <p:txBody>
          <a:bodyPr wrap="square" rtlCol="0">
            <a:spAutoFit/>
          </a:bodyPr>
          <a:lstStyle/>
          <a:p>
            <a:r>
              <a:rPr lang="es-ES" dirty="0">
                <a:highlight>
                  <a:srgbClr val="00FF00"/>
                </a:highlight>
              </a:rPr>
              <a:t>x4</a:t>
            </a:r>
            <a:endParaRPr lang="es-MX" dirty="0">
              <a:highlight>
                <a:srgbClr val="00FF00"/>
              </a:highlight>
            </a:endParaRPr>
          </a:p>
        </p:txBody>
      </p:sp>
      <p:sp>
        <p:nvSpPr>
          <p:cNvPr id="134" name="CuadroTexto 133">
            <a:extLst>
              <a:ext uri="{FF2B5EF4-FFF2-40B4-BE49-F238E27FC236}">
                <a16:creationId xmlns:a16="http://schemas.microsoft.com/office/drawing/2014/main" id="{1CEDECB6-D423-2E4E-B952-10FE7BAF6635}"/>
              </a:ext>
            </a:extLst>
          </p:cNvPr>
          <p:cNvSpPr txBox="1"/>
          <p:nvPr/>
        </p:nvSpPr>
        <p:spPr>
          <a:xfrm>
            <a:off x="7684020" y="1513500"/>
            <a:ext cx="371536" cy="307777"/>
          </a:xfrm>
          <a:prstGeom prst="rect">
            <a:avLst/>
          </a:prstGeom>
          <a:noFill/>
        </p:spPr>
        <p:txBody>
          <a:bodyPr wrap="square" rtlCol="0">
            <a:spAutoFit/>
          </a:bodyPr>
          <a:lstStyle/>
          <a:p>
            <a:r>
              <a:rPr lang="es-ES" dirty="0">
                <a:highlight>
                  <a:srgbClr val="FFFF00"/>
                </a:highlight>
              </a:rPr>
              <a:t>y4</a:t>
            </a:r>
            <a:endParaRPr lang="es-MX" dirty="0">
              <a:highlight>
                <a:srgbClr val="FFFF00"/>
              </a:highlight>
            </a:endParaRPr>
          </a:p>
        </p:txBody>
      </p:sp>
      <p:sp>
        <p:nvSpPr>
          <p:cNvPr id="135" name="CuadroTexto 134">
            <a:extLst>
              <a:ext uri="{FF2B5EF4-FFF2-40B4-BE49-F238E27FC236}">
                <a16:creationId xmlns:a16="http://schemas.microsoft.com/office/drawing/2014/main" id="{1D8A0556-37BE-0661-58C6-E8CE95C4B076}"/>
              </a:ext>
            </a:extLst>
          </p:cNvPr>
          <p:cNvSpPr txBox="1"/>
          <p:nvPr/>
        </p:nvSpPr>
        <p:spPr>
          <a:xfrm>
            <a:off x="7849749" y="1951808"/>
            <a:ext cx="371537" cy="307777"/>
          </a:xfrm>
          <a:prstGeom prst="rect">
            <a:avLst/>
          </a:prstGeom>
          <a:noFill/>
        </p:spPr>
        <p:txBody>
          <a:bodyPr wrap="square" rtlCol="0">
            <a:spAutoFit/>
          </a:bodyPr>
          <a:lstStyle/>
          <a:p>
            <a:r>
              <a:rPr lang="es-ES" dirty="0">
                <a:highlight>
                  <a:srgbClr val="00FFFF"/>
                </a:highlight>
              </a:rPr>
              <a:t>z4</a:t>
            </a:r>
            <a:endParaRPr lang="es-MX" dirty="0">
              <a:highlight>
                <a:srgbClr val="00FFFF"/>
              </a:highlight>
            </a:endParaRPr>
          </a:p>
        </p:txBody>
      </p:sp>
      <p:cxnSp>
        <p:nvCxnSpPr>
          <p:cNvPr id="136" name="Conector recto de flecha 135">
            <a:extLst>
              <a:ext uri="{FF2B5EF4-FFF2-40B4-BE49-F238E27FC236}">
                <a16:creationId xmlns:a16="http://schemas.microsoft.com/office/drawing/2014/main" id="{97762F6B-3735-EFB3-F9FC-5B9562D688C5}"/>
              </a:ext>
            </a:extLst>
          </p:cNvPr>
          <p:cNvCxnSpPr>
            <a:cxnSpLocks/>
          </p:cNvCxnSpPr>
          <p:nvPr/>
        </p:nvCxnSpPr>
        <p:spPr>
          <a:xfrm>
            <a:off x="8531526" y="2022533"/>
            <a:ext cx="417809" cy="6406"/>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7" name="Conector recto de flecha 136">
            <a:extLst>
              <a:ext uri="{FF2B5EF4-FFF2-40B4-BE49-F238E27FC236}">
                <a16:creationId xmlns:a16="http://schemas.microsoft.com/office/drawing/2014/main" id="{CFBEC35F-84F2-EA5C-67DB-0AE30E69262A}"/>
              </a:ext>
            </a:extLst>
          </p:cNvPr>
          <p:cNvCxnSpPr>
            <a:cxnSpLocks/>
          </p:cNvCxnSpPr>
          <p:nvPr/>
        </p:nvCxnSpPr>
        <p:spPr>
          <a:xfrm flipH="1">
            <a:off x="8233784" y="2026899"/>
            <a:ext cx="299337" cy="228155"/>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8" name="Conector recto de flecha 137">
            <a:extLst>
              <a:ext uri="{FF2B5EF4-FFF2-40B4-BE49-F238E27FC236}">
                <a16:creationId xmlns:a16="http://schemas.microsoft.com/office/drawing/2014/main" id="{09220364-ACDD-CC47-484A-5A29DC56E19A}"/>
              </a:ext>
            </a:extLst>
          </p:cNvPr>
          <p:cNvCxnSpPr>
            <a:cxnSpLocks/>
          </p:cNvCxnSpPr>
          <p:nvPr/>
        </p:nvCxnSpPr>
        <p:spPr>
          <a:xfrm>
            <a:off x="8537182" y="2022533"/>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9" name="CuadroTexto 138">
            <a:extLst>
              <a:ext uri="{FF2B5EF4-FFF2-40B4-BE49-F238E27FC236}">
                <a16:creationId xmlns:a16="http://schemas.microsoft.com/office/drawing/2014/main" id="{CEDFC287-5719-515F-CCB2-F6AFB8BE59C3}"/>
              </a:ext>
            </a:extLst>
          </p:cNvPr>
          <p:cNvSpPr txBox="1"/>
          <p:nvPr/>
        </p:nvSpPr>
        <p:spPr>
          <a:xfrm>
            <a:off x="8497499" y="2115842"/>
            <a:ext cx="371537" cy="307777"/>
          </a:xfrm>
          <a:prstGeom prst="rect">
            <a:avLst/>
          </a:prstGeom>
          <a:noFill/>
        </p:spPr>
        <p:txBody>
          <a:bodyPr wrap="square" rtlCol="0">
            <a:spAutoFit/>
          </a:bodyPr>
          <a:lstStyle/>
          <a:p>
            <a:r>
              <a:rPr lang="es-ES" dirty="0">
                <a:highlight>
                  <a:srgbClr val="00FF00"/>
                </a:highlight>
              </a:rPr>
              <a:t>x5</a:t>
            </a:r>
            <a:endParaRPr lang="es-MX" dirty="0">
              <a:highlight>
                <a:srgbClr val="00FF00"/>
              </a:highlight>
            </a:endParaRPr>
          </a:p>
        </p:txBody>
      </p:sp>
      <p:sp>
        <p:nvSpPr>
          <p:cNvPr id="140" name="CuadroTexto 139">
            <a:extLst>
              <a:ext uri="{FF2B5EF4-FFF2-40B4-BE49-F238E27FC236}">
                <a16:creationId xmlns:a16="http://schemas.microsoft.com/office/drawing/2014/main" id="{F9626C30-AE0C-71A8-761B-5F7A5A2F89D5}"/>
              </a:ext>
            </a:extLst>
          </p:cNvPr>
          <p:cNvSpPr txBox="1"/>
          <p:nvPr/>
        </p:nvSpPr>
        <p:spPr>
          <a:xfrm>
            <a:off x="8723185" y="1663212"/>
            <a:ext cx="371536" cy="307777"/>
          </a:xfrm>
          <a:prstGeom prst="rect">
            <a:avLst/>
          </a:prstGeom>
          <a:noFill/>
        </p:spPr>
        <p:txBody>
          <a:bodyPr wrap="square" rtlCol="0">
            <a:spAutoFit/>
          </a:bodyPr>
          <a:lstStyle/>
          <a:p>
            <a:r>
              <a:rPr lang="es-ES" dirty="0">
                <a:highlight>
                  <a:srgbClr val="FFFF00"/>
                </a:highlight>
              </a:rPr>
              <a:t>y5</a:t>
            </a:r>
            <a:endParaRPr lang="es-MX" dirty="0">
              <a:highlight>
                <a:srgbClr val="FFFF00"/>
              </a:highlight>
            </a:endParaRPr>
          </a:p>
        </p:txBody>
      </p:sp>
      <p:sp>
        <p:nvSpPr>
          <p:cNvPr id="141" name="CuadroTexto 140">
            <a:extLst>
              <a:ext uri="{FF2B5EF4-FFF2-40B4-BE49-F238E27FC236}">
                <a16:creationId xmlns:a16="http://schemas.microsoft.com/office/drawing/2014/main" id="{1B93196B-7717-1AB8-6573-B76E88671CB4}"/>
              </a:ext>
            </a:extLst>
          </p:cNvPr>
          <p:cNvSpPr txBox="1"/>
          <p:nvPr/>
        </p:nvSpPr>
        <p:spPr>
          <a:xfrm>
            <a:off x="8037624" y="2255054"/>
            <a:ext cx="371537" cy="307777"/>
          </a:xfrm>
          <a:prstGeom prst="rect">
            <a:avLst/>
          </a:prstGeom>
          <a:noFill/>
        </p:spPr>
        <p:txBody>
          <a:bodyPr wrap="square" rtlCol="0">
            <a:spAutoFit/>
          </a:bodyPr>
          <a:lstStyle/>
          <a:p>
            <a:r>
              <a:rPr lang="es-ES" dirty="0">
                <a:highlight>
                  <a:srgbClr val="00FFFF"/>
                </a:highlight>
              </a:rPr>
              <a:t>z5</a:t>
            </a:r>
            <a:endParaRPr lang="es-MX" dirty="0">
              <a:highlight>
                <a:srgbClr val="00FFFF"/>
              </a:highlight>
            </a:endParaRPr>
          </a:p>
        </p:txBody>
      </p:sp>
      <mc:AlternateContent xmlns:mc="http://schemas.openxmlformats.org/markup-compatibility/2006">
        <mc:Choice xmlns:a14="http://schemas.microsoft.com/office/drawing/2010/main" Requires="a14">
          <p:sp>
            <p:nvSpPr>
              <p:cNvPr id="145" name="CuadroTexto 144">
                <a:extLst>
                  <a:ext uri="{FF2B5EF4-FFF2-40B4-BE49-F238E27FC236}">
                    <a16:creationId xmlns:a16="http://schemas.microsoft.com/office/drawing/2014/main" id="{CAF7EBA2-8033-2390-D447-23B4BDC36E1E}"/>
                  </a:ext>
                </a:extLst>
              </p:cNvPr>
              <p:cNvSpPr txBox="1"/>
              <p:nvPr/>
            </p:nvSpPr>
            <p:spPr>
              <a:xfrm>
                <a:off x="48605" y="3426019"/>
                <a:ext cx="2387247" cy="695896"/>
              </a:xfrm>
              <a:prstGeom prst="rect">
                <a:avLst/>
              </a:prstGeom>
              <a:noFill/>
            </p:spPr>
            <p:txBody>
              <a:bodyPr wrap="square" lIns="0" tIns="0" rIns="0" bIns="0" rtlCol="0">
                <a:spAutoFit/>
              </a:bodyPr>
              <a:lstStyle/>
              <a:p>
                <a14:m>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5</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5</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5</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5</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a14:m>
                <a:r>
                  <a:rPr lang="es-MX" sz="1600" dirty="0">
                    <a:solidFill>
                      <a:schemeClr val="tx2"/>
                    </a:solidFill>
                  </a:rPr>
                  <a:t>*</a:t>
                </a:r>
              </a:p>
            </p:txBody>
          </p:sp>
        </mc:Choice>
        <mc:Fallback>
          <p:sp>
            <p:nvSpPr>
              <p:cNvPr id="145" name="CuadroTexto 144">
                <a:extLst>
                  <a:ext uri="{FF2B5EF4-FFF2-40B4-BE49-F238E27FC236}">
                    <a16:creationId xmlns:a16="http://schemas.microsoft.com/office/drawing/2014/main" id="{CAF7EBA2-8033-2390-D447-23B4BDC36E1E}"/>
                  </a:ext>
                </a:extLst>
              </p:cNvPr>
              <p:cNvSpPr txBox="1">
                <a:spLocks noRot="1" noChangeAspect="1" noMove="1" noResize="1" noEditPoints="1" noAdjustHandles="1" noChangeArrowheads="1" noChangeShapeType="1" noTextEdit="1"/>
              </p:cNvSpPr>
              <p:nvPr/>
            </p:nvSpPr>
            <p:spPr>
              <a:xfrm>
                <a:off x="48605" y="3426019"/>
                <a:ext cx="2387247" cy="695896"/>
              </a:xfrm>
              <a:prstGeom prst="rect">
                <a:avLst/>
              </a:prstGeom>
              <a:blipFill>
                <a:blip r:embed="rId7"/>
                <a:stretch>
                  <a:fillRect r="-2806"/>
                </a:stretch>
              </a:blipFill>
            </p:spPr>
            <p:txBody>
              <a:bodyPr/>
              <a:lstStyle/>
              <a:p>
                <a:r>
                  <a:rPr lang="es-MX">
                    <a:noFill/>
                  </a:rPr>
                  <a:t> </a:t>
                </a:r>
              </a:p>
            </p:txBody>
          </p:sp>
        </mc:Fallback>
      </mc:AlternateContent>
      <p:sp>
        <p:nvSpPr>
          <p:cNvPr id="147" name="Google Shape;1603;p42">
            <a:extLst>
              <a:ext uri="{FF2B5EF4-FFF2-40B4-BE49-F238E27FC236}">
                <a16:creationId xmlns:a16="http://schemas.microsoft.com/office/drawing/2014/main" id="{88E8381C-D657-DBA6-77B7-B7F3830E607D}"/>
              </a:ext>
            </a:extLst>
          </p:cNvPr>
          <p:cNvSpPr txBox="1"/>
          <p:nvPr/>
        </p:nvSpPr>
        <p:spPr>
          <a:xfrm>
            <a:off x="230727" y="4150839"/>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Z5</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cxnSp>
        <p:nvCxnSpPr>
          <p:cNvPr id="2" name="Conector recto de flecha 1">
            <a:extLst>
              <a:ext uri="{FF2B5EF4-FFF2-40B4-BE49-F238E27FC236}">
                <a16:creationId xmlns:a16="http://schemas.microsoft.com/office/drawing/2014/main" id="{009B4844-0054-9F76-409E-2CF39A202FB9}"/>
              </a:ext>
            </a:extLst>
          </p:cNvPr>
          <p:cNvCxnSpPr>
            <a:cxnSpLocks/>
          </p:cNvCxnSpPr>
          <p:nvPr/>
        </p:nvCxnSpPr>
        <p:spPr>
          <a:xfrm>
            <a:off x="8548056" y="2704133"/>
            <a:ext cx="386410" cy="767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 name="Conector recto de flecha 2">
            <a:extLst>
              <a:ext uri="{FF2B5EF4-FFF2-40B4-BE49-F238E27FC236}">
                <a16:creationId xmlns:a16="http://schemas.microsoft.com/office/drawing/2014/main" id="{FF87FAD3-1DB6-9DF9-80AD-6B91DFBF9ABE}"/>
              </a:ext>
            </a:extLst>
          </p:cNvPr>
          <p:cNvCxnSpPr>
            <a:cxnSpLocks/>
          </p:cNvCxnSpPr>
          <p:nvPr/>
        </p:nvCxnSpPr>
        <p:spPr>
          <a:xfrm flipV="1">
            <a:off x="8537343" y="2420258"/>
            <a:ext cx="296972" cy="28330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4" name="Conector recto de flecha 3">
            <a:extLst>
              <a:ext uri="{FF2B5EF4-FFF2-40B4-BE49-F238E27FC236}">
                <a16:creationId xmlns:a16="http://schemas.microsoft.com/office/drawing/2014/main" id="{382476F8-5774-96D3-1F73-1C497E99364F}"/>
              </a:ext>
            </a:extLst>
          </p:cNvPr>
          <p:cNvCxnSpPr>
            <a:cxnSpLocks/>
          </p:cNvCxnSpPr>
          <p:nvPr/>
        </p:nvCxnSpPr>
        <p:spPr>
          <a:xfrm>
            <a:off x="8551795" y="2699195"/>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5" name="CuadroTexto 4">
            <a:extLst>
              <a:ext uri="{FF2B5EF4-FFF2-40B4-BE49-F238E27FC236}">
                <a16:creationId xmlns:a16="http://schemas.microsoft.com/office/drawing/2014/main" id="{A2600452-0318-CBD6-754A-800CD994E230}"/>
              </a:ext>
            </a:extLst>
          </p:cNvPr>
          <p:cNvSpPr txBox="1"/>
          <p:nvPr/>
        </p:nvSpPr>
        <p:spPr>
          <a:xfrm>
            <a:off x="8791698" y="2365401"/>
            <a:ext cx="371537" cy="307777"/>
          </a:xfrm>
          <a:prstGeom prst="rect">
            <a:avLst/>
          </a:prstGeom>
          <a:noFill/>
        </p:spPr>
        <p:txBody>
          <a:bodyPr wrap="square" rtlCol="0">
            <a:spAutoFit/>
          </a:bodyPr>
          <a:lstStyle/>
          <a:p>
            <a:r>
              <a:rPr lang="es-ES" dirty="0">
                <a:highlight>
                  <a:srgbClr val="00FF00"/>
                </a:highlight>
              </a:rPr>
              <a:t>x6</a:t>
            </a:r>
            <a:endParaRPr lang="es-MX" dirty="0">
              <a:highlight>
                <a:srgbClr val="00FF00"/>
              </a:highlight>
            </a:endParaRPr>
          </a:p>
        </p:txBody>
      </p:sp>
      <p:sp>
        <p:nvSpPr>
          <p:cNvPr id="6" name="CuadroTexto 5">
            <a:extLst>
              <a:ext uri="{FF2B5EF4-FFF2-40B4-BE49-F238E27FC236}">
                <a16:creationId xmlns:a16="http://schemas.microsoft.com/office/drawing/2014/main" id="{98F9BA8E-AAFA-E8ED-DC27-6C4A1C7F953C}"/>
              </a:ext>
            </a:extLst>
          </p:cNvPr>
          <p:cNvSpPr txBox="1"/>
          <p:nvPr/>
        </p:nvSpPr>
        <p:spPr>
          <a:xfrm>
            <a:off x="8707348" y="2678335"/>
            <a:ext cx="371536" cy="307777"/>
          </a:xfrm>
          <a:prstGeom prst="rect">
            <a:avLst/>
          </a:prstGeom>
          <a:noFill/>
        </p:spPr>
        <p:txBody>
          <a:bodyPr wrap="square" rtlCol="0">
            <a:spAutoFit/>
          </a:bodyPr>
          <a:lstStyle/>
          <a:p>
            <a:r>
              <a:rPr lang="es-ES" dirty="0">
                <a:highlight>
                  <a:srgbClr val="FFFF00"/>
                </a:highlight>
              </a:rPr>
              <a:t>y6</a:t>
            </a:r>
            <a:endParaRPr lang="es-MX" dirty="0">
              <a:highlight>
                <a:srgbClr val="FFFF00"/>
              </a:highlight>
            </a:endParaRPr>
          </a:p>
        </p:txBody>
      </p:sp>
      <p:sp>
        <p:nvSpPr>
          <p:cNvPr id="7" name="CuadroTexto 6">
            <a:extLst>
              <a:ext uri="{FF2B5EF4-FFF2-40B4-BE49-F238E27FC236}">
                <a16:creationId xmlns:a16="http://schemas.microsoft.com/office/drawing/2014/main" id="{5CAAECD0-BEA6-D370-46FA-E3E834127679}"/>
              </a:ext>
            </a:extLst>
          </p:cNvPr>
          <p:cNvSpPr txBox="1"/>
          <p:nvPr/>
        </p:nvSpPr>
        <p:spPr>
          <a:xfrm>
            <a:off x="8366743" y="3111920"/>
            <a:ext cx="371537" cy="307777"/>
          </a:xfrm>
          <a:prstGeom prst="rect">
            <a:avLst/>
          </a:prstGeom>
          <a:noFill/>
        </p:spPr>
        <p:txBody>
          <a:bodyPr wrap="square" rtlCol="0">
            <a:spAutoFit/>
          </a:bodyPr>
          <a:lstStyle/>
          <a:p>
            <a:r>
              <a:rPr lang="es-ES" dirty="0">
                <a:highlight>
                  <a:srgbClr val="00FFFF"/>
                </a:highlight>
              </a:rPr>
              <a:t>z6</a:t>
            </a:r>
            <a:endParaRPr lang="es-MX" dirty="0">
              <a:highlight>
                <a:srgbClr val="00FFFF"/>
              </a:highlight>
            </a:endParaRP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3F6153E9-6BE6-FDB5-7FD5-DBAB159C2023}"/>
                  </a:ext>
                </a:extLst>
              </p:cNvPr>
              <p:cNvSpPr txBox="1"/>
              <p:nvPr/>
            </p:nvSpPr>
            <p:spPr>
              <a:xfrm>
                <a:off x="2357949" y="3389269"/>
                <a:ext cx="1632288" cy="7825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a:rPr lang="es-MX" sz="1600" b="0" i="0"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(90)</m:t>
                                </m:r>
                              </m:e>
                            </m:mr>
                            <m:mr>
                              <m:e>
                                <m:r>
                                  <a:rPr lang="es-MX" sz="1600" b="0" i="1" smtClean="0">
                                    <a:solidFill>
                                      <a:schemeClr val="tx2"/>
                                    </a:solidFill>
                                    <a:latin typeface="Cambria Math" panose="02040503050406030204" pitchFamily="18" charset="0"/>
                                  </a:rPr>
                                  <m:t>0</m:t>
                                </m:r>
                              </m:e>
                              <m:e>
                                <m:r>
                                  <a:rPr lang="es-MX" sz="1600" b="0" i="0" smtClean="0">
                                    <a:solidFill>
                                      <a:schemeClr val="tx2"/>
                                    </a:solidFill>
                                    <a:latin typeface="Cambria Math" panose="02040503050406030204" pitchFamily="18" charset="0"/>
                                  </a:rPr>
                                  <m:t>1</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(90)</m:t>
                                </m:r>
                              </m:e>
                              <m:e>
                                <m:r>
                                  <a:rPr lang="es-MX" sz="1600" b="0" i="1" smtClean="0">
                                    <a:solidFill>
                                      <a:schemeClr val="tx2"/>
                                    </a:solidFill>
                                    <a:latin typeface="Cambria Math" panose="02040503050406030204" pitchFamily="18" charset="0"/>
                                  </a:rPr>
                                  <m:t>0</m:t>
                                </m:r>
                              </m:e>
                              <m:e>
                                <m:r>
                                  <m:rPr>
                                    <m:sty m:val="p"/>
                                  </m:rPr>
                                  <a:rPr lang="es-MX" sz="1600">
                                    <a:solidFill>
                                      <a:schemeClr val="tx2"/>
                                    </a:solidFill>
                                    <a:latin typeface="Cambria Math" panose="02040503050406030204" pitchFamily="18" charset="0"/>
                                  </a:rPr>
                                  <m:t>cos</m:t>
                                </m:r>
                                <m:r>
                                  <a:rPr lang="es-MX" sz="1600">
                                    <a:solidFill>
                                      <a:schemeClr val="tx2"/>
                                    </a:solidFill>
                                    <a:latin typeface="Cambria Math" panose="02040503050406030204" pitchFamily="18" charset="0"/>
                                  </a:rPr>
                                  <m:t>(90)</m:t>
                                </m:r>
                              </m:e>
                            </m:mr>
                          </m:m>
                        </m:e>
                      </m:d>
                    </m:oMath>
                  </m:oMathPara>
                </a14:m>
                <a:endParaRPr lang="es-MX" sz="1600" dirty="0"/>
              </a:p>
            </p:txBody>
          </p:sp>
        </mc:Choice>
        <mc:Fallback>
          <p:sp>
            <p:nvSpPr>
              <p:cNvPr id="8" name="CuadroTexto 7">
                <a:extLst>
                  <a:ext uri="{FF2B5EF4-FFF2-40B4-BE49-F238E27FC236}">
                    <a16:creationId xmlns:a16="http://schemas.microsoft.com/office/drawing/2014/main" id="{3F6153E9-6BE6-FDB5-7FD5-DBAB159C2023}"/>
                  </a:ext>
                </a:extLst>
              </p:cNvPr>
              <p:cNvSpPr txBox="1">
                <a:spLocks noRot="1" noChangeAspect="1" noMove="1" noResize="1" noEditPoints="1" noAdjustHandles="1" noChangeArrowheads="1" noChangeShapeType="1" noTextEdit="1"/>
              </p:cNvSpPr>
              <p:nvPr/>
            </p:nvSpPr>
            <p:spPr>
              <a:xfrm>
                <a:off x="2357949" y="3389269"/>
                <a:ext cx="1632288" cy="782587"/>
              </a:xfrm>
              <a:prstGeom prst="rect">
                <a:avLst/>
              </a:prstGeom>
              <a:blipFill>
                <a:blip r:embed="rId8"/>
                <a:stretch>
                  <a:fillRect r="-36567" b="-781"/>
                </a:stretch>
              </a:blipFill>
            </p:spPr>
            <p:txBody>
              <a:bodyPr/>
              <a:lstStyle/>
              <a:p>
                <a:r>
                  <a:rPr lang="es-MX">
                    <a:noFill/>
                  </a:rPr>
                  <a:t> </a:t>
                </a:r>
              </a:p>
            </p:txBody>
          </p:sp>
        </mc:Fallback>
      </mc:AlternateContent>
      <p:sp>
        <p:nvSpPr>
          <p:cNvPr id="9" name="Google Shape;1603;p42">
            <a:extLst>
              <a:ext uri="{FF2B5EF4-FFF2-40B4-BE49-F238E27FC236}">
                <a16:creationId xmlns:a16="http://schemas.microsoft.com/office/drawing/2014/main" id="{634EBBB0-F0B8-468E-3707-E701F1BACED6}"/>
              </a:ext>
            </a:extLst>
          </p:cNvPr>
          <p:cNvSpPr txBox="1"/>
          <p:nvPr/>
        </p:nvSpPr>
        <p:spPr>
          <a:xfrm>
            <a:off x="2529983" y="3997306"/>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Y5 Evaluada en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+90</a:t>
            </a:r>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Tree>
    <p:extLst>
      <p:ext uri="{BB962C8B-B14F-4D97-AF65-F5344CB8AC3E}">
        <p14:creationId xmlns:p14="http://schemas.microsoft.com/office/powerpoint/2010/main" val="180992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
                                        </p:tgtEl>
                                        <p:attrNameLst>
                                          <p:attrName>style.visibility</p:attrName>
                                        </p:attrNameLst>
                                      </p:cBhvr>
                                      <p:to>
                                        <p:strVal val="visible"/>
                                      </p:to>
                                    </p:set>
                                    <p:anim calcmode="lin" valueType="num">
                                      <p:cBhvr additive="base">
                                        <p:cTn id="13" dur="500" fill="hold"/>
                                        <p:tgtEl>
                                          <p:spTgt spid="147"/>
                                        </p:tgtEl>
                                        <p:attrNameLst>
                                          <p:attrName>ppt_x</p:attrName>
                                        </p:attrNameLst>
                                      </p:cBhvr>
                                      <p:tavLst>
                                        <p:tav tm="0">
                                          <p:val>
                                            <p:strVal val="#ppt_x"/>
                                          </p:val>
                                        </p:tav>
                                        <p:tav tm="100000">
                                          <p:val>
                                            <p:strVal val="#ppt_x"/>
                                          </p:val>
                                        </p:tav>
                                      </p:tavLst>
                                    </p:anim>
                                    <p:anim calcmode="lin" valueType="num">
                                      <p:cBhvr additive="base">
                                        <p:cTn id="14" dur="500" fill="hold"/>
                                        <p:tgtEl>
                                          <p:spTgt spid="1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7"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EACD83D4-F733-B0FC-01AD-154C79253F3E}"/>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DA64759-8A9B-22E0-F4D7-670454EC077F}"/>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F03C8F64-319B-172A-B59A-0A3EDE17A092}"/>
              </a:ext>
            </a:extLst>
          </p:cNvPr>
          <p:cNvSpPr txBox="1">
            <a:spLocks/>
          </p:cNvSpPr>
          <p:nvPr/>
        </p:nvSpPr>
        <p:spPr>
          <a:xfrm>
            <a:off x="477884" y="259159"/>
            <a:ext cx="5791205"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Solución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la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endParaRPr kumimoji="0" lang="en-US" sz="3000" b="1" i="0" u="none" strike="noStrike" kern="0" cap="none" spc="0" normalizeH="0" noProof="0" dirty="0">
              <a:ln>
                <a:noFill/>
              </a:ln>
              <a:solidFill>
                <a:srgbClr val="F3F3F3"/>
              </a:solidFill>
              <a:effectLst/>
              <a:uLnTx/>
              <a:uFillTx/>
              <a:latin typeface="Rajdhani"/>
              <a:ea typeface="Rajdhani"/>
              <a:cs typeface="Rajdhani"/>
              <a:sym typeface="Rajdhani"/>
            </a:endParaRPr>
          </a:p>
          <a:p>
            <a:pPr>
              <a:buClr>
                <a:srgbClr val="F3F3F3"/>
              </a:buClr>
              <a:buSzPts val="3000"/>
              <a:defRPr/>
            </a:pPr>
            <a:r>
              <a:rPr lang="es-ES" sz="3000" b="1" dirty="0">
                <a:solidFill>
                  <a:schemeClr val="bg1">
                    <a:lumMod val="60000"/>
                    <a:lumOff val="40000"/>
                  </a:schemeClr>
                </a:solidFill>
                <a:latin typeface="Rajdhani"/>
                <a:ea typeface="Rajdhani"/>
                <a:cs typeface="Rajdhani"/>
                <a:sym typeface="Rajdhani"/>
              </a:rPr>
              <a:t>Robot antropomórfico serial 6GDL</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5574726F-062D-6309-7CE5-5E50B358F754}"/>
              </a:ext>
            </a:extLst>
          </p:cNvPr>
          <p:cNvCxnSpPr>
            <a:cxnSpLocks/>
          </p:cNvCxnSpPr>
          <p:nvPr/>
        </p:nvCxnSpPr>
        <p:spPr>
          <a:xfrm flipH="1">
            <a:off x="506029" y="467435"/>
            <a:ext cx="2316" cy="59738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a:extLst>
              <a:ext uri="{FF2B5EF4-FFF2-40B4-BE49-F238E27FC236}">
                <a16:creationId xmlns:a16="http://schemas.microsoft.com/office/drawing/2014/main" id="{D88C0419-B07C-B0F7-442A-4B0B6C9A8B44}"/>
              </a:ext>
            </a:extLst>
          </p:cNvPr>
          <p:cNvSpPr txBox="1"/>
          <p:nvPr/>
        </p:nvSpPr>
        <p:spPr>
          <a:xfrm>
            <a:off x="375501" y="1181713"/>
            <a:ext cx="5378227" cy="1867434"/>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Transformaciones de </a:t>
            </a:r>
            <a:r>
              <a:rPr lang="es-ES" sz="1600" b="1" dirty="0">
                <a:solidFill>
                  <a:schemeClr val="tx2"/>
                </a:solidFill>
                <a:latin typeface="Fira Sans Condensed Light" panose="020B0604020202020204" charset="0"/>
                <a:cs typeface="Times New Roman" panose="02020603050405020304" pitchFamily="18" charset="0"/>
              </a:rPr>
              <a:t>A6</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 </a:t>
            </a:r>
            <a:r>
              <a:rPr lang="es-ES" sz="1600" b="1" dirty="0">
                <a:solidFill>
                  <a:schemeClr val="tx2"/>
                </a:solidFill>
                <a:latin typeface="Fira Sans Condensed Light" panose="020B0604020202020204" charset="0"/>
                <a:cs typeface="Times New Roman" panose="02020603050405020304" pitchFamily="18" charset="0"/>
              </a:rPr>
              <a:t>Efector Final</a:t>
            </a:r>
          </a:p>
          <a:p>
            <a:pPr algn="just"/>
            <a:r>
              <a:rPr lang="es-ES" sz="1600" b="1" dirty="0">
                <a:solidFill>
                  <a:srgbClr val="FF0000"/>
                </a:solidFill>
                <a:latin typeface="Fira Sans Condensed Light" panose="020B0604020202020204" charset="0"/>
                <a:cs typeface="Times New Roman" panose="02020603050405020304" pitchFamily="18" charset="0"/>
              </a:rPr>
              <a:t>Rotación</a:t>
            </a:r>
          </a:p>
          <a:p>
            <a:pPr algn="just"/>
            <a:r>
              <a:rPr lang="es-ES" sz="1600" b="1" dirty="0">
                <a:solidFill>
                  <a:srgbClr val="FFFF00"/>
                </a:solidFill>
                <a:latin typeface="Fira Sans Condensed Light" panose="020B0604020202020204" charset="0"/>
                <a:cs typeface="Times New Roman" panose="02020603050405020304" pitchFamily="18" charset="0"/>
              </a:rPr>
              <a:t>“Ninguna Rotación”</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Translación</a:t>
            </a:r>
          </a:p>
          <a:p>
            <a:pPr algn="just"/>
            <a:r>
              <a:rPr lang="es-ES" sz="1600" b="1" dirty="0">
                <a:solidFill>
                  <a:srgbClr val="FFFF00"/>
                </a:solidFill>
                <a:latin typeface="Fira Sans Condensed Light" panose="020B0604020202020204" charset="0"/>
                <a:cs typeface="Times New Roman" panose="02020603050405020304" pitchFamily="18" charset="0"/>
              </a:rPr>
              <a:t>“Ninguna Translación”</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TRANSFORMACIÓN MATEMÁTICA</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rgbClr val="FF0000"/>
                </a:solidFill>
                <a:latin typeface="Fira Sans Condensed Light" panose="020B0604020202020204" charset="0"/>
                <a:cs typeface="Times New Roman" panose="02020603050405020304" pitchFamily="18" charset="0"/>
              </a:rPr>
              <a:t>Rotación                                                          Translación </a:t>
            </a:r>
          </a:p>
          <a:p>
            <a:pPr algn="just"/>
            <a:r>
              <a:rPr lang="es-ES" sz="1600" b="1" dirty="0">
                <a:solidFill>
                  <a:schemeClr val="tx2"/>
                </a:solidFill>
                <a:latin typeface="Fira Sans Condensed Light" panose="020B0604020202020204" charset="0"/>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5B16BDFC-4009-4E7B-AF34-33C559D7B6F1}"/>
                  </a:ext>
                </a:extLst>
              </p:cNvPr>
              <p:cNvSpPr txBox="1"/>
              <p:nvPr/>
            </p:nvSpPr>
            <p:spPr>
              <a:xfrm>
                <a:off x="4446465" y="3376921"/>
                <a:ext cx="344902" cy="651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1"/>
                                    <m:mcJc m:val="center"/>
                                  </m:mcPr>
                                </m:mc>
                              </m:mcs>
                              <m:ctrlPr>
                                <a:rPr lang="es-ES" sz="1600" b="1" i="1" smtClean="0">
                                  <a:solidFill>
                                    <a:schemeClr val="tx2"/>
                                  </a:solidFill>
                                  <a:latin typeface="Cambria Math" panose="02040503050406030204" pitchFamily="18" charset="0"/>
                                  <a:cs typeface="Times New Roman" panose="02020603050405020304" pitchFamily="18" charset="0"/>
                                </a:rPr>
                              </m:ctrlPr>
                            </m:mPr>
                            <m:mr>
                              <m:e>
                                <m:r>
                                  <m:rPr>
                                    <m:brk m:alnAt="7"/>
                                  </m:rPr>
                                  <a:rPr lang="es-MX" sz="1600" b="0" i="1" smtClean="0">
                                    <a:solidFill>
                                      <a:schemeClr val="tx2"/>
                                    </a:solidFill>
                                    <a:latin typeface="Cambria Math" panose="02040503050406030204" pitchFamily="18" charset="0"/>
                                    <a:cs typeface="Times New Roman" panose="02020603050405020304" pitchFamily="18" charset="0"/>
                                  </a:rPr>
                                  <m:t>0</m:t>
                                </m:r>
                              </m:e>
                            </m:mr>
                            <m:mr>
                              <m:e>
                                <m:r>
                                  <a:rPr lang="es-MX" sz="1600" b="0" i="1" smtClean="0">
                                    <a:solidFill>
                                      <a:schemeClr val="tx2"/>
                                    </a:solidFill>
                                    <a:latin typeface="Cambria Math" panose="02040503050406030204" pitchFamily="18" charset="0"/>
                                  </a:rPr>
                                  <m:t>0</m:t>
                                </m:r>
                              </m:e>
                            </m:mr>
                            <m:mr>
                              <m:e>
                                <m:r>
                                  <a:rPr lang="es-MX" sz="1600" b="1" i="1" smtClean="0">
                                    <a:solidFill>
                                      <a:schemeClr val="tx2"/>
                                    </a:solidFill>
                                    <a:latin typeface="Cambria Math" panose="02040503050406030204" pitchFamily="18" charset="0"/>
                                    <a:cs typeface="Times New Roman" panose="02020603050405020304" pitchFamily="18" charset="0"/>
                                  </a:rPr>
                                  <m:t>𝟎</m:t>
                                </m:r>
                              </m:e>
                            </m:mr>
                          </m:m>
                        </m:e>
                      </m:d>
                    </m:oMath>
                  </m:oMathPara>
                </a14:m>
                <a:endParaRPr lang="es-MX" sz="1600" dirty="0"/>
              </a:p>
            </p:txBody>
          </p:sp>
        </mc:Choice>
        <mc:Fallback>
          <p:sp>
            <p:nvSpPr>
              <p:cNvPr id="45" name="CuadroTexto 44">
                <a:extLst>
                  <a:ext uri="{FF2B5EF4-FFF2-40B4-BE49-F238E27FC236}">
                    <a16:creationId xmlns:a16="http://schemas.microsoft.com/office/drawing/2014/main" id="{5B16BDFC-4009-4E7B-AF34-33C559D7B6F1}"/>
                  </a:ext>
                </a:extLst>
              </p:cNvPr>
              <p:cNvSpPr txBox="1">
                <a:spLocks noRot="1" noChangeAspect="1" noMove="1" noResize="1" noEditPoints="1" noAdjustHandles="1" noChangeArrowheads="1" noChangeShapeType="1" noTextEdit="1"/>
              </p:cNvSpPr>
              <p:nvPr/>
            </p:nvSpPr>
            <p:spPr>
              <a:xfrm>
                <a:off x="4446465" y="3376921"/>
                <a:ext cx="344902" cy="651204"/>
              </a:xfrm>
              <a:prstGeom prst="rect">
                <a:avLst/>
              </a:prstGeom>
              <a:blipFill>
                <a:blip r:embed="rId4"/>
                <a:stretch>
                  <a:fillRect/>
                </a:stretch>
              </a:blipFill>
            </p:spPr>
            <p:txBody>
              <a:bodyPr/>
              <a:lstStyle/>
              <a:p>
                <a:r>
                  <a:rPr lang="es-MX">
                    <a:noFill/>
                  </a:rPr>
                  <a:t> </a:t>
                </a:r>
              </a:p>
            </p:txBody>
          </p:sp>
        </mc:Fallback>
      </mc:AlternateContent>
      <p:sp>
        <p:nvSpPr>
          <p:cNvPr id="47" name="CuadroTexto 46">
            <a:extLst>
              <a:ext uri="{FF2B5EF4-FFF2-40B4-BE49-F238E27FC236}">
                <a16:creationId xmlns:a16="http://schemas.microsoft.com/office/drawing/2014/main" id="{7EA35EC3-3627-3CB2-313A-94E5C9AB5695}"/>
              </a:ext>
            </a:extLst>
          </p:cNvPr>
          <p:cNvSpPr txBox="1"/>
          <p:nvPr/>
        </p:nvSpPr>
        <p:spPr>
          <a:xfrm>
            <a:off x="4107847" y="4145677"/>
            <a:ext cx="1150293" cy="954107"/>
          </a:xfrm>
          <a:prstGeom prst="rect">
            <a:avLst/>
          </a:prstGeom>
          <a:noFill/>
        </p:spPr>
        <p:txBody>
          <a:bodyPr wrap="square">
            <a:spAutoFit/>
          </a:bodyPr>
          <a:lstStyle/>
          <a:p>
            <a:pPr algn="just"/>
            <a:r>
              <a:rPr lang="es-ES" sz="1400" dirty="0">
                <a:solidFill>
                  <a:schemeClr val="bg1">
                    <a:lumMod val="60000"/>
                    <a:lumOff val="40000"/>
                  </a:schemeClr>
                </a:solidFill>
                <a:latin typeface="Fira Sans Condensed Light" panose="020B0604020202020204" charset="0"/>
                <a:cs typeface="Times New Roman" panose="02020603050405020304" pitchFamily="18" charset="0"/>
              </a:rPr>
              <a:t>Vector de Traslación de  </a:t>
            </a:r>
            <a:r>
              <a:rPr lang="es-ES" sz="1400" b="1" dirty="0">
                <a:solidFill>
                  <a:schemeClr val="bg1">
                    <a:lumMod val="60000"/>
                    <a:lumOff val="40000"/>
                  </a:schemeClr>
                </a:solidFill>
                <a:latin typeface="Fira Sans Condensed Light" panose="020B0604020202020204" charset="0"/>
                <a:cs typeface="Times New Roman" panose="02020603050405020304" pitchFamily="18" charset="0"/>
              </a:rPr>
              <a:t>A5 a </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Efector Final</a:t>
            </a:r>
            <a:endParaRPr lang="es-ES" sz="1400" b="1" dirty="0">
              <a:solidFill>
                <a:schemeClr val="tx2"/>
              </a:solidFill>
              <a:latin typeface="Fira Sans Condensed Light" panose="020B0604020202020204" charset="0"/>
              <a:cs typeface="Times New Roman" panose="02020603050405020304" pitchFamily="18" charset="0"/>
            </a:endParaRPr>
          </a:p>
        </p:txBody>
      </p:sp>
      <p:pic>
        <p:nvPicPr>
          <p:cNvPr id="20" name="Imagen 19">
            <a:extLst>
              <a:ext uri="{FF2B5EF4-FFF2-40B4-BE49-F238E27FC236}">
                <a16:creationId xmlns:a16="http://schemas.microsoft.com/office/drawing/2014/main" id="{047BAF73-53F8-67D3-C3DA-314AC29E047B}"/>
              </a:ext>
            </a:extLst>
          </p:cNvPr>
          <p:cNvPicPr>
            <a:picLocks noChangeAspect="1"/>
          </p:cNvPicPr>
          <p:nvPr/>
        </p:nvPicPr>
        <p:blipFill>
          <a:blip r:embed="rId5"/>
          <a:stretch>
            <a:fillRect/>
          </a:stretch>
        </p:blipFill>
        <p:spPr>
          <a:xfrm>
            <a:off x="5744925" y="1312244"/>
            <a:ext cx="3375693" cy="3572097"/>
          </a:xfrm>
          <a:prstGeom prst="rect">
            <a:avLst/>
          </a:prstGeom>
        </p:spPr>
      </p:pic>
      <p:sp>
        <p:nvSpPr>
          <p:cNvPr id="21" name="CuadroTexto 20">
            <a:extLst>
              <a:ext uri="{FF2B5EF4-FFF2-40B4-BE49-F238E27FC236}">
                <a16:creationId xmlns:a16="http://schemas.microsoft.com/office/drawing/2014/main" id="{7EB634DA-D993-7694-EFF2-4FD218539747}"/>
              </a:ext>
            </a:extLst>
          </p:cNvPr>
          <p:cNvSpPr txBox="1"/>
          <p:nvPr/>
        </p:nvSpPr>
        <p:spPr>
          <a:xfrm>
            <a:off x="6068217" y="3628079"/>
            <a:ext cx="332584"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L1</a:t>
            </a:r>
            <a:endParaRPr lang="es-MX" dirty="0">
              <a:solidFill>
                <a:schemeClr val="tx1"/>
              </a:solidFill>
            </a:endParaRPr>
          </a:p>
        </p:txBody>
      </p:sp>
      <p:sp>
        <p:nvSpPr>
          <p:cNvPr id="29" name="CuadroTexto 28">
            <a:extLst>
              <a:ext uri="{FF2B5EF4-FFF2-40B4-BE49-F238E27FC236}">
                <a16:creationId xmlns:a16="http://schemas.microsoft.com/office/drawing/2014/main" id="{65D4B1BF-EECC-1EC7-A3A0-A051903CD2C4}"/>
              </a:ext>
            </a:extLst>
          </p:cNvPr>
          <p:cNvSpPr txBox="1"/>
          <p:nvPr/>
        </p:nvSpPr>
        <p:spPr>
          <a:xfrm>
            <a:off x="6307246" y="2237995"/>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a:t>
            </a:r>
            <a:r>
              <a:rPr lang="es-ES" b="1" dirty="0">
                <a:solidFill>
                  <a:schemeClr val="tx1"/>
                </a:solidFill>
                <a:latin typeface="Fira Sans Condensed Light" panose="020B0604020202020204" charset="0"/>
                <a:cs typeface="Times New Roman" panose="02020603050405020304" pitchFamily="18" charset="0"/>
              </a:rPr>
              <a:t>2</a:t>
            </a:r>
            <a:endParaRPr lang="es-MX" dirty="0">
              <a:solidFill>
                <a:schemeClr val="tx1"/>
              </a:solidFill>
            </a:endParaRPr>
          </a:p>
        </p:txBody>
      </p:sp>
      <p:sp>
        <p:nvSpPr>
          <p:cNvPr id="30" name="CuadroTexto 29">
            <a:extLst>
              <a:ext uri="{FF2B5EF4-FFF2-40B4-BE49-F238E27FC236}">
                <a16:creationId xmlns:a16="http://schemas.microsoft.com/office/drawing/2014/main" id="{7CF61CD8-FF3E-17B0-1863-C4345AFE6E7E}"/>
              </a:ext>
            </a:extLst>
          </p:cNvPr>
          <p:cNvSpPr txBox="1"/>
          <p:nvPr/>
        </p:nvSpPr>
        <p:spPr>
          <a:xfrm>
            <a:off x="7397494" y="1663032"/>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L3</a:t>
            </a:r>
            <a:endParaRPr lang="es-MX" dirty="0">
              <a:solidFill>
                <a:schemeClr val="tx1"/>
              </a:solidFill>
            </a:endParaRPr>
          </a:p>
        </p:txBody>
      </p:sp>
      <p:sp>
        <p:nvSpPr>
          <p:cNvPr id="32" name="CuadroTexto 31">
            <a:extLst>
              <a:ext uri="{FF2B5EF4-FFF2-40B4-BE49-F238E27FC236}">
                <a16:creationId xmlns:a16="http://schemas.microsoft.com/office/drawing/2014/main" id="{E5EEBA81-652B-6AB9-BFD4-C2997403FFAB}"/>
              </a:ext>
            </a:extLst>
          </p:cNvPr>
          <p:cNvSpPr txBox="1"/>
          <p:nvPr/>
        </p:nvSpPr>
        <p:spPr>
          <a:xfrm>
            <a:off x="8133930" y="1663031"/>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L4</a:t>
            </a:r>
            <a:endParaRPr lang="es-MX" dirty="0">
              <a:solidFill>
                <a:schemeClr val="tx1"/>
              </a:solidFill>
            </a:endParaRPr>
          </a:p>
        </p:txBody>
      </p:sp>
      <p:sp>
        <p:nvSpPr>
          <p:cNvPr id="33" name="CuadroTexto 32">
            <a:extLst>
              <a:ext uri="{FF2B5EF4-FFF2-40B4-BE49-F238E27FC236}">
                <a16:creationId xmlns:a16="http://schemas.microsoft.com/office/drawing/2014/main" id="{0A83A814-4E52-19B0-51DE-FD8B9C7D093E}"/>
              </a:ext>
            </a:extLst>
          </p:cNvPr>
          <p:cNvSpPr txBox="1"/>
          <p:nvPr/>
        </p:nvSpPr>
        <p:spPr>
          <a:xfrm>
            <a:off x="8760900" y="2108070"/>
            <a:ext cx="411570" cy="307777"/>
          </a:xfrm>
          <a:prstGeom prst="rect">
            <a:avLst/>
          </a:prstGeom>
          <a:noFill/>
        </p:spPr>
        <p:txBody>
          <a:bodyPr wrap="square">
            <a:spAutoFit/>
          </a:bodyPr>
          <a:lstStyle/>
          <a:p>
            <a:r>
              <a:rPr lang="es-ES" sz="1400" b="1" dirty="0">
                <a:solidFill>
                  <a:schemeClr val="tx1"/>
                </a:solidFill>
                <a:latin typeface="Fira Sans Condensed Light" panose="020B0604020202020204" charset="0"/>
                <a:cs typeface="Times New Roman" panose="02020603050405020304" pitchFamily="18" charset="0"/>
              </a:rPr>
              <a:t>L5</a:t>
            </a:r>
            <a:endParaRPr lang="es-MX" dirty="0">
              <a:solidFill>
                <a:schemeClr val="tx1"/>
              </a:solidFill>
            </a:endParaRPr>
          </a:p>
        </p:txBody>
      </p:sp>
      <p:cxnSp>
        <p:nvCxnSpPr>
          <p:cNvPr id="34" name="Conector recto de flecha 33">
            <a:extLst>
              <a:ext uri="{FF2B5EF4-FFF2-40B4-BE49-F238E27FC236}">
                <a16:creationId xmlns:a16="http://schemas.microsoft.com/office/drawing/2014/main" id="{C398491A-1475-F697-BB60-F9954132011B}"/>
              </a:ext>
            </a:extLst>
          </p:cNvPr>
          <p:cNvCxnSpPr>
            <a:cxnSpLocks/>
          </p:cNvCxnSpPr>
          <p:nvPr/>
        </p:nvCxnSpPr>
        <p:spPr>
          <a:xfrm>
            <a:off x="6391270" y="4352815"/>
            <a:ext cx="397482" cy="4540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5" name="Conector recto de flecha 34">
            <a:extLst>
              <a:ext uri="{FF2B5EF4-FFF2-40B4-BE49-F238E27FC236}">
                <a16:creationId xmlns:a16="http://schemas.microsoft.com/office/drawing/2014/main" id="{0280CD26-A3DB-3D74-BC3A-3BBBE64FA704}"/>
              </a:ext>
            </a:extLst>
          </p:cNvPr>
          <p:cNvCxnSpPr>
            <a:cxnSpLocks/>
          </p:cNvCxnSpPr>
          <p:nvPr/>
        </p:nvCxnSpPr>
        <p:spPr>
          <a:xfrm flipH="1">
            <a:off x="6138809" y="4345900"/>
            <a:ext cx="255524" cy="27481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6" name="Conector recto de flecha 35">
            <a:extLst>
              <a:ext uri="{FF2B5EF4-FFF2-40B4-BE49-F238E27FC236}">
                <a16:creationId xmlns:a16="http://schemas.microsoft.com/office/drawing/2014/main" id="{3CE88FD9-913E-87BA-7EDF-4141DF48B73E}"/>
              </a:ext>
            </a:extLst>
          </p:cNvPr>
          <p:cNvCxnSpPr>
            <a:cxnSpLocks/>
          </p:cNvCxnSpPr>
          <p:nvPr/>
        </p:nvCxnSpPr>
        <p:spPr>
          <a:xfrm flipV="1">
            <a:off x="6385536" y="3888676"/>
            <a:ext cx="0" cy="471849"/>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38" name="CuadroTexto 37">
            <a:extLst>
              <a:ext uri="{FF2B5EF4-FFF2-40B4-BE49-F238E27FC236}">
                <a16:creationId xmlns:a16="http://schemas.microsoft.com/office/drawing/2014/main" id="{F25ED73C-9D57-670B-2C80-3C9A6BE856B5}"/>
              </a:ext>
            </a:extLst>
          </p:cNvPr>
          <p:cNvSpPr txBox="1"/>
          <p:nvPr/>
        </p:nvSpPr>
        <p:spPr>
          <a:xfrm>
            <a:off x="5831097" y="4411658"/>
            <a:ext cx="371537" cy="307777"/>
          </a:xfrm>
          <a:prstGeom prst="rect">
            <a:avLst/>
          </a:prstGeom>
          <a:noFill/>
        </p:spPr>
        <p:txBody>
          <a:bodyPr wrap="square" rtlCol="0">
            <a:spAutoFit/>
          </a:bodyPr>
          <a:lstStyle/>
          <a:p>
            <a:r>
              <a:rPr lang="es-ES" dirty="0">
                <a:highlight>
                  <a:srgbClr val="00FF00"/>
                </a:highlight>
              </a:rPr>
              <a:t>x1</a:t>
            </a:r>
            <a:endParaRPr lang="es-MX" dirty="0">
              <a:highlight>
                <a:srgbClr val="00FF00"/>
              </a:highlight>
            </a:endParaRPr>
          </a:p>
        </p:txBody>
      </p:sp>
      <p:sp>
        <p:nvSpPr>
          <p:cNvPr id="42" name="CuadroTexto 41">
            <a:extLst>
              <a:ext uri="{FF2B5EF4-FFF2-40B4-BE49-F238E27FC236}">
                <a16:creationId xmlns:a16="http://schemas.microsoft.com/office/drawing/2014/main" id="{79E1A173-BB6F-1489-53AD-3C3F7ECFC076}"/>
              </a:ext>
            </a:extLst>
          </p:cNvPr>
          <p:cNvSpPr txBox="1"/>
          <p:nvPr/>
        </p:nvSpPr>
        <p:spPr>
          <a:xfrm>
            <a:off x="6489836" y="4360525"/>
            <a:ext cx="371536" cy="307777"/>
          </a:xfrm>
          <a:prstGeom prst="rect">
            <a:avLst/>
          </a:prstGeom>
          <a:noFill/>
        </p:spPr>
        <p:txBody>
          <a:bodyPr wrap="square" rtlCol="0">
            <a:spAutoFit/>
          </a:bodyPr>
          <a:lstStyle/>
          <a:p>
            <a:r>
              <a:rPr lang="es-ES" dirty="0">
                <a:highlight>
                  <a:srgbClr val="FFFF00"/>
                </a:highlight>
              </a:rPr>
              <a:t>y1</a:t>
            </a:r>
            <a:endParaRPr lang="es-MX" dirty="0">
              <a:highlight>
                <a:srgbClr val="FFFF00"/>
              </a:highlight>
            </a:endParaRPr>
          </a:p>
        </p:txBody>
      </p:sp>
      <p:sp>
        <p:nvSpPr>
          <p:cNvPr id="49" name="CuadroTexto 48">
            <a:extLst>
              <a:ext uri="{FF2B5EF4-FFF2-40B4-BE49-F238E27FC236}">
                <a16:creationId xmlns:a16="http://schemas.microsoft.com/office/drawing/2014/main" id="{DDC337C2-29B3-2CCA-5659-3DFDBAFC0B47}"/>
              </a:ext>
            </a:extLst>
          </p:cNvPr>
          <p:cNvSpPr txBox="1"/>
          <p:nvPr/>
        </p:nvSpPr>
        <p:spPr>
          <a:xfrm>
            <a:off x="6037648" y="3803375"/>
            <a:ext cx="371537" cy="307777"/>
          </a:xfrm>
          <a:prstGeom prst="rect">
            <a:avLst/>
          </a:prstGeom>
          <a:noFill/>
        </p:spPr>
        <p:txBody>
          <a:bodyPr wrap="square" rtlCol="0">
            <a:spAutoFit/>
          </a:bodyPr>
          <a:lstStyle/>
          <a:p>
            <a:r>
              <a:rPr lang="es-ES" dirty="0">
                <a:highlight>
                  <a:srgbClr val="00FFFF"/>
                </a:highlight>
              </a:rPr>
              <a:t>z1</a:t>
            </a:r>
            <a:endParaRPr lang="es-MX" dirty="0">
              <a:highlight>
                <a:srgbClr val="00FFFF"/>
              </a:highlight>
            </a:endParaRPr>
          </a:p>
        </p:txBody>
      </p:sp>
      <p:cxnSp>
        <p:nvCxnSpPr>
          <p:cNvPr id="50" name="Conector recto de flecha 49">
            <a:extLst>
              <a:ext uri="{FF2B5EF4-FFF2-40B4-BE49-F238E27FC236}">
                <a16:creationId xmlns:a16="http://schemas.microsoft.com/office/drawing/2014/main" id="{9DA6ADFB-AB61-7A6A-6D34-08B6048AA71C}"/>
              </a:ext>
            </a:extLst>
          </p:cNvPr>
          <p:cNvCxnSpPr>
            <a:cxnSpLocks/>
          </p:cNvCxnSpPr>
          <p:nvPr/>
        </p:nvCxnSpPr>
        <p:spPr>
          <a:xfrm>
            <a:off x="6366113" y="3038963"/>
            <a:ext cx="469601" cy="4366"/>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51" name="Conector recto de flecha 50">
            <a:extLst>
              <a:ext uri="{FF2B5EF4-FFF2-40B4-BE49-F238E27FC236}">
                <a16:creationId xmlns:a16="http://schemas.microsoft.com/office/drawing/2014/main" id="{AF5784F6-7993-02D5-A4DD-F52CF8A3B230}"/>
              </a:ext>
            </a:extLst>
          </p:cNvPr>
          <p:cNvCxnSpPr>
            <a:cxnSpLocks/>
          </p:cNvCxnSpPr>
          <p:nvPr/>
        </p:nvCxnSpPr>
        <p:spPr>
          <a:xfrm flipH="1">
            <a:off x="6053637" y="3043329"/>
            <a:ext cx="303680" cy="257029"/>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cxnSp>
        <p:nvCxnSpPr>
          <p:cNvPr id="52" name="Conector recto de flecha 51">
            <a:extLst>
              <a:ext uri="{FF2B5EF4-FFF2-40B4-BE49-F238E27FC236}">
                <a16:creationId xmlns:a16="http://schemas.microsoft.com/office/drawing/2014/main" id="{13E374B5-900E-0741-93F9-E86EAEE95CA7}"/>
              </a:ext>
            </a:extLst>
          </p:cNvPr>
          <p:cNvCxnSpPr>
            <a:cxnSpLocks/>
          </p:cNvCxnSpPr>
          <p:nvPr/>
        </p:nvCxnSpPr>
        <p:spPr>
          <a:xfrm>
            <a:off x="6371769" y="3038963"/>
            <a:ext cx="1434" cy="445880"/>
          </a:xfrm>
          <a:prstGeom prst="straightConnector1">
            <a:avLst/>
          </a:prstGeom>
          <a:ln>
            <a:solidFill>
              <a:srgbClr val="FF0000"/>
            </a:solidFill>
            <a:tailEnd type="triangle"/>
          </a:ln>
        </p:spPr>
        <p:style>
          <a:lnRef idx="2">
            <a:schemeClr val="accent3"/>
          </a:lnRef>
          <a:fillRef idx="0">
            <a:schemeClr val="accent3"/>
          </a:fillRef>
          <a:effectRef idx="1">
            <a:schemeClr val="accent3"/>
          </a:effectRef>
          <a:fontRef idx="minor">
            <a:schemeClr val="tx1"/>
          </a:fontRef>
        </p:style>
      </p:cxnSp>
      <p:sp>
        <p:nvSpPr>
          <p:cNvPr id="53" name="CuadroTexto 52">
            <a:extLst>
              <a:ext uri="{FF2B5EF4-FFF2-40B4-BE49-F238E27FC236}">
                <a16:creationId xmlns:a16="http://schemas.microsoft.com/office/drawing/2014/main" id="{67C39882-E76F-A1DC-9C8D-73F9944053A4}"/>
              </a:ext>
            </a:extLst>
          </p:cNvPr>
          <p:cNvSpPr txBox="1"/>
          <p:nvPr/>
        </p:nvSpPr>
        <p:spPr>
          <a:xfrm>
            <a:off x="6342477" y="3236182"/>
            <a:ext cx="371537"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sp>
        <p:nvSpPr>
          <p:cNvPr id="54" name="CuadroTexto 53">
            <a:extLst>
              <a:ext uri="{FF2B5EF4-FFF2-40B4-BE49-F238E27FC236}">
                <a16:creationId xmlns:a16="http://schemas.microsoft.com/office/drawing/2014/main" id="{513F290F-9547-A29A-C69C-82353A188D30}"/>
              </a:ext>
            </a:extLst>
          </p:cNvPr>
          <p:cNvSpPr txBox="1"/>
          <p:nvPr/>
        </p:nvSpPr>
        <p:spPr>
          <a:xfrm>
            <a:off x="6649946" y="2545307"/>
            <a:ext cx="371536" cy="307777"/>
          </a:xfrm>
          <a:prstGeom prst="rect">
            <a:avLst/>
          </a:prstGeom>
          <a:noFill/>
        </p:spPr>
        <p:txBody>
          <a:bodyPr wrap="square" rtlCol="0">
            <a:spAutoFit/>
          </a:bodyPr>
          <a:lstStyle/>
          <a:p>
            <a:r>
              <a:rPr lang="es-ES" dirty="0">
                <a:highlight>
                  <a:srgbClr val="FFFF00"/>
                </a:highlight>
              </a:rPr>
              <a:t>y2</a:t>
            </a:r>
            <a:endParaRPr lang="es-MX" dirty="0">
              <a:highlight>
                <a:srgbClr val="FFFF00"/>
              </a:highlight>
            </a:endParaRPr>
          </a:p>
        </p:txBody>
      </p:sp>
      <p:sp>
        <p:nvSpPr>
          <p:cNvPr id="55" name="CuadroTexto 54">
            <a:extLst>
              <a:ext uri="{FF2B5EF4-FFF2-40B4-BE49-F238E27FC236}">
                <a16:creationId xmlns:a16="http://schemas.microsoft.com/office/drawing/2014/main" id="{0ADC89FA-A163-BAB5-0921-954352A650CF}"/>
              </a:ext>
            </a:extLst>
          </p:cNvPr>
          <p:cNvSpPr txBox="1"/>
          <p:nvPr/>
        </p:nvSpPr>
        <p:spPr>
          <a:xfrm>
            <a:off x="5778288" y="2957277"/>
            <a:ext cx="371537" cy="307777"/>
          </a:xfrm>
          <a:prstGeom prst="rect">
            <a:avLst/>
          </a:prstGeom>
          <a:noFill/>
        </p:spPr>
        <p:txBody>
          <a:bodyPr wrap="square" rtlCol="0">
            <a:spAutoFit/>
          </a:bodyPr>
          <a:lstStyle/>
          <a:p>
            <a:r>
              <a:rPr lang="es-ES" dirty="0">
                <a:highlight>
                  <a:srgbClr val="00FFFF"/>
                </a:highlight>
              </a:rPr>
              <a:t>z2</a:t>
            </a:r>
            <a:endParaRPr lang="es-MX" dirty="0">
              <a:highlight>
                <a:srgbClr val="00FFFF"/>
              </a:highlight>
            </a:endParaRPr>
          </a:p>
        </p:txBody>
      </p:sp>
      <p:cxnSp>
        <p:nvCxnSpPr>
          <p:cNvPr id="56" name="Conector recto 55">
            <a:extLst>
              <a:ext uri="{FF2B5EF4-FFF2-40B4-BE49-F238E27FC236}">
                <a16:creationId xmlns:a16="http://schemas.microsoft.com/office/drawing/2014/main" id="{89529DEA-AA76-253D-0107-B512C65F659F}"/>
              </a:ext>
            </a:extLst>
          </p:cNvPr>
          <p:cNvCxnSpPr>
            <a:cxnSpLocks/>
          </p:cNvCxnSpPr>
          <p:nvPr/>
        </p:nvCxnSpPr>
        <p:spPr>
          <a:xfrm flipH="1" flipV="1">
            <a:off x="6352868" y="2545307"/>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7" name="CuadroTexto 56">
            <a:extLst>
              <a:ext uri="{FF2B5EF4-FFF2-40B4-BE49-F238E27FC236}">
                <a16:creationId xmlns:a16="http://schemas.microsoft.com/office/drawing/2014/main" id="{D9290B4B-9465-6FBA-DC9D-4FE2C96C2305}"/>
              </a:ext>
            </a:extLst>
          </p:cNvPr>
          <p:cNvSpPr txBox="1"/>
          <p:nvPr/>
        </p:nvSpPr>
        <p:spPr>
          <a:xfrm>
            <a:off x="5947611" y="2423642"/>
            <a:ext cx="469601" cy="307777"/>
          </a:xfrm>
          <a:prstGeom prst="rect">
            <a:avLst/>
          </a:prstGeom>
          <a:noFill/>
        </p:spPr>
        <p:txBody>
          <a:bodyPr wrap="square" rtlCol="0">
            <a:spAutoFit/>
          </a:bodyPr>
          <a:lstStyle/>
          <a:p>
            <a:r>
              <a:rPr lang="es-ES" dirty="0">
                <a:highlight>
                  <a:srgbClr val="00FF00"/>
                </a:highlight>
              </a:rPr>
              <a:t>-x2</a:t>
            </a:r>
            <a:endParaRPr lang="es-MX" dirty="0">
              <a:highlight>
                <a:srgbClr val="00FF00"/>
              </a:highlight>
            </a:endParaRPr>
          </a:p>
        </p:txBody>
      </p:sp>
      <p:cxnSp>
        <p:nvCxnSpPr>
          <p:cNvPr id="58" name="Conector recto de flecha 57">
            <a:extLst>
              <a:ext uri="{FF2B5EF4-FFF2-40B4-BE49-F238E27FC236}">
                <a16:creationId xmlns:a16="http://schemas.microsoft.com/office/drawing/2014/main" id="{33AB9F96-D7CF-70A8-08E0-5A84990BD315}"/>
              </a:ext>
            </a:extLst>
          </p:cNvPr>
          <p:cNvCxnSpPr>
            <a:cxnSpLocks/>
          </p:cNvCxnSpPr>
          <p:nvPr/>
        </p:nvCxnSpPr>
        <p:spPr>
          <a:xfrm>
            <a:off x="6835714" y="1963721"/>
            <a:ext cx="361325" cy="11511"/>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59" name="Conector recto de flecha 58">
            <a:extLst>
              <a:ext uri="{FF2B5EF4-FFF2-40B4-BE49-F238E27FC236}">
                <a16:creationId xmlns:a16="http://schemas.microsoft.com/office/drawing/2014/main" id="{9594386E-AFA3-22B6-00A5-6FAF7DC52729}"/>
              </a:ext>
            </a:extLst>
          </p:cNvPr>
          <p:cNvCxnSpPr>
            <a:cxnSpLocks/>
          </p:cNvCxnSpPr>
          <p:nvPr/>
        </p:nvCxnSpPr>
        <p:spPr>
          <a:xfrm flipH="1">
            <a:off x="6568661" y="1978579"/>
            <a:ext cx="249674" cy="251528"/>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60" name="Conector recto de flecha 59">
            <a:extLst>
              <a:ext uri="{FF2B5EF4-FFF2-40B4-BE49-F238E27FC236}">
                <a16:creationId xmlns:a16="http://schemas.microsoft.com/office/drawing/2014/main" id="{B431BCB8-123F-BAAD-33B2-7C23E476440C}"/>
              </a:ext>
            </a:extLst>
          </p:cNvPr>
          <p:cNvCxnSpPr>
            <a:cxnSpLocks/>
          </p:cNvCxnSpPr>
          <p:nvPr/>
        </p:nvCxnSpPr>
        <p:spPr>
          <a:xfrm>
            <a:off x="6841370" y="194293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61" name="CuadroTexto 60">
            <a:extLst>
              <a:ext uri="{FF2B5EF4-FFF2-40B4-BE49-F238E27FC236}">
                <a16:creationId xmlns:a16="http://schemas.microsoft.com/office/drawing/2014/main" id="{19109592-2DCD-A7B8-6872-289486680F8A}"/>
              </a:ext>
            </a:extLst>
          </p:cNvPr>
          <p:cNvSpPr txBox="1"/>
          <p:nvPr/>
        </p:nvSpPr>
        <p:spPr>
          <a:xfrm>
            <a:off x="6812078" y="2129767"/>
            <a:ext cx="371537"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sp>
        <p:nvSpPr>
          <p:cNvPr id="62" name="CuadroTexto 61">
            <a:extLst>
              <a:ext uri="{FF2B5EF4-FFF2-40B4-BE49-F238E27FC236}">
                <a16:creationId xmlns:a16="http://schemas.microsoft.com/office/drawing/2014/main" id="{E4519598-F0A3-E22B-3D60-4D36EC79203E}"/>
              </a:ext>
            </a:extLst>
          </p:cNvPr>
          <p:cNvSpPr txBox="1"/>
          <p:nvPr/>
        </p:nvSpPr>
        <p:spPr>
          <a:xfrm>
            <a:off x="7027373" y="1614791"/>
            <a:ext cx="371536" cy="307777"/>
          </a:xfrm>
          <a:prstGeom prst="rect">
            <a:avLst/>
          </a:prstGeom>
          <a:noFill/>
        </p:spPr>
        <p:txBody>
          <a:bodyPr wrap="square" rtlCol="0">
            <a:spAutoFit/>
          </a:bodyPr>
          <a:lstStyle/>
          <a:p>
            <a:r>
              <a:rPr lang="es-ES" dirty="0">
                <a:highlight>
                  <a:srgbClr val="FFFF00"/>
                </a:highlight>
              </a:rPr>
              <a:t>y3</a:t>
            </a:r>
            <a:endParaRPr lang="es-MX" dirty="0">
              <a:highlight>
                <a:srgbClr val="FFFF00"/>
              </a:highlight>
            </a:endParaRPr>
          </a:p>
        </p:txBody>
      </p:sp>
      <p:sp>
        <p:nvSpPr>
          <p:cNvPr id="63" name="CuadroTexto 62">
            <a:extLst>
              <a:ext uri="{FF2B5EF4-FFF2-40B4-BE49-F238E27FC236}">
                <a16:creationId xmlns:a16="http://schemas.microsoft.com/office/drawing/2014/main" id="{7EE4611E-9353-7D81-F542-3C894130A59A}"/>
              </a:ext>
            </a:extLst>
          </p:cNvPr>
          <p:cNvSpPr txBox="1"/>
          <p:nvPr/>
        </p:nvSpPr>
        <p:spPr>
          <a:xfrm>
            <a:off x="6352889" y="1883408"/>
            <a:ext cx="371537" cy="307777"/>
          </a:xfrm>
          <a:prstGeom prst="rect">
            <a:avLst/>
          </a:prstGeom>
          <a:noFill/>
        </p:spPr>
        <p:txBody>
          <a:bodyPr wrap="square" rtlCol="0">
            <a:spAutoFit/>
          </a:bodyPr>
          <a:lstStyle/>
          <a:p>
            <a:r>
              <a:rPr lang="es-ES" dirty="0">
                <a:highlight>
                  <a:srgbClr val="00FFFF"/>
                </a:highlight>
              </a:rPr>
              <a:t>z3</a:t>
            </a:r>
            <a:endParaRPr lang="es-MX" dirty="0">
              <a:highlight>
                <a:srgbClr val="00FFFF"/>
              </a:highlight>
            </a:endParaRPr>
          </a:p>
        </p:txBody>
      </p:sp>
      <p:cxnSp>
        <p:nvCxnSpPr>
          <p:cNvPr id="128" name="Conector recto 127">
            <a:extLst>
              <a:ext uri="{FF2B5EF4-FFF2-40B4-BE49-F238E27FC236}">
                <a16:creationId xmlns:a16="http://schemas.microsoft.com/office/drawing/2014/main" id="{0A7F078D-BF1C-1D4B-EC80-052E68522683}"/>
              </a:ext>
            </a:extLst>
          </p:cNvPr>
          <p:cNvCxnSpPr>
            <a:cxnSpLocks/>
          </p:cNvCxnSpPr>
          <p:nvPr/>
        </p:nvCxnSpPr>
        <p:spPr>
          <a:xfrm flipH="1" flipV="1">
            <a:off x="6818553" y="1429901"/>
            <a:ext cx="14840" cy="503840"/>
          </a:xfrm>
          <a:prstGeom prst="line">
            <a:avLst/>
          </a:prstGeom>
          <a:ln w="349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29" name="CuadroTexto 128">
            <a:extLst>
              <a:ext uri="{FF2B5EF4-FFF2-40B4-BE49-F238E27FC236}">
                <a16:creationId xmlns:a16="http://schemas.microsoft.com/office/drawing/2014/main" id="{C1D3A929-9272-E38B-6591-0C5DE3334CBB}"/>
              </a:ext>
            </a:extLst>
          </p:cNvPr>
          <p:cNvSpPr txBox="1"/>
          <p:nvPr/>
        </p:nvSpPr>
        <p:spPr>
          <a:xfrm>
            <a:off x="6440803" y="1353134"/>
            <a:ext cx="469601" cy="307777"/>
          </a:xfrm>
          <a:prstGeom prst="rect">
            <a:avLst/>
          </a:prstGeom>
          <a:noFill/>
        </p:spPr>
        <p:txBody>
          <a:bodyPr wrap="square" rtlCol="0">
            <a:spAutoFit/>
          </a:bodyPr>
          <a:lstStyle/>
          <a:p>
            <a:r>
              <a:rPr lang="es-ES" dirty="0">
                <a:highlight>
                  <a:srgbClr val="00FF00"/>
                </a:highlight>
              </a:rPr>
              <a:t>-x3</a:t>
            </a:r>
            <a:endParaRPr lang="es-MX" dirty="0">
              <a:highlight>
                <a:srgbClr val="00FF00"/>
              </a:highlight>
            </a:endParaRPr>
          </a:p>
        </p:txBody>
      </p:sp>
      <p:cxnSp>
        <p:nvCxnSpPr>
          <p:cNvPr id="130" name="Conector recto de flecha 129">
            <a:extLst>
              <a:ext uri="{FF2B5EF4-FFF2-40B4-BE49-F238E27FC236}">
                <a16:creationId xmlns:a16="http://schemas.microsoft.com/office/drawing/2014/main" id="{9C5633FD-2483-9961-6C62-E8824AA3957C}"/>
              </a:ext>
            </a:extLst>
          </p:cNvPr>
          <p:cNvCxnSpPr>
            <a:cxnSpLocks/>
          </p:cNvCxnSpPr>
          <p:nvPr/>
        </p:nvCxnSpPr>
        <p:spPr>
          <a:xfrm>
            <a:off x="7867074" y="1978579"/>
            <a:ext cx="390672" cy="785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1" name="Conector recto de flecha 130">
            <a:extLst>
              <a:ext uri="{FF2B5EF4-FFF2-40B4-BE49-F238E27FC236}">
                <a16:creationId xmlns:a16="http://schemas.microsoft.com/office/drawing/2014/main" id="{99EE8620-A0C4-2E0D-EF6E-E5FE44F384BB}"/>
              </a:ext>
            </a:extLst>
          </p:cNvPr>
          <p:cNvCxnSpPr>
            <a:cxnSpLocks/>
          </p:cNvCxnSpPr>
          <p:nvPr/>
        </p:nvCxnSpPr>
        <p:spPr>
          <a:xfrm flipV="1">
            <a:off x="7868669" y="1666402"/>
            <a:ext cx="254075" cy="31654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2" name="Conector recto de flecha 131">
            <a:extLst>
              <a:ext uri="{FF2B5EF4-FFF2-40B4-BE49-F238E27FC236}">
                <a16:creationId xmlns:a16="http://schemas.microsoft.com/office/drawing/2014/main" id="{ADA19FD5-54F2-06C0-663E-4CB2C32B22DF}"/>
              </a:ext>
            </a:extLst>
          </p:cNvPr>
          <p:cNvCxnSpPr>
            <a:cxnSpLocks/>
          </p:cNvCxnSpPr>
          <p:nvPr/>
        </p:nvCxnSpPr>
        <p:spPr>
          <a:xfrm>
            <a:off x="7862339" y="1978579"/>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3" name="CuadroTexto 132">
            <a:extLst>
              <a:ext uri="{FF2B5EF4-FFF2-40B4-BE49-F238E27FC236}">
                <a16:creationId xmlns:a16="http://schemas.microsoft.com/office/drawing/2014/main" id="{769DC5E6-FF74-0360-1432-5A6AE82A4217}"/>
              </a:ext>
            </a:extLst>
          </p:cNvPr>
          <p:cNvSpPr txBox="1"/>
          <p:nvPr/>
        </p:nvSpPr>
        <p:spPr>
          <a:xfrm>
            <a:off x="7676570" y="2413461"/>
            <a:ext cx="371537" cy="307777"/>
          </a:xfrm>
          <a:prstGeom prst="rect">
            <a:avLst/>
          </a:prstGeom>
          <a:noFill/>
        </p:spPr>
        <p:txBody>
          <a:bodyPr wrap="square" rtlCol="0">
            <a:spAutoFit/>
          </a:bodyPr>
          <a:lstStyle/>
          <a:p>
            <a:r>
              <a:rPr lang="es-ES" dirty="0">
                <a:highlight>
                  <a:srgbClr val="00FF00"/>
                </a:highlight>
              </a:rPr>
              <a:t>x4</a:t>
            </a:r>
            <a:endParaRPr lang="es-MX" dirty="0">
              <a:highlight>
                <a:srgbClr val="00FF00"/>
              </a:highlight>
            </a:endParaRPr>
          </a:p>
        </p:txBody>
      </p:sp>
      <p:sp>
        <p:nvSpPr>
          <p:cNvPr id="134" name="CuadroTexto 133">
            <a:extLst>
              <a:ext uri="{FF2B5EF4-FFF2-40B4-BE49-F238E27FC236}">
                <a16:creationId xmlns:a16="http://schemas.microsoft.com/office/drawing/2014/main" id="{F0B7D6A0-E3FF-5172-C506-F70BBE3E3A27}"/>
              </a:ext>
            </a:extLst>
          </p:cNvPr>
          <p:cNvSpPr txBox="1"/>
          <p:nvPr/>
        </p:nvSpPr>
        <p:spPr>
          <a:xfrm>
            <a:off x="7684020" y="1513500"/>
            <a:ext cx="371536" cy="307777"/>
          </a:xfrm>
          <a:prstGeom prst="rect">
            <a:avLst/>
          </a:prstGeom>
          <a:noFill/>
        </p:spPr>
        <p:txBody>
          <a:bodyPr wrap="square" rtlCol="0">
            <a:spAutoFit/>
          </a:bodyPr>
          <a:lstStyle/>
          <a:p>
            <a:r>
              <a:rPr lang="es-ES" dirty="0">
                <a:highlight>
                  <a:srgbClr val="FFFF00"/>
                </a:highlight>
              </a:rPr>
              <a:t>y4</a:t>
            </a:r>
            <a:endParaRPr lang="es-MX" dirty="0">
              <a:highlight>
                <a:srgbClr val="FFFF00"/>
              </a:highlight>
            </a:endParaRPr>
          </a:p>
        </p:txBody>
      </p:sp>
      <p:sp>
        <p:nvSpPr>
          <p:cNvPr id="135" name="CuadroTexto 134">
            <a:extLst>
              <a:ext uri="{FF2B5EF4-FFF2-40B4-BE49-F238E27FC236}">
                <a16:creationId xmlns:a16="http://schemas.microsoft.com/office/drawing/2014/main" id="{517598AE-27AC-96FE-CD8F-26AA45F1C713}"/>
              </a:ext>
            </a:extLst>
          </p:cNvPr>
          <p:cNvSpPr txBox="1"/>
          <p:nvPr/>
        </p:nvSpPr>
        <p:spPr>
          <a:xfrm>
            <a:off x="7849749" y="1951808"/>
            <a:ext cx="371537" cy="307777"/>
          </a:xfrm>
          <a:prstGeom prst="rect">
            <a:avLst/>
          </a:prstGeom>
          <a:noFill/>
        </p:spPr>
        <p:txBody>
          <a:bodyPr wrap="square" rtlCol="0">
            <a:spAutoFit/>
          </a:bodyPr>
          <a:lstStyle/>
          <a:p>
            <a:r>
              <a:rPr lang="es-ES" dirty="0">
                <a:highlight>
                  <a:srgbClr val="00FFFF"/>
                </a:highlight>
              </a:rPr>
              <a:t>z4</a:t>
            </a:r>
            <a:endParaRPr lang="es-MX" dirty="0">
              <a:highlight>
                <a:srgbClr val="00FFFF"/>
              </a:highlight>
            </a:endParaRPr>
          </a:p>
        </p:txBody>
      </p:sp>
      <p:cxnSp>
        <p:nvCxnSpPr>
          <p:cNvPr id="136" name="Conector recto de flecha 135">
            <a:extLst>
              <a:ext uri="{FF2B5EF4-FFF2-40B4-BE49-F238E27FC236}">
                <a16:creationId xmlns:a16="http://schemas.microsoft.com/office/drawing/2014/main" id="{1EAF68BB-F3A0-FB7C-6D9C-49B17F328D4B}"/>
              </a:ext>
            </a:extLst>
          </p:cNvPr>
          <p:cNvCxnSpPr>
            <a:cxnSpLocks/>
          </p:cNvCxnSpPr>
          <p:nvPr/>
        </p:nvCxnSpPr>
        <p:spPr>
          <a:xfrm>
            <a:off x="8531526" y="2022533"/>
            <a:ext cx="417809" cy="6406"/>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7" name="Conector recto de flecha 136">
            <a:extLst>
              <a:ext uri="{FF2B5EF4-FFF2-40B4-BE49-F238E27FC236}">
                <a16:creationId xmlns:a16="http://schemas.microsoft.com/office/drawing/2014/main" id="{B2D25A26-2BA0-D28A-FB40-26F4949D200A}"/>
              </a:ext>
            </a:extLst>
          </p:cNvPr>
          <p:cNvCxnSpPr>
            <a:cxnSpLocks/>
          </p:cNvCxnSpPr>
          <p:nvPr/>
        </p:nvCxnSpPr>
        <p:spPr>
          <a:xfrm flipH="1">
            <a:off x="8233784" y="2026899"/>
            <a:ext cx="299337" cy="228155"/>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38" name="Conector recto de flecha 137">
            <a:extLst>
              <a:ext uri="{FF2B5EF4-FFF2-40B4-BE49-F238E27FC236}">
                <a16:creationId xmlns:a16="http://schemas.microsoft.com/office/drawing/2014/main" id="{D8E58F38-9D56-11FC-4D62-3C2FE6C403EE}"/>
              </a:ext>
            </a:extLst>
          </p:cNvPr>
          <p:cNvCxnSpPr>
            <a:cxnSpLocks/>
          </p:cNvCxnSpPr>
          <p:nvPr/>
        </p:nvCxnSpPr>
        <p:spPr>
          <a:xfrm>
            <a:off x="8537182" y="2022533"/>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39" name="CuadroTexto 138">
            <a:extLst>
              <a:ext uri="{FF2B5EF4-FFF2-40B4-BE49-F238E27FC236}">
                <a16:creationId xmlns:a16="http://schemas.microsoft.com/office/drawing/2014/main" id="{8D511E58-1393-FA01-AC03-B73D883101FB}"/>
              </a:ext>
            </a:extLst>
          </p:cNvPr>
          <p:cNvSpPr txBox="1"/>
          <p:nvPr/>
        </p:nvSpPr>
        <p:spPr>
          <a:xfrm>
            <a:off x="8497499" y="2115842"/>
            <a:ext cx="371537" cy="307777"/>
          </a:xfrm>
          <a:prstGeom prst="rect">
            <a:avLst/>
          </a:prstGeom>
          <a:noFill/>
        </p:spPr>
        <p:txBody>
          <a:bodyPr wrap="square" rtlCol="0">
            <a:spAutoFit/>
          </a:bodyPr>
          <a:lstStyle/>
          <a:p>
            <a:r>
              <a:rPr lang="es-ES" dirty="0">
                <a:highlight>
                  <a:srgbClr val="00FF00"/>
                </a:highlight>
              </a:rPr>
              <a:t>x5</a:t>
            </a:r>
            <a:endParaRPr lang="es-MX" dirty="0">
              <a:highlight>
                <a:srgbClr val="00FF00"/>
              </a:highlight>
            </a:endParaRPr>
          </a:p>
        </p:txBody>
      </p:sp>
      <p:sp>
        <p:nvSpPr>
          <p:cNvPr id="140" name="CuadroTexto 139">
            <a:extLst>
              <a:ext uri="{FF2B5EF4-FFF2-40B4-BE49-F238E27FC236}">
                <a16:creationId xmlns:a16="http://schemas.microsoft.com/office/drawing/2014/main" id="{271CEC8B-E2D8-B179-DB9E-7C74BF0BEFA0}"/>
              </a:ext>
            </a:extLst>
          </p:cNvPr>
          <p:cNvSpPr txBox="1"/>
          <p:nvPr/>
        </p:nvSpPr>
        <p:spPr>
          <a:xfrm>
            <a:off x="8723185" y="1663212"/>
            <a:ext cx="371536" cy="307777"/>
          </a:xfrm>
          <a:prstGeom prst="rect">
            <a:avLst/>
          </a:prstGeom>
          <a:noFill/>
        </p:spPr>
        <p:txBody>
          <a:bodyPr wrap="square" rtlCol="0">
            <a:spAutoFit/>
          </a:bodyPr>
          <a:lstStyle/>
          <a:p>
            <a:r>
              <a:rPr lang="es-ES" dirty="0">
                <a:highlight>
                  <a:srgbClr val="FFFF00"/>
                </a:highlight>
              </a:rPr>
              <a:t>y5</a:t>
            </a:r>
            <a:endParaRPr lang="es-MX" dirty="0">
              <a:highlight>
                <a:srgbClr val="FFFF00"/>
              </a:highlight>
            </a:endParaRPr>
          </a:p>
        </p:txBody>
      </p:sp>
      <p:sp>
        <p:nvSpPr>
          <p:cNvPr id="141" name="CuadroTexto 140">
            <a:extLst>
              <a:ext uri="{FF2B5EF4-FFF2-40B4-BE49-F238E27FC236}">
                <a16:creationId xmlns:a16="http://schemas.microsoft.com/office/drawing/2014/main" id="{E587B243-5FAD-CD7D-2241-16DEBACCC959}"/>
              </a:ext>
            </a:extLst>
          </p:cNvPr>
          <p:cNvSpPr txBox="1"/>
          <p:nvPr/>
        </p:nvSpPr>
        <p:spPr>
          <a:xfrm>
            <a:off x="8037624" y="2255054"/>
            <a:ext cx="371537" cy="307777"/>
          </a:xfrm>
          <a:prstGeom prst="rect">
            <a:avLst/>
          </a:prstGeom>
          <a:noFill/>
        </p:spPr>
        <p:txBody>
          <a:bodyPr wrap="square" rtlCol="0">
            <a:spAutoFit/>
          </a:bodyPr>
          <a:lstStyle/>
          <a:p>
            <a:r>
              <a:rPr lang="es-ES" dirty="0">
                <a:highlight>
                  <a:srgbClr val="00FFFF"/>
                </a:highlight>
              </a:rPr>
              <a:t>z5</a:t>
            </a:r>
            <a:endParaRPr lang="es-MX" dirty="0">
              <a:highlight>
                <a:srgbClr val="00FFFF"/>
              </a:highlight>
            </a:endParaRPr>
          </a:p>
        </p:txBody>
      </p:sp>
      <mc:AlternateContent xmlns:mc="http://schemas.openxmlformats.org/markup-compatibility/2006">
        <mc:Choice xmlns:a14="http://schemas.microsoft.com/office/drawing/2010/main" Requires="a14">
          <p:sp>
            <p:nvSpPr>
              <p:cNvPr id="145" name="CuadroTexto 144">
                <a:extLst>
                  <a:ext uri="{FF2B5EF4-FFF2-40B4-BE49-F238E27FC236}">
                    <a16:creationId xmlns:a16="http://schemas.microsoft.com/office/drawing/2014/main" id="{BE25328A-CFA1-A14C-984F-CBFA14D2879E}"/>
                  </a:ext>
                </a:extLst>
              </p:cNvPr>
              <p:cNvSpPr txBox="1"/>
              <p:nvPr/>
            </p:nvSpPr>
            <p:spPr>
              <a:xfrm>
                <a:off x="371580" y="3428704"/>
                <a:ext cx="2387247" cy="695896"/>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s-MX" sz="1600" i="1" smtClean="0">
                              <a:solidFill>
                                <a:schemeClr val="tx2"/>
                              </a:solidFill>
                              <a:latin typeface="Cambria Math" panose="02040503050406030204" pitchFamily="18" charset="0"/>
                            </a:rPr>
                          </m:ctrlPr>
                        </m:dPr>
                        <m:e>
                          <m:m>
                            <m:mPr>
                              <m:mcs>
                                <m:mc>
                                  <m:mcPr>
                                    <m:count m:val="3"/>
                                    <m:mcJc m:val="center"/>
                                  </m:mcPr>
                                </m:mc>
                              </m:mcs>
                              <m:ctrlPr>
                                <a:rPr lang="es-MX" sz="1600" i="1">
                                  <a:solidFill>
                                    <a:schemeClr val="tx2"/>
                                  </a:solidFill>
                                  <a:latin typeface="Cambria Math" panose="02040503050406030204" pitchFamily="18" charset="0"/>
                                </a:rPr>
                              </m:ctrlPr>
                            </m:mPr>
                            <m:mr>
                              <m:e>
                                <m:r>
                                  <m:rPr>
                                    <m:sty m:val="p"/>
                                    <m:brk m:alnAt="7"/>
                                  </m:rPr>
                                  <a:rPr lang="es-MX" sz="1600" b="0" i="0" smtClean="0">
                                    <a:solidFill>
                                      <a:schemeClr val="tx2"/>
                                    </a:solidFill>
                                    <a:latin typeface="Cambria Math" panose="02040503050406030204" pitchFamily="18" charset="0"/>
                                  </a:rPr>
                                  <m:t>c</m:t>
                                </m:r>
                                <m:r>
                                  <m:rPr>
                                    <m:sty m:val="p"/>
                                  </m:rPr>
                                  <a:rPr lang="es-MX" sz="1600" b="0" i="0" smtClean="0">
                                    <a:solidFill>
                                      <a:schemeClr val="tx2"/>
                                    </a:solidFill>
                                    <a:latin typeface="Cambria Math" panose="02040503050406030204" pitchFamily="18" charset="0"/>
                                  </a:rPr>
                                  <m:t>os</m:t>
                                </m:r>
                                <m:r>
                                  <m:rPr>
                                    <m:brk m:alnAt="7"/>
                                  </m:rP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6</m:t>
                                    </m:r>
                                  </m:sub>
                                </m:sSub>
                                <m:r>
                                  <m:rPr>
                                    <m:brk m:alnAt="7"/>
                                  </m:rP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m:t>
                                </m:r>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6</m:t>
                                    </m:r>
                                  </m:sub>
                                </m:sSub>
                                <m:r>
                                  <a:rPr lang="es-MX" sz="1600" b="0" i="1"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𝑠𝑒𝑛</m:t>
                                </m:r>
                                <m:r>
                                  <a:rPr lang="es-MX" sz="1600" b="0" i="1"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6</m:t>
                                    </m:r>
                                  </m:sub>
                                </m:sSub>
                                <m:r>
                                  <a:rPr lang="es-MX" sz="1600" b="0" i="1" smtClean="0">
                                    <a:solidFill>
                                      <a:schemeClr val="tx2"/>
                                    </a:solidFill>
                                    <a:latin typeface="Cambria Math" panose="02040503050406030204" pitchFamily="18" charset="0"/>
                                  </a:rPr>
                                  <m:t>)</m:t>
                                </m:r>
                              </m:e>
                              <m:e>
                                <m:r>
                                  <m:rPr>
                                    <m:sty m:val="p"/>
                                  </m:rPr>
                                  <a:rPr lang="es-MX" sz="1600" b="0" i="0" smtClean="0">
                                    <a:solidFill>
                                      <a:schemeClr val="tx2"/>
                                    </a:solidFill>
                                    <a:latin typeface="Cambria Math" panose="02040503050406030204" pitchFamily="18" charset="0"/>
                                  </a:rPr>
                                  <m:t>cos</m:t>
                                </m:r>
                                <m:r>
                                  <a:rPr lang="es-MX" sz="1600" b="0" i="0" smtClean="0">
                                    <a:solidFill>
                                      <a:schemeClr val="tx2"/>
                                    </a:solidFill>
                                    <a:latin typeface="Cambria Math" panose="02040503050406030204" pitchFamily="18" charset="0"/>
                                  </a:rPr>
                                  <m:t>(</m:t>
                                </m:r>
                                <m:sSub>
                                  <m:sSubPr>
                                    <m:ctrlPr>
                                      <a:rPr lang="es-MX" sz="1600" i="1" smtClean="0">
                                        <a:solidFill>
                                          <a:schemeClr val="tx2"/>
                                        </a:solidFill>
                                        <a:latin typeface="Cambria Math" panose="02040503050406030204" pitchFamily="18" charset="0"/>
                                      </a:rPr>
                                    </m:ctrlPr>
                                  </m:sSubPr>
                                  <m:e>
                                    <m:r>
                                      <a:rPr lang="es-MX" sz="1600" i="1">
                                        <a:solidFill>
                                          <a:schemeClr val="tx2"/>
                                        </a:solidFill>
                                        <a:latin typeface="Cambria Math" panose="02040503050406030204" pitchFamily="18" charset="0"/>
                                      </a:rPr>
                                      <m:t>Ɵ</m:t>
                                    </m:r>
                                  </m:e>
                                  <m:sub>
                                    <m:r>
                                      <a:rPr lang="es-MX" sz="1600" b="0" i="1" smtClean="0">
                                        <a:solidFill>
                                          <a:schemeClr val="tx2"/>
                                        </a:solidFill>
                                        <a:latin typeface="Cambria Math" panose="02040503050406030204" pitchFamily="18" charset="0"/>
                                      </a:rPr>
                                      <m:t>6</m:t>
                                    </m:r>
                                  </m:sub>
                                </m:sSub>
                                <m:r>
                                  <a:rPr lang="es-MX" sz="1600" b="0" i="0" smtClean="0">
                                    <a:solidFill>
                                      <a:schemeClr val="tx2"/>
                                    </a:solidFill>
                                    <a:latin typeface="Cambria Math" panose="02040503050406030204" pitchFamily="18" charset="0"/>
                                  </a:rPr>
                                  <m:t>)</m:t>
                                </m:r>
                              </m:e>
                              <m:e>
                                <m:r>
                                  <a:rPr lang="es-MX" sz="1600" b="0" i="1" smtClean="0">
                                    <a:solidFill>
                                      <a:schemeClr val="tx2"/>
                                    </a:solidFill>
                                    <a:latin typeface="Cambria Math" panose="02040503050406030204" pitchFamily="18" charset="0"/>
                                  </a:rPr>
                                  <m:t>0</m:t>
                                </m:r>
                              </m:e>
                            </m:mr>
                            <m:mr>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0</m:t>
                                </m:r>
                              </m:e>
                              <m:e>
                                <m:r>
                                  <a:rPr lang="es-MX" sz="1600" b="0" i="1" smtClean="0">
                                    <a:solidFill>
                                      <a:schemeClr val="tx2"/>
                                    </a:solidFill>
                                    <a:latin typeface="Cambria Math" panose="02040503050406030204" pitchFamily="18" charset="0"/>
                                  </a:rPr>
                                  <m:t>1</m:t>
                                </m:r>
                              </m:e>
                            </m:mr>
                          </m:m>
                        </m:e>
                      </m:d>
                    </m:oMath>
                  </m:oMathPara>
                </a14:m>
                <a:endParaRPr lang="es-MX" sz="1600" dirty="0">
                  <a:solidFill>
                    <a:schemeClr val="tx2"/>
                  </a:solidFill>
                </a:endParaRPr>
              </a:p>
            </p:txBody>
          </p:sp>
        </mc:Choice>
        <mc:Fallback>
          <p:sp>
            <p:nvSpPr>
              <p:cNvPr id="145" name="CuadroTexto 144">
                <a:extLst>
                  <a:ext uri="{FF2B5EF4-FFF2-40B4-BE49-F238E27FC236}">
                    <a16:creationId xmlns:a16="http://schemas.microsoft.com/office/drawing/2014/main" id="{BE25328A-CFA1-A14C-984F-CBFA14D2879E}"/>
                  </a:ext>
                </a:extLst>
              </p:cNvPr>
              <p:cNvSpPr txBox="1">
                <a:spLocks noRot="1" noChangeAspect="1" noMove="1" noResize="1" noEditPoints="1" noAdjustHandles="1" noChangeArrowheads="1" noChangeShapeType="1" noTextEdit="1"/>
              </p:cNvSpPr>
              <p:nvPr/>
            </p:nvSpPr>
            <p:spPr>
              <a:xfrm>
                <a:off x="371580" y="3428704"/>
                <a:ext cx="2387247" cy="695896"/>
              </a:xfrm>
              <a:prstGeom prst="rect">
                <a:avLst/>
              </a:prstGeom>
              <a:blipFill>
                <a:blip r:embed="rId6"/>
                <a:stretch>
                  <a:fillRect/>
                </a:stretch>
              </a:blipFill>
            </p:spPr>
            <p:txBody>
              <a:bodyPr/>
              <a:lstStyle/>
              <a:p>
                <a:r>
                  <a:rPr lang="es-MX">
                    <a:noFill/>
                  </a:rPr>
                  <a:t> </a:t>
                </a:r>
              </a:p>
            </p:txBody>
          </p:sp>
        </mc:Fallback>
      </mc:AlternateContent>
      <p:sp>
        <p:nvSpPr>
          <p:cNvPr id="147" name="Google Shape;1603;p42">
            <a:extLst>
              <a:ext uri="{FF2B5EF4-FFF2-40B4-BE49-F238E27FC236}">
                <a16:creationId xmlns:a16="http://schemas.microsoft.com/office/drawing/2014/main" id="{A99DE4A5-A0D9-BFEE-9B3C-45839E7C99CF}"/>
              </a:ext>
            </a:extLst>
          </p:cNvPr>
          <p:cNvSpPr txBox="1"/>
          <p:nvPr/>
        </p:nvSpPr>
        <p:spPr>
          <a:xfrm>
            <a:off x="696128" y="4004867"/>
            <a:ext cx="1929248" cy="695896"/>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Matriz de rotación alrededor del eje Z6</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cxnSp>
        <p:nvCxnSpPr>
          <p:cNvPr id="2" name="Conector recto de flecha 1">
            <a:extLst>
              <a:ext uri="{FF2B5EF4-FFF2-40B4-BE49-F238E27FC236}">
                <a16:creationId xmlns:a16="http://schemas.microsoft.com/office/drawing/2014/main" id="{E928FC31-EE5A-AEE1-14D6-F46A9B1019AB}"/>
              </a:ext>
            </a:extLst>
          </p:cNvPr>
          <p:cNvCxnSpPr>
            <a:cxnSpLocks/>
          </p:cNvCxnSpPr>
          <p:nvPr/>
        </p:nvCxnSpPr>
        <p:spPr>
          <a:xfrm>
            <a:off x="8548056" y="2704133"/>
            <a:ext cx="386410" cy="7677"/>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3" name="Conector recto de flecha 2">
            <a:extLst>
              <a:ext uri="{FF2B5EF4-FFF2-40B4-BE49-F238E27FC236}">
                <a16:creationId xmlns:a16="http://schemas.microsoft.com/office/drawing/2014/main" id="{7965F4AE-3552-B206-55C8-2BB4A97D70B6}"/>
              </a:ext>
            </a:extLst>
          </p:cNvPr>
          <p:cNvCxnSpPr>
            <a:cxnSpLocks/>
          </p:cNvCxnSpPr>
          <p:nvPr/>
        </p:nvCxnSpPr>
        <p:spPr>
          <a:xfrm flipV="1">
            <a:off x="8537343" y="2420258"/>
            <a:ext cx="296972" cy="283303"/>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4" name="Conector recto de flecha 3">
            <a:extLst>
              <a:ext uri="{FF2B5EF4-FFF2-40B4-BE49-F238E27FC236}">
                <a16:creationId xmlns:a16="http://schemas.microsoft.com/office/drawing/2014/main" id="{26A0D6B2-D8ED-3002-7820-32232909F864}"/>
              </a:ext>
            </a:extLst>
          </p:cNvPr>
          <p:cNvCxnSpPr>
            <a:cxnSpLocks/>
          </p:cNvCxnSpPr>
          <p:nvPr/>
        </p:nvCxnSpPr>
        <p:spPr>
          <a:xfrm>
            <a:off x="8551795" y="2699195"/>
            <a:ext cx="1434" cy="44588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5" name="CuadroTexto 4">
            <a:extLst>
              <a:ext uri="{FF2B5EF4-FFF2-40B4-BE49-F238E27FC236}">
                <a16:creationId xmlns:a16="http://schemas.microsoft.com/office/drawing/2014/main" id="{B2369D74-7919-48DE-EB29-68BAAC9CA5D6}"/>
              </a:ext>
            </a:extLst>
          </p:cNvPr>
          <p:cNvSpPr txBox="1"/>
          <p:nvPr/>
        </p:nvSpPr>
        <p:spPr>
          <a:xfrm>
            <a:off x="8791698" y="2365401"/>
            <a:ext cx="371537" cy="307777"/>
          </a:xfrm>
          <a:prstGeom prst="rect">
            <a:avLst/>
          </a:prstGeom>
          <a:noFill/>
        </p:spPr>
        <p:txBody>
          <a:bodyPr wrap="square" rtlCol="0">
            <a:spAutoFit/>
          </a:bodyPr>
          <a:lstStyle/>
          <a:p>
            <a:r>
              <a:rPr lang="es-ES" dirty="0">
                <a:highlight>
                  <a:srgbClr val="00FF00"/>
                </a:highlight>
              </a:rPr>
              <a:t>x6</a:t>
            </a:r>
            <a:endParaRPr lang="es-MX" dirty="0">
              <a:highlight>
                <a:srgbClr val="00FF00"/>
              </a:highlight>
            </a:endParaRPr>
          </a:p>
        </p:txBody>
      </p:sp>
      <p:sp>
        <p:nvSpPr>
          <p:cNvPr id="6" name="CuadroTexto 5">
            <a:extLst>
              <a:ext uri="{FF2B5EF4-FFF2-40B4-BE49-F238E27FC236}">
                <a16:creationId xmlns:a16="http://schemas.microsoft.com/office/drawing/2014/main" id="{468009CB-094C-910D-AD2E-90D4E18FFDD9}"/>
              </a:ext>
            </a:extLst>
          </p:cNvPr>
          <p:cNvSpPr txBox="1"/>
          <p:nvPr/>
        </p:nvSpPr>
        <p:spPr>
          <a:xfrm>
            <a:off x="8707348" y="2678335"/>
            <a:ext cx="371536" cy="307777"/>
          </a:xfrm>
          <a:prstGeom prst="rect">
            <a:avLst/>
          </a:prstGeom>
          <a:noFill/>
        </p:spPr>
        <p:txBody>
          <a:bodyPr wrap="square" rtlCol="0">
            <a:spAutoFit/>
          </a:bodyPr>
          <a:lstStyle/>
          <a:p>
            <a:r>
              <a:rPr lang="es-ES" dirty="0">
                <a:highlight>
                  <a:srgbClr val="FFFF00"/>
                </a:highlight>
              </a:rPr>
              <a:t>y6</a:t>
            </a:r>
            <a:endParaRPr lang="es-MX" dirty="0">
              <a:highlight>
                <a:srgbClr val="FFFF00"/>
              </a:highlight>
            </a:endParaRPr>
          </a:p>
        </p:txBody>
      </p:sp>
      <p:sp>
        <p:nvSpPr>
          <p:cNvPr id="7" name="CuadroTexto 6">
            <a:extLst>
              <a:ext uri="{FF2B5EF4-FFF2-40B4-BE49-F238E27FC236}">
                <a16:creationId xmlns:a16="http://schemas.microsoft.com/office/drawing/2014/main" id="{53E65372-2152-94F8-849D-6F4A9FE579AC}"/>
              </a:ext>
            </a:extLst>
          </p:cNvPr>
          <p:cNvSpPr txBox="1"/>
          <p:nvPr/>
        </p:nvSpPr>
        <p:spPr>
          <a:xfrm>
            <a:off x="8366743" y="3111920"/>
            <a:ext cx="371537" cy="307777"/>
          </a:xfrm>
          <a:prstGeom prst="rect">
            <a:avLst/>
          </a:prstGeom>
          <a:noFill/>
        </p:spPr>
        <p:txBody>
          <a:bodyPr wrap="square" rtlCol="0">
            <a:spAutoFit/>
          </a:bodyPr>
          <a:lstStyle/>
          <a:p>
            <a:r>
              <a:rPr lang="es-ES" dirty="0">
                <a:highlight>
                  <a:srgbClr val="00FFFF"/>
                </a:highlight>
              </a:rPr>
              <a:t>z6</a:t>
            </a:r>
            <a:endParaRPr lang="es-MX" dirty="0">
              <a:highlight>
                <a:srgbClr val="00FFFF"/>
              </a:highlight>
            </a:endParaRPr>
          </a:p>
        </p:txBody>
      </p:sp>
    </p:spTree>
    <p:extLst>
      <p:ext uri="{BB962C8B-B14F-4D97-AF65-F5344CB8AC3E}">
        <p14:creationId xmlns:p14="http://schemas.microsoft.com/office/powerpoint/2010/main" val="222411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
                                        </p:tgtEl>
                                        <p:attrNameLst>
                                          <p:attrName>style.visibility</p:attrName>
                                        </p:attrNameLst>
                                      </p:cBhvr>
                                      <p:to>
                                        <p:strVal val="visible"/>
                                      </p:to>
                                    </p:set>
                                    <p:anim calcmode="lin" valueType="num">
                                      <p:cBhvr additive="base">
                                        <p:cTn id="13" dur="500" fill="hold"/>
                                        <p:tgtEl>
                                          <p:spTgt spid="147"/>
                                        </p:tgtEl>
                                        <p:attrNameLst>
                                          <p:attrName>ppt_x</p:attrName>
                                        </p:attrNameLst>
                                      </p:cBhvr>
                                      <p:tavLst>
                                        <p:tav tm="0">
                                          <p:val>
                                            <p:strVal val="#ppt_x"/>
                                          </p:val>
                                        </p:tav>
                                        <p:tav tm="100000">
                                          <p:val>
                                            <p:strVal val="#ppt_x"/>
                                          </p:val>
                                        </p:tav>
                                      </p:tavLst>
                                    </p:anim>
                                    <p:anim calcmode="lin" valueType="num">
                                      <p:cBhvr additive="base">
                                        <p:cTn id="14" dur="500" fill="hold"/>
                                        <p:tgtEl>
                                          <p:spTgt spid="1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Energía Cinética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435444"/>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la energía cinética?</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1700718"/>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energía cinética de un cuerpo es aquella energía que posee debido a su movimiento relativo. Se define como el trabajo necesario para acelerar un cuerpo de una masa determinada (cualquier objeto) desde el reposo hasta la velocidad indicada. Una vez conseguida esta energía durante la aceleración, el cuerpo mantiene su energía cinética salvo que cambie su velocidad. Para que el cuerpo regrese a su estado de reposo se requiere un trabajo negativo de la misma magnitud que su energía física.</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2050" name="Picture 2" descr="Energía cinética y potencial: características, diferencias e importancia |  Renovables Verdes">
            <a:extLst>
              <a:ext uri="{FF2B5EF4-FFF2-40B4-BE49-F238E27FC236}">
                <a16:creationId xmlns:a16="http://schemas.microsoft.com/office/drawing/2014/main" id="{C2977886-885E-928A-BE0D-E31C7F1029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4943" y="1898936"/>
            <a:ext cx="3823650" cy="2344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37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Energía Cinética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763688"/>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Energía cinética rotacional</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028962"/>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En el campo de la física, la energía cinética de rotación o energía rotacional es la energía cinética de un cuerpo rígido, que gira en torno a un eje fijo. Esta energía depende del momento de inercia y de la velocidad angular del cuerpo.</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1026" name="Picture 2" descr="🥇▷【 Correspondencia entre la energía cinética de traslación y la energía  cinética de rotación - Trabajo y Energía 】">
            <a:extLst>
              <a:ext uri="{FF2B5EF4-FFF2-40B4-BE49-F238E27FC236}">
                <a16:creationId xmlns:a16="http://schemas.microsoft.com/office/drawing/2014/main" id="{9EF1BC04-104A-4475-E022-B47620D3B5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060" y="1659753"/>
            <a:ext cx="3579097" cy="2721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06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Energía Cinética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986425"/>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Energía potencial</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251699"/>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energía potencial es la energía almacenada en un objeto o sistema de objetos. Puede estar relacionada con su posición, los enlaces de su estructura química, su potencial de desintegración radioactiva o incluso su forma, por poner algunos ejemplos.</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3074" name="Picture 2" descr="Hoop and Cylinder Motion">
            <a:extLst>
              <a:ext uri="{FF2B5EF4-FFF2-40B4-BE49-F238E27FC236}">
                <a16:creationId xmlns:a16="http://schemas.microsoft.com/office/drawing/2014/main" id="{24F89FC5-8E9B-21EF-5C43-156685EE4B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7312" y="1116947"/>
            <a:ext cx="3852778" cy="18941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 ¿Qué es la Energía Potencial? Definición, Fórmula, Ejemplos y Más">
            <a:extLst>
              <a:ext uri="{FF2B5EF4-FFF2-40B4-BE49-F238E27FC236}">
                <a16:creationId xmlns:a16="http://schemas.microsoft.com/office/drawing/2014/main" id="{13BF04CF-A557-F35C-E0F1-9588164F1C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8574" y="3138966"/>
            <a:ext cx="2843041" cy="189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57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BD4AD8BC-6140-6193-64A6-E93FCB93F749}"/>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9E6070D6-194A-D15B-F261-D6CF94E68F7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4D189C4C-A563-A616-5884-7860D2B00A8A}"/>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Velocidad Lineal en rotación</a:t>
            </a:r>
          </a:p>
        </p:txBody>
      </p:sp>
      <p:cxnSp>
        <p:nvCxnSpPr>
          <p:cNvPr id="152" name="Google Shape;258;p31">
            <a:extLst>
              <a:ext uri="{FF2B5EF4-FFF2-40B4-BE49-F238E27FC236}">
                <a16:creationId xmlns:a16="http://schemas.microsoft.com/office/drawing/2014/main" id="{FB3B0E01-0DF2-CC7A-B167-E35E4783EC34}"/>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86249754-E76B-52A0-21AB-882371D36194}"/>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827E8B31-FC62-95C8-2527-D098812F667B}"/>
              </a:ext>
            </a:extLst>
          </p:cNvPr>
          <p:cNvSpPr txBox="1"/>
          <p:nvPr/>
        </p:nvSpPr>
        <p:spPr>
          <a:xfrm>
            <a:off x="120714" y="1971000"/>
            <a:ext cx="4346162"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Velocidad lineal en el movimiento circular </a:t>
            </a:r>
          </a:p>
        </p:txBody>
      </p:sp>
      <p:sp>
        <p:nvSpPr>
          <p:cNvPr id="10" name="Google Shape;1603;p42">
            <a:extLst>
              <a:ext uri="{FF2B5EF4-FFF2-40B4-BE49-F238E27FC236}">
                <a16:creationId xmlns:a16="http://schemas.microsoft.com/office/drawing/2014/main" id="{40C75A38-14D7-E0FD-C32F-BC94BA626427}"/>
              </a:ext>
            </a:extLst>
          </p:cNvPr>
          <p:cNvSpPr txBox="1"/>
          <p:nvPr/>
        </p:nvSpPr>
        <p:spPr>
          <a:xfrm>
            <a:off x="120714" y="2276122"/>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velocidad lineal de un objeto en movimiento circular está relacionada con el radio de la trayectoria y la velocidad angular. La velocidad lineal se calcula como el producto cruz del radio y la velocidad angular: v = </a:t>
            </a:r>
            <a:r>
              <a:rPr lang="es-ES" sz="1600" dirty="0" err="1">
                <a:solidFill>
                  <a:schemeClr val="accent4"/>
                </a:solidFill>
                <a:latin typeface="Fira Sans Condensed Light" panose="020B0604020202020204" charset="0"/>
                <a:cs typeface="Times New Roman" panose="02020603050405020304" pitchFamily="18" charset="0"/>
              </a:rPr>
              <a:t>Rω</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1028" name="Picture 4" descr="Movimiento circular — Hive">
            <a:extLst>
              <a:ext uri="{FF2B5EF4-FFF2-40B4-BE49-F238E27FC236}">
                <a16:creationId xmlns:a16="http://schemas.microsoft.com/office/drawing/2014/main" id="{4BC48578-B3CE-4F33-AB55-971E610DE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0547" y="1436136"/>
            <a:ext cx="4544084" cy="3346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13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Centro de masa</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986425"/>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Centro de masa</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251699"/>
            <a:ext cx="4349338"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El centro de masa es una posición definida en relación a un objeto o a un sistema de objetos. Es el promedio de la posición de todas las partes del sistema, ponderadas de acuerdo a sus masas.</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4098" name="Picture 2" descr="What Is a Barycenter? | NASA Space Place – NASA Science for Kids">
            <a:extLst>
              <a:ext uri="{FF2B5EF4-FFF2-40B4-BE49-F238E27FC236}">
                <a16:creationId xmlns:a16="http://schemas.microsoft.com/office/drawing/2014/main" id="{4B2967D1-3A4A-0031-D6A0-974B70FCF2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5414" y="1269451"/>
            <a:ext cx="3122807" cy="108012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Examen Final (Robotica 2016-1)">
            <a:extLst>
              <a:ext uri="{FF2B5EF4-FFF2-40B4-BE49-F238E27FC236}">
                <a16:creationId xmlns:a16="http://schemas.microsoft.com/office/drawing/2014/main" id="{B7AF19EF-B1CB-FD98-B021-2D116B8B2C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9998" y="2571750"/>
            <a:ext cx="3293640" cy="2319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95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Función tic </a:t>
            </a: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toc</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7945" y="1986425"/>
            <a:ext cx="2547383"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Temporizador </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237945" y="2251699"/>
            <a:ext cx="4349338" cy="59125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accent4"/>
                </a:solidFill>
                <a:latin typeface="Fira Sans Condensed Light" panose="020B0604020202020204" charset="0"/>
                <a:cs typeface="Times New Roman" panose="02020603050405020304" pitchFamily="18" charset="0"/>
              </a:rPr>
              <a:t>tic</a:t>
            </a:r>
            <a:r>
              <a:rPr lang="es-ES" sz="1600" dirty="0">
                <a:solidFill>
                  <a:schemeClr val="accent4"/>
                </a:solidFill>
                <a:latin typeface="Fira Sans Condensed Light" panose="020B0604020202020204" charset="0"/>
                <a:cs typeface="Times New Roman" panose="02020603050405020304" pitchFamily="18" charset="0"/>
              </a:rPr>
              <a:t> opera con la función </a:t>
            </a:r>
            <a:r>
              <a:rPr lang="es-ES" sz="1600" b="1" dirty="0" err="1">
                <a:solidFill>
                  <a:schemeClr val="accent4"/>
                </a:solidFill>
                <a:latin typeface="Fira Sans Condensed Light" panose="020B0604020202020204" charset="0"/>
                <a:cs typeface="Times New Roman" panose="02020603050405020304" pitchFamily="18" charset="0"/>
              </a:rPr>
              <a:t>toc</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para medir el tiempo transcurrido. La función tic registra el tiempo actual y la función </a:t>
            </a:r>
            <a:r>
              <a:rPr lang="es-ES" sz="1600" dirty="0" err="1">
                <a:solidFill>
                  <a:schemeClr val="accent4"/>
                </a:solidFill>
                <a:latin typeface="Fira Sans Condensed Light" panose="020B0604020202020204" charset="0"/>
                <a:cs typeface="Times New Roman" panose="02020603050405020304" pitchFamily="18" charset="0"/>
              </a:rPr>
              <a:t>toc</a:t>
            </a:r>
            <a:r>
              <a:rPr lang="es-ES" sz="1600" dirty="0">
                <a:solidFill>
                  <a:schemeClr val="accent4"/>
                </a:solidFill>
                <a:latin typeface="Fira Sans Condensed Light" panose="020B0604020202020204" charset="0"/>
                <a:cs typeface="Times New Roman" panose="02020603050405020304" pitchFamily="18" charset="0"/>
              </a:rPr>
              <a:t> utiliza el valor registrado para calcular el tiempo transcurrido.</a:t>
            </a:r>
            <a:endParaRPr lang="es-ES" sz="1600" b="1" dirty="0">
              <a:solidFill>
                <a:schemeClr val="accent4"/>
              </a:solidFill>
              <a:latin typeface="Fira Sans Condensed Light" panose="020B0604020202020204" charset="0"/>
              <a:cs typeface="Times New Roman" panose="02020603050405020304" pitchFamily="18" charset="0"/>
            </a:endParaRPr>
          </a:p>
        </p:txBody>
      </p:sp>
      <p:pic>
        <p:nvPicPr>
          <p:cNvPr id="1028" name="Picture 4" descr="Icono de reloj de arena. reloj de arena con temporizador de arena como  ilustración de cuenta regresiva | Vector Premium">
            <a:extLst>
              <a:ext uri="{FF2B5EF4-FFF2-40B4-BE49-F238E27FC236}">
                <a16:creationId xmlns:a16="http://schemas.microsoft.com/office/drawing/2014/main" id="{49326F25-4D6E-51DE-8F9D-98FCA78781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8464" y="1558261"/>
            <a:ext cx="2496805" cy="299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063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511109"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5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Modelado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lang="en-US" sz="3000" b="1" dirty="0">
                <a:solidFill>
                  <a:srgbClr val="F3F3F3"/>
                </a:solidFill>
                <a:latin typeface="Rajdhani"/>
                <a:ea typeface="Rajdhani"/>
                <a:cs typeface="Rajdhani"/>
                <a:sym typeface="Rajdhani"/>
              </a:rPr>
              <a:t>Energía </a:t>
            </a:r>
            <a:r>
              <a:rPr lang="en-US" sz="3000" b="1" dirty="0" err="1">
                <a:solidFill>
                  <a:srgbClr val="F3F3F3"/>
                </a:solidFill>
                <a:latin typeface="Rajdhani"/>
                <a:ea typeface="Rajdhani"/>
                <a:cs typeface="Rajdhani"/>
                <a:sym typeface="Rajdhani"/>
              </a:rPr>
              <a:t>Cinética</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7" y="1263592"/>
            <a:ext cx="8763167" cy="3350105"/>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5</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modelo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energía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cinética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total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siguientes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configuraciones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robots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manipuladores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Imagen 1">
            <a:extLst>
              <a:ext uri="{FF2B5EF4-FFF2-40B4-BE49-F238E27FC236}">
                <a16:creationId xmlns:a16="http://schemas.microsoft.com/office/drawing/2014/main" id="{9CE7DD17-4E02-F4E3-F9B6-854D7BDA42C4}"/>
              </a:ext>
            </a:extLst>
          </p:cNvPr>
          <p:cNvPicPr>
            <a:picLocks noChangeAspect="1"/>
          </p:cNvPicPr>
          <p:nvPr/>
        </p:nvPicPr>
        <p:blipFill>
          <a:blip r:embed="rId4"/>
          <a:stretch>
            <a:fillRect/>
          </a:stretch>
        </p:blipFill>
        <p:spPr>
          <a:xfrm>
            <a:off x="3536249" y="2541791"/>
            <a:ext cx="2217293" cy="1911599"/>
          </a:xfrm>
          <a:prstGeom prst="rect">
            <a:avLst/>
          </a:prstGeom>
        </p:spPr>
      </p:pic>
      <p:pic>
        <p:nvPicPr>
          <p:cNvPr id="3" name="Picture 2" descr="1.4.- Grados de Libertad – Inteligencia Artificial">
            <a:extLst>
              <a:ext uri="{FF2B5EF4-FFF2-40B4-BE49-F238E27FC236}">
                <a16:creationId xmlns:a16="http://schemas.microsoft.com/office/drawing/2014/main" id="{FA4DB0A3-F3ED-6A03-11A0-3560A836F9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2461" y="2519941"/>
            <a:ext cx="1764708" cy="195529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48D4EE2D-5001-7550-8C49-20D020BCC938}"/>
              </a:ext>
            </a:extLst>
          </p:cNvPr>
          <p:cNvPicPr>
            <a:picLocks noChangeAspect="1"/>
          </p:cNvPicPr>
          <p:nvPr/>
        </p:nvPicPr>
        <p:blipFill>
          <a:blip r:embed="rId6"/>
          <a:stretch>
            <a:fillRect/>
          </a:stretch>
        </p:blipFill>
        <p:spPr>
          <a:xfrm>
            <a:off x="565826" y="2541791"/>
            <a:ext cx="2071504" cy="1911599"/>
          </a:xfrm>
          <a:prstGeom prst="rect">
            <a:avLst/>
          </a:prstGeom>
        </p:spPr>
      </p:pic>
      <p:sp>
        <p:nvSpPr>
          <p:cNvPr id="6" name="Google Shape;1603;p42">
            <a:extLst>
              <a:ext uri="{FF2B5EF4-FFF2-40B4-BE49-F238E27FC236}">
                <a16:creationId xmlns:a16="http://schemas.microsoft.com/office/drawing/2014/main" id="{858A6F43-65F4-820C-5DB8-6D2858AECF65}"/>
              </a:ext>
            </a:extLst>
          </p:cNvPr>
          <p:cNvSpPr txBox="1"/>
          <p:nvPr/>
        </p:nvSpPr>
        <p:spPr>
          <a:xfrm>
            <a:off x="679880" y="4306842"/>
            <a:ext cx="2217294"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Robot Péndulo (1gdl) </a:t>
            </a:r>
          </a:p>
        </p:txBody>
      </p:sp>
      <p:sp>
        <p:nvSpPr>
          <p:cNvPr id="7" name="Google Shape;1603;p42">
            <a:extLst>
              <a:ext uri="{FF2B5EF4-FFF2-40B4-BE49-F238E27FC236}">
                <a16:creationId xmlns:a16="http://schemas.microsoft.com/office/drawing/2014/main" id="{C5A8DFD0-025C-2B1B-61CE-28FA4F5DD664}"/>
              </a:ext>
            </a:extLst>
          </p:cNvPr>
          <p:cNvSpPr txBox="1"/>
          <p:nvPr/>
        </p:nvSpPr>
        <p:spPr>
          <a:xfrm>
            <a:off x="3625548" y="4330701"/>
            <a:ext cx="2217294"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Robot Rotacional (2gdl) </a:t>
            </a:r>
          </a:p>
        </p:txBody>
      </p:sp>
      <p:sp>
        <p:nvSpPr>
          <p:cNvPr id="8" name="Google Shape;1603;p42">
            <a:extLst>
              <a:ext uri="{FF2B5EF4-FFF2-40B4-BE49-F238E27FC236}">
                <a16:creationId xmlns:a16="http://schemas.microsoft.com/office/drawing/2014/main" id="{038A60BD-C404-0443-1561-B96589DB26F3}"/>
              </a:ext>
            </a:extLst>
          </p:cNvPr>
          <p:cNvSpPr txBox="1"/>
          <p:nvPr/>
        </p:nvSpPr>
        <p:spPr>
          <a:xfrm>
            <a:off x="6481916" y="4368777"/>
            <a:ext cx="2217294"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Robot Cartesiano (3gdl)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511109"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5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Modelado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lang="en-US" sz="3000" b="1" dirty="0">
                <a:solidFill>
                  <a:srgbClr val="F3F3F3"/>
                </a:solidFill>
                <a:latin typeface="Rajdhani"/>
                <a:ea typeface="Rajdhani"/>
                <a:cs typeface="Rajdhani"/>
                <a:sym typeface="Rajdhani"/>
              </a:rPr>
              <a:t>Energía </a:t>
            </a:r>
            <a:r>
              <a:rPr lang="en-US" sz="3000" b="1" dirty="0" err="1">
                <a:solidFill>
                  <a:srgbClr val="F3F3F3"/>
                </a:solidFill>
                <a:latin typeface="Rajdhani"/>
                <a:ea typeface="Rajdhani"/>
                <a:cs typeface="Rajdhani"/>
                <a:sym typeface="Rajdhani"/>
              </a:rPr>
              <a:t>Cinética</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8482" y="1583097"/>
            <a:ext cx="8763167" cy="1784408"/>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3.</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Generar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reporte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pasos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poder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energía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cinética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total.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Código </a:t>
            </a:r>
            <a:r>
              <a:rPr lang="en-US" sz="1600" b="1" dirty="0" err="1">
                <a:solidFill>
                  <a:schemeClr val="tx2"/>
                </a:solidFill>
                <a:latin typeface="Fira Sans Condensed Light" panose="020B0604020202020204" charset="0"/>
                <a:cs typeface="Times New Roman" panose="02020603050405020304" pitchFamily="18" charset="0"/>
              </a:rPr>
              <a:t>en</a:t>
            </a:r>
            <a:r>
              <a:rPr lang="en-US" sz="1600" b="1" dirty="0">
                <a:solidFill>
                  <a:schemeClr val="tx2"/>
                </a:solidFill>
                <a:latin typeface="Fira Sans Condensed Light" panose="020B0604020202020204" charset="0"/>
                <a:cs typeface="Times New Roman" panose="02020603050405020304" pitchFamily="18" charset="0"/>
              </a:rPr>
              <a:t>    MATLAB</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768692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16229</TotalTime>
  <Words>1563</Words>
  <Application>Microsoft Office PowerPoint</Application>
  <PresentationFormat>Presentación en pantalla (16:9)</PresentationFormat>
  <Paragraphs>497</Paragraphs>
  <Slides>25</Slides>
  <Notes>25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Fira Sans Condensed Light</vt:lpstr>
      <vt:lpstr>Rajdhani</vt:lpstr>
      <vt:lpstr>Arial</vt:lpstr>
      <vt:lpstr>Cambria Math</vt:lpstr>
      <vt:lpstr>Advent Pro Light</vt:lpstr>
      <vt:lpstr>Anton</vt:lpstr>
      <vt:lpstr>Ai Tech Agency by Slidesgo</vt:lpstr>
      <vt:lpstr>Presentación de PowerPoint</vt:lpstr>
      <vt:lpstr>Bienvenida</vt:lpstr>
      <vt:lpstr>Presentación de PowerPoint</vt:lpstr>
      <vt:lpstr>Clase Anterior</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García Suárez</cp:lastModifiedBy>
  <cp:revision>336</cp:revision>
  <dcterms:modified xsi:type="dcterms:W3CDTF">2026-03-04T05:47:46Z</dcterms:modified>
</cp:coreProperties>
</file>