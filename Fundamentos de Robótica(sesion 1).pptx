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40"/>
  </p:notesMasterIdLst>
  <p:sldIdLst>
    <p:sldId id="256" r:id="rId2"/>
    <p:sldId id="357" r:id="rId3"/>
    <p:sldId id="358" r:id="rId4"/>
    <p:sldId id="359" r:id="rId5"/>
    <p:sldId id="360" r:id="rId6"/>
    <p:sldId id="379" r:id="rId7"/>
    <p:sldId id="361" r:id="rId8"/>
    <p:sldId id="380" r:id="rId9"/>
    <p:sldId id="443" r:id="rId10"/>
    <p:sldId id="363" r:id="rId11"/>
    <p:sldId id="362" r:id="rId12"/>
    <p:sldId id="364" r:id="rId13"/>
    <p:sldId id="394" r:id="rId14"/>
    <p:sldId id="395" r:id="rId15"/>
    <p:sldId id="396" r:id="rId16"/>
    <p:sldId id="397" r:id="rId17"/>
    <p:sldId id="398" r:id="rId18"/>
    <p:sldId id="399" r:id="rId19"/>
    <p:sldId id="444" r:id="rId20"/>
    <p:sldId id="445" r:id="rId21"/>
    <p:sldId id="370" r:id="rId22"/>
    <p:sldId id="371" r:id="rId23"/>
    <p:sldId id="423" r:id="rId24"/>
    <p:sldId id="401" r:id="rId25"/>
    <p:sldId id="406" r:id="rId26"/>
    <p:sldId id="407" r:id="rId27"/>
    <p:sldId id="402" r:id="rId28"/>
    <p:sldId id="405" r:id="rId29"/>
    <p:sldId id="404" r:id="rId30"/>
    <p:sldId id="408" r:id="rId31"/>
    <p:sldId id="409" r:id="rId32"/>
    <p:sldId id="403" r:id="rId33"/>
    <p:sldId id="411" r:id="rId34"/>
    <p:sldId id="412" r:id="rId35"/>
    <p:sldId id="410" r:id="rId36"/>
    <p:sldId id="413" r:id="rId37"/>
    <p:sldId id="414" r:id="rId38"/>
    <p:sldId id="280" r:id="rId39"/>
  </p:sldIdLst>
  <p:sldSz cx="9144000" cy="5143500" type="screen16x9"/>
  <p:notesSz cx="6858000" cy="9144000"/>
  <p:embeddedFontLst>
    <p:embeddedFont>
      <p:font typeface="Advent Pro Light" panose="020B0604020202020204" charset="0"/>
      <p:regular r:id="rId41"/>
      <p:bold r:id="rId42"/>
    </p:embeddedFont>
    <p:embeddedFont>
      <p:font typeface="Anton" panose="020F0502020204030204" pitchFamily="2" charset="0"/>
      <p:regular r:id="rId43"/>
    </p:embeddedFont>
    <p:embeddedFont>
      <p:font typeface="Fira Sans Condensed Light" panose="020F0502020204030204" pitchFamily="34" charset="0"/>
      <p:regular r:id="rId44"/>
      <p:bold r:id="rId45"/>
      <p:italic r:id="rId46"/>
      <p:boldItalic r:id="rId47"/>
    </p:embeddedFont>
    <p:embeddedFont>
      <p:font typeface="Rajdhani" panose="020B0604020202020204" charset="0"/>
      <p:regular r:id="rId48"/>
      <p:bold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09" autoAdjust="0"/>
  </p:normalViewPr>
  <p:slideViewPr>
    <p:cSldViewPr snapToGrid="0">
      <p:cViewPr varScale="1">
        <p:scale>
          <a:sx n="82" d="100"/>
          <a:sy n="82" d="100"/>
        </p:scale>
        <p:origin x="105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7098bb5640_0_1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7098bb5640_0_1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5907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7098bb5640_0_1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7098bb5640_0_1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5907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7098bb5640_0_1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7098bb5640_0_1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38700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07030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a:extLst>
            <a:ext uri="{FF2B5EF4-FFF2-40B4-BE49-F238E27FC236}">
              <a16:creationId xmlns:a16="http://schemas.microsoft.com/office/drawing/2014/main" id="{1245DA13-4526-EE48-4147-5A6D3F5EC63A}"/>
            </a:ext>
          </a:extLst>
        </p:cNvPr>
        <p:cNvGrpSpPr/>
        <p:nvPr/>
      </p:nvGrpSpPr>
      <p:grpSpPr>
        <a:xfrm>
          <a:off x="0" y="0"/>
          <a:ext cx="0" cy="0"/>
          <a:chOff x="0" y="0"/>
          <a:chExt cx="0" cy="0"/>
        </a:xfrm>
      </p:grpSpPr>
      <p:sp>
        <p:nvSpPr>
          <p:cNvPr id="643" name="Google Shape;643;g65abef0139_0_223:notes">
            <a:extLst>
              <a:ext uri="{FF2B5EF4-FFF2-40B4-BE49-F238E27FC236}">
                <a16:creationId xmlns:a16="http://schemas.microsoft.com/office/drawing/2014/main" id="{8348A8F6-3EE8-48FE-3199-15DA9D53CC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a:extLst>
              <a:ext uri="{FF2B5EF4-FFF2-40B4-BE49-F238E27FC236}">
                <a16:creationId xmlns:a16="http://schemas.microsoft.com/office/drawing/2014/main" id="{0705169E-31FE-58BB-C2E8-34A211D9C1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4499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4449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91582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8156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18826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43235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70099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a:extLst>
            <a:ext uri="{FF2B5EF4-FFF2-40B4-BE49-F238E27FC236}">
              <a16:creationId xmlns:a16="http://schemas.microsoft.com/office/drawing/2014/main" id="{0E5B92F4-5DBA-D221-BCDE-A26CFDA12516}"/>
            </a:ext>
          </a:extLst>
        </p:cNvPr>
        <p:cNvGrpSpPr/>
        <p:nvPr/>
      </p:nvGrpSpPr>
      <p:grpSpPr>
        <a:xfrm>
          <a:off x="0" y="0"/>
          <a:ext cx="0" cy="0"/>
          <a:chOff x="0" y="0"/>
          <a:chExt cx="0" cy="0"/>
        </a:xfrm>
      </p:grpSpPr>
      <p:sp>
        <p:nvSpPr>
          <p:cNvPr id="643" name="Google Shape;643;g65abef0139_0_223:notes">
            <a:extLst>
              <a:ext uri="{FF2B5EF4-FFF2-40B4-BE49-F238E27FC236}">
                <a16:creationId xmlns:a16="http://schemas.microsoft.com/office/drawing/2014/main" id="{9E1564A5-E273-5010-A729-6327F74865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a:extLst>
              <a:ext uri="{FF2B5EF4-FFF2-40B4-BE49-F238E27FC236}">
                <a16:creationId xmlns:a16="http://schemas.microsoft.com/office/drawing/2014/main" id="{C71A3466-B823-0ED7-EEE0-86404C6C55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8506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a:extLst>
            <a:ext uri="{FF2B5EF4-FFF2-40B4-BE49-F238E27FC236}">
              <a16:creationId xmlns:a16="http://schemas.microsoft.com/office/drawing/2014/main" id="{685AE9E9-DAD4-128C-E1FF-73C30B51D243}"/>
            </a:ext>
          </a:extLst>
        </p:cNvPr>
        <p:cNvGrpSpPr/>
        <p:nvPr/>
      </p:nvGrpSpPr>
      <p:grpSpPr>
        <a:xfrm>
          <a:off x="0" y="0"/>
          <a:ext cx="0" cy="0"/>
          <a:chOff x="0" y="0"/>
          <a:chExt cx="0" cy="0"/>
        </a:xfrm>
      </p:grpSpPr>
      <p:sp>
        <p:nvSpPr>
          <p:cNvPr id="643" name="Google Shape;643;g65abef0139_0_223:notes">
            <a:extLst>
              <a:ext uri="{FF2B5EF4-FFF2-40B4-BE49-F238E27FC236}">
                <a16:creationId xmlns:a16="http://schemas.microsoft.com/office/drawing/2014/main" id="{20385DD9-76FB-0E21-9395-12E52659A2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a:extLst>
              <a:ext uri="{FF2B5EF4-FFF2-40B4-BE49-F238E27FC236}">
                <a16:creationId xmlns:a16="http://schemas.microsoft.com/office/drawing/2014/main" id="{A2A0C6E6-0695-ADAF-828C-493A9F38DB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092606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F3C1397C-9B24-F52A-6C6B-FC9B51DF7A22}"/>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A9E7FAA0-205C-22D7-1955-DD7EC95D44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2F602ADC-53BD-6DF7-D919-248A679FD7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33542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933000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32219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83155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61244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00986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86796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70695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2370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887852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609301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041332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957189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46365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72163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27.jpe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28.jpe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31.jpe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9.xml"/><Relationship Id="rId5" Type="http://schemas.openxmlformats.org/officeDocument/2006/relationships/image" Target="../media/image34.jpeg"/><Relationship Id="rId4" Type="http://schemas.openxmlformats.org/officeDocument/2006/relationships/image" Target="../media/image33.jpe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9.xml"/><Relationship Id="rId4" Type="http://schemas.openxmlformats.org/officeDocument/2006/relationships/image" Target="../media/image34.jpe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44182"/>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TE3001B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Fundamentos de Robótica</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11 de Febrero </a:t>
            </a:r>
            <a:r>
              <a:rPr lang="es-ES" sz="1600" b="1">
                <a:solidFill>
                  <a:schemeClr val="tx2"/>
                </a:solidFill>
                <a:latin typeface="Fira Sans Condensed Light" panose="020B0604020202020204" charset="0"/>
                <a:cs typeface="Times New Roman" panose="02020603050405020304" pitchFamily="18" charset="0"/>
              </a:rPr>
              <a:t>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4" descr="Análisis del papel de la automatización de procesos industriales hoy y  mañana">
            <a:extLst>
              <a:ext uri="{FF2B5EF4-FFF2-40B4-BE49-F238E27FC236}">
                <a16:creationId xmlns:a16="http://schemas.microsoft.com/office/drawing/2014/main" id="{AC008B2B-6883-2457-17DE-D01F4ACEF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565" y="1264349"/>
            <a:ext cx="3931839" cy="28152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“Un modelo matemático de un sistema dinámico es un conjunto de ecuaciones que representan la dinámica del sistema con precisión.”   </a:t>
            </a:r>
          </a:p>
          <a:p>
            <a:pPr algn="l"/>
            <a:r>
              <a:rPr lang="es-ES" dirty="0"/>
              <a:t>       </a:t>
            </a:r>
          </a:p>
          <a:p>
            <a:pPr algn="l"/>
            <a:r>
              <a:rPr lang="es-ES" dirty="0"/>
              <a:t>                                               –</a:t>
            </a:r>
            <a:r>
              <a:rPr lang="es-ES" dirty="0" err="1"/>
              <a:t>Katsuhiko</a:t>
            </a:r>
            <a:r>
              <a:rPr lang="es-ES" dirty="0"/>
              <a:t> Ogata</a:t>
            </a:r>
          </a:p>
          <a:p>
            <a:pPr algn="l"/>
            <a:br>
              <a:rPr lang="es-ES" dirty="0"/>
            </a:br>
            <a:endParaRPr dirty="0"/>
          </a:p>
        </p:txBody>
      </p:sp>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descr="Robots industriales en cifras: así ha aumentado su stock mundial y densidad  por región · THE LOGISTICS WORLD | Conéctate e inspírate.">
            <a:extLst>
              <a:ext uri="{FF2B5EF4-FFF2-40B4-BE49-F238E27FC236}">
                <a16:creationId xmlns:a16="http://schemas.microsoft.com/office/drawing/2014/main" id="{2B53735F-DDFD-1DF0-302F-152E3F980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271" y="1468611"/>
            <a:ext cx="3935582" cy="26237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1" name="Google Shape;1603;p42"/>
          <p:cNvSpPr txBox="1"/>
          <p:nvPr/>
        </p:nvSpPr>
        <p:spPr>
          <a:xfrm>
            <a:off x="2005338" y="1970033"/>
            <a:ext cx="5967741" cy="1182341"/>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Podrás diseñar e implementar física o virtualmente una solución a una tarea robotizada en el ámbito de los servicios usando un robot colaborativo del tipo brazo manipulador.  El sistema se implementa a partir de la aplicación de tecnologías robotizadas, electrónicas, software y de control automático.</a:t>
            </a:r>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sp>
        <p:nvSpPr>
          <p:cNvPr id="34" name="Google Shape;1711;p42"/>
          <p:cNvSpPr txBox="1"/>
          <p:nvPr/>
        </p:nvSpPr>
        <p:spPr>
          <a:xfrm>
            <a:off x="2076925" y="1684270"/>
            <a:ext cx="6304946" cy="349200"/>
          </a:xfrm>
          <a:prstGeom prst="rect">
            <a:avLst/>
          </a:prstGeom>
          <a:noFill/>
          <a:ln>
            <a:noFill/>
          </a:ln>
        </p:spPr>
        <p:txBody>
          <a:bodyPr spcFirstLastPara="1" wrap="square" lIns="91425" tIns="54850" rIns="91425" bIns="0" anchor="t" anchorCtr="0">
            <a:noAutofit/>
          </a:bodyPr>
          <a:lstStyle/>
          <a:p>
            <a:pPr lvl="0">
              <a:spcAft>
                <a:spcPts val="1600"/>
              </a:spcAft>
            </a:pPr>
            <a:r>
              <a:rPr lang="es-ES" sz="2200" b="1" dirty="0">
                <a:solidFill>
                  <a:srgbClr val="F3F3F3"/>
                </a:solidFill>
                <a:latin typeface="Rajdhani"/>
                <a:ea typeface="Rajdhani"/>
                <a:cs typeface="Rajdhani"/>
                <a:sym typeface="Rajdhani"/>
              </a:rPr>
              <a:t>Objetivo principal del Curso</a:t>
            </a:r>
            <a:endParaRPr sz="2200" b="1" dirty="0">
              <a:solidFill>
                <a:srgbClr val="F3F3F3"/>
              </a:solidFill>
              <a:latin typeface="Rajdhani"/>
              <a:ea typeface="Rajdhani"/>
              <a:cs typeface="Rajdhani"/>
              <a:sym typeface="Rajdhani"/>
            </a:endParaRPr>
          </a:p>
        </p:txBody>
      </p:sp>
      <p:pic>
        <p:nvPicPr>
          <p:cNvPr id="37"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28674" name="Picture 2" descr="Idea y objetivo concepto | Vector Premium"/>
          <p:cNvPicPr>
            <a:picLocks noChangeAspect="1" noChangeArrowheads="1"/>
          </p:cNvPicPr>
          <p:nvPr/>
        </p:nvPicPr>
        <p:blipFill>
          <a:blip r:embed="rId4"/>
          <a:srcRect b="4570"/>
          <a:stretch>
            <a:fillRect/>
          </a:stretch>
        </p:blipFill>
        <p:spPr bwMode="auto">
          <a:xfrm>
            <a:off x="884583" y="1794008"/>
            <a:ext cx="958465" cy="914664"/>
          </a:xfrm>
          <a:prstGeom prst="rect">
            <a:avLst/>
          </a:prstGeom>
          <a:noFill/>
        </p:spPr>
      </p:pic>
      <p:sp>
        <p:nvSpPr>
          <p:cNvPr id="7"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73512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1" name="Google Shape;1603;p42"/>
          <p:cNvSpPr txBox="1"/>
          <p:nvPr/>
        </p:nvSpPr>
        <p:spPr>
          <a:xfrm>
            <a:off x="2005338" y="1761314"/>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Optimizarás soluciones a las problemáticas de tu ámbito profesional, con la incorporación inteligente y oportuna de </a:t>
            </a:r>
            <a:r>
              <a:rPr lang="es-ES" sz="1600" b="1" dirty="0">
                <a:solidFill>
                  <a:schemeClr val="accent4"/>
                </a:solidFill>
                <a:latin typeface="Fira Sans Condensed Light" panose="020B0604020202020204" charset="0"/>
                <a:cs typeface="Times New Roman" panose="02020603050405020304" pitchFamily="18" charset="0"/>
              </a:rPr>
              <a:t>tecnologías digitales de vanguardia.</a:t>
            </a:r>
            <a:endParaRPr lang="es-ES" b="1" dirty="0">
              <a:solidFill>
                <a:srgbClr val="F3F3F3"/>
              </a:solidFill>
              <a:latin typeface="Fira Sans Condensed Light"/>
              <a:ea typeface="Fira Sans Condensed Light"/>
              <a:cs typeface="Fira Sans Condensed Light"/>
              <a:sym typeface="Fira Sans Condensed Light"/>
            </a:endParaRPr>
          </a:p>
        </p:txBody>
      </p:sp>
      <p:sp>
        <p:nvSpPr>
          <p:cNvPr id="34" name="Google Shape;1711;p42"/>
          <p:cNvSpPr txBox="1"/>
          <p:nvPr/>
        </p:nvSpPr>
        <p:spPr>
          <a:xfrm>
            <a:off x="2076925" y="1415917"/>
            <a:ext cx="6304946" cy="349200"/>
          </a:xfrm>
          <a:prstGeom prst="rect">
            <a:avLst/>
          </a:prstGeom>
          <a:noFill/>
          <a:ln>
            <a:noFill/>
          </a:ln>
        </p:spPr>
        <p:txBody>
          <a:bodyPr spcFirstLastPara="1" wrap="square" lIns="91425" tIns="54850" rIns="91425" bIns="0" anchor="t" anchorCtr="0">
            <a:noAutofit/>
          </a:bodyPr>
          <a:lstStyle/>
          <a:p>
            <a:pPr lvl="0">
              <a:spcAft>
                <a:spcPts val="1600"/>
              </a:spcAft>
            </a:pPr>
            <a:r>
              <a:rPr lang="es-ES" sz="2200" b="1" dirty="0">
                <a:solidFill>
                  <a:srgbClr val="F3F3F3"/>
                </a:solidFill>
                <a:latin typeface="Rajdhani"/>
                <a:ea typeface="Rajdhani"/>
                <a:cs typeface="Rajdhani"/>
                <a:sym typeface="Rajdhani"/>
              </a:rPr>
              <a:t>Objetivos particulares del curso</a:t>
            </a:r>
            <a:endParaRPr sz="2200" b="1" dirty="0">
              <a:solidFill>
                <a:srgbClr val="F3F3F3"/>
              </a:solidFill>
              <a:latin typeface="Rajdhani"/>
              <a:ea typeface="Rajdhani"/>
              <a:cs typeface="Rajdhani"/>
              <a:sym typeface="Rajdhani"/>
            </a:endParaRPr>
          </a:p>
        </p:txBody>
      </p:sp>
      <p:pic>
        <p:nvPicPr>
          <p:cNvPr id="28674" name="Picture 2" descr="Idea y objetivo concepto | Vector Premium"/>
          <p:cNvPicPr>
            <a:picLocks noChangeAspect="1" noChangeArrowheads="1"/>
          </p:cNvPicPr>
          <p:nvPr/>
        </p:nvPicPr>
        <p:blipFill>
          <a:blip r:embed="rId3"/>
          <a:srcRect b="4570"/>
          <a:stretch>
            <a:fillRect/>
          </a:stretch>
        </p:blipFill>
        <p:spPr bwMode="auto">
          <a:xfrm>
            <a:off x="1302027" y="1962976"/>
            <a:ext cx="557213" cy="531749"/>
          </a:xfrm>
          <a:prstGeom prst="rect">
            <a:avLst/>
          </a:prstGeom>
          <a:noFill/>
        </p:spPr>
      </p:pic>
      <p:sp>
        <p:nvSpPr>
          <p:cNvPr id="6" name="Google Shape;1603;p42"/>
          <p:cNvSpPr txBox="1"/>
          <p:nvPr/>
        </p:nvSpPr>
        <p:spPr>
          <a:xfrm>
            <a:off x="2038469" y="2788357"/>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Desarrollarás </a:t>
            </a:r>
            <a:r>
              <a:rPr lang="es-ES" sz="1600" b="1" dirty="0">
                <a:solidFill>
                  <a:schemeClr val="accent4"/>
                </a:solidFill>
                <a:latin typeface="Fira Sans Condensed Light" panose="020B0604020202020204" charset="0"/>
                <a:cs typeface="Times New Roman" panose="02020603050405020304" pitchFamily="18" charset="0"/>
              </a:rPr>
              <a:t>sistemas embebidos </a:t>
            </a:r>
            <a:r>
              <a:rPr lang="es-ES" sz="1600" dirty="0">
                <a:solidFill>
                  <a:schemeClr val="accent4"/>
                </a:solidFill>
                <a:latin typeface="Fira Sans Condensed Light" panose="020B0604020202020204" charset="0"/>
                <a:cs typeface="Times New Roman" panose="02020603050405020304" pitchFamily="18" charset="0"/>
              </a:rPr>
              <a:t>cumpliendo con normas de calidad, seguridad y desempeño.</a:t>
            </a: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pic>
        <p:nvPicPr>
          <p:cNvPr id="7" name="Picture 2" descr="Idea y objetivo concepto | Vector Premium"/>
          <p:cNvPicPr>
            <a:picLocks noChangeAspect="1" noChangeArrowheads="1"/>
          </p:cNvPicPr>
          <p:nvPr/>
        </p:nvPicPr>
        <p:blipFill>
          <a:blip r:embed="rId3"/>
          <a:srcRect b="4570"/>
          <a:stretch>
            <a:fillRect/>
          </a:stretch>
        </p:blipFill>
        <p:spPr bwMode="auto">
          <a:xfrm>
            <a:off x="1325218" y="2940323"/>
            <a:ext cx="557213" cy="531749"/>
          </a:xfrm>
          <a:prstGeom prst="rect">
            <a:avLst/>
          </a:prstGeom>
          <a:noFill/>
        </p:spPr>
      </p:pic>
      <p:sp>
        <p:nvSpPr>
          <p:cNvPr id="8" name="Google Shape;1603;p42"/>
          <p:cNvSpPr txBox="1"/>
          <p:nvPr/>
        </p:nvSpPr>
        <p:spPr>
          <a:xfrm>
            <a:off x="2021904" y="3765704"/>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Desarrollarás los </a:t>
            </a:r>
            <a:r>
              <a:rPr lang="es-ES" sz="1600" b="1" dirty="0">
                <a:solidFill>
                  <a:schemeClr val="accent4"/>
                </a:solidFill>
                <a:latin typeface="Fira Sans Condensed Light" panose="020B0604020202020204" charset="0"/>
                <a:cs typeface="Times New Roman" panose="02020603050405020304" pitchFamily="18" charset="0"/>
              </a:rPr>
              <a:t>componentes de inteligencia </a:t>
            </a:r>
            <a:r>
              <a:rPr lang="es-ES" sz="1600" dirty="0">
                <a:solidFill>
                  <a:schemeClr val="accent4"/>
                </a:solidFill>
                <a:latin typeface="Fira Sans Condensed Light" panose="020B0604020202020204" charset="0"/>
                <a:cs typeface="Times New Roman" panose="02020603050405020304" pitchFamily="18" charset="0"/>
              </a:rPr>
              <a:t>que le permiten a un robot ser </a:t>
            </a:r>
            <a:r>
              <a:rPr lang="es-ES" sz="1600" b="1" dirty="0">
                <a:solidFill>
                  <a:schemeClr val="accent4"/>
                </a:solidFill>
                <a:latin typeface="Fira Sans Condensed Light" panose="020B0604020202020204" charset="0"/>
                <a:cs typeface="Times New Roman" panose="02020603050405020304" pitchFamily="18" charset="0"/>
              </a:rPr>
              <a:t>autónomo</a:t>
            </a:r>
            <a:r>
              <a:rPr lang="es-ES" sz="1600" dirty="0">
                <a:solidFill>
                  <a:schemeClr val="accent4"/>
                </a:solidFill>
                <a:latin typeface="Fira Sans Condensed Light" panose="020B0604020202020204" charset="0"/>
                <a:cs typeface="Times New Roman" panose="02020603050405020304" pitchFamily="18" charset="0"/>
              </a:rPr>
              <a:t> en la solución de problemas.</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9" name="Picture 2" descr="Idea y objetivo concepto | Vector Premium"/>
          <p:cNvPicPr>
            <a:picLocks noChangeAspect="1" noChangeArrowheads="1"/>
          </p:cNvPicPr>
          <p:nvPr/>
        </p:nvPicPr>
        <p:blipFill>
          <a:blip r:embed="rId3"/>
          <a:srcRect b="4570"/>
          <a:stretch>
            <a:fillRect/>
          </a:stretch>
        </p:blipFill>
        <p:spPr bwMode="auto">
          <a:xfrm>
            <a:off x="1308653" y="3917670"/>
            <a:ext cx="557213" cy="531749"/>
          </a:xfrm>
          <a:prstGeom prst="rect">
            <a:avLst/>
          </a:prstGeom>
          <a:noFill/>
        </p:spPr>
      </p:pic>
      <p:pic>
        <p:nvPicPr>
          <p:cNvPr id="1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
        <p:nvSpPr>
          <p:cNvPr id="12"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br>
              <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73512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1" name="Google Shape;1603;p42"/>
          <p:cNvSpPr txBox="1"/>
          <p:nvPr/>
        </p:nvSpPr>
        <p:spPr>
          <a:xfrm>
            <a:off x="2005338" y="2429525"/>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Crear </a:t>
            </a:r>
            <a:r>
              <a:rPr lang="es-ES" sz="1600" b="1" dirty="0">
                <a:solidFill>
                  <a:schemeClr val="accent4"/>
                </a:solidFill>
                <a:latin typeface="Fira Sans Condensed Light" panose="020B0604020202020204" charset="0"/>
                <a:cs typeface="Times New Roman" panose="02020603050405020304" pitchFamily="18" charset="0"/>
              </a:rPr>
              <a:t>interfaces de hardware y software </a:t>
            </a:r>
            <a:r>
              <a:rPr lang="es-ES" sz="1600" dirty="0">
                <a:solidFill>
                  <a:schemeClr val="accent4"/>
                </a:solidFill>
                <a:latin typeface="Fira Sans Condensed Light" panose="020B0604020202020204" charset="0"/>
                <a:cs typeface="Times New Roman" panose="02020603050405020304" pitchFamily="18" charset="0"/>
              </a:rPr>
              <a:t>que habilitan la interacción inteligente entre dispositivos digitales.</a:t>
            </a:r>
            <a:endParaRPr lang="es-ES" b="1" dirty="0">
              <a:solidFill>
                <a:srgbClr val="F3F3F3"/>
              </a:solidFill>
              <a:latin typeface="Fira Sans Condensed Light"/>
              <a:ea typeface="Fira Sans Condensed Light"/>
              <a:cs typeface="Fira Sans Condensed Light"/>
              <a:sym typeface="Fira Sans Condensed Light"/>
            </a:endParaRPr>
          </a:p>
        </p:txBody>
      </p:sp>
      <p:sp>
        <p:nvSpPr>
          <p:cNvPr id="34" name="Google Shape;1711;p42"/>
          <p:cNvSpPr txBox="1"/>
          <p:nvPr/>
        </p:nvSpPr>
        <p:spPr>
          <a:xfrm>
            <a:off x="2076925" y="1415917"/>
            <a:ext cx="6304946" cy="349200"/>
          </a:xfrm>
          <a:prstGeom prst="rect">
            <a:avLst/>
          </a:prstGeom>
          <a:noFill/>
          <a:ln>
            <a:noFill/>
          </a:ln>
        </p:spPr>
        <p:txBody>
          <a:bodyPr spcFirstLastPara="1" wrap="square" lIns="91425" tIns="54850" rIns="91425" bIns="0" anchor="t" anchorCtr="0">
            <a:noAutofit/>
          </a:bodyPr>
          <a:lstStyle/>
          <a:p>
            <a:pPr lvl="0">
              <a:spcAft>
                <a:spcPts val="1600"/>
              </a:spcAft>
            </a:pPr>
            <a:r>
              <a:rPr lang="es-ES" sz="2200" b="1" dirty="0">
                <a:solidFill>
                  <a:srgbClr val="F3F3F3"/>
                </a:solidFill>
                <a:latin typeface="Rajdhani"/>
                <a:ea typeface="Rajdhani"/>
                <a:cs typeface="Rajdhani"/>
                <a:sym typeface="Rajdhani"/>
              </a:rPr>
              <a:t>Objetivos particulares del curso</a:t>
            </a:r>
            <a:endParaRPr sz="2200" b="1" dirty="0">
              <a:solidFill>
                <a:srgbClr val="F3F3F3"/>
              </a:solidFill>
              <a:latin typeface="Rajdhani"/>
              <a:ea typeface="Rajdhani"/>
              <a:cs typeface="Rajdhani"/>
              <a:sym typeface="Rajdhani"/>
            </a:endParaRPr>
          </a:p>
        </p:txBody>
      </p:sp>
      <p:pic>
        <p:nvPicPr>
          <p:cNvPr id="28674" name="Picture 2" descr="Idea y objetivo concepto | Vector Premium"/>
          <p:cNvPicPr>
            <a:picLocks noChangeAspect="1" noChangeArrowheads="1"/>
          </p:cNvPicPr>
          <p:nvPr/>
        </p:nvPicPr>
        <p:blipFill>
          <a:blip r:embed="rId3"/>
          <a:srcRect b="4570"/>
          <a:stretch>
            <a:fillRect/>
          </a:stretch>
        </p:blipFill>
        <p:spPr bwMode="auto">
          <a:xfrm>
            <a:off x="1302027" y="2631187"/>
            <a:ext cx="557213" cy="531749"/>
          </a:xfrm>
          <a:prstGeom prst="rect">
            <a:avLst/>
          </a:prstGeom>
          <a:noFill/>
        </p:spPr>
      </p:pic>
      <p:pic>
        <p:nvPicPr>
          <p:cNvPr id="1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
        <p:nvSpPr>
          <p:cNvPr id="12"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br>
              <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960616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196547" y="1017526"/>
            <a:ext cx="161013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dirty="0"/>
          </a:p>
        </p:txBody>
      </p:sp>
      <p:graphicFrame>
        <p:nvGraphicFramePr>
          <p:cNvPr id="647" name="Google Shape;647;p33"/>
          <p:cNvGraphicFramePr/>
          <p:nvPr>
            <p:extLst>
              <p:ext uri="{D42A27DB-BD31-4B8C-83A1-F6EECF244321}">
                <p14:modId xmlns:p14="http://schemas.microsoft.com/office/powerpoint/2010/main" val="2886553145"/>
              </p:ext>
            </p:extLst>
          </p:nvPr>
        </p:nvGraphicFramePr>
        <p:xfrm>
          <a:off x="808895" y="1919202"/>
          <a:ext cx="7748952" cy="2834580"/>
        </p:xfrm>
        <a:graphic>
          <a:graphicData uri="http://schemas.openxmlformats.org/drawingml/2006/table">
            <a:tbl>
              <a:tblPr>
                <a:noFill/>
                <a:tableStyleId>{95E397FE-706D-4E7D-AA01-638484C1D090}</a:tableStyleId>
              </a:tblPr>
              <a:tblGrid>
                <a:gridCol w="1455874">
                  <a:extLst>
                    <a:ext uri="{9D8B030D-6E8A-4147-A177-3AD203B41FA5}">
                      <a16:colId xmlns:a16="http://schemas.microsoft.com/office/drawing/2014/main" val="20000"/>
                    </a:ext>
                  </a:extLst>
                </a:gridCol>
                <a:gridCol w="1454681">
                  <a:extLst>
                    <a:ext uri="{9D8B030D-6E8A-4147-A177-3AD203B41FA5}">
                      <a16:colId xmlns:a16="http://schemas.microsoft.com/office/drawing/2014/main" val="20001"/>
                    </a:ext>
                  </a:extLst>
                </a:gridCol>
                <a:gridCol w="1440958">
                  <a:extLst>
                    <a:ext uri="{9D8B030D-6E8A-4147-A177-3AD203B41FA5}">
                      <a16:colId xmlns:a16="http://schemas.microsoft.com/office/drawing/2014/main" val="20002"/>
                    </a:ext>
                  </a:extLst>
                </a:gridCol>
                <a:gridCol w="1709316">
                  <a:extLst>
                    <a:ext uri="{9D8B030D-6E8A-4147-A177-3AD203B41FA5}">
                      <a16:colId xmlns:a16="http://schemas.microsoft.com/office/drawing/2014/main" val="20003"/>
                    </a:ext>
                  </a:extLst>
                </a:gridCol>
                <a:gridCol w="1688123">
                  <a:extLst>
                    <a:ext uri="{9D8B030D-6E8A-4147-A177-3AD203B41FA5}">
                      <a16:colId xmlns:a16="http://schemas.microsoft.com/office/drawing/2014/main" val="20004"/>
                    </a:ext>
                  </a:extLst>
                </a:gridCol>
              </a:tblGrid>
              <a:tr h="371703">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M1</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M2</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M3</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M4</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lgn="ctr">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3000" b="1" dirty="0">
                          <a:solidFill>
                            <a:srgbClr val="F3F3F3"/>
                          </a:solidFill>
                          <a:latin typeface="Rajdhani"/>
                          <a:ea typeface="Rajdhani"/>
                          <a:cs typeface="Rajdhani"/>
                          <a:sym typeface="Rajdhani"/>
                        </a:rPr>
                        <a:t>M5</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lgn="ctr">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0"/>
                  </a:ext>
                </a:extLst>
              </a:tr>
              <a:tr h="1907289">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Introducción</a:t>
                      </a:r>
                      <a:r>
                        <a:rPr lang="en-US" sz="1200" b="1" dirty="0">
                          <a:solidFill>
                            <a:srgbClr val="F3F3F3"/>
                          </a:solidFill>
                          <a:latin typeface="Fira Sans Condensed Light"/>
                          <a:ea typeface="Fira Sans Condensed Light"/>
                          <a:cs typeface="Fira Sans Condensed Light"/>
                          <a:sym typeface="Fira Sans Condensed Light"/>
                        </a:rPr>
                        <a:t> a la </a:t>
                      </a:r>
                      <a:r>
                        <a:rPr lang="en-US" sz="1200" b="1" dirty="0" err="1">
                          <a:solidFill>
                            <a:srgbClr val="F3F3F3"/>
                          </a:solidFill>
                          <a:latin typeface="Fira Sans Condensed Light"/>
                          <a:ea typeface="Fira Sans Condensed Light"/>
                          <a:cs typeface="Fira Sans Condensed Light"/>
                          <a:sym typeface="Fira Sans Condensed Light"/>
                        </a:rPr>
                        <a:t>robótica</a:t>
                      </a: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Juan Manuel </a:t>
                      </a:r>
                      <a:r>
                        <a:rPr lang="es-ES" sz="1200" dirty="0" err="1">
                          <a:solidFill>
                            <a:srgbClr val="F3F3F3"/>
                          </a:solidFill>
                          <a:latin typeface="Fira Sans Condensed Light"/>
                          <a:ea typeface="Fira Sans Condensed Light"/>
                          <a:cs typeface="Fira Sans Condensed Light"/>
                          <a:sym typeface="Fira Sans Condensed Light"/>
                        </a:rPr>
                        <a:t>Ahuactzin</a:t>
                      </a:r>
                      <a:endParaRPr lang="es-ES" sz="1200" dirty="0">
                        <a:solidFill>
                          <a:srgbClr val="F3F3F3"/>
                        </a:solidFill>
                        <a:latin typeface="Fira Sans Condensed Light"/>
                        <a:ea typeface="Fira Sans Condensed Light"/>
                        <a:cs typeface="Fira Sans Condensed Light"/>
                        <a:sym typeface="Fira Sans Condensed Light"/>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Cinemática</a:t>
                      </a:r>
                      <a:r>
                        <a:rPr lang="en-US" sz="1200" b="1" dirty="0">
                          <a:solidFill>
                            <a:srgbClr val="F3F3F3"/>
                          </a:solidFill>
                          <a:latin typeface="Fira Sans Condensed Light"/>
                          <a:ea typeface="Fira Sans Condensed Light"/>
                          <a:cs typeface="Fira Sans Condensed Light"/>
                          <a:sym typeface="Fira Sans Condensed Light"/>
                        </a:rPr>
                        <a:t> </a:t>
                      </a:r>
                      <a:r>
                        <a:rPr lang="en-US" sz="1200" b="1" dirty="0" err="1">
                          <a:solidFill>
                            <a:srgbClr val="F3F3F3"/>
                          </a:solidFill>
                          <a:latin typeface="Fira Sans Condensed Light"/>
                          <a:ea typeface="Fira Sans Condensed Light"/>
                          <a:cs typeface="Fira Sans Condensed Light"/>
                          <a:sym typeface="Fira Sans Condensed Light"/>
                        </a:rPr>
                        <a:t>directa</a:t>
                      </a:r>
                      <a:r>
                        <a:rPr lang="en-US" sz="1200" b="1" dirty="0">
                          <a:solidFill>
                            <a:srgbClr val="F3F3F3"/>
                          </a:solidFill>
                          <a:latin typeface="Fira Sans Condensed Light"/>
                          <a:ea typeface="Fira Sans Condensed Light"/>
                          <a:cs typeface="Fira Sans Condensed Light"/>
                          <a:sym typeface="Fira Sans Condensed Light"/>
                        </a:rPr>
                        <a:t> e </a:t>
                      </a:r>
                      <a:r>
                        <a:rPr lang="en-US" sz="1200" b="1" dirty="0" err="1">
                          <a:solidFill>
                            <a:srgbClr val="F3F3F3"/>
                          </a:solidFill>
                          <a:latin typeface="Fira Sans Condensed Light"/>
                          <a:ea typeface="Fira Sans Condensed Light"/>
                          <a:cs typeface="Fira Sans Condensed Light"/>
                          <a:sym typeface="Fira Sans Condensed Light"/>
                        </a:rPr>
                        <a:t>inversa</a:t>
                      </a: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Juan Manuel </a:t>
                      </a:r>
                      <a:r>
                        <a:rPr lang="es-ES" sz="1200" dirty="0" err="1">
                          <a:solidFill>
                            <a:srgbClr val="F3F3F3"/>
                          </a:solidFill>
                          <a:latin typeface="Fira Sans Condensed Light"/>
                          <a:ea typeface="Fira Sans Condensed Light"/>
                          <a:cs typeface="Fira Sans Condensed Light"/>
                          <a:sym typeface="Fira Sans Condensed Light"/>
                        </a:rPr>
                        <a:t>Ahuactzin</a:t>
                      </a:r>
                      <a:endParaRPr lang="es-ES" sz="1200" dirty="0">
                        <a:solidFill>
                          <a:srgbClr val="F3F3F3"/>
                        </a:solidFill>
                        <a:latin typeface="Fira Sans Condensed Light"/>
                        <a:ea typeface="Fira Sans Condensed Light"/>
                        <a:cs typeface="Fira Sans Condensed Light"/>
                        <a:sym typeface="Fira Sans Condensed Light"/>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Planeación</a:t>
                      </a:r>
                      <a:r>
                        <a:rPr lang="en-US" sz="1200" b="1" dirty="0">
                          <a:solidFill>
                            <a:srgbClr val="F3F3F3"/>
                          </a:solidFill>
                          <a:latin typeface="Fira Sans Condensed Light"/>
                          <a:ea typeface="Fira Sans Condensed Light"/>
                          <a:cs typeface="Fira Sans Condensed Light"/>
                          <a:sym typeface="Fira Sans Condensed Light"/>
                        </a:rPr>
                        <a:t> de </a:t>
                      </a:r>
                      <a:r>
                        <a:rPr lang="en-US" sz="1200" b="1" dirty="0" err="1">
                          <a:solidFill>
                            <a:srgbClr val="F3F3F3"/>
                          </a:solidFill>
                          <a:latin typeface="Fira Sans Condensed Light"/>
                          <a:ea typeface="Fira Sans Condensed Light"/>
                          <a:cs typeface="Fira Sans Condensed Light"/>
                          <a:sym typeface="Fira Sans Condensed Light"/>
                        </a:rPr>
                        <a:t>movimiento</a:t>
                      </a: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Juan Manuel </a:t>
                      </a:r>
                      <a:r>
                        <a:rPr lang="es-ES" sz="1200" dirty="0" err="1">
                          <a:solidFill>
                            <a:srgbClr val="F3F3F3"/>
                          </a:solidFill>
                          <a:latin typeface="Fira Sans Condensed Light"/>
                          <a:ea typeface="Fira Sans Condensed Light"/>
                          <a:cs typeface="Fira Sans Condensed Light"/>
                          <a:sym typeface="Fira Sans Condensed Light"/>
                        </a:rPr>
                        <a:t>Ahuactzin</a:t>
                      </a:r>
                      <a:endParaRPr lang="es-ES" sz="1200" dirty="0">
                        <a:solidFill>
                          <a:srgbClr val="F3F3F3"/>
                        </a:solidFill>
                        <a:latin typeface="Fira Sans Condensed Light"/>
                        <a:ea typeface="Fira Sans Condensed Light"/>
                        <a:cs typeface="Fira Sans Condensed Light"/>
                        <a:sym typeface="Fira Sans Condensed Light"/>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Velocidades</a:t>
                      </a:r>
                      <a:r>
                        <a:rPr lang="en-US" sz="1200" b="1" dirty="0">
                          <a:solidFill>
                            <a:srgbClr val="F3F3F3"/>
                          </a:solidFill>
                          <a:latin typeface="Fira Sans Condensed Light"/>
                          <a:ea typeface="Fira Sans Condensed Light"/>
                          <a:cs typeface="Fira Sans Condensed Light"/>
                          <a:sym typeface="Fira Sans Condensed Light"/>
                        </a:rPr>
                        <a:t> y </a:t>
                      </a:r>
                      <a:r>
                        <a:rPr lang="en-US" sz="1200" b="1" dirty="0" err="1">
                          <a:solidFill>
                            <a:srgbClr val="F3F3F3"/>
                          </a:solidFill>
                          <a:latin typeface="Fira Sans Condensed Light"/>
                          <a:ea typeface="Fira Sans Condensed Light"/>
                          <a:cs typeface="Fira Sans Condensed Light"/>
                          <a:sym typeface="Fira Sans Condensed Light"/>
                        </a:rPr>
                        <a:t>fuerzas</a:t>
                      </a: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rgbClr val="F3F3F3"/>
                          </a:solidFill>
                          <a:latin typeface="Fira Sans Condensed Light"/>
                          <a:ea typeface="Fira Sans Condensed Light"/>
                          <a:cs typeface="Fira Sans Condensed Light"/>
                          <a:sym typeface="Fira Sans Condensed Light"/>
                        </a:rPr>
                        <a:t>Martes </a:t>
                      </a:r>
                      <a:r>
                        <a:rPr lang="en-US" sz="1200" baseline="0" dirty="0">
                          <a:solidFill>
                            <a:srgbClr val="F3F3F3"/>
                          </a:solidFill>
                          <a:latin typeface="Fira Sans Condensed Light"/>
                          <a:ea typeface="Fira Sans Condensed Light"/>
                          <a:cs typeface="Fira Sans Condensed Light"/>
                          <a:sym typeface="Fira Sans Condensed Light"/>
                        </a:rPr>
                        <a:t>17:00 a 19:00</a:t>
                      </a:r>
                      <a:r>
                        <a:rPr lang="en-US" sz="1200" dirty="0">
                          <a:solidFill>
                            <a:srgbClr val="F3F3F3"/>
                          </a:solidFill>
                          <a:latin typeface="Fira Sans Condensed Light"/>
                          <a:ea typeface="Fira Sans Condensed Light"/>
                          <a:cs typeface="Fira Sans Condensed Light"/>
                          <a:sym typeface="Fira Sans Condensed Light"/>
                        </a:rPr>
                        <a:t>, </a:t>
                      </a:r>
                      <a:r>
                        <a:rPr lang="en-US" sz="1200" dirty="0" err="1">
                          <a:solidFill>
                            <a:srgbClr val="F3F3F3"/>
                          </a:solidFill>
                          <a:latin typeface="Fira Sans Condensed Light"/>
                          <a:ea typeface="Fira Sans Condensed Light"/>
                          <a:cs typeface="Fira Sans Condensed Light"/>
                          <a:sym typeface="Fira Sans Condensed Light"/>
                        </a:rPr>
                        <a:t>Miércoles</a:t>
                      </a:r>
                      <a:r>
                        <a:rPr lang="en-US" sz="1200" dirty="0">
                          <a:solidFill>
                            <a:srgbClr val="F3F3F3"/>
                          </a:solidFill>
                          <a:latin typeface="Fira Sans Condensed Light"/>
                          <a:ea typeface="Fira Sans Condensed Light"/>
                          <a:cs typeface="Fira Sans Condensed Light"/>
                          <a:sym typeface="Fira Sans Condensed Light"/>
                        </a:rPr>
                        <a:t> </a:t>
                      </a:r>
                      <a:r>
                        <a:rPr lang="en-US" sz="1200" baseline="0" dirty="0">
                          <a:solidFill>
                            <a:srgbClr val="F3F3F3"/>
                          </a:solidFill>
                          <a:latin typeface="Fira Sans Condensed Light"/>
                          <a:ea typeface="Fira Sans Condensed Light"/>
                          <a:cs typeface="Fira Sans Condensed Light"/>
                          <a:sym typeface="Fira Sans Condensed Light"/>
                        </a:rPr>
                        <a:t>17:30 a 19:00, Jueves 13:00 a 15:00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rgbClr val="F3F3F3"/>
                          </a:solidFill>
                          <a:latin typeface="Fira Sans Condensed Light"/>
                          <a:ea typeface="Fira Sans Condensed Light"/>
                          <a:cs typeface="Fira Sans Condensed Light"/>
                          <a:sym typeface="Fira Sans Condensed Light"/>
                        </a:rPr>
                        <a:t>(</a:t>
                      </a:r>
                      <a:r>
                        <a:rPr lang="en-US" sz="1200" dirty="0" err="1">
                          <a:solidFill>
                            <a:srgbClr val="F3F3F3"/>
                          </a:solidFill>
                          <a:latin typeface="Fira Sans Condensed Light"/>
                          <a:ea typeface="Fira Sans Condensed Light"/>
                          <a:cs typeface="Fira Sans Condensed Light"/>
                          <a:sym typeface="Fira Sans Condensed Light"/>
                        </a:rPr>
                        <a:t>presencial</a:t>
                      </a:r>
                      <a:r>
                        <a:rPr lang="en-US" sz="1200" dirty="0">
                          <a:solidFill>
                            <a:srgbClr val="F3F3F3"/>
                          </a:solidFill>
                          <a:latin typeface="Fira Sans Condensed Light"/>
                          <a:ea typeface="Fira Sans Condensed Light"/>
                          <a:cs typeface="Fira Sans Condensed Light"/>
                          <a:sym typeface="Fira Sans Condensed Light"/>
                        </a:rPr>
                        <a:t>)</a:t>
                      </a: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  Viernes 15:00 a 16:00 </a:t>
                      </a:r>
                      <a:r>
                        <a:rPr lang="en-US" sz="120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 García</a:t>
                      </a:r>
                    </a:p>
                  </a:txBody>
                  <a:tcPr marL="91425" marR="91425" marT="91425" marB="91425" anchor="ctr">
                    <a:lnL w="19050" cap="flat" cmpd="sng">
                      <a:solidFill>
                        <a:srgbClr val="F3F3F3"/>
                      </a:solidFill>
                      <a:prstDash val="solid"/>
                      <a:round/>
                      <a:headEnd type="none" w="sm" len="sm"/>
                      <a:tailEnd type="none" w="sm" len="sm"/>
                    </a:lnL>
                    <a:lnR w="19050" cap="flat" cmpd="sng" algn="ctr">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Dinámica</a:t>
                      </a: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rgbClr val="F3F3F3"/>
                          </a:solidFill>
                          <a:latin typeface="Fira Sans Condensed Light"/>
                          <a:ea typeface="Fira Sans Condensed Light"/>
                          <a:cs typeface="Fira Sans Condensed Light"/>
                          <a:sym typeface="Fira Sans Condensed Light"/>
                        </a:rPr>
                        <a:t>Martes </a:t>
                      </a:r>
                      <a:r>
                        <a:rPr lang="en-US" sz="1200" baseline="0" dirty="0">
                          <a:solidFill>
                            <a:srgbClr val="F3F3F3"/>
                          </a:solidFill>
                          <a:latin typeface="Fira Sans Condensed Light"/>
                          <a:ea typeface="Fira Sans Condensed Light"/>
                          <a:cs typeface="Fira Sans Condensed Light"/>
                          <a:sym typeface="Fira Sans Condensed Light"/>
                        </a:rPr>
                        <a:t>17:00 a 19:00</a:t>
                      </a:r>
                      <a:r>
                        <a:rPr lang="en-US" sz="1200" dirty="0">
                          <a:solidFill>
                            <a:srgbClr val="F3F3F3"/>
                          </a:solidFill>
                          <a:latin typeface="Fira Sans Condensed Light"/>
                          <a:ea typeface="Fira Sans Condensed Light"/>
                          <a:cs typeface="Fira Sans Condensed Light"/>
                          <a:sym typeface="Fira Sans Condensed Light"/>
                        </a:rPr>
                        <a:t>, </a:t>
                      </a:r>
                      <a:r>
                        <a:rPr lang="en-US" sz="1200" dirty="0" err="1">
                          <a:solidFill>
                            <a:srgbClr val="F3F3F3"/>
                          </a:solidFill>
                          <a:latin typeface="Fira Sans Condensed Light"/>
                          <a:ea typeface="Fira Sans Condensed Light"/>
                          <a:cs typeface="Fira Sans Condensed Light"/>
                          <a:sym typeface="Fira Sans Condensed Light"/>
                        </a:rPr>
                        <a:t>Miércoles</a:t>
                      </a:r>
                      <a:r>
                        <a:rPr lang="en-US" sz="1200" dirty="0">
                          <a:solidFill>
                            <a:srgbClr val="F3F3F3"/>
                          </a:solidFill>
                          <a:latin typeface="Fira Sans Condensed Light"/>
                          <a:ea typeface="Fira Sans Condensed Light"/>
                          <a:cs typeface="Fira Sans Condensed Light"/>
                          <a:sym typeface="Fira Sans Condensed Light"/>
                        </a:rPr>
                        <a:t> </a:t>
                      </a:r>
                      <a:r>
                        <a:rPr lang="en-US" sz="1200" baseline="0" dirty="0">
                          <a:solidFill>
                            <a:srgbClr val="F3F3F3"/>
                          </a:solidFill>
                          <a:latin typeface="Fira Sans Condensed Light"/>
                          <a:ea typeface="Fira Sans Condensed Light"/>
                          <a:cs typeface="Fira Sans Condensed Light"/>
                          <a:sym typeface="Fira Sans Condensed Light"/>
                        </a:rPr>
                        <a:t>17:30 a 19:00, Jueves 13:00 a 15:00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rgbClr val="F3F3F3"/>
                          </a:solidFill>
                          <a:latin typeface="Fira Sans Condensed Light"/>
                          <a:ea typeface="Fira Sans Condensed Light"/>
                          <a:cs typeface="Fira Sans Condensed Light"/>
                          <a:sym typeface="Fira Sans Condensed Light"/>
                        </a:rPr>
                        <a:t>(</a:t>
                      </a:r>
                      <a:r>
                        <a:rPr lang="en-US" sz="1200" dirty="0" err="1">
                          <a:solidFill>
                            <a:srgbClr val="F3F3F3"/>
                          </a:solidFill>
                          <a:latin typeface="Fira Sans Condensed Light"/>
                          <a:ea typeface="Fira Sans Condensed Light"/>
                          <a:cs typeface="Fira Sans Condensed Light"/>
                          <a:sym typeface="Fira Sans Condensed Light"/>
                        </a:rPr>
                        <a:t>presencial</a:t>
                      </a:r>
                      <a:r>
                        <a:rPr lang="en-US" sz="1200" dirty="0">
                          <a:solidFill>
                            <a:srgbClr val="F3F3F3"/>
                          </a:solidFill>
                          <a:latin typeface="Fira Sans Condensed Light"/>
                          <a:ea typeface="Fira Sans Condensed Light"/>
                          <a:cs typeface="Fira Sans Condensed Light"/>
                          <a:sym typeface="Fira Sans Condensed Light"/>
                        </a:rPr>
                        <a:t>)</a:t>
                      </a: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  Viernes 15:00 a 16:00 </a:t>
                      </a:r>
                      <a:r>
                        <a:rPr lang="en-US" sz="120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 García</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lgn="ctr">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1"/>
                  </a:ext>
                </a:extLst>
              </a:tr>
            </a:tbl>
          </a:graphicData>
        </a:graphic>
      </p:graphicFrame>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30722" name="Picture 2" descr="Trucos para organizar mejor la agenda de trabajo | Organizar tareas"/>
          <p:cNvPicPr>
            <a:picLocks noChangeAspect="1" noChangeArrowheads="1"/>
          </p:cNvPicPr>
          <p:nvPr/>
        </p:nvPicPr>
        <p:blipFill>
          <a:blip r:embed="rId4"/>
          <a:srcRect/>
          <a:stretch>
            <a:fillRect/>
          </a:stretch>
        </p:blipFill>
        <p:spPr bwMode="auto">
          <a:xfrm>
            <a:off x="404054" y="898985"/>
            <a:ext cx="1414807" cy="874608"/>
          </a:xfrm>
          <a:prstGeom prst="rect">
            <a:avLst/>
          </a:prstGeom>
          <a:noFill/>
        </p:spPr>
      </p:pic>
      <p:cxnSp>
        <p:nvCxnSpPr>
          <p:cNvPr id="8" name="Google Shape;137;p27"/>
          <p:cNvCxnSpPr/>
          <p:nvPr/>
        </p:nvCxnSpPr>
        <p:spPr>
          <a:xfrm>
            <a:off x="2060232" y="1014863"/>
            <a:ext cx="0" cy="6306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52248"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196547" y="1017526"/>
            <a:ext cx="161013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dirty="0"/>
          </a:p>
        </p:txBody>
      </p:sp>
      <p:graphicFrame>
        <p:nvGraphicFramePr>
          <p:cNvPr id="647" name="Google Shape;647;p33"/>
          <p:cNvGraphicFramePr/>
          <p:nvPr>
            <p:extLst>
              <p:ext uri="{D42A27DB-BD31-4B8C-83A1-F6EECF244321}">
                <p14:modId xmlns:p14="http://schemas.microsoft.com/office/powerpoint/2010/main" val="1836150661"/>
              </p:ext>
            </p:extLst>
          </p:nvPr>
        </p:nvGraphicFramePr>
        <p:xfrm>
          <a:off x="750278" y="1903135"/>
          <a:ext cx="7643443" cy="2834580"/>
        </p:xfrm>
        <a:graphic>
          <a:graphicData uri="http://schemas.openxmlformats.org/drawingml/2006/table">
            <a:tbl>
              <a:tblPr>
                <a:noFill/>
                <a:tableStyleId>{95E397FE-706D-4E7D-AA01-638484C1D090}</a:tableStyleId>
              </a:tblPr>
              <a:tblGrid>
                <a:gridCol w="2031659">
                  <a:extLst>
                    <a:ext uri="{9D8B030D-6E8A-4147-A177-3AD203B41FA5}">
                      <a16:colId xmlns:a16="http://schemas.microsoft.com/office/drawing/2014/main" val="20000"/>
                    </a:ext>
                  </a:extLst>
                </a:gridCol>
                <a:gridCol w="1825232">
                  <a:extLst>
                    <a:ext uri="{9D8B030D-6E8A-4147-A177-3AD203B41FA5}">
                      <a16:colId xmlns:a16="http://schemas.microsoft.com/office/drawing/2014/main" val="20001"/>
                    </a:ext>
                  </a:extLst>
                </a:gridCol>
                <a:gridCol w="3786552">
                  <a:extLst>
                    <a:ext uri="{9D8B030D-6E8A-4147-A177-3AD203B41FA5}">
                      <a16:colId xmlns:a16="http://schemas.microsoft.com/office/drawing/2014/main" val="20002"/>
                    </a:ext>
                  </a:extLst>
                </a:gridCol>
              </a:tblGrid>
              <a:tr h="371703">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M6</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M7</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s-ES" sz="3000" b="1" dirty="0">
                          <a:solidFill>
                            <a:srgbClr val="F3F3F3"/>
                          </a:solidFill>
                          <a:latin typeface="Rajdhani"/>
                          <a:ea typeface="Rajdhani"/>
                          <a:cs typeface="Rajdhani"/>
                          <a:sym typeface="Rajdhani"/>
                        </a:rPr>
                        <a:t>RETO</a:t>
                      </a:r>
                      <a:endParaRPr sz="3000" b="1" dirty="0">
                        <a:solidFill>
                          <a:srgbClr val="F3F3F3"/>
                        </a:solidFill>
                        <a:latin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0"/>
                  </a:ext>
                </a:extLst>
              </a:tr>
              <a:tr h="1907289">
                <a:tc>
                  <a:txBody>
                    <a:bodyPr/>
                    <a:lstStyle/>
                    <a:p>
                      <a:pPr marL="0" lvl="0" indent="0" algn="ctr" rtl="0">
                        <a:spcBef>
                          <a:spcPts val="0"/>
                        </a:spcBef>
                        <a:spcAft>
                          <a:spcPts val="0"/>
                        </a:spcAft>
                        <a:buNone/>
                      </a:pPr>
                      <a:r>
                        <a:rPr lang="en-US" sz="1200" b="1" dirty="0">
                          <a:solidFill>
                            <a:srgbClr val="F3F3F3"/>
                          </a:solidFill>
                          <a:latin typeface="Fira Sans Condensed Light"/>
                          <a:ea typeface="Fira Sans Condensed Light"/>
                          <a:cs typeface="Fira Sans Condensed Light"/>
                          <a:sym typeface="Fira Sans Condensed Light"/>
                        </a:rPr>
                        <a:t>Control de robots </a:t>
                      </a: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rgbClr val="F3F3F3"/>
                          </a:solidFill>
                          <a:latin typeface="Fira Sans Condensed Light"/>
                          <a:ea typeface="Fira Sans Condensed Light"/>
                          <a:cs typeface="Fira Sans Condensed Light"/>
                          <a:sym typeface="Fira Sans Condensed Light"/>
                        </a:rPr>
                        <a:t>Martes </a:t>
                      </a:r>
                      <a:r>
                        <a:rPr lang="en-US" sz="1200" baseline="0" dirty="0">
                          <a:solidFill>
                            <a:srgbClr val="F3F3F3"/>
                          </a:solidFill>
                          <a:latin typeface="Fira Sans Condensed Light"/>
                          <a:ea typeface="Fira Sans Condensed Light"/>
                          <a:cs typeface="Fira Sans Condensed Light"/>
                          <a:sym typeface="Fira Sans Condensed Light"/>
                        </a:rPr>
                        <a:t>17:00 a 19:00</a:t>
                      </a:r>
                      <a:r>
                        <a:rPr lang="en-US" sz="1200" dirty="0">
                          <a:solidFill>
                            <a:srgbClr val="F3F3F3"/>
                          </a:solidFill>
                          <a:latin typeface="Fira Sans Condensed Light"/>
                          <a:ea typeface="Fira Sans Condensed Light"/>
                          <a:cs typeface="Fira Sans Condensed Light"/>
                          <a:sym typeface="Fira Sans Condensed Light"/>
                        </a:rPr>
                        <a:t>, </a:t>
                      </a:r>
                      <a:r>
                        <a:rPr lang="en-US" sz="1200" dirty="0" err="1">
                          <a:solidFill>
                            <a:srgbClr val="F3F3F3"/>
                          </a:solidFill>
                          <a:latin typeface="Fira Sans Condensed Light"/>
                          <a:ea typeface="Fira Sans Condensed Light"/>
                          <a:cs typeface="Fira Sans Condensed Light"/>
                          <a:sym typeface="Fira Sans Condensed Light"/>
                        </a:rPr>
                        <a:t>Miércoles</a:t>
                      </a:r>
                      <a:r>
                        <a:rPr lang="en-US" sz="1200" dirty="0">
                          <a:solidFill>
                            <a:srgbClr val="F3F3F3"/>
                          </a:solidFill>
                          <a:latin typeface="Fira Sans Condensed Light"/>
                          <a:ea typeface="Fira Sans Condensed Light"/>
                          <a:cs typeface="Fira Sans Condensed Light"/>
                          <a:sym typeface="Fira Sans Condensed Light"/>
                        </a:rPr>
                        <a:t> </a:t>
                      </a:r>
                      <a:r>
                        <a:rPr lang="en-US" sz="1200" baseline="0" dirty="0">
                          <a:solidFill>
                            <a:srgbClr val="F3F3F3"/>
                          </a:solidFill>
                          <a:latin typeface="Fira Sans Condensed Light"/>
                          <a:ea typeface="Fira Sans Condensed Light"/>
                          <a:cs typeface="Fira Sans Condensed Light"/>
                          <a:sym typeface="Fira Sans Condensed Light"/>
                        </a:rPr>
                        <a:t>17:30 a 19:00, Jueves 13:00 a 15:00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rgbClr val="F3F3F3"/>
                          </a:solidFill>
                          <a:latin typeface="Fira Sans Condensed Light"/>
                          <a:ea typeface="Fira Sans Condensed Light"/>
                          <a:cs typeface="Fira Sans Condensed Light"/>
                          <a:sym typeface="Fira Sans Condensed Light"/>
                        </a:rPr>
                        <a:t>(</a:t>
                      </a:r>
                      <a:r>
                        <a:rPr lang="en-US" sz="1200" dirty="0" err="1">
                          <a:solidFill>
                            <a:srgbClr val="F3F3F3"/>
                          </a:solidFill>
                          <a:latin typeface="Fira Sans Condensed Light"/>
                          <a:ea typeface="Fira Sans Condensed Light"/>
                          <a:cs typeface="Fira Sans Condensed Light"/>
                          <a:sym typeface="Fira Sans Condensed Light"/>
                        </a:rPr>
                        <a:t>presencial</a:t>
                      </a:r>
                      <a:r>
                        <a:rPr lang="en-US" sz="1200" dirty="0">
                          <a:solidFill>
                            <a:srgbClr val="F3F3F3"/>
                          </a:solidFill>
                          <a:latin typeface="Fira Sans Condensed Light"/>
                          <a:ea typeface="Fira Sans Condensed Light"/>
                          <a:cs typeface="Fira Sans Condensed Light"/>
                          <a:sym typeface="Fira Sans Condensed Light"/>
                        </a:rPr>
                        <a:t>)</a:t>
                      </a: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  Viernes 15:00 a 16:00 </a:t>
                      </a:r>
                      <a:r>
                        <a:rPr lang="en-US" sz="1200" dirty="0">
                          <a:solidFill>
                            <a:srgbClr val="F3F3F3"/>
                          </a:solidFill>
                          <a:latin typeface="Fira Sans Condensed Light"/>
                          <a:ea typeface="Fira Sans Condensed Light"/>
                          <a:cs typeface="Fira Sans Condensed Light"/>
                          <a:sym typeface="Fira Sans Condensed Light"/>
                        </a:rPr>
                        <a:t>(virtual)</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Rigoberto Cerino</a:t>
                      </a: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Alfredo García</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baseline="0" dirty="0" err="1">
                          <a:solidFill>
                            <a:srgbClr val="F3F3F3"/>
                          </a:solidFill>
                          <a:latin typeface="Fira Sans Condensed Light"/>
                          <a:ea typeface="Fira Sans Condensed Light"/>
                          <a:cs typeface="Fira Sans Condensed Light"/>
                          <a:sym typeface="Fira Sans Condensed Light"/>
                        </a:rPr>
                        <a:t>Sensores</a:t>
                      </a:r>
                      <a:r>
                        <a:rPr lang="en-US" sz="1200" b="1" baseline="0" dirty="0">
                          <a:solidFill>
                            <a:srgbClr val="F3F3F3"/>
                          </a:solidFill>
                          <a:latin typeface="Fira Sans Condensed Light"/>
                          <a:ea typeface="Fira Sans Condensed Light"/>
                          <a:cs typeface="Fira Sans Condensed Light"/>
                          <a:sym typeface="Fira Sans Condensed Light"/>
                        </a:rPr>
                        <a:t> y </a:t>
                      </a:r>
                      <a:r>
                        <a:rPr lang="en-US" sz="1200" b="1" baseline="0" dirty="0" err="1">
                          <a:solidFill>
                            <a:srgbClr val="F3F3F3"/>
                          </a:solidFill>
                          <a:latin typeface="Fira Sans Condensed Light"/>
                          <a:ea typeface="Fira Sans Condensed Light"/>
                          <a:cs typeface="Fira Sans Condensed Light"/>
                          <a:sym typeface="Fira Sans Condensed Light"/>
                        </a:rPr>
                        <a:t>actuadores</a:t>
                      </a: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Rigoberto Cerino</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baseline="0" dirty="0">
                          <a:solidFill>
                            <a:srgbClr val="F3F3F3"/>
                          </a:solidFill>
                          <a:latin typeface="Fira Sans Condensed Light"/>
                          <a:ea typeface="Fira Sans Condensed Light"/>
                          <a:cs typeface="Fira Sans Condensed Light"/>
                          <a:sym typeface="Fira Sans Condensed Light"/>
                        </a:rPr>
                        <a:t>Control PID</a:t>
                      </a: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Facilitadores: Rigoberto Cerino, Juan Manuel </a:t>
                      </a:r>
                      <a:r>
                        <a:rPr lang="es-ES" sz="1200" dirty="0" err="1">
                          <a:solidFill>
                            <a:srgbClr val="F3F3F3"/>
                          </a:solidFill>
                          <a:latin typeface="Fira Sans Condensed Light"/>
                          <a:ea typeface="Fira Sans Condensed Light"/>
                          <a:cs typeface="Fira Sans Condensed Light"/>
                          <a:sym typeface="Fira Sans Condensed Light"/>
                        </a:rPr>
                        <a:t>Ahuactzin</a:t>
                      </a:r>
                      <a:r>
                        <a:rPr lang="es-ES" sz="1200" dirty="0">
                          <a:solidFill>
                            <a:srgbClr val="F3F3F3"/>
                          </a:solidFill>
                          <a:latin typeface="Fira Sans Condensed Light"/>
                          <a:ea typeface="Fira Sans Condensed Light"/>
                          <a:cs typeface="Fira Sans Condensed Light"/>
                          <a:sym typeface="Fira Sans Condensed Light"/>
                        </a:rPr>
                        <a:t>, Alfredo García y Socio Formador: Manchester </a:t>
                      </a:r>
                      <a:r>
                        <a:rPr lang="es-ES" sz="1200" dirty="0" err="1">
                          <a:solidFill>
                            <a:srgbClr val="F3F3F3"/>
                          </a:solidFill>
                          <a:latin typeface="Fira Sans Condensed Light"/>
                          <a:ea typeface="Fira Sans Condensed Light"/>
                          <a:cs typeface="Fira Sans Condensed Light"/>
                          <a:sym typeface="Fira Sans Condensed Light"/>
                        </a:rPr>
                        <a:t>Robotics</a:t>
                      </a:r>
                      <a:endParaRPr lang="es-ES" sz="1200" dirty="0">
                        <a:solidFill>
                          <a:srgbClr val="F3F3F3"/>
                        </a:solidFill>
                        <a:latin typeface="Fira Sans Condensed Light"/>
                        <a:ea typeface="Fira Sans Condensed Light"/>
                        <a:cs typeface="Fira Sans Condensed Light"/>
                        <a:sym typeface="Fira Sans Condensed Light"/>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1"/>
                  </a:ext>
                </a:extLst>
              </a:tr>
            </a:tbl>
          </a:graphicData>
        </a:graphic>
      </p:graphicFrame>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30722" name="Picture 2" descr="Trucos para organizar mejor la agenda de trabajo | Organizar tareas"/>
          <p:cNvPicPr>
            <a:picLocks noChangeAspect="1" noChangeArrowheads="1"/>
          </p:cNvPicPr>
          <p:nvPr/>
        </p:nvPicPr>
        <p:blipFill>
          <a:blip r:embed="rId4"/>
          <a:srcRect/>
          <a:stretch>
            <a:fillRect/>
          </a:stretch>
        </p:blipFill>
        <p:spPr bwMode="auto">
          <a:xfrm>
            <a:off x="404054" y="898985"/>
            <a:ext cx="1414807" cy="874608"/>
          </a:xfrm>
          <a:prstGeom prst="rect">
            <a:avLst/>
          </a:prstGeom>
          <a:noFill/>
        </p:spPr>
      </p:pic>
      <p:cxnSp>
        <p:nvCxnSpPr>
          <p:cNvPr id="8" name="Google Shape;137;p27"/>
          <p:cNvCxnSpPr/>
          <p:nvPr/>
        </p:nvCxnSpPr>
        <p:spPr>
          <a:xfrm>
            <a:off x="2060232" y="1014863"/>
            <a:ext cx="0" cy="6306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52248"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078021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5">
          <a:extLst>
            <a:ext uri="{FF2B5EF4-FFF2-40B4-BE49-F238E27FC236}">
              <a16:creationId xmlns:a16="http://schemas.microsoft.com/office/drawing/2014/main" id="{5765A591-0C59-68E7-BB5E-5D87E655A16A}"/>
            </a:ext>
          </a:extLst>
        </p:cNvPr>
        <p:cNvGrpSpPr/>
        <p:nvPr/>
      </p:nvGrpSpPr>
      <p:grpSpPr>
        <a:xfrm>
          <a:off x="0" y="0"/>
          <a:ext cx="0" cy="0"/>
          <a:chOff x="0" y="0"/>
          <a:chExt cx="0" cy="0"/>
        </a:xfrm>
      </p:grpSpPr>
      <p:sp>
        <p:nvSpPr>
          <p:cNvPr id="646" name="Google Shape;646;p33">
            <a:extLst>
              <a:ext uri="{FF2B5EF4-FFF2-40B4-BE49-F238E27FC236}">
                <a16:creationId xmlns:a16="http://schemas.microsoft.com/office/drawing/2014/main" id="{9BB33CEC-6F73-77DE-F0AB-412DF3B4D548}"/>
              </a:ext>
            </a:extLst>
          </p:cNvPr>
          <p:cNvSpPr txBox="1">
            <a:spLocks noGrp="1"/>
          </p:cNvSpPr>
          <p:nvPr>
            <p:ph type="title"/>
          </p:nvPr>
        </p:nvSpPr>
        <p:spPr>
          <a:xfrm>
            <a:off x="3121458" y="1416912"/>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CLASE VIRTUAL  DE LOS DÍAS VIERNES</a:t>
            </a:r>
            <a:endParaRPr dirty="0"/>
          </a:p>
        </p:txBody>
      </p:sp>
      <p:pic>
        <p:nvPicPr>
          <p:cNvPr id="6" name="Picture 4" descr="The Learning Gate | Tec de Monterrey">
            <a:extLst>
              <a:ext uri="{FF2B5EF4-FFF2-40B4-BE49-F238E27FC236}">
                <a16:creationId xmlns:a16="http://schemas.microsoft.com/office/drawing/2014/main" id="{5406E40F-54D0-9529-0917-E877C92C0560}"/>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a:extLst>
              <a:ext uri="{FF2B5EF4-FFF2-40B4-BE49-F238E27FC236}">
                <a16:creationId xmlns:a16="http://schemas.microsoft.com/office/drawing/2014/main" id="{42052FCF-6515-23F1-C2C0-013587FEB796}"/>
              </a:ext>
            </a:extLst>
          </p:cNvPr>
          <p:cNvCxnSpPr/>
          <p:nvPr/>
        </p:nvCxnSpPr>
        <p:spPr>
          <a:xfrm>
            <a:off x="2943102" y="1403738"/>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a:extLst>
              <a:ext uri="{FF2B5EF4-FFF2-40B4-BE49-F238E27FC236}">
                <a16:creationId xmlns:a16="http://schemas.microsoft.com/office/drawing/2014/main" id="{4CB2D040-D306-3095-3696-690B652230B0}"/>
              </a:ext>
            </a:extLst>
          </p:cNvPr>
          <p:cNvPicPr>
            <a:picLocks noChangeAspect="1" noChangeArrowheads="1"/>
          </p:cNvPicPr>
          <p:nvPr/>
        </p:nvPicPr>
        <p:blipFill>
          <a:blip r:embed="rId4"/>
          <a:srcRect/>
          <a:stretch>
            <a:fillRect/>
          </a:stretch>
        </p:blipFill>
        <p:spPr bwMode="auto">
          <a:xfrm>
            <a:off x="291044" y="1051034"/>
            <a:ext cx="2410373" cy="1355835"/>
          </a:xfrm>
          <a:prstGeom prst="rect">
            <a:avLst/>
          </a:prstGeom>
          <a:noFill/>
        </p:spPr>
      </p:pic>
      <p:sp>
        <p:nvSpPr>
          <p:cNvPr id="9" name="Google Shape;1762;p45">
            <a:extLst>
              <a:ext uri="{FF2B5EF4-FFF2-40B4-BE49-F238E27FC236}">
                <a16:creationId xmlns:a16="http://schemas.microsoft.com/office/drawing/2014/main" id="{0793AEAE-5A69-0A9D-C7CE-1DB39A7057BE}"/>
              </a:ext>
            </a:extLst>
          </p:cNvPr>
          <p:cNvSpPr txBox="1">
            <a:spLocks/>
          </p:cNvSpPr>
          <p:nvPr/>
        </p:nvSpPr>
        <p:spPr>
          <a:xfrm>
            <a:off x="1364190" y="2571750"/>
            <a:ext cx="6654857" cy="1692166"/>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buNone/>
            </a:pPr>
            <a:endParaRPr lang="es-ES" sz="1600" b="1" dirty="0">
              <a:solidFill>
                <a:schemeClr val="bg1">
                  <a:lumMod val="60000"/>
                  <a:lumOff val="40000"/>
                </a:schemeClr>
              </a:solidFill>
            </a:endParaRPr>
          </a:p>
          <a:p>
            <a:r>
              <a:rPr lang="es-ES" sz="1600" b="1" dirty="0">
                <a:solidFill>
                  <a:schemeClr val="tx2"/>
                </a:solidFill>
              </a:rPr>
              <a:t>Entrar Zoom Reunión</a:t>
            </a:r>
          </a:p>
          <a:p>
            <a:endParaRPr lang="es-ES" sz="1600" b="1" dirty="0">
              <a:solidFill>
                <a:schemeClr val="tx2"/>
              </a:solidFill>
            </a:endParaRPr>
          </a:p>
          <a:p>
            <a:r>
              <a:rPr lang="es-ES" sz="1600" b="1" dirty="0">
                <a:solidFill>
                  <a:schemeClr val="bg1">
                    <a:lumMod val="60000"/>
                    <a:lumOff val="40000"/>
                  </a:schemeClr>
                </a:solidFill>
              </a:rPr>
              <a:t>https://itesm.zoom.us/my/alfredo.garcia</a:t>
            </a:r>
          </a:p>
          <a:p>
            <a:r>
              <a:rPr lang="es-ES" sz="1600" b="1" dirty="0">
                <a:solidFill>
                  <a:schemeClr val="bg1">
                    <a:lumMod val="60000"/>
                    <a:lumOff val="40000"/>
                  </a:schemeClr>
                </a:solidFill>
              </a:rPr>
              <a:t>ID de reunión: 6763360937</a:t>
            </a:r>
          </a:p>
          <a:p>
            <a:pPr marL="152400" indent="0">
              <a:buNone/>
            </a:pPr>
            <a:endParaRPr lang="en-US" dirty="0"/>
          </a:p>
        </p:txBody>
      </p:sp>
      <p:sp>
        <p:nvSpPr>
          <p:cNvPr id="7" name="Google Shape;136;p27">
            <a:extLst>
              <a:ext uri="{FF2B5EF4-FFF2-40B4-BE49-F238E27FC236}">
                <a16:creationId xmlns:a16="http://schemas.microsoft.com/office/drawing/2014/main" id="{5D97DFCD-4567-FE61-3233-E419BA30D043}"/>
              </a:ext>
            </a:extLst>
          </p:cNvPr>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76961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3121458" y="1416912"/>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DINÁMICA DE CLASES </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2943102" y="1403738"/>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291044" y="1051034"/>
            <a:ext cx="2410373" cy="1355835"/>
          </a:xfrm>
          <a:prstGeom prst="rect">
            <a:avLst/>
          </a:prstGeom>
          <a:noFill/>
        </p:spPr>
      </p:pic>
      <p:sp>
        <p:nvSpPr>
          <p:cNvPr id="9" name="Google Shape;1762;p45"/>
          <p:cNvSpPr txBox="1">
            <a:spLocks/>
          </p:cNvSpPr>
          <p:nvPr/>
        </p:nvSpPr>
        <p:spPr>
          <a:xfrm>
            <a:off x="1303288" y="2837794"/>
            <a:ext cx="6654857" cy="1692166"/>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600" b="1" dirty="0" err="1">
                <a:solidFill>
                  <a:schemeClr val="bg1">
                    <a:lumMod val="60000"/>
                    <a:lumOff val="40000"/>
                  </a:schemeClr>
                </a:solidFill>
              </a:rPr>
              <a:t>Introducción</a:t>
            </a:r>
            <a:r>
              <a:rPr lang="en-US" sz="1600" b="1" dirty="0">
                <a:solidFill>
                  <a:schemeClr val="bg1">
                    <a:lumMod val="60000"/>
                    <a:lumOff val="40000"/>
                  </a:schemeClr>
                </a:solidFill>
              </a:rPr>
              <a:t>:</a:t>
            </a:r>
            <a:r>
              <a:rPr lang="en-US" sz="1600" b="1" dirty="0"/>
              <a:t> </a:t>
            </a:r>
            <a:r>
              <a:rPr lang="en-US" sz="1600" dirty="0" err="1"/>
              <a:t>Teória</a:t>
            </a:r>
            <a:r>
              <a:rPr lang="en-US" sz="1600" dirty="0"/>
              <a:t> y </a:t>
            </a:r>
            <a:r>
              <a:rPr lang="en-US" sz="1600" dirty="0" err="1"/>
              <a:t>descripción</a:t>
            </a:r>
            <a:r>
              <a:rPr lang="en-US" sz="1600" dirty="0"/>
              <a:t> de </a:t>
            </a:r>
            <a:r>
              <a:rPr lang="en-US" sz="1600" dirty="0" err="1"/>
              <a:t>conceptos</a:t>
            </a:r>
            <a:r>
              <a:rPr lang="en-US" sz="1600" dirty="0"/>
              <a:t> y </a:t>
            </a:r>
            <a:r>
              <a:rPr lang="en-US" sz="1600" dirty="0" err="1"/>
              <a:t>procedimientos</a:t>
            </a:r>
            <a:r>
              <a:rPr lang="en-US" sz="1600" dirty="0"/>
              <a:t>.</a:t>
            </a:r>
            <a:endParaRPr lang="es-ES" sz="1600" dirty="0"/>
          </a:p>
          <a:p>
            <a:endParaRPr lang="es-ES" sz="1600" b="1" dirty="0"/>
          </a:p>
          <a:p>
            <a:r>
              <a:rPr lang="es-ES" sz="1600" b="1" dirty="0">
                <a:solidFill>
                  <a:schemeClr val="bg1">
                    <a:lumMod val="60000"/>
                    <a:lumOff val="40000"/>
                  </a:schemeClr>
                </a:solidFill>
              </a:rPr>
              <a:t>Desarrollo: </a:t>
            </a:r>
            <a:r>
              <a:rPr lang="es-ES" sz="1600" dirty="0"/>
              <a:t>Aplicación y seguimiento práctico de los conceptos teóricos.</a:t>
            </a:r>
          </a:p>
          <a:p>
            <a:endParaRPr lang="es-ES" sz="1600" b="1" dirty="0"/>
          </a:p>
          <a:p>
            <a:r>
              <a:rPr lang="es-ES" sz="1600" b="1" dirty="0">
                <a:solidFill>
                  <a:schemeClr val="bg1">
                    <a:lumMod val="60000"/>
                    <a:lumOff val="40000"/>
                  </a:schemeClr>
                </a:solidFill>
              </a:rPr>
              <a:t>Finalización:  </a:t>
            </a:r>
            <a:r>
              <a:rPr lang="es-ES" sz="1600" dirty="0"/>
              <a:t>Practica individual o por equipos de retos por sesión. </a:t>
            </a:r>
            <a:endParaRPr lang="en-US" sz="1600" dirty="0"/>
          </a:p>
          <a:p>
            <a:endParaRPr lang="es-ES" sz="1400" dirty="0"/>
          </a:p>
          <a:p>
            <a:pPr marL="1066800" lvl="2" indent="0">
              <a:buNone/>
            </a:pPr>
            <a:endParaRPr lang="en-US" dirty="0"/>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196546" y="1185686"/>
            <a:ext cx="4522305"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ACERCA DEL FACILITADOR</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2060232" y="1183023"/>
            <a:ext cx="0" cy="630600"/>
          </a:xfrm>
          <a:prstGeom prst="straightConnector1">
            <a:avLst/>
          </a:prstGeom>
          <a:noFill/>
          <a:ln w="19050" cap="flat" cmpd="sng">
            <a:solidFill>
              <a:srgbClr val="F3F3F3"/>
            </a:solidFill>
            <a:prstDash val="solid"/>
            <a:round/>
            <a:headEnd type="oval" w="med" len="med"/>
            <a:tailEnd type="oval" w="med" len="med"/>
          </a:ln>
        </p:spPr>
      </p:cxnSp>
      <p:pic>
        <p:nvPicPr>
          <p:cNvPr id="34818" name="Picture 2" descr="C:\Users\Alfredo Garcia\Desktop\FaceApp_1659560400894.jpg"/>
          <p:cNvPicPr>
            <a:picLocks noChangeAspect="1" noChangeArrowheads="1"/>
          </p:cNvPicPr>
          <p:nvPr/>
        </p:nvPicPr>
        <p:blipFill>
          <a:blip r:embed="rId4"/>
          <a:srcRect/>
          <a:stretch>
            <a:fillRect/>
          </a:stretch>
        </p:blipFill>
        <p:spPr bwMode="auto">
          <a:xfrm>
            <a:off x="882486" y="927279"/>
            <a:ext cx="894962" cy="1060397"/>
          </a:xfrm>
          <a:prstGeom prst="rect">
            <a:avLst/>
          </a:prstGeom>
          <a:noFill/>
        </p:spPr>
      </p:pic>
      <p:sp>
        <p:nvSpPr>
          <p:cNvPr id="10" name="Google Shape;1762;p45"/>
          <p:cNvSpPr txBox="1">
            <a:spLocks/>
          </p:cNvSpPr>
          <p:nvPr/>
        </p:nvSpPr>
        <p:spPr>
          <a:xfrm>
            <a:off x="2130251" y="469575"/>
            <a:ext cx="5186757" cy="4067255"/>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endParaRPr lang="es-ES" sz="1400" b="1" dirty="0"/>
          </a:p>
          <a:p>
            <a:endParaRPr lang="es-ES" sz="1400" b="1" dirty="0"/>
          </a:p>
          <a:p>
            <a:endParaRPr lang="es-ES" sz="1400" b="1" dirty="0"/>
          </a:p>
          <a:p>
            <a:endParaRPr lang="es-ES" sz="1400" b="1" dirty="0"/>
          </a:p>
          <a:p>
            <a:endParaRPr lang="es-ES" sz="1400" b="1" dirty="0"/>
          </a:p>
          <a:p>
            <a:endParaRPr lang="es-ES" sz="1400" b="1" dirty="0"/>
          </a:p>
          <a:p>
            <a:endParaRPr lang="es-ES" sz="1400" b="1" dirty="0"/>
          </a:p>
          <a:p>
            <a:r>
              <a:rPr lang="es-ES" sz="1400" b="1" dirty="0"/>
              <a:t>Doctorado en Ingeniería del Lenguaje  y del Conocimiento</a:t>
            </a:r>
          </a:p>
          <a:p>
            <a:endParaRPr lang="es-ES" sz="1400" b="1" dirty="0"/>
          </a:p>
          <a:p>
            <a:r>
              <a:rPr lang="es-ES" sz="1400" b="1" dirty="0"/>
              <a:t>Inteligencia Artificial</a:t>
            </a:r>
          </a:p>
          <a:p>
            <a:endParaRPr lang="es-ES" sz="1400" b="1" dirty="0"/>
          </a:p>
          <a:p>
            <a:r>
              <a:rPr lang="es-ES" sz="1400" b="1" dirty="0"/>
              <a:t>Desarrollo </a:t>
            </a:r>
            <a:r>
              <a:rPr lang="es-ES" sz="1400" b="1" dirty="0" err="1"/>
              <a:t>IoT</a:t>
            </a:r>
            <a:endParaRPr lang="es-ES" sz="1400" b="1" dirty="0"/>
          </a:p>
          <a:p>
            <a:endParaRPr lang="en-US" sz="1400" b="1" dirty="0"/>
          </a:p>
          <a:p>
            <a:r>
              <a:rPr lang="es-ES" sz="1400" b="1" dirty="0"/>
              <a:t>Interacción Humano-Computador</a:t>
            </a:r>
          </a:p>
          <a:p>
            <a:endParaRPr lang="es-ES" sz="1400" b="1" dirty="0"/>
          </a:p>
          <a:p>
            <a:r>
              <a:rPr lang="es-ES" sz="1400" b="1" dirty="0"/>
              <a:t>Sistema Nacional de Investigadores nivel Candidato</a:t>
            </a:r>
          </a:p>
          <a:p>
            <a:endParaRPr lang="es-ES" sz="1400" b="1" dirty="0"/>
          </a:p>
          <a:p>
            <a:endParaRPr lang="en-US" sz="1400" b="1" dirty="0"/>
          </a:p>
          <a:p>
            <a:endParaRPr lang="es-ES" sz="1400" dirty="0"/>
          </a:p>
          <a:p>
            <a:pPr marL="1066800" lvl="2" indent="0">
              <a:buNone/>
            </a:pPr>
            <a:endParaRPr lang="en-US" dirty="0"/>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Arial"/>
                <a:cs typeface="Arial"/>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INTRODUCCIÓN</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-Velocidades lineales y angulares</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56668" y="803001"/>
            <a:ext cx="0" cy="1220949"/>
          </a:xfrm>
          <a:prstGeom prst="straightConnector1">
            <a:avLst/>
          </a:prstGeom>
          <a:noFill/>
          <a:ln w="19050" cap="flat" cmpd="sng">
            <a:solidFill>
              <a:srgbClr val="F3F3F3"/>
            </a:solidFill>
            <a:prstDash val="solid"/>
            <a:round/>
            <a:headEnd type="oval" w="med" len="med"/>
            <a:tailEnd type="oval" w="med" len="med"/>
          </a:ln>
        </p:spPr>
      </p:cxnSp>
      <p:sp>
        <p:nvSpPr>
          <p:cNvPr id="9" name="Google Shape;1762;p45"/>
          <p:cNvSpPr txBox="1">
            <a:spLocks/>
          </p:cNvSpPr>
          <p:nvPr/>
        </p:nvSpPr>
        <p:spPr>
          <a:xfrm>
            <a:off x="5236368" y="2023951"/>
            <a:ext cx="3529109" cy="1692166"/>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pPr marL="152400" indent="0">
              <a:buNone/>
            </a:pPr>
            <a:r>
              <a:rPr lang="en-US" sz="1800" b="1" dirty="0">
                <a:solidFill>
                  <a:schemeClr val="bg1">
                    <a:lumMod val="60000"/>
                    <a:lumOff val="40000"/>
                  </a:schemeClr>
                </a:solidFill>
              </a:rPr>
              <a:t>Descripción:</a:t>
            </a:r>
            <a:r>
              <a:rPr lang="en-US" sz="1800" b="1" dirty="0"/>
              <a:t> </a:t>
            </a:r>
            <a:r>
              <a:rPr lang="es-ES" sz="1800" dirty="0"/>
              <a:t>MATLAB es un sistema de cómputo numérico que ofrece un entorno de desarrollo integrado con un lenguaje de programación propio. Está disponible para las plataformas Unix, Windows, macOS y GNU/Linux.</a:t>
            </a:r>
            <a:endParaRPr lang="en-US" dirty="0"/>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6" name="Picture 2" descr="¿Qué es MatLab?">
            <a:extLst>
              <a:ext uri="{FF2B5EF4-FFF2-40B4-BE49-F238E27FC236}">
                <a16:creationId xmlns:a16="http://schemas.microsoft.com/office/drawing/2014/main" id="{AC8F7071-3E3A-E149-6439-4C402A5F4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275" y="2259788"/>
            <a:ext cx="4361517" cy="213974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0730" y="686916"/>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MATLAB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5" name="Google Shape;258;p31">
            <a:extLst>
              <a:ext uri="{FF2B5EF4-FFF2-40B4-BE49-F238E27FC236}">
                <a16:creationId xmlns:a16="http://schemas.microsoft.com/office/drawing/2014/main" id="{AE568C45-5E3B-8636-464E-33F527E933AE}"/>
              </a:ext>
            </a:extLst>
          </p:cNvPr>
          <p:cNvCxnSpPr/>
          <p:nvPr/>
        </p:nvCxnSpPr>
        <p:spPr>
          <a:xfrm rot="16200000" flipH="1">
            <a:off x="3954105" y="3300959"/>
            <a:ext cx="2564526" cy="10510"/>
          </a:xfrm>
          <a:prstGeom prst="straightConnector1">
            <a:avLst/>
          </a:prstGeom>
          <a:noFill/>
          <a:ln w="19050" cap="flat" cmpd="sng">
            <a:solidFill>
              <a:srgbClr val="F3F3F3"/>
            </a:solidFill>
            <a:prstDash val="solid"/>
            <a:round/>
            <a:headEnd type="oval" w="med" len="med"/>
            <a:tailEnd type="oval" w="med" len="med"/>
          </a:ln>
        </p:spPr>
      </p:cxnSp>
    </p:spTree>
    <p:extLst>
      <p:ext uri="{BB962C8B-B14F-4D97-AF65-F5344CB8AC3E}">
        <p14:creationId xmlns:p14="http://schemas.microsoft.com/office/powerpoint/2010/main" val="2422623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966546" y="107969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Instalación</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2966546" y="1038742"/>
            <a:ext cx="0" cy="630600"/>
          </a:xfrm>
          <a:prstGeom prst="straightConnector1">
            <a:avLst/>
          </a:prstGeom>
          <a:noFill/>
          <a:ln w="19050" cap="flat" cmpd="sng">
            <a:solidFill>
              <a:srgbClr val="F3F3F3"/>
            </a:solidFill>
            <a:prstDash val="solid"/>
            <a:round/>
            <a:headEnd type="oval" w="med" len="med"/>
            <a:tailEnd type="oval" w="med" len="med"/>
          </a:ln>
        </p:spPr>
      </p:cxnSp>
      <p:sp>
        <p:nvSpPr>
          <p:cNvPr id="9" name="Google Shape;1762;p45"/>
          <p:cNvSpPr txBox="1">
            <a:spLocks/>
          </p:cNvSpPr>
          <p:nvPr/>
        </p:nvSpPr>
        <p:spPr>
          <a:xfrm>
            <a:off x="2440797" y="1480388"/>
            <a:ext cx="3836011" cy="922762"/>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800" b="1" dirty="0">
                <a:solidFill>
                  <a:schemeClr val="bg1">
                    <a:lumMod val="60000"/>
                    <a:lumOff val="40000"/>
                  </a:schemeClr>
                </a:solidFill>
              </a:rPr>
              <a:t>Paso 1:</a:t>
            </a:r>
            <a:r>
              <a:rPr lang="en-US" sz="1800" b="1" dirty="0"/>
              <a:t> </a:t>
            </a:r>
            <a:r>
              <a:rPr lang="es-ES" sz="1800" dirty="0"/>
              <a:t>Ingresar a Mi </a:t>
            </a:r>
            <a:r>
              <a:rPr lang="es-ES" sz="1800" dirty="0" err="1"/>
              <a:t>Tec</a:t>
            </a:r>
            <a:endParaRPr lang="es-ES" sz="1800" dirty="0"/>
          </a:p>
          <a:p>
            <a:pPr marL="1066800" lvl="2" indent="0">
              <a:buNone/>
            </a:pPr>
            <a:endParaRPr lang="en-US" dirty="0"/>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D82D8D49-AD43-DA09-67D4-057549AB8F9F}"/>
              </a:ext>
            </a:extLst>
          </p:cNvPr>
          <p:cNvPicPr>
            <a:picLocks noChangeAspect="1"/>
          </p:cNvPicPr>
          <p:nvPr/>
        </p:nvPicPr>
        <p:blipFill rotWithShape="1">
          <a:blip r:embed="rId4"/>
          <a:srcRect t="9781" b="7899"/>
          <a:stretch/>
        </p:blipFill>
        <p:spPr>
          <a:xfrm>
            <a:off x="2361831" y="2373216"/>
            <a:ext cx="4881595" cy="2259302"/>
          </a:xfrm>
          <a:prstGeom prst="rect">
            <a:avLst/>
          </a:prstGeom>
        </p:spPr>
      </p:pic>
      <p:pic>
        <p:nvPicPr>
          <p:cNvPr id="2" name="Picture 2" descr="¿Qué es MatLab?">
            <a:extLst>
              <a:ext uri="{FF2B5EF4-FFF2-40B4-BE49-F238E27FC236}">
                <a16:creationId xmlns:a16="http://schemas.microsoft.com/office/drawing/2014/main" id="{5FE0B830-7590-1667-D81E-B435B48B5D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973" y="723035"/>
            <a:ext cx="2572412" cy="126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271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9" name="Google Shape;1762;p45"/>
          <p:cNvSpPr txBox="1">
            <a:spLocks/>
          </p:cNvSpPr>
          <p:nvPr/>
        </p:nvSpPr>
        <p:spPr>
          <a:xfrm>
            <a:off x="2440797" y="1316266"/>
            <a:ext cx="5577788" cy="922762"/>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800" b="1" dirty="0">
                <a:solidFill>
                  <a:schemeClr val="bg1">
                    <a:lumMod val="60000"/>
                    <a:lumOff val="40000"/>
                  </a:schemeClr>
                </a:solidFill>
              </a:rPr>
              <a:t>Paso 2:</a:t>
            </a:r>
            <a:r>
              <a:rPr lang="en-US" sz="1800" b="1" dirty="0"/>
              <a:t> </a:t>
            </a:r>
            <a:r>
              <a:rPr lang="es-ES" sz="1800" dirty="0"/>
              <a:t>Ingresar a la opción </a:t>
            </a:r>
            <a:r>
              <a:rPr lang="es-ES" sz="1800" b="1" dirty="0"/>
              <a:t>“software institucional”</a:t>
            </a:r>
          </a:p>
          <a:p>
            <a:pPr marL="1066800" lvl="2" indent="0">
              <a:buNone/>
            </a:pPr>
            <a:endParaRPr lang="en-US" dirty="0"/>
          </a:p>
        </p:txBody>
      </p:sp>
      <p:pic>
        <p:nvPicPr>
          <p:cNvPr id="13" name="Imagen 12" descr="Interfaz de usuario gráfica, Aplicación, Teams&#10;&#10;El contenido generado por IA puede ser incorrecto.">
            <a:extLst>
              <a:ext uri="{FF2B5EF4-FFF2-40B4-BE49-F238E27FC236}">
                <a16:creationId xmlns:a16="http://schemas.microsoft.com/office/drawing/2014/main" id="{C4A5DE05-D09F-84CF-8A92-3BCCA2F03BE1}"/>
              </a:ext>
            </a:extLst>
          </p:cNvPr>
          <p:cNvPicPr>
            <a:picLocks noChangeAspect="1"/>
          </p:cNvPicPr>
          <p:nvPr/>
        </p:nvPicPr>
        <p:blipFill>
          <a:blip r:embed="rId4"/>
          <a:srcRect l="35565"/>
          <a:stretch>
            <a:fillRect/>
          </a:stretch>
        </p:blipFill>
        <p:spPr>
          <a:xfrm>
            <a:off x="3636578" y="2125445"/>
            <a:ext cx="3197872" cy="2849376"/>
          </a:xfrm>
          <a:prstGeom prst="rect">
            <a:avLst/>
          </a:prstGeom>
        </p:spPr>
      </p:pic>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10" name="Conector recto de flecha 9">
            <a:extLst>
              <a:ext uri="{FF2B5EF4-FFF2-40B4-BE49-F238E27FC236}">
                <a16:creationId xmlns:a16="http://schemas.microsoft.com/office/drawing/2014/main" id="{3D6971EC-976C-02E5-5E7B-2E3D04264374}"/>
              </a:ext>
            </a:extLst>
          </p:cNvPr>
          <p:cNvCxnSpPr>
            <a:cxnSpLocks/>
          </p:cNvCxnSpPr>
          <p:nvPr/>
        </p:nvCxnSpPr>
        <p:spPr>
          <a:xfrm flipH="1" flipV="1">
            <a:off x="5843903" y="4554030"/>
            <a:ext cx="1236835" cy="281354"/>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Google Shape;646;p33">
            <a:extLst>
              <a:ext uri="{FF2B5EF4-FFF2-40B4-BE49-F238E27FC236}">
                <a16:creationId xmlns:a16="http://schemas.microsoft.com/office/drawing/2014/main" id="{562CF3FF-D561-3311-A7AF-E164512C9FAD}"/>
              </a:ext>
            </a:extLst>
          </p:cNvPr>
          <p:cNvSpPr txBox="1">
            <a:spLocks/>
          </p:cNvSpPr>
          <p:nvPr/>
        </p:nvSpPr>
        <p:spPr>
          <a:xfrm>
            <a:off x="2966546" y="1079695"/>
            <a:ext cx="4897589" cy="5834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pPr algn="l"/>
            <a:r>
              <a:rPr lang="es-MX"/>
              <a:t>Instalación</a:t>
            </a:r>
            <a:endParaRPr lang="es-MX" dirty="0"/>
          </a:p>
        </p:txBody>
      </p:sp>
      <p:cxnSp>
        <p:nvCxnSpPr>
          <p:cNvPr id="5" name="Google Shape;137;p27">
            <a:extLst>
              <a:ext uri="{FF2B5EF4-FFF2-40B4-BE49-F238E27FC236}">
                <a16:creationId xmlns:a16="http://schemas.microsoft.com/office/drawing/2014/main" id="{F182C813-3B22-45E5-8991-B035786B42CE}"/>
              </a:ext>
            </a:extLst>
          </p:cNvPr>
          <p:cNvCxnSpPr/>
          <p:nvPr/>
        </p:nvCxnSpPr>
        <p:spPr>
          <a:xfrm>
            <a:off x="2966546" y="1038742"/>
            <a:ext cx="0" cy="630600"/>
          </a:xfrm>
          <a:prstGeom prst="straightConnector1">
            <a:avLst/>
          </a:prstGeom>
          <a:noFill/>
          <a:ln w="19050" cap="flat" cmpd="sng">
            <a:solidFill>
              <a:srgbClr val="F3F3F3"/>
            </a:solidFill>
            <a:prstDash val="solid"/>
            <a:round/>
            <a:headEnd type="oval" w="med" len="med"/>
            <a:tailEnd type="oval" w="med" len="med"/>
          </a:ln>
        </p:spPr>
      </p:cxnSp>
      <p:pic>
        <p:nvPicPr>
          <p:cNvPr id="11" name="Picture 2" descr="¿Qué es MatLab?">
            <a:extLst>
              <a:ext uri="{FF2B5EF4-FFF2-40B4-BE49-F238E27FC236}">
                <a16:creationId xmlns:a16="http://schemas.microsoft.com/office/drawing/2014/main" id="{ABBA14AB-BB8C-EB5C-A743-67941BE19B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973" y="723035"/>
            <a:ext cx="2572412" cy="126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620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13" name="Imagen 12" descr="Interfaz de usuario gráfica, Texto, Aplicación&#10;&#10;El contenido generado por IA puede ser incorrecto.">
            <a:extLst>
              <a:ext uri="{FF2B5EF4-FFF2-40B4-BE49-F238E27FC236}">
                <a16:creationId xmlns:a16="http://schemas.microsoft.com/office/drawing/2014/main" id="{3B4A977D-DCD0-84C2-38C8-C33AD8D7659D}"/>
              </a:ext>
            </a:extLst>
          </p:cNvPr>
          <p:cNvPicPr>
            <a:picLocks noChangeAspect="1"/>
          </p:cNvPicPr>
          <p:nvPr/>
        </p:nvPicPr>
        <p:blipFill>
          <a:blip r:embed="rId3"/>
          <a:stretch>
            <a:fillRect/>
          </a:stretch>
        </p:blipFill>
        <p:spPr>
          <a:xfrm>
            <a:off x="3180006" y="2146376"/>
            <a:ext cx="4470668" cy="2667901"/>
          </a:xfrm>
          <a:prstGeom prst="rect">
            <a:avLst/>
          </a:prstGeom>
        </p:spPr>
      </p:pic>
      <p:pic>
        <p:nvPicPr>
          <p:cNvPr id="6"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
        <p:nvSpPr>
          <p:cNvPr id="9" name="Google Shape;1762;p45"/>
          <p:cNvSpPr txBox="1">
            <a:spLocks/>
          </p:cNvSpPr>
          <p:nvPr/>
        </p:nvSpPr>
        <p:spPr>
          <a:xfrm>
            <a:off x="2440797" y="1316266"/>
            <a:ext cx="5577788" cy="922762"/>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800" b="1" dirty="0">
                <a:solidFill>
                  <a:schemeClr val="bg1">
                    <a:lumMod val="60000"/>
                    <a:lumOff val="40000"/>
                  </a:schemeClr>
                </a:solidFill>
              </a:rPr>
              <a:t>Paso 3:</a:t>
            </a:r>
            <a:r>
              <a:rPr lang="en-US" sz="1800" b="1" dirty="0"/>
              <a:t> </a:t>
            </a:r>
            <a:r>
              <a:rPr lang="es-ES" sz="1800" dirty="0"/>
              <a:t>Ingresar a la opción </a:t>
            </a:r>
            <a:r>
              <a:rPr lang="es-ES" sz="1800" b="1" dirty="0"/>
              <a:t>“software Institucional”</a:t>
            </a:r>
          </a:p>
          <a:p>
            <a:pPr marL="1066800" lvl="2" indent="0">
              <a:buNone/>
            </a:pPr>
            <a:endParaRPr lang="en-US" dirty="0"/>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10" name="Conector recto de flecha 9">
            <a:extLst>
              <a:ext uri="{FF2B5EF4-FFF2-40B4-BE49-F238E27FC236}">
                <a16:creationId xmlns:a16="http://schemas.microsoft.com/office/drawing/2014/main" id="{3D6971EC-976C-02E5-5E7B-2E3D04264374}"/>
              </a:ext>
            </a:extLst>
          </p:cNvPr>
          <p:cNvCxnSpPr/>
          <p:nvPr/>
        </p:nvCxnSpPr>
        <p:spPr>
          <a:xfrm flipH="1" flipV="1">
            <a:off x="7316765" y="4267364"/>
            <a:ext cx="890953" cy="281354"/>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646;p33">
            <a:extLst>
              <a:ext uri="{FF2B5EF4-FFF2-40B4-BE49-F238E27FC236}">
                <a16:creationId xmlns:a16="http://schemas.microsoft.com/office/drawing/2014/main" id="{12F8E5C6-2B22-1F7A-348D-9FE56F6017B1}"/>
              </a:ext>
            </a:extLst>
          </p:cNvPr>
          <p:cNvSpPr txBox="1">
            <a:spLocks noGrp="1"/>
          </p:cNvSpPr>
          <p:nvPr>
            <p:ph type="title"/>
          </p:nvPr>
        </p:nvSpPr>
        <p:spPr>
          <a:xfrm>
            <a:off x="2966546" y="107969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Instalación</a:t>
            </a:r>
            <a:endParaRPr dirty="0"/>
          </a:p>
        </p:txBody>
      </p:sp>
      <p:cxnSp>
        <p:nvCxnSpPr>
          <p:cNvPr id="5" name="Google Shape;137;p27">
            <a:extLst>
              <a:ext uri="{FF2B5EF4-FFF2-40B4-BE49-F238E27FC236}">
                <a16:creationId xmlns:a16="http://schemas.microsoft.com/office/drawing/2014/main" id="{94D4E254-77AE-D669-5A1F-C811F7E14FCA}"/>
              </a:ext>
            </a:extLst>
          </p:cNvPr>
          <p:cNvCxnSpPr/>
          <p:nvPr/>
        </p:nvCxnSpPr>
        <p:spPr>
          <a:xfrm>
            <a:off x="2966546" y="1038742"/>
            <a:ext cx="0" cy="630600"/>
          </a:xfrm>
          <a:prstGeom prst="straightConnector1">
            <a:avLst/>
          </a:prstGeom>
          <a:noFill/>
          <a:ln w="19050" cap="flat" cmpd="sng">
            <a:solidFill>
              <a:srgbClr val="F3F3F3"/>
            </a:solidFill>
            <a:prstDash val="solid"/>
            <a:round/>
            <a:headEnd type="oval" w="med" len="med"/>
            <a:tailEnd type="oval" w="med" len="med"/>
          </a:ln>
        </p:spPr>
      </p:cxnSp>
      <p:pic>
        <p:nvPicPr>
          <p:cNvPr id="11" name="Picture 2" descr="¿Qué es MatLab?">
            <a:extLst>
              <a:ext uri="{FF2B5EF4-FFF2-40B4-BE49-F238E27FC236}">
                <a16:creationId xmlns:a16="http://schemas.microsoft.com/office/drawing/2014/main" id="{C76523C1-3A4E-534F-347F-D95C2A179F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973" y="723035"/>
            <a:ext cx="2572412" cy="126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381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9" name="Google Shape;1762;p45"/>
          <p:cNvSpPr txBox="1">
            <a:spLocks/>
          </p:cNvSpPr>
          <p:nvPr/>
        </p:nvSpPr>
        <p:spPr>
          <a:xfrm>
            <a:off x="2475966" y="1428720"/>
            <a:ext cx="5918060" cy="922762"/>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800" b="1" dirty="0">
                <a:solidFill>
                  <a:schemeClr val="bg1">
                    <a:lumMod val="60000"/>
                    <a:lumOff val="40000"/>
                  </a:schemeClr>
                </a:solidFill>
              </a:rPr>
              <a:t>Paso 4:</a:t>
            </a:r>
            <a:r>
              <a:rPr lang="en-US" sz="1800" b="1" dirty="0"/>
              <a:t> </a:t>
            </a:r>
            <a:r>
              <a:rPr lang="es-ES" sz="1800" dirty="0"/>
              <a:t>Ingresar a la opción </a:t>
            </a:r>
            <a:r>
              <a:rPr lang="es-ES" sz="1800" b="1" dirty="0"/>
              <a:t>“Software” </a:t>
            </a:r>
            <a:r>
              <a:rPr lang="es-ES" sz="1800" dirty="0"/>
              <a:t>y habilitar </a:t>
            </a:r>
            <a:r>
              <a:rPr lang="es-ES" sz="1800" b="1" dirty="0"/>
              <a:t>“No”</a:t>
            </a:r>
          </a:p>
          <a:p>
            <a:pPr marL="1066800" lvl="2" indent="0">
              <a:buNone/>
            </a:pPr>
            <a:endParaRPr lang="en-US" dirty="0"/>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10" name="Conector recto de flecha 9">
            <a:extLst>
              <a:ext uri="{FF2B5EF4-FFF2-40B4-BE49-F238E27FC236}">
                <a16:creationId xmlns:a16="http://schemas.microsoft.com/office/drawing/2014/main" id="{3D6971EC-976C-02E5-5E7B-2E3D04264374}"/>
              </a:ext>
            </a:extLst>
          </p:cNvPr>
          <p:cNvCxnSpPr>
            <a:cxnSpLocks/>
          </p:cNvCxnSpPr>
          <p:nvPr/>
        </p:nvCxnSpPr>
        <p:spPr>
          <a:xfrm flipH="1" flipV="1">
            <a:off x="8394026" y="2654792"/>
            <a:ext cx="457872" cy="434077"/>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646;p33">
            <a:extLst>
              <a:ext uri="{FF2B5EF4-FFF2-40B4-BE49-F238E27FC236}">
                <a16:creationId xmlns:a16="http://schemas.microsoft.com/office/drawing/2014/main" id="{5623B46F-1853-0FFA-CB43-1D88759D0089}"/>
              </a:ext>
            </a:extLst>
          </p:cNvPr>
          <p:cNvSpPr txBox="1">
            <a:spLocks/>
          </p:cNvSpPr>
          <p:nvPr/>
        </p:nvSpPr>
        <p:spPr>
          <a:xfrm>
            <a:off x="2966546" y="1079695"/>
            <a:ext cx="4897589" cy="5834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pPr algn="l"/>
            <a:r>
              <a:rPr lang="es-MX"/>
              <a:t>Instalación</a:t>
            </a:r>
            <a:endParaRPr lang="es-MX" dirty="0"/>
          </a:p>
        </p:txBody>
      </p:sp>
      <p:cxnSp>
        <p:nvCxnSpPr>
          <p:cNvPr id="5" name="Google Shape;137;p27">
            <a:extLst>
              <a:ext uri="{FF2B5EF4-FFF2-40B4-BE49-F238E27FC236}">
                <a16:creationId xmlns:a16="http://schemas.microsoft.com/office/drawing/2014/main" id="{1553675F-9A17-AA75-E696-E6D1431418CF}"/>
              </a:ext>
            </a:extLst>
          </p:cNvPr>
          <p:cNvCxnSpPr/>
          <p:nvPr/>
        </p:nvCxnSpPr>
        <p:spPr>
          <a:xfrm>
            <a:off x="2966546" y="1038742"/>
            <a:ext cx="0" cy="630600"/>
          </a:xfrm>
          <a:prstGeom prst="straightConnector1">
            <a:avLst/>
          </a:prstGeom>
          <a:noFill/>
          <a:ln w="19050" cap="flat" cmpd="sng">
            <a:solidFill>
              <a:srgbClr val="F3F3F3"/>
            </a:solidFill>
            <a:prstDash val="solid"/>
            <a:round/>
            <a:headEnd type="oval" w="med" len="med"/>
            <a:tailEnd type="oval" w="med" len="med"/>
          </a:ln>
        </p:spPr>
      </p:cxnSp>
      <p:pic>
        <p:nvPicPr>
          <p:cNvPr id="11" name="Picture 2" descr="¿Qué es MatLab?">
            <a:extLst>
              <a:ext uri="{FF2B5EF4-FFF2-40B4-BE49-F238E27FC236}">
                <a16:creationId xmlns:a16="http://schemas.microsoft.com/office/drawing/2014/main" id="{FAC5E0A2-2D7A-9A08-E6F2-D718312EFF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973" y="723035"/>
            <a:ext cx="2572412" cy="126201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descr="Interfaz de usuario gráfica, Aplicación, Sitio web&#10;&#10;El contenido generado por IA puede ser incorrecto.">
            <a:extLst>
              <a:ext uri="{FF2B5EF4-FFF2-40B4-BE49-F238E27FC236}">
                <a16:creationId xmlns:a16="http://schemas.microsoft.com/office/drawing/2014/main" id="{DB26619B-E354-C1E5-CCEA-A43C3378D21E}"/>
              </a:ext>
            </a:extLst>
          </p:cNvPr>
          <p:cNvPicPr>
            <a:picLocks noChangeAspect="1"/>
          </p:cNvPicPr>
          <p:nvPr/>
        </p:nvPicPr>
        <p:blipFill>
          <a:blip r:embed="rId5"/>
          <a:stretch>
            <a:fillRect/>
          </a:stretch>
        </p:blipFill>
        <p:spPr>
          <a:xfrm>
            <a:off x="3183849" y="2288893"/>
            <a:ext cx="4680286" cy="2533193"/>
          </a:xfrm>
          <a:prstGeom prst="rect">
            <a:avLst/>
          </a:prstGeom>
        </p:spPr>
      </p:pic>
    </p:spTree>
    <p:extLst>
      <p:ext uri="{BB962C8B-B14F-4D97-AF65-F5344CB8AC3E}">
        <p14:creationId xmlns:p14="http://schemas.microsoft.com/office/powerpoint/2010/main" val="3302213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8" name="Imagen 7" descr="Interfaz de usuario gráfica&#10;&#10;El contenido generado por IA puede ser incorrecto.">
            <a:extLst>
              <a:ext uri="{FF2B5EF4-FFF2-40B4-BE49-F238E27FC236}">
                <a16:creationId xmlns:a16="http://schemas.microsoft.com/office/drawing/2014/main" id="{04354470-B499-1680-4039-DAE87461E045}"/>
              </a:ext>
            </a:extLst>
          </p:cNvPr>
          <p:cNvPicPr>
            <a:picLocks noChangeAspect="1"/>
          </p:cNvPicPr>
          <p:nvPr/>
        </p:nvPicPr>
        <p:blipFill>
          <a:blip r:embed="rId3"/>
          <a:stretch>
            <a:fillRect/>
          </a:stretch>
        </p:blipFill>
        <p:spPr>
          <a:xfrm>
            <a:off x="3378407" y="2129390"/>
            <a:ext cx="4444296" cy="2793394"/>
          </a:xfrm>
          <a:prstGeom prst="rect">
            <a:avLst/>
          </a:prstGeom>
        </p:spPr>
      </p:pic>
      <p:pic>
        <p:nvPicPr>
          <p:cNvPr id="6"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
        <p:nvSpPr>
          <p:cNvPr id="9" name="Google Shape;1762;p45"/>
          <p:cNvSpPr txBox="1">
            <a:spLocks/>
          </p:cNvSpPr>
          <p:nvPr/>
        </p:nvSpPr>
        <p:spPr>
          <a:xfrm>
            <a:off x="2440797" y="1316266"/>
            <a:ext cx="5577788" cy="922762"/>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800" b="1" dirty="0">
                <a:solidFill>
                  <a:schemeClr val="bg1">
                    <a:lumMod val="60000"/>
                    <a:lumOff val="40000"/>
                  </a:schemeClr>
                </a:solidFill>
              </a:rPr>
              <a:t>Paso 5:</a:t>
            </a:r>
            <a:r>
              <a:rPr lang="en-US" sz="1800" b="1" dirty="0"/>
              <a:t> </a:t>
            </a:r>
            <a:r>
              <a:rPr lang="es-ES" sz="1800" b="1" dirty="0"/>
              <a:t>Seleccionar la opción “Ver mas”</a:t>
            </a:r>
          </a:p>
          <a:p>
            <a:pPr marL="1066800" lvl="2" indent="0">
              <a:buNone/>
            </a:pPr>
            <a:endParaRPr lang="en-US" dirty="0"/>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10" name="Conector recto de flecha 9">
            <a:extLst>
              <a:ext uri="{FF2B5EF4-FFF2-40B4-BE49-F238E27FC236}">
                <a16:creationId xmlns:a16="http://schemas.microsoft.com/office/drawing/2014/main" id="{3D6971EC-976C-02E5-5E7B-2E3D04264374}"/>
              </a:ext>
            </a:extLst>
          </p:cNvPr>
          <p:cNvCxnSpPr>
            <a:cxnSpLocks/>
          </p:cNvCxnSpPr>
          <p:nvPr/>
        </p:nvCxnSpPr>
        <p:spPr>
          <a:xfrm flipH="1" flipV="1">
            <a:off x="5739046" y="4671578"/>
            <a:ext cx="802431" cy="361564"/>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Google Shape;646;p33">
            <a:extLst>
              <a:ext uri="{FF2B5EF4-FFF2-40B4-BE49-F238E27FC236}">
                <a16:creationId xmlns:a16="http://schemas.microsoft.com/office/drawing/2014/main" id="{47174AA2-491A-D8CA-4ED5-7068FD2DDD0E}"/>
              </a:ext>
            </a:extLst>
          </p:cNvPr>
          <p:cNvSpPr txBox="1">
            <a:spLocks/>
          </p:cNvSpPr>
          <p:nvPr/>
        </p:nvSpPr>
        <p:spPr>
          <a:xfrm>
            <a:off x="2966546" y="1079695"/>
            <a:ext cx="4897589" cy="5834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pPr algn="l"/>
            <a:r>
              <a:rPr lang="es-MX"/>
              <a:t>Instalación</a:t>
            </a:r>
            <a:endParaRPr lang="es-MX" dirty="0"/>
          </a:p>
        </p:txBody>
      </p:sp>
      <p:cxnSp>
        <p:nvCxnSpPr>
          <p:cNvPr id="5" name="Google Shape;137;p27">
            <a:extLst>
              <a:ext uri="{FF2B5EF4-FFF2-40B4-BE49-F238E27FC236}">
                <a16:creationId xmlns:a16="http://schemas.microsoft.com/office/drawing/2014/main" id="{E2D07A7B-A928-BA89-4060-F1819C0D2576}"/>
              </a:ext>
            </a:extLst>
          </p:cNvPr>
          <p:cNvCxnSpPr/>
          <p:nvPr/>
        </p:nvCxnSpPr>
        <p:spPr>
          <a:xfrm>
            <a:off x="2966546" y="1038742"/>
            <a:ext cx="0" cy="630600"/>
          </a:xfrm>
          <a:prstGeom prst="straightConnector1">
            <a:avLst/>
          </a:prstGeom>
          <a:noFill/>
          <a:ln w="19050" cap="flat" cmpd="sng">
            <a:solidFill>
              <a:srgbClr val="F3F3F3"/>
            </a:solidFill>
            <a:prstDash val="solid"/>
            <a:round/>
            <a:headEnd type="oval" w="med" len="med"/>
            <a:tailEnd type="oval" w="med" len="med"/>
          </a:ln>
        </p:spPr>
      </p:cxnSp>
      <p:pic>
        <p:nvPicPr>
          <p:cNvPr id="11" name="Picture 2" descr="¿Qué es MatLab?">
            <a:extLst>
              <a:ext uri="{FF2B5EF4-FFF2-40B4-BE49-F238E27FC236}">
                <a16:creationId xmlns:a16="http://schemas.microsoft.com/office/drawing/2014/main" id="{E8E3EF3F-C0AC-8F41-7406-AA350E3D9D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973" y="723035"/>
            <a:ext cx="2572412" cy="126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194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5">
          <a:extLst>
            <a:ext uri="{FF2B5EF4-FFF2-40B4-BE49-F238E27FC236}">
              <a16:creationId xmlns:a16="http://schemas.microsoft.com/office/drawing/2014/main" id="{FCFDA515-BF87-B5ED-ADFB-4CD8E88689E7}"/>
            </a:ext>
          </a:extLst>
        </p:cNvPr>
        <p:cNvGrpSpPr/>
        <p:nvPr/>
      </p:nvGrpSpPr>
      <p:grpSpPr>
        <a:xfrm>
          <a:off x="0" y="0"/>
          <a:ext cx="0" cy="0"/>
          <a:chOff x="0" y="0"/>
          <a:chExt cx="0" cy="0"/>
        </a:xfrm>
      </p:grpSpPr>
      <p:pic>
        <p:nvPicPr>
          <p:cNvPr id="4" name="Imagen 3" descr="Interfaz de usuario gráfica, Aplicación&#10;&#10;El contenido generado por IA puede ser incorrecto.">
            <a:extLst>
              <a:ext uri="{FF2B5EF4-FFF2-40B4-BE49-F238E27FC236}">
                <a16:creationId xmlns:a16="http://schemas.microsoft.com/office/drawing/2014/main" id="{A9515B75-48FD-A179-83ED-FD6D937EEAA7}"/>
              </a:ext>
            </a:extLst>
          </p:cNvPr>
          <p:cNvPicPr>
            <a:picLocks noChangeAspect="1"/>
          </p:cNvPicPr>
          <p:nvPr/>
        </p:nvPicPr>
        <p:blipFill>
          <a:blip r:embed="rId3"/>
          <a:srcRect l="20642" t="8443"/>
          <a:stretch>
            <a:fillRect/>
          </a:stretch>
        </p:blipFill>
        <p:spPr>
          <a:xfrm>
            <a:off x="4332501" y="2261427"/>
            <a:ext cx="1798668" cy="2814910"/>
          </a:xfrm>
          <a:prstGeom prst="rect">
            <a:avLst/>
          </a:prstGeom>
        </p:spPr>
      </p:pic>
      <p:pic>
        <p:nvPicPr>
          <p:cNvPr id="6" name="Picture 4" descr="The Learning Gate | Tec de Monterrey">
            <a:extLst>
              <a:ext uri="{FF2B5EF4-FFF2-40B4-BE49-F238E27FC236}">
                <a16:creationId xmlns:a16="http://schemas.microsoft.com/office/drawing/2014/main" id="{4B58A351-5805-D273-F18F-3CC2607DEA4F}"/>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
        <p:nvSpPr>
          <p:cNvPr id="9" name="Google Shape;1762;p45">
            <a:extLst>
              <a:ext uri="{FF2B5EF4-FFF2-40B4-BE49-F238E27FC236}">
                <a16:creationId xmlns:a16="http://schemas.microsoft.com/office/drawing/2014/main" id="{A4485CA0-D2C7-3AF2-C3A6-AAED51F2BC52}"/>
              </a:ext>
            </a:extLst>
          </p:cNvPr>
          <p:cNvSpPr txBox="1">
            <a:spLocks/>
          </p:cNvSpPr>
          <p:nvPr/>
        </p:nvSpPr>
        <p:spPr>
          <a:xfrm>
            <a:off x="2440797" y="1316266"/>
            <a:ext cx="5577788" cy="922762"/>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800" b="1" dirty="0">
                <a:solidFill>
                  <a:schemeClr val="bg1">
                    <a:lumMod val="60000"/>
                    <a:lumOff val="40000"/>
                  </a:schemeClr>
                </a:solidFill>
              </a:rPr>
              <a:t>Paso 6:</a:t>
            </a:r>
            <a:r>
              <a:rPr lang="en-US" sz="1800" b="1" dirty="0"/>
              <a:t> </a:t>
            </a:r>
            <a:r>
              <a:rPr lang="es-ES" sz="1800" b="1" dirty="0"/>
              <a:t>Seleccionar la opción “Acceso vía WEB” en formas de obtener</a:t>
            </a:r>
          </a:p>
          <a:p>
            <a:pPr marL="1066800" lvl="2" indent="0">
              <a:buNone/>
            </a:pPr>
            <a:endParaRPr lang="en-US" dirty="0"/>
          </a:p>
        </p:txBody>
      </p:sp>
      <p:sp>
        <p:nvSpPr>
          <p:cNvPr id="7" name="Google Shape;136;p27">
            <a:extLst>
              <a:ext uri="{FF2B5EF4-FFF2-40B4-BE49-F238E27FC236}">
                <a16:creationId xmlns:a16="http://schemas.microsoft.com/office/drawing/2014/main" id="{35BA992D-DC16-DEDE-31C6-F33E86C4351C}"/>
              </a:ext>
            </a:extLst>
          </p:cNvPr>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10" name="Conector recto de flecha 9">
            <a:extLst>
              <a:ext uri="{FF2B5EF4-FFF2-40B4-BE49-F238E27FC236}">
                <a16:creationId xmlns:a16="http://schemas.microsoft.com/office/drawing/2014/main" id="{C49507FF-051B-27D9-7C35-178975040FB7}"/>
              </a:ext>
            </a:extLst>
          </p:cNvPr>
          <p:cNvCxnSpPr>
            <a:cxnSpLocks/>
          </p:cNvCxnSpPr>
          <p:nvPr/>
        </p:nvCxnSpPr>
        <p:spPr>
          <a:xfrm flipH="1" flipV="1">
            <a:off x="5795959" y="2685407"/>
            <a:ext cx="1097139" cy="438132"/>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Google Shape;646;p33">
            <a:extLst>
              <a:ext uri="{FF2B5EF4-FFF2-40B4-BE49-F238E27FC236}">
                <a16:creationId xmlns:a16="http://schemas.microsoft.com/office/drawing/2014/main" id="{1AAC20CF-8F32-7555-9319-01E4FDC18C58}"/>
              </a:ext>
            </a:extLst>
          </p:cNvPr>
          <p:cNvSpPr txBox="1">
            <a:spLocks/>
          </p:cNvSpPr>
          <p:nvPr/>
        </p:nvSpPr>
        <p:spPr>
          <a:xfrm>
            <a:off x="2966546" y="1079695"/>
            <a:ext cx="4897589" cy="5834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pPr algn="l"/>
            <a:r>
              <a:rPr lang="es-MX"/>
              <a:t>Instalación</a:t>
            </a:r>
            <a:endParaRPr lang="es-MX" dirty="0"/>
          </a:p>
        </p:txBody>
      </p:sp>
      <p:cxnSp>
        <p:nvCxnSpPr>
          <p:cNvPr id="5" name="Google Shape;137;p27">
            <a:extLst>
              <a:ext uri="{FF2B5EF4-FFF2-40B4-BE49-F238E27FC236}">
                <a16:creationId xmlns:a16="http://schemas.microsoft.com/office/drawing/2014/main" id="{46286182-97E2-ED22-EEC7-032F8427BA8C}"/>
              </a:ext>
            </a:extLst>
          </p:cNvPr>
          <p:cNvCxnSpPr/>
          <p:nvPr/>
        </p:nvCxnSpPr>
        <p:spPr>
          <a:xfrm>
            <a:off x="2966546" y="1038742"/>
            <a:ext cx="0" cy="630600"/>
          </a:xfrm>
          <a:prstGeom prst="straightConnector1">
            <a:avLst/>
          </a:prstGeom>
          <a:noFill/>
          <a:ln w="19050" cap="flat" cmpd="sng">
            <a:solidFill>
              <a:srgbClr val="F3F3F3"/>
            </a:solidFill>
            <a:prstDash val="solid"/>
            <a:round/>
            <a:headEnd type="oval" w="med" len="med"/>
            <a:tailEnd type="oval" w="med" len="med"/>
          </a:ln>
        </p:spPr>
      </p:cxnSp>
      <p:pic>
        <p:nvPicPr>
          <p:cNvPr id="11" name="Picture 2" descr="¿Qué es MatLab?">
            <a:extLst>
              <a:ext uri="{FF2B5EF4-FFF2-40B4-BE49-F238E27FC236}">
                <a16:creationId xmlns:a16="http://schemas.microsoft.com/office/drawing/2014/main" id="{C2F47AAE-99AF-E584-5B57-7F9CF91F2A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973" y="723035"/>
            <a:ext cx="2572412" cy="126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732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5">
          <a:extLst>
            <a:ext uri="{FF2B5EF4-FFF2-40B4-BE49-F238E27FC236}">
              <a16:creationId xmlns:a16="http://schemas.microsoft.com/office/drawing/2014/main" id="{710F1165-ACE3-3DBF-D07C-671C11D895AA}"/>
            </a:ext>
          </a:extLst>
        </p:cNvPr>
        <p:cNvGrpSpPr/>
        <p:nvPr/>
      </p:nvGrpSpPr>
      <p:grpSpPr>
        <a:xfrm>
          <a:off x="0" y="0"/>
          <a:ext cx="0" cy="0"/>
          <a:chOff x="0" y="0"/>
          <a:chExt cx="0" cy="0"/>
        </a:xfrm>
      </p:grpSpPr>
      <p:pic>
        <p:nvPicPr>
          <p:cNvPr id="6" name="Picture 4" descr="The Learning Gate | Tec de Monterrey">
            <a:extLst>
              <a:ext uri="{FF2B5EF4-FFF2-40B4-BE49-F238E27FC236}">
                <a16:creationId xmlns:a16="http://schemas.microsoft.com/office/drawing/2014/main" id="{0BBDDF25-BACC-EB65-8A3F-BF378C9EFBD1}"/>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9" name="Google Shape;1762;p45">
            <a:extLst>
              <a:ext uri="{FF2B5EF4-FFF2-40B4-BE49-F238E27FC236}">
                <a16:creationId xmlns:a16="http://schemas.microsoft.com/office/drawing/2014/main" id="{702A353C-72B4-82A6-637F-4708FDBC7CCF}"/>
              </a:ext>
            </a:extLst>
          </p:cNvPr>
          <p:cNvSpPr txBox="1">
            <a:spLocks/>
          </p:cNvSpPr>
          <p:nvPr/>
        </p:nvSpPr>
        <p:spPr>
          <a:xfrm>
            <a:off x="2440797" y="1316266"/>
            <a:ext cx="5577788" cy="922762"/>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800" b="1" dirty="0">
                <a:solidFill>
                  <a:schemeClr val="bg1">
                    <a:lumMod val="60000"/>
                    <a:lumOff val="40000"/>
                  </a:schemeClr>
                </a:solidFill>
              </a:rPr>
              <a:t>Paso 7:</a:t>
            </a:r>
            <a:r>
              <a:rPr lang="en-US" sz="1800" b="1" dirty="0"/>
              <a:t> </a:t>
            </a:r>
            <a:r>
              <a:rPr lang="es-ES" sz="1800" b="1" dirty="0"/>
              <a:t>Ingresa con tus credenciales y sigue los pasos para la instalación</a:t>
            </a:r>
          </a:p>
          <a:p>
            <a:pPr marL="1066800" lvl="2" indent="0">
              <a:buNone/>
            </a:pPr>
            <a:endParaRPr lang="en-US" dirty="0"/>
          </a:p>
        </p:txBody>
      </p:sp>
      <p:sp>
        <p:nvSpPr>
          <p:cNvPr id="7" name="Google Shape;136;p27">
            <a:extLst>
              <a:ext uri="{FF2B5EF4-FFF2-40B4-BE49-F238E27FC236}">
                <a16:creationId xmlns:a16="http://schemas.microsoft.com/office/drawing/2014/main" id="{6B95A223-77B2-7F47-39B7-4CF5763C741D}"/>
              </a:ext>
            </a:extLst>
          </p:cNvPr>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10" name="Conector recto de flecha 9">
            <a:extLst>
              <a:ext uri="{FF2B5EF4-FFF2-40B4-BE49-F238E27FC236}">
                <a16:creationId xmlns:a16="http://schemas.microsoft.com/office/drawing/2014/main" id="{4DB575CA-9583-2338-06BF-85C21D99886D}"/>
              </a:ext>
            </a:extLst>
          </p:cNvPr>
          <p:cNvCxnSpPr>
            <a:cxnSpLocks/>
          </p:cNvCxnSpPr>
          <p:nvPr/>
        </p:nvCxnSpPr>
        <p:spPr>
          <a:xfrm flipH="1" flipV="1">
            <a:off x="5795959" y="2685407"/>
            <a:ext cx="1097139" cy="438132"/>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Google Shape;646;p33">
            <a:extLst>
              <a:ext uri="{FF2B5EF4-FFF2-40B4-BE49-F238E27FC236}">
                <a16:creationId xmlns:a16="http://schemas.microsoft.com/office/drawing/2014/main" id="{1B366FBC-7778-45FE-50D6-0AE829AE333F}"/>
              </a:ext>
            </a:extLst>
          </p:cNvPr>
          <p:cNvSpPr txBox="1">
            <a:spLocks/>
          </p:cNvSpPr>
          <p:nvPr/>
        </p:nvSpPr>
        <p:spPr>
          <a:xfrm>
            <a:off x="2966546" y="1079695"/>
            <a:ext cx="4897589" cy="5834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pPr algn="l"/>
            <a:r>
              <a:rPr lang="es-MX" dirty="0"/>
              <a:t>Instalación</a:t>
            </a:r>
          </a:p>
        </p:txBody>
      </p:sp>
      <p:cxnSp>
        <p:nvCxnSpPr>
          <p:cNvPr id="5" name="Google Shape;137;p27">
            <a:extLst>
              <a:ext uri="{FF2B5EF4-FFF2-40B4-BE49-F238E27FC236}">
                <a16:creationId xmlns:a16="http://schemas.microsoft.com/office/drawing/2014/main" id="{F77E405E-8B2D-32FE-6EA8-4E2EDB0FDA88}"/>
              </a:ext>
            </a:extLst>
          </p:cNvPr>
          <p:cNvCxnSpPr/>
          <p:nvPr/>
        </p:nvCxnSpPr>
        <p:spPr>
          <a:xfrm>
            <a:off x="2966546" y="1038742"/>
            <a:ext cx="0" cy="630600"/>
          </a:xfrm>
          <a:prstGeom prst="straightConnector1">
            <a:avLst/>
          </a:prstGeom>
          <a:noFill/>
          <a:ln w="19050" cap="flat" cmpd="sng">
            <a:solidFill>
              <a:srgbClr val="F3F3F3"/>
            </a:solidFill>
            <a:prstDash val="solid"/>
            <a:round/>
            <a:headEnd type="oval" w="med" len="med"/>
            <a:tailEnd type="oval" w="med" len="med"/>
          </a:ln>
        </p:spPr>
      </p:cxnSp>
      <p:pic>
        <p:nvPicPr>
          <p:cNvPr id="11" name="Picture 2" descr="¿Qué es MatLab?">
            <a:extLst>
              <a:ext uri="{FF2B5EF4-FFF2-40B4-BE49-F238E27FC236}">
                <a16:creationId xmlns:a16="http://schemas.microsoft.com/office/drawing/2014/main" id="{DFC3267B-7B9B-0B94-DFB9-626F555E08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973" y="723035"/>
            <a:ext cx="2572412" cy="126201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descr="Interfaz de usuario gráfica, Texto, Aplicación, Chat o mensaje de texto&#10;&#10;El contenido generado por IA puede ser incorrecto.">
            <a:extLst>
              <a:ext uri="{FF2B5EF4-FFF2-40B4-BE49-F238E27FC236}">
                <a16:creationId xmlns:a16="http://schemas.microsoft.com/office/drawing/2014/main" id="{5E7BC7F3-6442-49B8-AA59-FC5B80C19A44}"/>
              </a:ext>
            </a:extLst>
          </p:cNvPr>
          <p:cNvPicPr>
            <a:picLocks noChangeAspect="1"/>
          </p:cNvPicPr>
          <p:nvPr/>
        </p:nvPicPr>
        <p:blipFill>
          <a:blip r:embed="rId5"/>
          <a:stretch>
            <a:fillRect/>
          </a:stretch>
        </p:blipFill>
        <p:spPr>
          <a:xfrm>
            <a:off x="3210789" y="2353300"/>
            <a:ext cx="4807796" cy="2679842"/>
          </a:xfrm>
          <a:prstGeom prst="rect">
            <a:avLst/>
          </a:prstGeom>
        </p:spPr>
      </p:pic>
    </p:spTree>
    <p:extLst>
      <p:ext uri="{BB962C8B-B14F-4D97-AF65-F5344CB8AC3E}">
        <p14:creationId xmlns:p14="http://schemas.microsoft.com/office/powerpoint/2010/main" val="284592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pic>
        <p:nvPicPr>
          <p:cNvPr id="2050" name="Picture 2" descr="Qué es GitHub y por qué es útil al aprender programación | HACK A BOSS"/>
          <p:cNvPicPr>
            <a:picLocks noChangeAspect="1" noChangeArrowheads="1"/>
          </p:cNvPicPr>
          <p:nvPr/>
        </p:nvPicPr>
        <p:blipFill>
          <a:blip r:embed="rId4"/>
          <a:srcRect/>
          <a:stretch>
            <a:fillRect/>
          </a:stretch>
        </p:blipFill>
        <p:spPr bwMode="auto">
          <a:xfrm>
            <a:off x="457165" y="1990704"/>
            <a:ext cx="4346064" cy="2444661"/>
          </a:xfrm>
          <a:prstGeom prst="rect">
            <a:avLst/>
          </a:prstGeom>
          <a:noFill/>
        </p:spPr>
      </p:pic>
      <p:cxnSp>
        <p:nvCxnSpPr>
          <p:cNvPr id="9" name="Google Shape;258;p31"/>
          <p:cNvCxnSpPr/>
          <p:nvPr/>
        </p:nvCxnSpPr>
        <p:spPr>
          <a:xfrm rot="16200000" flipH="1">
            <a:off x="3904592" y="3231930"/>
            <a:ext cx="2564526" cy="1051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p:cNvSpPr txBox="1"/>
          <p:nvPr/>
        </p:nvSpPr>
        <p:spPr>
          <a:xfrm>
            <a:off x="5433849" y="1624678"/>
            <a:ext cx="35209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El sistema de control de versiones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fue diseñado por </a:t>
            </a:r>
            <a:r>
              <a:rPr lang="es-ES" sz="1600" dirty="0" err="1">
                <a:solidFill>
                  <a:schemeClr val="accent4"/>
                </a:solidFill>
                <a:latin typeface="Fira Sans Condensed Light" panose="020B0604020202020204" charset="0"/>
                <a:cs typeface="Times New Roman" panose="02020603050405020304" pitchFamily="18" charset="0"/>
              </a:rPr>
              <a:t>Linus</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Torvalds</a:t>
            </a:r>
            <a:r>
              <a:rPr lang="es-ES" sz="1600" dirty="0">
                <a:solidFill>
                  <a:schemeClr val="accent4"/>
                </a:solidFill>
                <a:latin typeface="Fira Sans Condensed Light" panose="020B0604020202020204" charset="0"/>
                <a:cs typeface="Times New Roman" panose="02020603050405020304" pitchFamily="18" charset="0"/>
              </a:rPr>
              <a:t>. Un sistema de gestión de versiones es utilizado por los desarrolladores para poder administrar su proyecto, ordenando el código de cada una de las nuevas versiones que sacan de sus aplicaciones para evitar confusiones. Así, al tener copias de cada una de las versiones de su aplicación, no se perderán los estados anteriores cuando se va a actualizar.</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Crear cuenta </a:t>
            </a:r>
          </a:p>
          <a:p>
            <a:pPr algn="just"/>
            <a:r>
              <a:rPr lang="es-ES" sz="1600" dirty="0">
                <a:solidFill>
                  <a:schemeClr val="accent4"/>
                </a:solidFill>
                <a:latin typeface="Fira Sans Condensed Light" panose="020B0604020202020204" charset="0"/>
                <a:cs typeface="Times New Roman" panose="02020603050405020304" pitchFamily="18" charset="0"/>
              </a:rPr>
              <a:t>Ingresar a: https://github.com/ </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1" name="Google Shape;1603;p42"/>
          <p:cNvSpPr txBox="1"/>
          <p:nvPr/>
        </p:nvSpPr>
        <p:spPr>
          <a:xfrm>
            <a:off x="423530" y="267044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Ingresar 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Sign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in</a:t>
            </a:r>
          </a:p>
        </p:txBody>
      </p:sp>
      <p:sp>
        <p:nvSpPr>
          <p:cNvPr id="12" name="Google Shape;1603;p42"/>
          <p:cNvSpPr txBox="1"/>
          <p:nvPr/>
        </p:nvSpPr>
        <p:spPr>
          <a:xfrm>
            <a:off x="418277" y="3085607"/>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los datos solicitados</a:t>
            </a:r>
          </a:p>
          <a:p>
            <a:pPr algn="just"/>
            <a:r>
              <a:rPr lang="en-US" sz="1600" dirty="0" err="1">
                <a:solidFill>
                  <a:srgbClr val="F3F3F3"/>
                </a:solidFill>
                <a:latin typeface="Fira Sans Condensed Light"/>
                <a:ea typeface="Fira Sans Condensed Light"/>
                <a:cs typeface="Fira Sans Condensed Light"/>
                <a:sym typeface="Fira Sans Condensed Light"/>
              </a:rPr>
              <a:t>Agregar</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correo</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crear</a:t>
            </a:r>
            <a:r>
              <a:rPr lang="en-US" sz="1600" dirty="0">
                <a:solidFill>
                  <a:srgbClr val="F3F3F3"/>
                </a:solidFill>
                <a:latin typeface="Fira Sans Condensed Light"/>
                <a:ea typeface="Fira Sans Condensed Light"/>
                <a:cs typeface="Fira Sans Condensed Light"/>
                <a:sym typeface="Fira Sans Condensed Light"/>
              </a:rPr>
              <a:t> password y username</a:t>
            </a:r>
            <a:endParaRPr lang="es-ES" sz="1600" dirty="0">
              <a:solidFill>
                <a:srgbClr val="F3F3F3"/>
              </a:solidFill>
              <a:latin typeface="Fira Sans Condensed Light"/>
              <a:ea typeface="Fira Sans Condensed Light"/>
              <a:cs typeface="Fira Sans Condensed Light"/>
              <a:sym typeface="Fira Sans Condensed Light"/>
            </a:endParaRPr>
          </a:p>
        </p:txBody>
      </p:sp>
      <p:sp>
        <p:nvSpPr>
          <p:cNvPr id="13" name="Google Shape;1603;p42"/>
          <p:cNvSpPr txBox="1"/>
          <p:nvPr/>
        </p:nvSpPr>
        <p:spPr>
          <a:xfrm>
            <a:off x="434041" y="375301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Verificar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antibot</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4" name="Google Shape;1603;p42"/>
          <p:cNvSpPr txBox="1"/>
          <p:nvPr/>
        </p:nvSpPr>
        <p:spPr>
          <a:xfrm>
            <a:off x="439296" y="413664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Confirmar código enviado a correo</a:t>
            </a:r>
          </a:p>
        </p:txBody>
      </p:sp>
      <p:sp>
        <p:nvSpPr>
          <p:cNvPr id="15" name="Google Shape;1603;p42"/>
          <p:cNvSpPr txBox="1"/>
          <p:nvPr/>
        </p:nvSpPr>
        <p:spPr>
          <a:xfrm>
            <a:off x="4611905" y="2050339"/>
            <a:ext cx="4111682"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Seleccionar  herramientas</a:t>
            </a:r>
          </a:p>
        </p:txBody>
      </p:sp>
      <p:sp>
        <p:nvSpPr>
          <p:cNvPr id="16" name="Google Shape;1603;p42"/>
          <p:cNvSpPr txBox="1"/>
          <p:nvPr/>
        </p:nvSpPr>
        <p:spPr>
          <a:xfrm>
            <a:off x="4627672" y="2581111"/>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Crear nuevo repositorio</a:t>
            </a:r>
          </a:p>
          <a:p>
            <a:pPr algn="just"/>
            <a:r>
              <a:rPr lang="es-ES" sz="1600" dirty="0">
                <a:solidFill>
                  <a:schemeClr val="accent4"/>
                </a:solidFill>
                <a:latin typeface="Fira Sans Condensed Light" panose="020B0604020202020204" charset="0"/>
                <a:cs typeface="Times New Roman" panose="02020603050405020304" pitchFamily="18" charset="0"/>
              </a:rPr>
              <a:t>Nombre: Robótica</a:t>
            </a:r>
            <a:endParaRPr lang="es-ES" sz="1600" dirty="0">
              <a:solidFill>
                <a:srgbClr val="F3F3F3"/>
              </a:solidFill>
              <a:latin typeface="Fira Sans Condensed Light"/>
              <a:ea typeface="Fira Sans Condensed Light"/>
              <a:cs typeface="Fira Sans Condensed Light"/>
              <a:sym typeface="Fira Sans Condensed Light"/>
            </a:endParaRP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29DF134C-500C-664A-39A3-F336132C12D6}"/>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FED85031-C4BC-E341-9C12-51498845082A}"/>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62100FC5-1BF4-091D-4334-8F9EA0EDD402}"/>
              </a:ext>
            </a:extLst>
          </p:cNvPr>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GitHub del curso</a:t>
            </a:r>
          </a:p>
        </p:txBody>
      </p:sp>
      <p:cxnSp>
        <p:nvCxnSpPr>
          <p:cNvPr id="152" name="Google Shape;258;p31">
            <a:extLst>
              <a:ext uri="{FF2B5EF4-FFF2-40B4-BE49-F238E27FC236}">
                <a16:creationId xmlns:a16="http://schemas.microsoft.com/office/drawing/2014/main" id="{ADDBE09D-C563-4F18-E0DD-24B71010EBA2}"/>
              </a:ext>
            </a:extLst>
          </p:cNvPr>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a:extLst>
              <a:ext uri="{FF2B5EF4-FFF2-40B4-BE49-F238E27FC236}">
                <a16:creationId xmlns:a16="http://schemas.microsoft.com/office/drawing/2014/main" id="{CD05CD47-4204-8715-3223-1D7C34B377DD}"/>
              </a:ext>
            </a:extLst>
          </p:cNvPr>
          <p:cNvSpPr txBox="1"/>
          <p:nvPr/>
        </p:nvSpPr>
        <p:spPr>
          <a:xfrm>
            <a:off x="378523" y="2666736"/>
            <a:ext cx="8474808" cy="824233"/>
          </a:xfrm>
          <a:prstGeom prst="rect">
            <a:avLst/>
          </a:prstGeom>
          <a:noFill/>
          <a:ln>
            <a:noFill/>
          </a:ln>
        </p:spPr>
        <p:txBody>
          <a:bodyPr spcFirstLastPara="1" wrap="square" lIns="91425" tIns="182875" rIns="91425" bIns="0" anchor="t" anchorCtr="0">
            <a:noAutofit/>
          </a:bodyPr>
          <a:lstStyle/>
          <a:p>
            <a:pPr algn="just"/>
            <a:r>
              <a:rPr lang="es-ES" sz="2400" b="1" dirty="0">
                <a:solidFill>
                  <a:schemeClr val="tx2"/>
                </a:solidFill>
                <a:latin typeface="Fira Sans Condensed Light" panose="020B0604020202020204" charset="0"/>
                <a:cs typeface="Times New Roman" panose="02020603050405020304" pitchFamily="18" charset="0"/>
              </a:rPr>
              <a:t>https://github.com/freddy-7/Fundamentacion_Robotica_2026A.git</a:t>
            </a:r>
            <a:endParaRPr lang="es-ES" sz="2400" dirty="0">
              <a:solidFill>
                <a:schemeClr val="tx2"/>
              </a:solidFill>
              <a:latin typeface="Fira Sans Condensed Light"/>
              <a:ea typeface="Fira Sans Condensed Light"/>
              <a:cs typeface="Fira Sans Condensed Light"/>
              <a:sym typeface="Fira Sans Condensed Light"/>
            </a:endParaRPr>
          </a:p>
        </p:txBody>
      </p:sp>
      <p:sp>
        <p:nvSpPr>
          <p:cNvPr id="17" name="Google Shape;136;p27">
            <a:extLst>
              <a:ext uri="{FF2B5EF4-FFF2-40B4-BE49-F238E27FC236}">
                <a16:creationId xmlns:a16="http://schemas.microsoft.com/office/drawing/2014/main" id="{71A0993F-EDB7-2900-7FBD-CE6A6F286E1D}"/>
              </a:ext>
            </a:extLst>
          </p:cNvPr>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283361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Determinante</a:t>
            </a: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a:t>
            </a:r>
            <a:r>
              <a:rPr lang="es-ES" sz="3000" b="1" dirty="0">
                <a:solidFill>
                  <a:schemeClr val="bg1">
                    <a:lumMod val="60000"/>
                    <a:lumOff val="40000"/>
                  </a:schemeClr>
                </a:solidFill>
                <a:latin typeface="Rajdhani"/>
                <a:ea typeface="Rajdhani"/>
                <a:cs typeface="Rajdhani"/>
                <a:sym typeface="Rajdhani"/>
              </a:rPr>
              <a:t>una Matriz</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Singularidad</a:t>
            </a:r>
          </a:p>
          <a:p>
            <a:pPr algn="just"/>
            <a:r>
              <a:rPr lang="es-ES" sz="1600" dirty="0">
                <a:solidFill>
                  <a:schemeClr val="accent4"/>
                </a:solidFill>
                <a:latin typeface="Fira Sans Condensed Light" panose="020B0604020202020204" charset="0"/>
                <a:cs typeface="Times New Roman" panose="02020603050405020304" pitchFamily="18" charset="0"/>
              </a:rPr>
              <a:t>El determinante de una matriz siempre es un número real y únicamente se puede calcular para </a:t>
            </a:r>
            <a:r>
              <a:rPr lang="es-ES" sz="1600" b="1" dirty="0">
                <a:solidFill>
                  <a:schemeClr val="accent4"/>
                </a:solidFill>
                <a:latin typeface="Fira Sans Condensed Light" panose="020B0604020202020204" charset="0"/>
                <a:cs typeface="Times New Roman" panose="02020603050405020304" pitchFamily="18" charset="0"/>
              </a:rPr>
              <a:t>matrices cuadradas </a:t>
            </a:r>
            <a:r>
              <a:rPr lang="es-ES" sz="1600" dirty="0">
                <a:solidFill>
                  <a:schemeClr val="accent4"/>
                </a:solidFill>
                <a:latin typeface="Fira Sans Condensed Light" panose="020B0604020202020204" charset="0"/>
                <a:cs typeface="Times New Roman" panose="02020603050405020304" pitchFamily="18" charset="0"/>
              </a:rPr>
              <a:t>(n=m). </a:t>
            </a:r>
            <a:r>
              <a:rPr lang="es-ES" sz="1600" b="1" dirty="0">
                <a:solidFill>
                  <a:schemeClr val="accent4"/>
                </a:solidFill>
                <a:latin typeface="Fira Sans Condensed Light" panose="020B0604020202020204" charset="0"/>
                <a:cs typeface="Times New Roman" panose="02020603050405020304" pitchFamily="18" charset="0"/>
              </a:rPr>
              <a:t>El determinante</a:t>
            </a:r>
            <a:r>
              <a:rPr lang="es-ES" sz="1600" dirty="0">
                <a:solidFill>
                  <a:schemeClr val="accent4"/>
                </a:solidFill>
                <a:latin typeface="Fira Sans Condensed Light" panose="020B0604020202020204" charset="0"/>
                <a:cs typeface="Times New Roman" panose="02020603050405020304" pitchFamily="18" charset="0"/>
              </a:rPr>
              <a:t> de una matriz indica si un sistema de ecuaciones lineales es singular o no es singular. Por ello, si el resultado del determinante de una matriz es cero (nulo), la matriz será </a:t>
            </a:r>
            <a:r>
              <a:rPr lang="es-ES" sz="1600" b="1" dirty="0">
                <a:solidFill>
                  <a:schemeClr val="accent4"/>
                </a:solidFill>
                <a:latin typeface="Fira Sans Condensed Light" panose="020B0604020202020204" charset="0"/>
                <a:cs typeface="Times New Roman" panose="02020603050405020304" pitchFamily="18" charset="0"/>
              </a:rPr>
              <a:t>singular</a:t>
            </a:r>
            <a:r>
              <a:rPr lang="es-ES" sz="1600" dirty="0">
                <a:solidFill>
                  <a:schemeClr val="accent4"/>
                </a:solidFill>
                <a:latin typeface="Fira Sans Condensed Light" panose="020B0604020202020204" charset="0"/>
                <a:cs typeface="Times New Roman" panose="02020603050405020304" pitchFamily="18" charset="0"/>
              </a:rPr>
              <a:t> (No tendrá matriz inversa), y si el resultado es distinto de cero, la matriz será </a:t>
            </a:r>
            <a:r>
              <a:rPr lang="es-ES" sz="1600" b="1" dirty="0">
                <a:solidFill>
                  <a:schemeClr val="accent4"/>
                </a:solidFill>
                <a:latin typeface="Fira Sans Condensed Light" panose="020B0604020202020204" charset="0"/>
                <a:cs typeface="Times New Roman" panose="02020603050405020304" pitchFamily="18" charset="0"/>
              </a:rPr>
              <a:t>no singular</a:t>
            </a:r>
            <a:r>
              <a:rPr lang="es-ES" sz="1600" dirty="0">
                <a:solidFill>
                  <a:schemeClr val="accent4"/>
                </a:solidFill>
                <a:latin typeface="Fira Sans Condensed Light" panose="020B0604020202020204" charset="0"/>
                <a:cs typeface="Times New Roman" panose="02020603050405020304" pitchFamily="18" charset="0"/>
              </a:rPr>
              <a:t>. </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052" name="Picture 4" descr="Técnicas básicas de cálculo de determinantes - El blog de Leo">
            <a:extLst>
              <a:ext uri="{FF2B5EF4-FFF2-40B4-BE49-F238E27FC236}">
                <a16:creationId xmlns:a16="http://schemas.microsoft.com/office/drawing/2014/main" id="{CAFE4777-4341-E0AE-6A74-9BFE7646E0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7458" y="1395101"/>
            <a:ext cx="2938696" cy="235329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eterminante de una matriz dos por dos 2×2 – totumat">
            <a:extLst>
              <a:ext uri="{FF2B5EF4-FFF2-40B4-BE49-F238E27FC236}">
                <a16:creationId xmlns:a16="http://schemas.microsoft.com/office/drawing/2014/main" id="{9FFA751D-6923-67D6-68C7-7C2F1DC444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948" y="4001482"/>
            <a:ext cx="2977649" cy="921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9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Determinante</a:t>
            </a: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a:t>
            </a:r>
            <a:r>
              <a:rPr lang="es-ES" sz="3000" b="1" dirty="0">
                <a:solidFill>
                  <a:schemeClr val="bg1">
                    <a:lumMod val="60000"/>
                    <a:lumOff val="40000"/>
                  </a:schemeClr>
                </a:solidFill>
                <a:latin typeface="Rajdhani"/>
                <a:ea typeface="Rajdhani"/>
                <a:cs typeface="Rajdhani"/>
                <a:sym typeface="Rajdhani"/>
              </a:rPr>
              <a:t>una Matriz</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7"/>
            <a:ext cx="4111682" cy="277830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Calcula</a:t>
            </a:r>
            <a:r>
              <a:rPr lang="es-ES" sz="1600" dirty="0">
                <a:solidFill>
                  <a:schemeClr val="accent4"/>
                </a:solidFill>
                <a:latin typeface="Fira Sans Condensed Light" panose="020B0604020202020204" charset="0"/>
                <a:cs typeface="Times New Roman" panose="02020603050405020304" pitchFamily="18" charset="0"/>
              </a:rPr>
              <a:t> el </a:t>
            </a:r>
            <a:r>
              <a:rPr lang="es-ES" sz="1600" b="1" dirty="0">
                <a:solidFill>
                  <a:schemeClr val="accent4"/>
                </a:solidFill>
                <a:latin typeface="Fira Sans Condensed Light" panose="020B0604020202020204" charset="0"/>
                <a:cs typeface="Times New Roman" panose="02020603050405020304" pitchFamily="18" charset="0"/>
              </a:rPr>
              <a:t>determinante</a:t>
            </a:r>
            <a:r>
              <a:rPr lang="es-ES" sz="1600" dirty="0">
                <a:solidFill>
                  <a:schemeClr val="accent4"/>
                </a:solidFill>
                <a:latin typeface="Fira Sans Condensed Light" panose="020B0604020202020204" charset="0"/>
                <a:cs typeface="Times New Roman" panose="02020603050405020304" pitchFamily="18" charset="0"/>
              </a:rPr>
              <a:t> de las siguientes matrices e indica en cada caso si es singular o no singular:</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7" name="Imagen 6">
            <a:extLst>
              <a:ext uri="{FF2B5EF4-FFF2-40B4-BE49-F238E27FC236}">
                <a16:creationId xmlns:a16="http://schemas.microsoft.com/office/drawing/2014/main" id="{8A7C1F91-186E-897E-E752-4744406C824D}"/>
              </a:ext>
            </a:extLst>
          </p:cNvPr>
          <p:cNvPicPr>
            <a:picLocks noChangeAspect="1"/>
          </p:cNvPicPr>
          <p:nvPr/>
        </p:nvPicPr>
        <p:blipFill>
          <a:blip r:embed="rId4"/>
          <a:stretch>
            <a:fillRect/>
          </a:stretch>
        </p:blipFill>
        <p:spPr>
          <a:xfrm>
            <a:off x="6253296" y="3034136"/>
            <a:ext cx="1909129" cy="1235319"/>
          </a:xfrm>
          <a:prstGeom prst="rect">
            <a:avLst/>
          </a:prstGeom>
        </p:spPr>
      </p:pic>
      <p:pic>
        <p:nvPicPr>
          <p:cNvPr id="9" name="Imagen 8">
            <a:extLst>
              <a:ext uri="{FF2B5EF4-FFF2-40B4-BE49-F238E27FC236}">
                <a16:creationId xmlns:a16="http://schemas.microsoft.com/office/drawing/2014/main" id="{C56F447D-9881-8FCE-3B5E-55F99C3BBD9F}"/>
              </a:ext>
            </a:extLst>
          </p:cNvPr>
          <p:cNvPicPr>
            <a:picLocks noChangeAspect="1"/>
          </p:cNvPicPr>
          <p:nvPr/>
        </p:nvPicPr>
        <p:blipFill>
          <a:blip r:embed="rId5"/>
          <a:stretch>
            <a:fillRect/>
          </a:stretch>
        </p:blipFill>
        <p:spPr>
          <a:xfrm>
            <a:off x="707684" y="3259130"/>
            <a:ext cx="1406561" cy="785330"/>
          </a:xfrm>
          <a:prstGeom prst="rect">
            <a:avLst/>
          </a:prstGeom>
        </p:spPr>
      </p:pic>
      <p:pic>
        <p:nvPicPr>
          <p:cNvPr id="11" name="Imagen 10">
            <a:extLst>
              <a:ext uri="{FF2B5EF4-FFF2-40B4-BE49-F238E27FC236}">
                <a16:creationId xmlns:a16="http://schemas.microsoft.com/office/drawing/2014/main" id="{F52DC761-45D0-DA77-3165-D83BC142DEEA}"/>
              </a:ext>
            </a:extLst>
          </p:cNvPr>
          <p:cNvPicPr>
            <a:picLocks noChangeAspect="1"/>
          </p:cNvPicPr>
          <p:nvPr/>
        </p:nvPicPr>
        <p:blipFill>
          <a:blip r:embed="rId6"/>
          <a:stretch>
            <a:fillRect/>
          </a:stretch>
        </p:blipFill>
        <p:spPr>
          <a:xfrm>
            <a:off x="2352025" y="3259130"/>
            <a:ext cx="1682850" cy="785330"/>
          </a:xfrm>
          <a:prstGeom prst="rect">
            <a:avLst/>
          </a:prstGeom>
        </p:spPr>
      </p:pic>
      <p:pic>
        <p:nvPicPr>
          <p:cNvPr id="13" name="Imagen 12">
            <a:extLst>
              <a:ext uri="{FF2B5EF4-FFF2-40B4-BE49-F238E27FC236}">
                <a16:creationId xmlns:a16="http://schemas.microsoft.com/office/drawing/2014/main" id="{FEF094F1-4F21-4A29-886A-4C6592DC365E}"/>
              </a:ext>
            </a:extLst>
          </p:cNvPr>
          <p:cNvPicPr>
            <a:picLocks noChangeAspect="1"/>
          </p:cNvPicPr>
          <p:nvPr/>
        </p:nvPicPr>
        <p:blipFill>
          <a:blip r:embed="rId7"/>
          <a:stretch>
            <a:fillRect/>
          </a:stretch>
        </p:blipFill>
        <p:spPr>
          <a:xfrm>
            <a:off x="4272654" y="3247408"/>
            <a:ext cx="1471481" cy="797052"/>
          </a:xfrm>
          <a:prstGeom prst="rect">
            <a:avLst/>
          </a:prstGeom>
        </p:spPr>
      </p:pic>
    </p:spTree>
    <p:extLst>
      <p:ext uri="{BB962C8B-B14F-4D97-AF65-F5344CB8AC3E}">
        <p14:creationId xmlns:p14="http://schemas.microsoft.com/office/powerpoint/2010/main" val="194452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Determinante</a:t>
            </a: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a:t>
            </a:r>
            <a:r>
              <a:rPr lang="es-ES" sz="3000" b="1" dirty="0">
                <a:solidFill>
                  <a:schemeClr val="bg1">
                    <a:lumMod val="60000"/>
                    <a:lumOff val="40000"/>
                  </a:schemeClr>
                </a:solidFill>
                <a:latin typeface="Rajdhani"/>
                <a:ea typeface="Rajdhani"/>
                <a:cs typeface="Rajdhani"/>
                <a:sym typeface="Rajdhani"/>
              </a:rPr>
              <a:t>una Matriz</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7"/>
            <a:ext cx="4111682" cy="277830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Calcula</a:t>
            </a:r>
            <a:r>
              <a:rPr lang="es-ES" sz="1600" dirty="0">
                <a:solidFill>
                  <a:schemeClr val="accent4"/>
                </a:solidFill>
                <a:latin typeface="Fira Sans Condensed Light" panose="020B0604020202020204" charset="0"/>
                <a:cs typeface="Times New Roman" panose="02020603050405020304" pitchFamily="18" charset="0"/>
              </a:rPr>
              <a:t> el </a:t>
            </a:r>
            <a:r>
              <a:rPr lang="es-ES" sz="1600" b="1" dirty="0">
                <a:solidFill>
                  <a:schemeClr val="accent4"/>
                </a:solidFill>
                <a:latin typeface="Fira Sans Condensed Light" panose="020B0604020202020204" charset="0"/>
                <a:cs typeface="Times New Roman" panose="02020603050405020304" pitchFamily="18" charset="0"/>
              </a:rPr>
              <a:t>determinante</a:t>
            </a:r>
            <a:r>
              <a:rPr lang="es-ES" sz="1600" dirty="0">
                <a:solidFill>
                  <a:schemeClr val="accent4"/>
                </a:solidFill>
                <a:latin typeface="Fira Sans Condensed Light" panose="020B0604020202020204" charset="0"/>
                <a:cs typeface="Times New Roman" panose="02020603050405020304" pitchFamily="18" charset="0"/>
              </a:rPr>
              <a:t> de las siguientes matrices e indica en cada caso si es singular o no singular:</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7" name="Imagen 6">
            <a:extLst>
              <a:ext uri="{FF2B5EF4-FFF2-40B4-BE49-F238E27FC236}">
                <a16:creationId xmlns:a16="http://schemas.microsoft.com/office/drawing/2014/main" id="{8A7C1F91-186E-897E-E752-4744406C824D}"/>
              </a:ext>
            </a:extLst>
          </p:cNvPr>
          <p:cNvPicPr>
            <a:picLocks noChangeAspect="1"/>
          </p:cNvPicPr>
          <p:nvPr/>
        </p:nvPicPr>
        <p:blipFill>
          <a:blip r:embed="rId4"/>
          <a:stretch>
            <a:fillRect/>
          </a:stretch>
        </p:blipFill>
        <p:spPr>
          <a:xfrm>
            <a:off x="6253296" y="3034136"/>
            <a:ext cx="1909129" cy="1235319"/>
          </a:xfrm>
          <a:prstGeom prst="rect">
            <a:avLst/>
          </a:prstGeom>
        </p:spPr>
      </p:pic>
      <p:pic>
        <p:nvPicPr>
          <p:cNvPr id="9" name="Imagen 8">
            <a:extLst>
              <a:ext uri="{FF2B5EF4-FFF2-40B4-BE49-F238E27FC236}">
                <a16:creationId xmlns:a16="http://schemas.microsoft.com/office/drawing/2014/main" id="{C56F447D-9881-8FCE-3B5E-55F99C3BBD9F}"/>
              </a:ext>
            </a:extLst>
          </p:cNvPr>
          <p:cNvPicPr>
            <a:picLocks noChangeAspect="1"/>
          </p:cNvPicPr>
          <p:nvPr/>
        </p:nvPicPr>
        <p:blipFill>
          <a:blip r:embed="rId5"/>
          <a:stretch>
            <a:fillRect/>
          </a:stretch>
        </p:blipFill>
        <p:spPr>
          <a:xfrm>
            <a:off x="707684" y="3259130"/>
            <a:ext cx="1406561" cy="785330"/>
          </a:xfrm>
          <a:prstGeom prst="rect">
            <a:avLst/>
          </a:prstGeom>
        </p:spPr>
      </p:pic>
      <p:pic>
        <p:nvPicPr>
          <p:cNvPr id="11" name="Imagen 10">
            <a:extLst>
              <a:ext uri="{FF2B5EF4-FFF2-40B4-BE49-F238E27FC236}">
                <a16:creationId xmlns:a16="http://schemas.microsoft.com/office/drawing/2014/main" id="{F52DC761-45D0-DA77-3165-D83BC142DEEA}"/>
              </a:ext>
            </a:extLst>
          </p:cNvPr>
          <p:cNvPicPr>
            <a:picLocks noChangeAspect="1"/>
          </p:cNvPicPr>
          <p:nvPr/>
        </p:nvPicPr>
        <p:blipFill>
          <a:blip r:embed="rId6"/>
          <a:stretch>
            <a:fillRect/>
          </a:stretch>
        </p:blipFill>
        <p:spPr>
          <a:xfrm>
            <a:off x="2352025" y="3259130"/>
            <a:ext cx="1682850" cy="785330"/>
          </a:xfrm>
          <a:prstGeom prst="rect">
            <a:avLst/>
          </a:prstGeom>
        </p:spPr>
      </p:pic>
      <p:pic>
        <p:nvPicPr>
          <p:cNvPr id="13" name="Imagen 12">
            <a:extLst>
              <a:ext uri="{FF2B5EF4-FFF2-40B4-BE49-F238E27FC236}">
                <a16:creationId xmlns:a16="http://schemas.microsoft.com/office/drawing/2014/main" id="{FEF094F1-4F21-4A29-886A-4C6592DC365E}"/>
              </a:ext>
            </a:extLst>
          </p:cNvPr>
          <p:cNvPicPr>
            <a:picLocks noChangeAspect="1"/>
          </p:cNvPicPr>
          <p:nvPr/>
        </p:nvPicPr>
        <p:blipFill>
          <a:blip r:embed="rId7"/>
          <a:stretch>
            <a:fillRect/>
          </a:stretch>
        </p:blipFill>
        <p:spPr>
          <a:xfrm>
            <a:off x="4272654" y="3247408"/>
            <a:ext cx="1471481" cy="797052"/>
          </a:xfrm>
          <a:prstGeom prst="rect">
            <a:avLst/>
          </a:prstGeom>
        </p:spPr>
      </p:pic>
      <p:sp>
        <p:nvSpPr>
          <p:cNvPr id="2" name="CuadroTexto 1">
            <a:extLst>
              <a:ext uri="{FF2B5EF4-FFF2-40B4-BE49-F238E27FC236}">
                <a16:creationId xmlns:a16="http://schemas.microsoft.com/office/drawing/2014/main" id="{25050A44-A989-F55F-ACAA-02BDEC346A38}"/>
              </a:ext>
            </a:extLst>
          </p:cNvPr>
          <p:cNvSpPr txBox="1"/>
          <p:nvPr/>
        </p:nvSpPr>
        <p:spPr>
          <a:xfrm>
            <a:off x="1230923" y="4269455"/>
            <a:ext cx="410308" cy="307777"/>
          </a:xfrm>
          <a:prstGeom prst="rect">
            <a:avLst/>
          </a:prstGeom>
          <a:noFill/>
        </p:spPr>
        <p:txBody>
          <a:bodyPr wrap="square" rtlCol="0">
            <a:spAutoFit/>
          </a:bodyPr>
          <a:lstStyle/>
          <a:p>
            <a:r>
              <a:rPr lang="es-ES" b="1" dirty="0">
                <a:solidFill>
                  <a:srgbClr val="FF0000"/>
                </a:solidFill>
              </a:rPr>
              <a:t>57</a:t>
            </a:r>
            <a:endParaRPr lang="es-MX" b="1" dirty="0">
              <a:solidFill>
                <a:srgbClr val="FF0000"/>
              </a:solidFill>
            </a:endParaRPr>
          </a:p>
        </p:txBody>
      </p:sp>
      <p:sp>
        <p:nvSpPr>
          <p:cNvPr id="3" name="CuadroTexto 2">
            <a:extLst>
              <a:ext uri="{FF2B5EF4-FFF2-40B4-BE49-F238E27FC236}">
                <a16:creationId xmlns:a16="http://schemas.microsoft.com/office/drawing/2014/main" id="{77328F41-9826-0E7E-7001-003D2E9B8BD9}"/>
              </a:ext>
            </a:extLst>
          </p:cNvPr>
          <p:cNvSpPr txBox="1"/>
          <p:nvPr/>
        </p:nvSpPr>
        <p:spPr>
          <a:xfrm>
            <a:off x="2988296" y="4294561"/>
            <a:ext cx="410308" cy="307777"/>
          </a:xfrm>
          <a:prstGeom prst="rect">
            <a:avLst/>
          </a:prstGeom>
          <a:noFill/>
        </p:spPr>
        <p:txBody>
          <a:bodyPr wrap="square" rtlCol="0">
            <a:spAutoFit/>
          </a:bodyPr>
          <a:lstStyle/>
          <a:p>
            <a:r>
              <a:rPr lang="es-ES" b="1" dirty="0">
                <a:solidFill>
                  <a:srgbClr val="FF0000"/>
                </a:solidFill>
              </a:rPr>
              <a:t>-1</a:t>
            </a:r>
            <a:endParaRPr lang="es-MX" b="1" dirty="0">
              <a:solidFill>
                <a:srgbClr val="FF0000"/>
              </a:solidFill>
            </a:endParaRPr>
          </a:p>
        </p:txBody>
      </p:sp>
      <p:sp>
        <p:nvSpPr>
          <p:cNvPr id="4" name="CuadroTexto 3">
            <a:extLst>
              <a:ext uri="{FF2B5EF4-FFF2-40B4-BE49-F238E27FC236}">
                <a16:creationId xmlns:a16="http://schemas.microsoft.com/office/drawing/2014/main" id="{8E48F22C-F6A6-8719-0B2C-D4843B8654B9}"/>
              </a:ext>
            </a:extLst>
          </p:cNvPr>
          <p:cNvSpPr txBox="1"/>
          <p:nvPr/>
        </p:nvSpPr>
        <p:spPr>
          <a:xfrm>
            <a:off x="4853354" y="4294561"/>
            <a:ext cx="489251" cy="307777"/>
          </a:xfrm>
          <a:prstGeom prst="rect">
            <a:avLst/>
          </a:prstGeom>
          <a:noFill/>
        </p:spPr>
        <p:txBody>
          <a:bodyPr wrap="square" rtlCol="0">
            <a:spAutoFit/>
          </a:bodyPr>
          <a:lstStyle/>
          <a:p>
            <a:r>
              <a:rPr lang="es-ES" b="1" dirty="0">
                <a:solidFill>
                  <a:srgbClr val="FF0000"/>
                </a:solidFill>
              </a:rPr>
              <a:t>-13</a:t>
            </a:r>
            <a:endParaRPr lang="es-MX" b="1" dirty="0">
              <a:solidFill>
                <a:srgbClr val="FF0000"/>
              </a:solidFill>
            </a:endParaRPr>
          </a:p>
        </p:txBody>
      </p:sp>
      <p:sp>
        <p:nvSpPr>
          <p:cNvPr id="5" name="CuadroTexto 4">
            <a:extLst>
              <a:ext uri="{FF2B5EF4-FFF2-40B4-BE49-F238E27FC236}">
                <a16:creationId xmlns:a16="http://schemas.microsoft.com/office/drawing/2014/main" id="{D5900DDC-6280-9625-1A40-81DB03422F33}"/>
              </a:ext>
            </a:extLst>
          </p:cNvPr>
          <p:cNvSpPr txBox="1"/>
          <p:nvPr/>
        </p:nvSpPr>
        <p:spPr>
          <a:xfrm>
            <a:off x="7099978" y="4369429"/>
            <a:ext cx="489251" cy="307777"/>
          </a:xfrm>
          <a:prstGeom prst="rect">
            <a:avLst/>
          </a:prstGeom>
          <a:noFill/>
        </p:spPr>
        <p:txBody>
          <a:bodyPr wrap="square" rtlCol="0">
            <a:spAutoFit/>
          </a:bodyPr>
          <a:lstStyle/>
          <a:p>
            <a:r>
              <a:rPr lang="es-ES" b="1" dirty="0">
                <a:solidFill>
                  <a:srgbClr val="FF0000"/>
                </a:solidFill>
              </a:rPr>
              <a:t>31</a:t>
            </a:r>
            <a:endParaRPr lang="es-MX" b="1" dirty="0">
              <a:solidFill>
                <a:srgbClr val="FF0000"/>
              </a:solidFill>
            </a:endParaRPr>
          </a:p>
        </p:txBody>
      </p:sp>
    </p:spTree>
    <p:extLst>
      <p:ext uri="{BB962C8B-B14F-4D97-AF65-F5344CB8AC3E}">
        <p14:creationId xmlns:p14="http://schemas.microsoft.com/office/powerpoint/2010/main" val="149001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Adjunto de una Matriz</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307907" y="1869981"/>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Elemento Adjunto </a:t>
            </a:r>
          </a:p>
          <a:p>
            <a:pPr algn="just"/>
            <a:r>
              <a:rPr lang="es-ES" sz="1600" dirty="0">
                <a:solidFill>
                  <a:schemeClr val="accent4"/>
                </a:solidFill>
                <a:latin typeface="Fira Sans Condensed Light" panose="020B0604020202020204" charset="0"/>
                <a:cs typeface="Times New Roman" panose="02020603050405020304" pitchFamily="18" charset="0"/>
              </a:rPr>
              <a:t>Se llama adjunto del elemento “</a:t>
            </a:r>
            <a:r>
              <a:rPr lang="es-ES" sz="1600" dirty="0" err="1">
                <a:solidFill>
                  <a:schemeClr val="accent4"/>
                </a:solidFill>
                <a:latin typeface="Fira Sans Condensed Light" panose="020B0604020202020204" charset="0"/>
                <a:cs typeface="Times New Roman" panose="02020603050405020304" pitchFamily="18" charset="0"/>
              </a:rPr>
              <a:t>aij</a:t>
            </a:r>
            <a:r>
              <a:rPr lang="es-ES" sz="1600" dirty="0">
                <a:solidFill>
                  <a:schemeClr val="accent4"/>
                </a:solidFill>
                <a:latin typeface="Fira Sans Condensed Light" panose="020B0604020202020204" charset="0"/>
                <a:cs typeface="Times New Roman" panose="02020603050405020304" pitchFamily="18" charset="0"/>
              </a:rPr>
              <a:t>” al menor complementario anteponiendo:</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par.</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impar.</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074" name="Picture 2" descr="🥇▷【 ¿A qué llamamos adjunto o cofactor de un elemento de un determinante?  Ejercicio #47, 48 y 49 - Matrices y Determinantes 】">
            <a:extLst>
              <a:ext uri="{FF2B5EF4-FFF2-40B4-BE49-F238E27FC236}">
                <a16:creationId xmlns:a16="http://schemas.microsoft.com/office/drawing/2014/main" id="{92D54BF2-380F-830F-B556-DEBF67A3C82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64"/>
          <a:stretch>
            <a:fillRect/>
          </a:stretch>
        </p:blipFill>
        <p:spPr bwMode="auto">
          <a:xfrm>
            <a:off x="4419589" y="2166187"/>
            <a:ext cx="4724411" cy="2412004"/>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2205B6ED-F295-690F-A854-C3ABD2485B6B}"/>
              </a:ext>
            </a:extLst>
          </p:cNvPr>
          <p:cNvSpPr txBox="1"/>
          <p:nvPr/>
        </p:nvSpPr>
        <p:spPr>
          <a:xfrm>
            <a:off x="4698642" y="2169971"/>
            <a:ext cx="963603" cy="307777"/>
          </a:xfrm>
          <a:prstGeom prst="rect">
            <a:avLst/>
          </a:prstGeom>
          <a:noFill/>
        </p:spPr>
        <p:txBody>
          <a:bodyPr wrap="square" rtlCol="0">
            <a:spAutoFit/>
          </a:bodyPr>
          <a:lstStyle/>
          <a:p>
            <a:r>
              <a:rPr lang="es-ES" b="1" dirty="0"/>
              <a:t>Ejemplo:</a:t>
            </a:r>
            <a:endParaRPr lang="es-MX" b="1" dirty="0"/>
          </a:p>
        </p:txBody>
      </p:sp>
      <p:sp>
        <p:nvSpPr>
          <p:cNvPr id="3" name="CuadroTexto 2">
            <a:extLst>
              <a:ext uri="{FF2B5EF4-FFF2-40B4-BE49-F238E27FC236}">
                <a16:creationId xmlns:a16="http://schemas.microsoft.com/office/drawing/2014/main" id="{14ED5FC7-3BDB-4B3F-ABE1-9E122D557BE8}"/>
              </a:ext>
            </a:extLst>
          </p:cNvPr>
          <p:cNvSpPr txBox="1"/>
          <p:nvPr/>
        </p:nvSpPr>
        <p:spPr>
          <a:xfrm>
            <a:off x="7507253" y="3623153"/>
            <a:ext cx="1800868" cy="338554"/>
          </a:xfrm>
          <a:prstGeom prst="rect">
            <a:avLst/>
          </a:prstGeom>
          <a:noFill/>
        </p:spPr>
        <p:txBody>
          <a:bodyPr wrap="square" rtlCol="0">
            <a:spAutoFit/>
          </a:bodyPr>
          <a:lstStyle/>
          <a:p>
            <a:r>
              <a:rPr lang="es-ES" sz="1600" b="1" dirty="0"/>
              <a:t>= +(-7 – 12)= </a:t>
            </a:r>
            <a:r>
              <a:rPr lang="es-ES" sz="1600" b="1" dirty="0">
                <a:solidFill>
                  <a:srgbClr val="FF0000"/>
                </a:solidFill>
              </a:rPr>
              <a:t>-19</a:t>
            </a:r>
            <a:endParaRPr lang="es-MX" sz="1600" b="1" dirty="0">
              <a:solidFill>
                <a:srgbClr val="FF0000"/>
              </a:solidFill>
            </a:endParaRPr>
          </a:p>
        </p:txBody>
      </p:sp>
      <p:cxnSp>
        <p:nvCxnSpPr>
          <p:cNvPr id="5" name="Conector recto 4">
            <a:extLst>
              <a:ext uri="{FF2B5EF4-FFF2-40B4-BE49-F238E27FC236}">
                <a16:creationId xmlns:a16="http://schemas.microsoft.com/office/drawing/2014/main" id="{E7B6CB1E-4F6F-2258-47F8-AF3B7971634A}"/>
              </a:ext>
            </a:extLst>
          </p:cNvPr>
          <p:cNvCxnSpPr/>
          <p:nvPr/>
        </p:nvCxnSpPr>
        <p:spPr>
          <a:xfrm>
            <a:off x="8206153" y="2361476"/>
            <a:ext cx="0" cy="1242646"/>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DDF8354E-C921-63C2-4C58-25B781279BC2}"/>
              </a:ext>
            </a:extLst>
          </p:cNvPr>
          <p:cNvCxnSpPr>
            <a:cxnSpLocks/>
          </p:cNvCxnSpPr>
          <p:nvPr/>
        </p:nvCxnSpPr>
        <p:spPr>
          <a:xfrm>
            <a:off x="7608276" y="2906449"/>
            <a:ext cx="10668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730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Adjunto de una Matriz</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359270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Elemento Adjunto </a:t>
            </a:r>
          </a:p>
          <a:p>
            <a:pPr algn="just"/>
            <a:r>
              <a:rPr lang="es-ES" sz="1600" dirty="0">
                <a:solidFill>
                  <a:schemeClr val="accent4"/>
                </a:solidFill>
                <a:latin typeface="Fira Sans Condensed Light" panose="020B0604020202020204" charset="0"/>
                <a:cs typeface="Times New Roman" panose="02020603050405020304" pitchFamily="18" charset="0"/>
              </a:rPr>
              <a:t>Se llama adjunto del elemento “</a:t>
            </a:r>
            <a:r>
              <a:rPr lang="es-ES" sz="1600" dirty="0" err="1">
                <a:solidFill>
                  <a:schemeClr val="accent4"/>
                </a:solidFill>
                <a:latin typeface="Fira Sans Condensed Light" panose="020B0604020202020204" charset="0"/>
                <a:cs typeface="Times New Roman" panose="02020603050405020304" pitchFamily="18" charset="0"/>
              </a:rPr>
              <a:t>aij</a:t>
            </a:r>
            <a:r>
              <a:rPr lang="es-ES" sz="1600" dirty="0">
                <a:solidFill>
                  <a:schemeClr val="accent4"/>
                </a:solidFill>
                <a:latin typeface="Fira Sans Condensed Light" panose="020B0604020202020204" charset="0"/>
                <a:cs typeface="Times New Roman" panose="02020603050405020304" pitchFamily="18" charset="0"/>
              </a:rPr>
              <a:t>” al menor complementario anteponiendo:</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par.</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impar.</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098" name="Picture 2" descr="🥇▷【 ¿A qué llamamos adjunto o cofactor de un elemento de un determinante?  Ejercicio #47, 48 y 49 - Matrices y Determinantes 】">
            <a:extLst>
              <a:ext uri="{FF2B5EF4-FFF2-40B4-BE49-F238E27FC236}">
                <a16:creationId xmlns:a16="http://schemas.microsoft.com/office/drawing/2014/main" id="{B0CD4C1C-88CE-4CD2-780C-07A9C0CC00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5846" y="2098431"/>
            <a:ext cx="5018232" cy="2112061"/>
          </a:xfrm>
          <a:prstGeom prst="rect">
            <a:avLst/>
          </a:prstGeom>
          <a:noFill/>
          <a:extLst>
            <a:ext uri="{909E8E84-426E-40DD-AFC4-6F175D3DCCD1}">
              <a14:hiddenFill xmlns:a14="http://schemas.microsoft.com/office/drawing/2010/main">
                <a:solidFill>
                  <a:srgbClr val="FFFFFF"/>
                </a:solidFill>
              </a14:hiddenFill>
            </a:ext>
          </a:extLst>
        </p:spPr>
      </p:pic>
      <p:cxnSp>
        <p:nvCxnSpPr>
          <p:cNvPr id="2" name="Conector recto 1">
            <a:extLst>
              <a:ext uri="{FF2B5EF4-FFF2-40B4-BE49-F238E27FC236}">
                <a16:creationId xmlns:a16="http://schemas.microsoft.com/office/drawing/2014/main" id="{977AB950-0D9E-5331-DAEA-BEBC5F62F820}"/>
              </a:ext>
            </a:extLst>
          </p:cNvPr>
          <p:cNvCxnSpPr>
            <a:cxnSpLocks/>
          </p:cNvCxnSpPr>
          <p:nvPr/>
        </p:nvCxnSpPr>
        <p:spPr>
          <a:xfrm>
            <a:off x="7027805" y="2771476"/>
            <a:ext cx="1031674"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0B2C4930-44B1-3121-F2EF-069D5206AB25}"/>
              </a:ext>
            </a:extLst>
          </p:cNvPr>
          <p:cNvCxnSpPr>
            <a:cxnSpLocks/>
          </p:cNvCxnSpPr>
          <p:nvPr/>
        </p:nvCxnSpPr>
        <p:spPr>
          <a:xfrm>
            <a:off x="7198787" y="2265123"/>
            <a:ext cx="0" cy="100627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A1A2A35A-9B10-15D4-61BB-4F06BC1D46D3}"/>
              </a:ext>
            </a:extLst>
          </p:cNvPr>
          <p:cNvSpPr txBox="1"/>
          <p:nvPr/>
        </p:nvSpPr>
        <p:spPr>
          <a:xfrm>
            <a:off x="6719781" y="3912544"/>
            <a:ext cx="1807626" cy="338554"/>
          </a:xfrm>
          <a:prstGeom prst="rect">
            <a:avLst/>
          </a:prstGeom>
          <a:noFill/>
        </p:spPr>
        <p:txBody>
          <a:bodyPr wrap="square" rtlCol="0">
            <a:spAutoFit/>
          </a:bodyPr>
          <a:lstStyle/>
          <a:p>
            <a:r>
              <a:rPr lang="es-ES" sz="1600" b="1" dirty="0"/>
              <a:t>= -( 36 - 42)= </a:t>
            </a:r>
            <a:r>
              <a:rPr lang="es-ES" sz="1600" b="1" dirty="0">
                <a:solidFill>
                  <a:srgbClr val="FF0000"/>
                </a:solidFill>
              </a:rPr>
              <a:t>6</a:t>
            </a:r>
            <a:endParaRPr lang="es-MX" sz="1600" b="1" dirty="0">
              <a:solidFill>
                <a:srgbClr val="FF0000"/>
              </a:solidFill>
            </a:endParaRPr>
          </a:p>
        </p:txBody>
      </p:sp>
    </p:spTree>
    <p:extLst>
      <p:ext uri="{BB962C8B-B14F-4D97-AF65-F5344CB8AC3E}">
        <p14:creationId xmlns:p14="http://schemas.microsoft.com/office/powerpoint/2010/main" val="25770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Adjunta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Matriz Adjunta</a:t>
            </a:r>
          </a:p>
          <a:p>
            <a:pPr algn="just"/>
            <a:r>
              <a:rPr lang="es-ES" sz="1600" dirty="0">
                <a:solidFill>
                  <a:schemeClr val="accent4"/>
                </a:solidFill>
                <a:latin typeface="Fira Sans Condensed Light" panose="020B0604020202020204" charset="0"/>
                <a:cs typeface="Times New Roman" panose="02020603050405020304" pitchFamily="18" charset="0"/>
              </a:rPr>
              <a:t>La </a:t>
            </a:r>
            <a:r>
              <a:rPr lang="es-ES" sz="1600" b="1" dirty="0">
                <a:solidFill>
                  <a:schemeClr val="accent4"/>
                </a:solidFill>
                <a:latin typeface="Fira Sans Condensed Light" panose="020B0604020202020204" charset="0"/>
                <a:cs typeface="Times New Roman" panose="02020603050405020304" pitchFamily="18" charset="0"/>
              </a:rPr>
              <a:t>matriz adjunta </a:t>
            </a:r>
            <a:r>
              <a:rPr lang="es-ES" sz="1600" dirty="0">
                <a:solidFill>
                  <a:schemeClr val="accent4"/>
                </a:solidFill>
                <a:latin typeface="Fira Sans Condensed Light" panose="020B0604020202020204" charset="0"/>
                <a:cs typeface="Times New Roman" panose="02020603050405020304" pitchFamily="18" charset="0"/>
              </a:rPr>
              <a:t>es aquella en la que cada elemento se sustituye por su adjunto. Se llama adjunto del elemento </a:t>
            </a:r>
            <a:r>
              <a:rPr lang="es-ES" sz="1600" dirty="0" err="1">
                <a:solidFill>
                  <a:schemeClr val="accent4"/>
                </a:solidFill>
                <a:latin typeface="Fira Sans Condensed Light" panose="020B0604020202020204" charset="0"/>
                <a:cs typeface="Times New Roman" panose="02020603050405020304" pitchFamily="18" charset="0"/>
              </a:rPr>
              <a:t>aij</a:t>
            </a:r>
            <a:r>
              <a:rPr lang="es-ES" sz="1600" dirty="0">
                <a:solidFill>
                  <a:schemeClr val="accent4"/>
                </a:solidFill>
                <a:latin typeface="Fira Sans Condensed Light" panose="020B0604020202020204" charset="0"/>
                <a:cs typeface="Times New Roman" panose="02020603050405020304" pitchFamily="18" charset="0"/>
              </a:rPr>
              <a:t> al menor complementario anteponiendo: </a:t>
            </a: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a:t>
            </a:r>
            <a:r>
              <a:rPr lang="es-ES" sz="1600" b="1" dirty="0">
                <a:solidFill>
                  <a:schemeClr val="accent4"/>
                </a:solidFill>
                <a:latin typeface="Fira Sans Condensed Light" panose="020B0604020202020204" charset="0"/>
                <a:cs typeface="Times New Roman" panose="02020603050405020304" pitchFamily="18" charset="0"/>
              </a:rPr>
              <a:t>par</a:t>
            </a:r>
            <a:r>
              <a:rPr lang="es-ES" sz="1600" dirty="0">
                <a:solidFill>
                  <a:schemeClr val="accent4"/>
                </a:solidFill>
                <a:latin typeface="Fira Sans Condensed Light" panose="020B0604020202020204" charset="0"/>
                <a:cs typeface="Times New Roman" panose="02020603050405020304" pitchFamily="18" charset="0"/>
              </a:rPr>
              <a:t>. </a:t>
            </a: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a:t>
            </a:r>
            <a:r>
              <a:rPr lang="es-ES" sz="1600" b="1" dirty="0">
                <a:solidFill>
                  <a:schemeClr val="accent4"/>
                </a:solidFill>
                <a:latin typeface="Fira Sans Condensed Light" panose="020B0604020202020204" charset="0"/>
                <a:cs typeface="Times New Roman" panose="02020603050405020304" pitchFamily="18" charset="0"/>
              </a:rPr>
              <a:t>impar</a:t>
            </a:r>
            <a:r>
              <a:rPr lang="es-ES" sz="1600" dirty="0">
                <a:solidFill>
                  <a:schemeClr val="accent4"/>
                </a:solidFill>
                <a:latin typeface="Fira Sans Condensed Light" panose="020B0604020202020204" charset="0"/>
                <a:cs typeface="Times New Roman" panose="02020603050405020304" pitchFamily="18" charset="0"/>
              </a:rPr>
              <a:t>.</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5122" name="Picture 2" descr="Matriz adjunta - Matemática Informática y Educación">
            <a:extLst>
              <a:ext uri="{FF2B5EF4-FFF2-40B4-BE49-F238E27FC236}">
                <a16:creationId xmlns:a16="http://schemas.microsoft.com/office/drawing/2014/main" id="{EDE44193-8C3B-8056-9B5E-348BBC7A38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7437" y="1163678"/>
            <a:ext cx="3450002" cy="3759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94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Adjunta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Matriz Adjunta (Ejercicio)</a:t>
            </a:r>
          </a:p>
          <a:p>
            <a:pPr algn="just"/>
            <a:r>
              <a:rPr lang="es-ES" sz="1600" dirty="0">
                <a:solidFill>
                  <a:schemeClr val="accent4"/>
                </a:solidFill>
                <a:latin typeface="Fira Sans Condensed Light" panose="020B0604020202020204" charset="0"/>
                <a:cs typeface="Times New Roman" panose="02020603050405020304" pitchFamily="18" charset="0"/>
              </a:rPr>
              <a:t>Calcula la </a:t>
            </a:r>
            <a:r>
              <a:rPr lang="es-ES" sz="1600" b="1" dirty="0">
                <a:solidFill>
                  <a:schemeClr val="accent4"/>
                </a:solidFill>
                <a:latin typeface="Fira Sans Condensed Light" panose="020B0604020202020204" charset="0"/>
                <a:cs typeface="Times New Roman" panose="02020603050405020304" pitchFamily="18" charset="0"/>
              </a:rPr>
              <a:t>matriz adjunta </a:t>
            </a:r>
            <a:r>
              <a:rPr lang="es-ES" sz="1600" dirty="0">
                <a:solidFill>
                  <a:schemeClr val="accent4"/>
                </a:solidFill>
                <a:latin typeface="Fira Sans Condensed Light" panose="020B0604020202020204" charset="0"/>
                <a:cs typeface="Times New Roman" panose="02020603050405020304" pitchFamily="18" charset="0"/>
              </a:rPr>
              <a:t>de la siguiente matriz:</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6146" name="Picture 2" descr="Matemáticas10: Ejemplos de Matriz Adjunta">
            <a:extLst>
              <a:ext uri="{FF2B5EF4-FFF2-40B4-BE49-F238E27FC236}">
                <a16:creationId xmlns:a16="http://schemas.microsoft.com/office/drawing/2014/main" id="{01AA5873-EDB3-F791-0905-405493596CB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5384" b="44988"/>
          <a:stretch/>
        </p:blipFill>
        <p:spPr bwMode="auto">
          <a:xfrm>
            <a:off x="2775428" y="2950234"/>
            <a:ext cx="2652697" cy="1437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902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Adjunta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Matriz Adjunta</a:t>
            </a:r>
          </a:p>
          <a:p>
            <a:pPr algn="just"/>
            <a:r>
              <a:rPr lang="es-ES" sz="1600" dirty="0">
                <a:solidFill>
                  <a:schemeClr val="accent4"/>
                </a:solidFill>
                <a:latin typeface="Fira Sans Condensed Light" panose="020B0604020202020204" charset="0"/>
                <a:cs typeface="Times New Roman" panose="02020603050405020304" pitchFamily="18" charset="0"/>
              </a:rPr>
              <a:t>Calcula la </a:t>
            </a:r>
            <a:r>
              <a:rPr lang="es-ES" sz="1600" b="1" dirty="0">
                <a:solidFill>
                  <a:schemeClr val="accent4"/>
                </a:solidFill>
                <a:latin typeface="Fira Sans Condensed Light" panose="020B0604020202020204" charset="0"/>
                <a:cs typeface="Times New Roman" panose="02020603050405020304" pitchFamily="18" charset="0"/>
              </a:rPr>
              <a:t>matriz adjunta </a:t>
            </a:r>
            <a:r>
              <a:rPr lang="es-ES" sz="1600" dirty="0">
                <a:solidFill>
                  <a:schemeClr val="accent4"/>
                </a:solidFill>
                <a:latin typeface="Fira Sans Condensed Light" panose="020B0604020202020204" charset="0"/>
                <a:cs typeface="Times New Roman" panose="02020603050405020304" pitchFamily="18" charset="0"/>
              </a:rPr>
              <a:t>de la siguiente matriz:</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6146" name="Picture 2" descr="Matemáticas10: Ejemplos de Matriz Adjunta">
            <a:extLst>
              <a:ext uri="{FF2B5EF4-FFF2-40B4-BE49-F238E27FC236}">
                <a16:creationId xmlns:a16="http://schemas.microsoft.com/office/drawing/2014/main" id="{01AA5873-EDB3-F791-0905-405493596CB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312" b="45625"/>
          <a:stretch/>
        </p:blipFill>
        <p:spPr bwMode="auto">
          <a:xfrm>
            <a:off x="486140" y="3009101"/>
            <a:ext cx="7843452" cy="1458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80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Transpuesta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Transpuesta</a:t>
            </a:r>
          </a:p>
          <a:p>
            <a:pPr algn="just"/>
            <a:r>
              <a:rPr lang="es-ES" sz="1600" dirty="0">
                <a:solidFill>
                  <a:schemeClr val="accent4"/>
                </a:solidFill>
                <a:latin typeface="Fira Sans Condensed Light" panose="020B0604020202020204" charset="0"/>
                <a:cs typeface="Times New Roman" panose="02020603050405020304" pitchFamily="18" charset="0"/>
              </a:rPr>
              <a:t>Una </a:t>
            </a:r>
            <a:r>
              <a:rPr lang="es-ES" sz="1600" b="1" dirty="0">
                <a:solidFill>
                  <a:schemeClr val="accent4"/>
                </a:solidFill>
                <a:latin typeface="Fira Sans Condensed Light" panose="020B0604020202020204" charset="0"/>
                <a:cs typeface="Times New Roman" panose="02020603050405020304" pitchFamily="18" charset="0"/>
              </a:rPr>
              <a:t>matriz traspuesta </a:t>
            </a:r>
            <a:r>
              <a:rPr lang="es-ES" sz="1600" dirty="0">
                <a:solidFill>
                  <a:schemeClr val="accent4"/>
                </a:solidFill>
                <a:latin typeface="Fira Sans Condensed Light" panose="020B0604020202020204" charset="0"/>
                <a:cs typeface="Times New Roman" panose="02020603050405020304" pitchFamily="18" charset="0"/>
              </a:rPr>
              <a:t>es el resultado de reordenar la matriz original mediante el cambio de filas por columnas y las columnas por filas en una nueva matriz. </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7180" name="Picture 12" descr="Transpuesta de una matriz 3x3 y 2x3 | Álgebra lineal - YouTube">
            <a:extLst>
              <a:ext uri="{FF2B5EF4-FFF2-40B4-BE49-F238E27FC236}">
                <a16:creationId xmlns:a16="http://schemas.microsoft.com/office/drawing/2014/main" id="{6CB064A0-487A-B8F0-688B-EAEEAB83D5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769310"/>
            <a:ext cx="4169759" cy="2345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08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Transpuesta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p>
          <a:p>
            <a:pPr algn="just"/>
            <a:r>
              <a:rPr lang="es-ES" sz="1600" dirty="0">
                <a:solidFill>
                  <a:schemeClr val="accent4"/>
                </a:solidFill>
                <a:latin typeface="Fira Sans Condensed Light" panose="020B0604020202020204" charset="0"/>
                <a:cs typeface="Times New Roman" panose="02020603050405020304" pitchFamily="18" charset="0"/>
              </a:rPr>
              <a:t>Obtener la </a:t>
            </a:r>
            <a:r>
              <a:rPr lang="es-ES" sz="1600" b="1" dirty="0">
                <a:solidFill>
                  <a:schemeClr val="accent4"/>
                </a:solidFill>
                <a:latin typeface="Fira Sans Condensed Light" panose="020B0604020202020204" charset="0"/>
                <a:cs typeface="Times New Roman" panose="02020603050405020304" pitchFamily="18" charset="0"/>
              </a:rPr>
              <a:t>matriz traspuesta </a:t>
            </a:r>
            <a:r>
              <a:rPr lang="es-ES" sz="1600" dirty="0">
                <a:solidFill>
                  <a:schemeClr val="accent4"/>
                </a:solidFill>
                <a:latin typeface="Fira Sans Condensed Light" panose="020B0604020202020204" charset="0"/>
                <a:cs typeface="Times New Roman" panose="02020603050405020304" pitchFamily="18" charset="0"/>
              </a:rPr>
              <a:t>de cada una de las siguientes matrices:</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8194" name="Picture 2" descr="Matemáticas10: Ejemplos de Matriz Traspuesta">
            <a:extLst>
              <a:ext uri="{FF2B5EF4-FFF2-40B4-BE49-F238E27FC236}">
                <a16:creationId xmlns:a16="http://schemas.microsoft.com/office/drawing/2014/main" id="{5E5ADA93-3D14-50DA-E2A9-BB01D248DD9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3846"/>
          <a:stretch/>
        </p:blipFill>
        <p:spPr bwMode="auto">
          <a:xfrm>
            <a:off x="5317944" y="1521145"/>
            <a:ext cx="2064419" cy="3239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45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Transpuesta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p>
          <a:p>
            <a:pPr algn="just"/>
            <a:r>
              <a:rPr lang="es-ES" sz="1600" dirty="0">
                <a:solidFill>
                  <a:schemeClr val="accent4"/>
                </a:solidFill>
                <a:latin typeface="Fira Sans Condensed Light" panose="020B0604020202020204" charset="0"/>
                <a:cs typeface="Times New Roman" panose="02020603050405020304" pitchFamily="18" charset="0"/>
              </a:rPr>
              <a:t>Obtener la </a:t>
            </a:r>
            <a:r>
              <a:rPr lang="es-ES" sz="1600" b="1" dirty="0">
                <a:solidFill>
                  <a:schemeClr val="accent4"/>
                </a:solidFill>
                <a:latin typeface="Fira Sans Condensed Light" panose="020B0604020202020204" charset="0"/>
                <a:cs typeface="Times New Roman" panose="02020603050405020304" pitchFamily="18" charset="0"/>
              </a:rPr>
              <a:t>matriz traspuesta </a:t>
            </a:r>
            <a:r>
              <a:rPr lang="es-ES" sz="1600" dirty="0">
                <a:solidFill>
                  <a:schemeClr val="accent4"/>
                </a:solidFill>
                <a:latin typeface="Fira Sans Condensed Light" panose="020B0604020202020204" charset="0"/>
                <a:cs typeface="Times New Roman" panose="02020603050405020304" pitchFamily="18" charset="0"/>
              </a:rPr>
              <a:t>de cada una de las siguientes matrices:</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8194" name="Picture 2" descr="Matemáticas10: Ejemplos de Matriz Traspuesta">
            <a:extLst>
              <a:ext uri="{FF2B5EF4-FFF2-40B4-BE49-F238E27FC236}">
                <a16:creationId xmlns:a16="http://schemas.microsoft.com/office/drawing/2014/main" id="{5E5ADA93-3D14-50DA-E2A9-BB01D248DD9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3"/>
          <a:stretch/>
        </p:blipFill>
        <p:spPr bwMode="auto">
          <a:xfrm>
            <a:off x="4829921" y="1521145"/>
            <a:ext cx="3676269" cy="3239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225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Inversa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Matriz Inversa</a:t>
            </a:r>
          </a:p>
          <a:p>
            <a:pPr algn="just"/>
            <a:r>
              <a:rPr lang="es-ES" sz="1600" dirty="0">
                <a:solidFill>
                  <a:schemeClr val="accent4"/>
                </a:solidFill>
                <a:latin typeface="Fira Sans Condensed Light" panose="020B0604020202020204" charset="0"/>
                <a:cs typeface="Times New Roman" panose="02020603050405020304" pitchFamily="18" charset="0"/>
              </a:rPr>
              <a:t>Una matriz es </a:t>
            </a:r>
            <a:r>
              <a:rPr lang="es-ES" sz="1600" b="1" dirty="0">
                <a:solidFill>
                  <a:schemeClr val="accent4"/>
                </a:solidFill>
                <a:latin typeface="Fira Sans Condensed Light" panose="020B0604020202020204" charset="0"/>
                <a:cs typeface="Times New Roman" panose="02020603050405020304" pitchFamily="18" charset="0"/>
              </a:rPr>
              <a:t>inversa</a:t>
            </a:r>
            <a:r>
              <a:rPr lang="es-ES" sz="1600" dirty="0">
                <a:solidFill>
                  <a:schemeClr val="accent4"/>
                </a:solidFill>
                <a:latin typeface="Fira Sans Condensed Light" panose="020B0604020202020204" charset="0"/>
                <a:cs typeface="Times New Roman" panose="02020603050405020304" pitchFamily="18" charset="0"/>
              </a:rPr>
              <a:t> de otra cuando al multiplicar ambas (en cualquier orden) se obtiene la matriz identidad. </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7170" name="Picture 2" descr="Cómo calcular una MATRIZ inversa - resumen fácil + VÍDEOS!">
            <a:extLst>
              <a:ext uri="{FF2B5EF4-FFF2-40B4-BE49-F238E27FC236}">
                <a16:creationId xmlns:a16="http://schemas.microsoft.com/office/drawing/2014/main" id="{7684C6B4-F7DD-C2FF-08AF-A0E65E876A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5435" y="1482385"/>
            <a:ext cx="3646425" cy="1354748"/>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Como calcular matriz inversa + 2 exemplos resolvidos">
            <a:extLst>
              <a:ext uri="{FF2B5EF4-FFF2-40B4-BE49-F238E27FC236}">
                <a16:creationId xmlns:a16="http://schemas.microsoft.com/office/drawing/2014/main" id="{8135FAA8-053B-62D6-9F7A-32C4568B237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7399" b="54803"/>
          <a:stretch/>
        </p:blipFill>
        <p:spPr bwMode="auto">
          <a:xfrm>
            <a:off x="3909360" y="3334670"/>
            <a:ext cx="4762500" cy="1418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43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Inversa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p>
          <a:p>
            <a:pPr algn="just"/>
            <a:r>
              <a:rPr lang="es-ES" sz="1600" dirty="0">
                <a:solidFill>
                  <a:schemeClr val="accent4"/>
                </a:solidFill>
                <a:latin typeface="Fira Sans Condensed Light" panose="020B0604020202020204" charset="0"/>
                <a:cs typeface="Times New Roman" panose="02020603050405020304" pitchFamily="18" charset="0"/>
              </a:rPr>
              <a:t>Encuentra la </a:t>
            </a:r>
            <a:r>
              <a:rPr lang="es-ES" sz="1600" b="1" dirty="0">
                <a:solidFill>
                  <a:schemeClr val="accent4"/>
                </a:solidFill>
                <a:latin typeface="Fira Sans Condensed Light" panose="020B0604020202020204" charset="0"/>
                <a:cs typeface="Times New Roman" panose="02020603050405020304" pitchFamily="18" charset="0"/>
              </a:rPr>
              <a:t>inversa</a:t>
            </a:r>
            <a:r>
              <a:rPr lang="es-ES" sz="1600" dirty="0">
                <a:solidFill>
                  <a:schemeClr val="accent4"/>
                </a:solidFill>
                <a:latin typeface="Fira Sans Condensed Light" panose="020B0604020202020204" charset="0"/>
                <a:cs typeface="Times New Roman" panose="02020603050405020304" pitchFamily="18" charset="0"/>
              </a:rPr>
              <a:t> de la siguiente matriz y comprueba que el producto de ambas es la matriz identidad. </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9218" name="Picture 2" descr="Como calcular matriz inversa + 2 exemplos resolvidos">
            <a:extLst>
              <a:ext uri="{FF2B5EF4-FFF2-40B4-BE49-F238E27FC236}">
                <a16:creationId xmlns:a16="http://schemas.microsoft.com/office/drawing/2014/main" id="{8135FAA8-053B-62D6-9F7A-32C4568B23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528" t="48324" r="54916" b="27764"/>
          <a:stretch/>
        </p:blipFill>
        <p:spPr bwMode="auto">
          <a:xfrm>
            <a:off x="3834483" y="3295324"/>
            <a:ext cx="1475033" cy="1232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26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Inversa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p>
          <a:p>
            <a:pPr algn="just"/>
            <a:r>
              <a:rPr lang="es-ES" sz="1600" dirty="0">
                <a:solidFill>
                  <a:schemeClr val="accent4"/>
                </a:solidFill>
                <a:latin typeface="Fira Sans Condensed Light" panose="020B0604020202020204" charset="0"/>
                <a:cs typeface="Times New Roman" panose="02020603050405020304" pitchFamily="18" charset="0"/>
              </a:rPr>
              <a:t>Encuentra la </a:t>
            </a:r>
            <a:r>
              <a:rPr lang="es-ES" sz="1600" b="1" dirty="0">
                <a:solidFill>
                  <a:schemeClr val="accent4"/>
                </a:solidFill>
                <a:latin typeface="Fira Sans Condensed Light" panose="020B0604020202020204" charset="0"/>
                <a:cs typeface="Times New Roman" panose="02020603050405020304" pitchFamily="18" charset="0"/>
              </a:rPr>
              <a:t>inversa</a:t>
            </a:r>
            <a:r>
              <a:rPr lang="es-ES" sz="1600" dirty="0">
                <a:solidFill>
                  <a:schemeClr val="accent4"/>
                </a:solidFill>
                <a:latin typeface="Fira Sans Condensed Light" panose="020B0604020202020204" charset="0"/>
                <a:cs typeface="Times New Roman" panose="02020603050405020304" pitchFamily="18" charset="0"/>
              </a:rPr>
              <a:t> de la siguiente matriz y comprueba que el producto de ambas es la matriz identidad. </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96214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https://itesm.zoom.us/j/9648719322</a:t>
            </a:r>
            <a:endParaRPr lang="es-ES" dirty="0"/>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8353</TotalTime>
  <Words>1551</Words>
  <Application>Microsoft Office PowerPoint</Application>
  <PresentationFormat>Presentación en pantalla (16:9)</PresentationFormat>
  <Paragraphs>377</Paragraphs>
  <Slides>38</Slides>
  <Notes>38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38</vt:i4>
      </vt:variant>
    </vt:vector>
  </HeadingPairs>
  <TitlesOfParts>
    <vt:vector size="44" baseType="lpstr">
      <vt:lpstr>Fira Sans Condensed Light</vt:lpstr>
      <vt:lpstr>Rajdhani</vt:lpstr>
      <vt:lpstr>Anton</vt:lpstr>
      <vt:lpstr>Arial</vt:lpstr>
      <vt:lpstr>Advent Pro Light</vt:lpstr>
      <vt:lpstr>Ai Tech Agency by Slidesgo</vt:lpstr>
      <vt:lpstr>Presentación de PowerPoint</vt:lpstr>
      <vt:lpstr>Bienvenida</vt:lpstr>
      <vt:lpstr>Presentación de PowerPoint</vt:lpstr>
      <vt:lpstr>Presentación de PowerPoint</vt:lpstr>
      <vt:lpstr>Presentación de PowerPoint</vt:lpstr>
      <vt:lpstr>Presentación de PowerPoint</vt:lpstr>
      <vt:lpstr>AGENDA</vt:lpstr>
      <vt:lpstr>AGENDA</vt:lpstr>
      <vt:lpstr>CLASE VIRTUAL  DE LOS DÍAS VIERNES</vt:lpstr>
      <vt:lpstr>DINÁMICA DE CLASES </vt:lpstr>
      <vt:lpstr>ACERCA DEL FACILITADOR</vt:lpstr>
      <vt:lpstr>INTRODUCCIÓN</vt:lpstr>
      <vt:lpstr>Presentación de PowerPoint</vt:lpstr>
      <vt:lpstr>Instalación</vt:lpstr>
      <vt:lpstr>Presentación de PowerPoint</vt:lpstr>
      <vt:lpstr>Instalación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García Suárez</cp:lastModifiedBy>
  <cp:revision>254</cp:revision>
  <dcterms:modified xsi:type="dcterms:W3CDTF">2026-02-12T00:51:44Z</dcterms:modified>
</cp:coreProperties>
</file>