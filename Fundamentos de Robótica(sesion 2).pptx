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6"/>
  </p:notesMasterIdLst>
  <p:sldIdLst>
    <p:sldId id="256" r:id="rId2"/>
    <p:sldId id="357" r:id="rId3"/>
    <p:sldId id="358" r:id="rId4"/>
    <p:sldId id="364" r:id="rId5"/>
    <p:sldId id="394" r:id="rId6"/>
    <p:sldId id="370" r:id="rId7"/>
    <p:sldId id="371" r:id="rId8"/>
    <p:sldId id="401" r:id="rId9"/>
    <p:sldId id="406" r:id="rId10"/>
    <p:sldId id="402" r:id="rId11"/>
    <p:sldId id="405" r:id="rId12"/>
    <p:sldId id="404" r:id="rId13"/>
    <p:sldId id="403" r:id="rId14"/>
    <p:sldId id="410" r:id="rId15"/>
    <p:sldId id="413" r:id="rId16"/>
    <p:sldId id="414" r:id="rId17"/>
    <p:sldId id="422" r:id="rId18"/>
    <p:sldId id="415" r:id="rId19"/>
    <p:sldId id="416" r:id="rId20"/>
    <p:sldId id="417" r:id="rId21"/>
    <p:sldId id="418" r:id="rId22"/>
    <p:sldId id="419" r:id="rId23"/>
    <p:sldId id="420" r:id="rId24"/>
    <p:sldId id="421" r:id="rId25"/>
    <p:sldId id="423" r:id="rId26"/>
    <p:sldId id="430" r:id="rId27"/>
    <p:sldId id="463" r:id="rId28"/>
    <p:sldId id="464" r:id="rId29"/>
    <p:sldId id="433" r:id="rId30"/>
    <p:sldId id="465" r:id="rId31"/>
    <p:sldId id="434" r:id="rId32"/>
    <p:sldId id="435" r:id="rId33"/>
    <p:sldId id="466" r:id="rId34"/>
    <p:sldId id="280" r:id="rId35"/>
  </p:sldIdLst>
  <p:sldSz cx="9144000" cy="5143500" type="screen16x9"/>
  <p:notesSz cx="6858000" cy="9144000"/>
  <p:embeddedFontLst>
    <p:embeddedFont>
      <p:font typeface="Advent Pro Light" panose="020B0604020202020204" charset="0"/>
      <p:regular r:id="rId37"/>
      <p:bold r:id="rId38"/>
    </p:embeddedFont>
    <p:embeddedFont>
      <p:font typeface="Anton" pitchFamily="2" charset="0"/>
      <p:regular r:id="rId39"/>
    </p:embeddedFont>
    <p:embeddedFont>
      <p:font typeface="Cambria Math" panose="02040503050406030204" pitchFamily="18" charset="0"/>
      <p:regular r:id="rId40"/>
    </p:embeddedFont>
    <p:embeddedFont>
      <p:font typeface="Fira Sans Condensed Light" panose="020B0403050000020004" pitchFamily="34" charset="0"/>
      <p:regular r:id="rId41"/>
      <p:bold r:id="rId42"/>
      <p:italic r:id="rId43"/>
      <p:boldItalic r:id="rId44"/>
    </p:embeddedFont>
    <p:embeddedFont>
      <p:font typeface="Rajdhani" panose="020B0604020202020204" charset="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4449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3300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3221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6124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0098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86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8785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5718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4636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7216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0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1470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4528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2933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7316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9553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5806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2952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896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2034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5167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8454ACEA-908C-F6DF-247F-0B72C33210E8}"/>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8FDC30FA-39C5-E975-6D43-553BBF90EC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72E7E687-A563-562A-140C-D25BEE999B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09111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601700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9D3DE078-00D5-871A-3BE2-43AE04149448}"/>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5BF4D963-EC05-0819-A9B3-1B868B415D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EB89FAF1-E0DE-39D0-C94C-42C4E439E0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834910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60838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1459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46452EAE-E1BD-4C78-177F-BA66CC492D95}"/>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D5ED132C-9A68-C55D-6FBC-92EF2CDE94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E3A2B47B-A740-C855-F30D-A660928D48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36076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21.jpeg"/><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5" Type="http://schemas.openxmlformats.org/officeDocument/2006/relationships/image" Target="../media/image27.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31.png"/><Relationship Id="rId4" Type="http://schemas.openxmlformats.org/officeDocument/2006/relationships/image" Target="../media/image390.png"/></Relationships>
</file>

<file path=ppt/slides/_rels/slide24.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5.png"/><Relationship Id="rId7"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9.xml"/><Relationship Id="rId6" Type="http://schemas.openxmlformats.org/officeDocument/2006/relationships/image" Target="../media/image410.png"/><Relationship Id="rId11" Type="http://schemas.openxmlformats.org/officeDocument/2006/relationships/image" Target="../media/image35.png"/><Relationship Id="rId5" Type="http://schemas.openxmlformats.org/officeDocument/2006/relationships/image" Target="../media/image31.png"/><Relationship Id="rId10" Type="http://schemas.openxmlformats.org/officeDocument/2006/relationships/image" Target="../media/image450.png"/><Relationship Id="rId4" Type="http://schemas.openxmlformats.org/officeDocument/2006/relationships/image" Target="../media/image32.png"/><Relationship Id="rId9"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Fundamentos de Robótica</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12 de Febrero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“Un modelo matemático de un sistema dinámico es un conjunto de ecuaciones que representan la dinámica del sistema con precisión.”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descr="Robots industriales en cifras: así ha aumentado su stock mundial y densidad  por región · THE LOGISTICS WORLD | Conéctate e inspírate.">
            <a:extLst>
              <a:ext uri="{FF2B5EF4-FFF2-40B4-BE49-F238E27FC236}">
                <a16:creationId xmlns:a16="http://schemas.microsoft.com/office/drawing/2014/main" id="{2B53735F-DDFD-1DF0-302F-152E3F980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71" y="1468611"/>
            <a:ext cx="3935582" cy="26237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-Conceptos requeridos</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56668" y="803001"/>
            <a:ext cx="0" cy="1220949"/>
          </a:xfrm>
          <a:prstGeom prst="straightConnector1">
            <a:avLst/>
          </a:prstGeom>
          <a:noFill/>
          <a:ln w="19050" cap="flat" cmpd="sng">
            <a:solidFill>
              <a:srgbClr val="F3F3F3"/>
            </a:solidFill>
            <a:prstDash val="solid"/>
            <a:round/>
            <a:headEnd type="oval" w="med" len="med"/>
            <a:tailEnd type="oval" w="med" len="med"/>
          </a:ln>
        </p:spPr>
      </p:cxnSp>
      <p:sp>
        <p:nvSpPr>
          <p:cNvPr id="9" name="Google Shape;1762;p45"/>
          <p:cNvSpPr txBox="1">
            <a:spLocks/>
          </p:cNvSpPr>
          <p:nvPr/>
        </p:nvSpPr>
        <p:spPr>
          <a:xfrm>
            <a:off x="5236368" y="2023951"/>
            <a:ext cx="3529109"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pPr marL="152400" indent="0">
              <a:buNone/>
            </a:pPr>
            <a:r>
              <a:rPr lang="en-US" sz="1800" b="1" dirty="0">
                <a:solidFill>
                  <a:schemeClr val="bg1">
                    <a:lumMod val="60000"/>
                    <a:lumOff val="40000"/>
                  </a:schemeClr>
                </a:solidFill>
              </a:rPr>
              <a:t>Descripción:</a:t>
            </a:r>
            <a:r>
              <a:rPr lang="en-US" sz="1800" b="1" dirty="0"/>
              <a:t> </a:t>
            </a:r>
            <a:r>
              <a:rPr lang="es-ES" sz="1800" dirty="0"/>
              <a:t>MATLAB es un sistema de cómputo numérico que ofrece un entorno de desarrollo integrado con un lenguaje de programación propio. Está disponible para las plataformas Unix, Windows, macOS y GNU/Linux.</a:t>
            </a: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6" name="Picture 2" descr="¿Qué es MatLab?">
            <a:extLst>
              <a:ext uri="{FF2B5EF4-FFF2-40B4-BE49-F238E27FC236}">
                <a16:creationId xmlns:a16="http://schemas.microsoft.com/office/drawing/2014/main" id="{AC8F7071-3E3A-E149-6439-4C402A5F4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275" y="2259788"/>
            <a:ext cx="4361517" cy="213974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0730" y="686916"/>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MATLAB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5" name="Google Shape;258;p31">
            <a:extLst>
              <a:ext uri="{FF2B5EF4-FFF2-40B4-BE49-F238E27FC236}">
                <a16:creationId xmlns:a16="http://schemas.microsoft.com/office/drawing/2014/main" id="{AE568C45-5E3B-8636-464E-33F527E933AE}"/>
              </a:ext>
            </a:extLst>
          </p:cNvPr>
          <p:cNvCxnSpPr/>
          <p:nvPr/>
        </p:nvCxnSpPr>
        <p:spPr>
          <a:xfrm rot="16200000" flipH="1">
            <a:off x="3954105" y="3300959"/>
            <a:ext cx="2564526" cy="10510"/>
          </a:xfrm>
          <a:prstGeom prst="straightConnector1">
            <a:avLst/>
          </a:prstGeom>
          <a:noFill/>
          <a:ln w="19050" cap="flat" cmpd="sng">
            <a:solidFill>
              <a:srgbClr val="F3F3F3"/>
            </a:solidFill>
            <a:prstDash val="solid"/>
            <a:round/>
            <a:headEnd type="oval" w="med" len="med"/>
            <a:tailEnd type="oval" w="med" len="med"/>
          </a:ln>
        </p:spPr>
      </p:cxnSp>
    </p:spTree>
    <p:extLst>
      <p:ext uri="{BB962C8B-B14F-4D97-AF65-F5344CB8AC3E}">
        <p14:creationId xmlns:p14="http://schemas.microsoft.com/office/powerpoint/2010/main" val="2422623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https://github.com/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1" name="Google Shape;1603;p42"/>
          <p:cNvSpPr txBox="1"/>
          <p:nvPr/>
        </p:nvSpPr>
        <p:spPr>
          <a:xfrm>
            <a:off x="423530" y="267044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Ingresar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Sign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in</a:t>
            </a:r>
          </a:p>
        </p:txBody>
      </p:sp>
      <p:sp>
        <p:nvSpPr>
          <p:cNvPr id="12" name="Google Shape;1603;p42"/>
          <p:cNvSpPr txBox="1"/>
          <p:nvPr/>
        </p:nvSpPr>
        <p:spPr>
          <a:xfrm>
            <a:off x="418277" y="30856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los datos solicitados</a:t>
            </a:r>
          </a:p>
          <a:p>
            <a:pPr algn="just"/>
            <a:r>
              <a:rPr lang="en-US" sz="1600" dirty="0" err="1">
                <a:solidFill>
                  <a:srgbClr val="F3F3F3"/>
                </a:solidFill>
                <a:latin typeface="Fira Sans Condensed Light"/>
                <a:ea typeface="Fira Sans Condensed Light"/>
                <a:cs typeface="Fira Sans Condensed Light"/>
                <a:sym typeface="Fira Sans Condensed Light"/>
              </a:rPr>
              <a:t>Agregar</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correo</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crear</a:t>
            </a:r>
            <a:r>
              <a:rPr lang="en-US" sz="1600" dirty="0">
                <a:solidFill>
                  <a:srgbClr val="F3F3F3"/>
                </a:solidFill>
                <a:latin typeface="Fira Sans Condensed Light"/>
                <a:ea typeface="Fira Sans Condensed Light"/>
                <a:cs typeface="Fira Sans Condensed Light"/>
                <a:sym typeface="Fira Sans Condensed Light"/>
              </a:rPr>
              <a:t> password y username</a:t>
            </a:r>
            <a:endParaRPr lang="es-ES" sz="1600" dirty="0">
              <a:solidFill>
                <a:srgbClr val="F3F3F3"/>
              </a:solidFill>
              <a:latin typeface="Fira Sans Condensed Light"/>
              <a:ea typeface="Fira Sans Condensed Light"/>
              <a:cs typeface="Fira Sans Condensed Light"/>
              <a:sym typeface="Fira Sans Condensed Light"/>
            </a:endParaRPr>
          </a:p>
        </p:txBody>
      </p:sp>
      <p:sp>
        <p:nvSpPr>
          <p:cNvPr id="13" name="Google Shape;1603;p42"/>
          <p:cNvSpPr txBox="1"/>
          <p:nvPr/>
        </p:nvSpPr>
        <p:spPr>
          <a:xfrm>
            <a:off x="434041" y="375301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Verificar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antibot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4" name="Google Shape;1603;p42"/>
          <p:cNvSpPr txBox="1"/>
          <p:nvPr/>
        </p:nvSpPr>
        <p:spPr>
          <a:xfrm>
            <a:off x="439296" y="413664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Confirmar código enviado a correo</a:t>
            </a:r>
          </a:p>
        </p:txBody>
      </p:sp>
      <p:sp>
        <p:nvSpPr>
          <p:cNvPr id="15" name="Google Shape;1603;p42"/>
          <p:cNvSpPr txBox="1"/>
          <p:nvPr/>
        </p:nvSpPr>
        <p:spPr>
          <a:xfrm>
            <a:off x="4611905" y="2050339"/>
            <a:ext cx="4111682"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Seleccionar  herramientas</a:t>
            </a:r>
          </a:p>
        </p:txBody>
      </p:sp>
      <p:sp>
        <p:nvSpPr>
          <p:cNvPr id="16" name="Google Shape;1603;p42"/>
          <p:cNvSpPr txBox="1"/>
          <p:nvPr/>
        </p:nvSpPr>
        <p:spPr>
          <a:xfrm>
            <a:off x="4627672" y="2581111"/>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Crear nuevo repositorio</a:t>
            </a:r>
          </a:p>
          <a:p>
            <a:pPr algn="just"/>
            <a:r>
              <a:rPr lang="es-ES" sz="1600" dirty="0">
                <a:solidFill>
                  <a:schemeClr val="accent4"/>
                </a:solidFill>
                <a:latin typeface="Fira Sans Condensed Light" panose="020B0604020202020204" charset="0"/>
                <a:cs typeface="Times New Roman" panose="02020603050405020304" pitchFamily="18" charset="0"/>
              </a:rPr>
              <a:t>Nombre: Analítica de datos </a:t>
            </a:r>
            <a:endParaRPr lang="es-ES" sz="1600" dirty="0">
              <a:solidFill>
                <a:srgbClr val="F3F3F3"/>
              </a:solidFill>
              <a:latin typeface="Fira Sans Condensed Light"/>
              <a:ea typeface="Fira Sans Condensed Light"/>
              <a:cs typeface="Fira Sans Condensed Light"/>
              <a:sym typeface="Fira Sans Condensed Light"/>
            </a:endParaRP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Determinante</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lang="es-ES" sz="3000" b="1" dirty="0">
                <a:solidFill>
                  <a:schemeClr val="bg1">
                    <a:lumMod val="60000"/>
                    <a:lumOff val="40000"/>
                  </a:schemeClr>
                </a:solidFill>
                <a:latin typeface="Rajdhani"/>
                <a:ea typeface="Rajdhani"/>
                <a:cs typeface="Rajdhani"/>
                <a:sym typeface="Rajdhani"/>
              </a:rPr>
              <a:t>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Singularidad</a:t>
            </a:r>
          </a:p>
          <a:p>
            <a:pPr algn="just"/>
            <a:r>
              <a:rPr lang="es-ES" sz="1600" dirty="0">
                <a:solidFill>
                  <a:schemeClr val="accent4"/>
                </a:solidFill>
                <a:latin typeface="Fira Sans Condensed Light" panose="020B0604020202020204" charset="0"/>
                <a:cs typeface="Times New Roman" panose="02020603050405020304" pitchFamily="18" charset="0"/>
              </a:rPr>
              <a:t>El determinante de una matriz siempre es un número real y únicamente se puede calcular para </a:t>
            </a:r>
            <a:r>
              <a:rPr lang="es-ES" sz="1600" b="1" dirty="0">
                <a:solidFill>
                  <a:schemeClr val="accent4"/>
                </a:solidFill>
                <a:latin typeface="Fira Sans Condensed Light" panose="020B0604020202020204" charset="0"/>
                <a:cs typeface="Times New Roman" panose="02020603050405020304" pitchFamily="18" charset="0"/>
              </a:rPr>
              <a:t>matrices cuadradas </a:t>
            </a:r>
            <a:r>
              <a:rPr lang="es-ES" sz="1600" dirty="0">
                <a:solidFill>
                  <a:schemeClr val="accent4"/>
                </a:solidFill>
                <a:latin typeface="Fira Sans Condensed Light" panose="020B0604020202020204" charset="0"/>
                <a:cs typeface="Times New Roman" panose="02020603050405020304" pitchFamily="18" charset="0"/>
              </a:rPr>
              <a:t>(n=m). </a:t>
            </a:r>
            <a:r>
              <a:rPr lang="es-ES" sz="1600" b="1" dirty="0">
                <a:solidFill>
                  <a:schemeClr val="accent4"/>
                </a:solidFill>
                <a:latin typeface="Fira Sans Condensed Light" panose="020B0604020202020204" charset="0"/>
                <a:cs typeface="Times New Roman" panose="02020603050405020304" pitchFamily="18" charset="0"/>
              </a:rPr>
              <a:t>El determinante</a:t>
            </a:r>
            <a:r>
              <a:rPr lang="es-ES" sz="1600" dirty="0">
                <a:solidFill>
                  <a:schemeClr val="accent4"/>
                </a:solidFill>
                <a:latin typeface="Fira Sans Condensed Light" panose="020B0604020202020204" charset="0"/>
                <a:cs typeface="Times New Roman" panose="02020603050405020304" pitchFamily="18" charset="0"/>
              </a:rPr>
              <a:t> de una matriz indica si un sistema de ecuaciones lineales es singular o no es singular. Por ello, si el resultado del determinante de una matriz es cero (nulo), la matriz será </a:t>
            </a:r>
            <a:r>
              <a:rPr lang="es-ES" sz="1600" b="1" dirty="0">
                <a:solidFill>
                  <a:schemeClr val="accent4"/>
                </a:solidFill>
                <a:latin typeface="Fira Sans Condensed Light" panose="020B0604020202020204" charset="0"/>
                <a:cs typeface="Times New Roman" panose="02020603050405020304" pitchFamily="18" charset="0"/>
              </a:rPr>
              <a:t>singular</a:t>
            </a:r>
            <a:r>
              <a:rPr lang="es-ES" sz="1600" dirty="0">
                <a:solidFill>
                  <a:schemeClr val="accent4"/>
                </a:solidFill>
                <a:latin typeface="Fira Sans Condensed Light" panose="020B0604020202020204" charset="0"/>
                <a:cs typeface="Times New Roman" panose="02020603050405020304" pitchFamily="18" charset="0"/>
              </a:rPr>
              <a:t> (No tendrá matriz inversa), y si el resultado es distinto de cero, la matriz será </a:t>
            </a:r>
            <a:r>
              <a:rPr lang="es-ES" sz="1600" b="1" dirty="0">
                <a:solidFill>
                  <a:schemeClr val="accent4"/>
                </a:solidFill>
                <a:latin typeface="Fira Sans Condensed Light" panose="020B0604020202020204" charset="0"/>
                <a:cs typeface="Times New Roman" panose="02020603050405020304" pitchFamily="18" charset="0"/>
              </a:rPr>
              <a:t>no singular</a:t>
            </a:r>
            <a:r>
              <a:rPr lang="es-ES" sz="1600" dirty="0">
                <a:solidFill>
                  <a:schemeClr val="accent4"/>
                </a:solidFill>
                <a:latin typeface="Fira Sans Condensed Light" panose="020B0604020202020204" charset="0"/>
                <a:cs typeface="Times New Roman" panose="02020603050405020304" pitchFamily="18" charset="0"/>
              </a:rPr>
              <a:t>. </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2" name="Picture 4" descr="Técnicas básicas de cálculo de determinantes - El blog de Leo">
            <a:extLst>
              <a:ext uri="{FF2B5EF4-FFF2-40B4-BE49-F238E27FC236}">
                <a16:creationId xmlns:a16="http://schemas.microsoft.com/office/drawing/2014/main" id="{CAFE4777-4341-E0AE-6A74-9BFE7646E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7458" y="1395101"/>
            <a:ext cx="2938696" cy="235329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eterminante de una matriz dos por dos 2×2 – totumat">
            <a:extLst>
              <a:ext uri="{FF2B5EF4-FFF2-40B4-BE49-F238E27FC236}">
                <a16:creationId xmlns:a16="http://schemas.microsoft.com/office/drawing/2014/main" id="{9FFA751D-6923-67D6-68C7-7C2F1DC444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948" y="4001482"/>
            <a:ext cx="2977649" cy="921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9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Determinante</a:t>
            </a: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lang="es-ES" sz="3000" b="1" dirty="0">
                <a:solidFill>
                  <a:schemeClr val="bg1">
                    <a:lumMod val="60000"/>
                    <a:lumOff val="40000"/>
                  </a:schemeClr>
                </a:solidFill>
                <a:latin typeface="Rajdhani"/>
                <a:ea typeface="Rajdhani"/>
                <a:cs typeface="Rajdhani"/>
                <a:sym typeface="Rajdhani"/>
              </a:rPr>
              <a:t>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7"/>
            <a:ext cx="4111682" cy="277830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Calcula</a:t>
            </a:r>
            <a:r>
              <a:rPr lang="es-ES" sz="1600" dirty="0">
                <a:solidFill>
                  <a:schemeClr val="accent4"/>
                </a:solidFill>
                <a:latin typeface="Fira Sans Condensed Light" panose="020B0604020202020204" charset="0"/>
                <a:cs typeface="Times New Roman" panose="02020603050405020304" pitchFamily="18" charset="0"/>
              </a:rPr>
              <a:t> el </a:t>
            </a:r>
            <a:r>
              <a:rPr lang="es-ES" sz="1600" b="1" dirty="0">
                <a:solidFill>
                  <a:schemeClr val="accent4"/>
                </a:solidFill>
                <a:latin typeface="Fira Sans Condensed Light" panose="020B0604020202020204" charset="0"/>
                <a:cs typeface="Times New Roman" panose="02020603050405020304" pitchFamily="18" charset="0"/>
              </a:rPr>
              <a:t>determinante</a:t>
            </a:r>
            <a:r>
              <a:rPr lang="es-ES" sz="1600" dirty="0">
                <a:solidFill>
                  <a:schemeClr val="accent4"/>
                </a:solidFill>
                <a:latin typeface="Fira Sans Condensed Light" panose="020B0604020202020204" charset="0"/>
                <a:cs typeface="Times New Roman" panose="02020603050405020304" pitchFamily="18" charset="0"/>
              </a:rPr>
              <a:t> de las siguientes matrices e indica en cada caso si es singular o no singular:</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 name="Imagen 6">
            <a:extLst>
              <a:ext uri="{FF2B5EF4-FFF2-40B4-BE49-F238E27FC236}">
                <a16:creationId xmlns:a16="http://schemas.microsoft.com/office/drawing/2014/main" id="{8A7C1F91-186E-897E-E752-4744406C824D}"/>
              </a:ext>
            </a:extLst>
          </p:cNvPr>
          <p:cNvPicPr>
            <a:picLocks noChangeAspect="1"/>
          </p:cNvPicPr>
          <p:nvPr/>
        </p:nvPicPr>
        <p:blipFill>
          <a:blip r:embed="rId4"/>
          <a:stretch>
            <a:fillRect/>
          </a:stretch>
        </p:blipFill>
        <p:spPr>
          <a:xfrm>
            <a:off x="6253296" y="3034136"/>
            <a:ext cx="1909129" cy="1235319"/>
          </a:xfrm>
          <a:prstGeom prst="rect">
            <a:avLst/>
          </a:prstGeom>
        </p:spPr>
      </p:pic>
      <p:pic>
        <p:nvPicPr>
          <p:cNvPr id="9" name="Imagen 8">
            <a:extLst>
              <a:ext uri="{FF2B5EF4-FFF2-40B4-BE49-F238E27FC236}">
                <a16:creationId xmlns:a16="http://schemas.microsoft.com/office/drawing/2014/main" id="{C56F447D-9881-8FCE-3B5E-55F99C3BBD9F}"/>
              </a:ext>
            </a:extLst>
          </p:cNvPr>
          <p:cNvPicPr>
            <a:picLocks noChangeAspect="1"/>
          </p:cNvPicPr>
          <p:nvPr/>
        </p:nvPicPr>
        <p:blipFill>
          <a:blip r:embed="rId5"/>
          <a:stretch>
            <a:fillRect/>
          </a:stretch>
        </p:blipFill>
        <p:spPr>
          <a:xfrm>
            <a:off x="707684" y="3259130"/>
            <a:ext cx="1406561" cy="785330"/>
          </a:xfrm>
          <a:prstGeom prst="rect">
            <a:avLst/>
          </a:prstGeom>
        </p:spPr>
      </p:pic>
      <p:pic>
        <p:nvPicPr>
          <p:cNvPr id="11" name="Imagen 10">
            <a:extLst>
              <a:ext uri="{FF2B5EF4-FFF2-40B4-BE49-F238E27FC236}">
                <a16:creationId xmlns:a16="http://schemas.microsoft.com/office/drawing/2014/main" id="{F52DC761-45D0-DA77-3165-D83BC142DEEA}"/>
              </a:ext>
            </a:extLst>
          </p:cNvPr>
          <p:cNvPicPr>
            <a:picLocks noChangeAspect="1"/>
          </p:cNvPicPr>
          <p:nvPr/>
        </p:nvPicPr>
        <p:blipFill>
          <a:blip r:embed="rId6"/>
          <a:stretch>
            <a:fillRect/>
          </a:stretch>
        </p:blipFill>
        <p:spPr>
          <a:xfrm>
            <a:off x="2352025" y="3259130"/>
            <a:ext cx="1682850" cy="785330"/>
          </a:xfrm>
          <a:prstGeom prst="rect">
            <a:avLst/>
          </a:prstGeom>
        </p:spPr>
      </p:pic>
      <p:pic>
        <p:nvPicPr>
          <p:cNvPr id="13" name="Imagen 12">
            <a:extLst>
              <a:ext uri="{FF2B5EF4-FFF2-40B4-BE49-F238E27FC236}">
                <a16:creationId xmlns:a16="http://schemas.microsoft.com/office/drawing/2014/main" id="{FEF094F1-4F21-4A29-886A-4C6592DC365E}"/>
              </a:ext>
            </a:extLst>
          </p:cNvPr>
          <p:cNvPicPr>
            <a:picLocks noChangeAspect="1"/>
          </p:cNvPicPr>
          <p:nvPr/>
        </p:nvPicPr>
        <p:blipFill>
          <a:blip r:embed="rId7"/>
          <a:stretch>
            <a:fillRect/>
          </a:stretch>
        </p:blipFill>
        <p:spPr>
          <a:xfrm>
            <a:off x="4272654" y="3247408"/>
            <a:ext cx="1471481" cy="797052"/>
          </a:xfrm>
          <a:prstGeom prst="rect">
            <a:avLst/>
          </a:prstGeom>
        </p:spPr>
      </p:pic>
    </p:spTree>
    <p:extLst>
      <p:ext uri="{BB962C8B-B14F-4D97-AF65-F5344CB8AC3E}">
        <p14:creationId xmlns:p14="http://schemas.microsoft.com/office/powerpoint/2010/main" val="194452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Adjunto de 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Elemento Adjunto </a:t>
            </a:r>
          </a:p>
          <a:p>
            <a:pPr algn="just"/>
            <a:r>
              <a:rPr lang="es-ES" sz="1600" dirty="0">
                <a:solidFill>
                  <a:schemeClr val="accent4"/>
                </a:solidFill>
                <a:latin typeface="Fira Sans Condensed Light" panose="020B0604020202020204" charset="0"/>
                <a:cs typeface="Times New Roman" panose="02020603050405020304" pitchFamily="18" charset="0"/>
              </a:rPr>
              <a:t>Se llama adjunto del elemento “</a:t>
            </a:r>
            <a:r>
              <a:rPr lang="es-ES" sz="1600" dirty="0" err="1">
                <a:solidFill>
                  <a:schemeClr val="accent4"/>
                </a:solidFill>
                <a:latin typeface="Fira Sans Condensed Light" panose="020B0604020202020204" charset="0"/>
                <a:cs typeface="Times New Roman" panose="02020603050405020304" pitchFamily="18" charset="0"/>
              </a:rPr>
              <a:t>aij</a:t>
            </a:r>
            <a:r>
              <a:rPr lang="es-ES" sz="1600" dirty="0">
                <a:solidFill>
                  <a:schemeClr val="accent4"/>
                </a:solidFill>
                <a:latin typeface="Fira Sans Condensed Light" panose="020B0604020202020204" charset="0"/>
                <a:cs typeface="Times New Roman" panose="02020603050405020304" pitchFamily="18" charset="0"/>
              </a:rPr>
              <a:t>” al menor complementario anteponiendo:</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par.</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impar.</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074" name="Picture 2" descr="🥇▷【 ¿A qué llamamos adjunto o cofactor de un elemento de un determinante?  Ejercicio #47, 48 y 49 - Matrices y Determinantes 】">
            <a:extLst>
              <a:ext uri="{FF2B5EF4-FFF2-40B4-BE49-F238E27FC236}">
                <a16:creationId xmlns:a16="http://schemas.microsoft.com/office/drawing/2014/main" id="{92D54BF2-380F-830F-B556-DEBF67A3C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9194" y="2069273"/>
            <a:ext cx="4278622" cy="2139311"/>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2205B6ED-F295-690F-A854-C3ABD2485B6B}"/>
              </a:ext>
            </a:extLst>
          </p:cNvPr>
          <p:cNvSpPr txBox="1"/>
          <p:nvPr/>
        </p:nvSpPr>
        <p:spPr>
          <a:xfrm>
            <a:off x="4698642" y="2169971"/>
            <a:ext cx="963603" cy="307777"/>
          </a:xfrm>
          <a:prstGeom prst="rect">
            <a:avLst/>
          </a:prstGeom>
          <a:noFill/>
        </p:spPr>
        <p:txBody>
          <a:bodyPr wrap="square" rtlCol="0">
            <a:spAutoFit/>
          </a:bodyPr>
          <a:lstStyle/>
          <a:p>
            <a:r>
              <a:rPr lang="es-ES" b="1" dirty="0"/>
              <a:t>Ejemplo:</a:t>
            </a:r>
            <a:endParaRPr lang="es-MX" b="1" dirty="0"/>
          </a:p>
        </p:txBody>
      </p:sp>
      <p:sp>
        <p:nvSpPr>
          <p:cNvPr id="3" name="CuadroTexto 2">
            <a:extLst>
              <a:ext uri="{FF2B5EF4-FFF2-40B4-BE49-F238E27FC236}">
                <a16:creationId xmlns:a16="http://schemas.microsoft.com/office/drawing/2014/main" id="{14ED5FC7-3BDB-4B3F-ABE1-9E122D557BE8}"/>
              </a:ext>
            </a:extLst>
          </p:cNvPr>
          <p:cNvSpPr txBox="1"/>
          <p:nvPr/>
        </p:nvSpPr>
        <p:spPr>
          <a:xfrm>
            <a:off x="7477644" y="3576740"/>
            <a:ext cx="1466721" cy="338554"/>
          </a:xfrm>
          <a:prstGeom prst="rect">
            <a:avLst/>
          </a:prstGeom>
          <a:noFill/>
        </p:spPr>
        <p:txBody>
          <a:bodyPr wrap="square" rtlCol="0">
            <a:spAutoFit/>
          </a:bodyPr>
          <a:lstStyle/>
          <a:p>
            <a:r>
              <a:rPr lang="es-ES" sz="1600" b="1" dirty="0"/>
              <a:t>= 12 + 7 = </a:t>
            </a:r>
            <a:r>
              <a:rPr lang="es-ES" sz="1600" b="1" dirty="0">
                <a:solidFill>
                  <a:srgbClr val="FF0000"/>
                </a:solidFill>
              </a:rPr>
              <a:t>19</a:t>
            </a:r>
            <a:endParaRPr lang="es-MX" sz="1600" b="1" dirty="0">
              <a:solidFill>
                <a:srgbClr val="FF0000"/>
              </a:solidFill>
            </a:endParaRPr>
          </a:p>
        </p:txBody>
      </p:sp>
    </p:spTree>
    <p:extLst>
      <p:ext uri="{BB962C8B-B14F-4D97-AF65-F5344CB8AC3E}">
        <p14:creationId xmlns:p14="http://schemas.microsoft.com/office/powerpoint/2010/main" val="234730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Adjunto de una Matriz</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Elemento Adjunto </a:t>
            </a:r>
          </a:p>
          <a:p>
            <a:pPr algn="just"/>
            <a:r>
              <a:rPr lang="es-ES" sz="1600" dirty="0">
                <a:solidFill>
                  <a:schemeClr val="accent4"/>
                </a:solidFill>
                <a:latin typeface="Fira Sans Condensed Light" panose="020B0604020202020204" charset="0"/>
                <a:cs typeface="Times New Roman" panose="02020603050405020304" pitchFamily="18" charset="0"/>
              </a:rPr>
              <a:t>Se llama adjunto del elemento “</a:t>
            </a:r>
            <a:r>
              <a:rPr lang="es-ES" sz="1600" dirty="0" err="1">
                <a:solidFill>
                  <a:schemeClr val="accent4"/>
                </a:solidFill>
                <a:latin typeface="Fira Sans Condensed Light" panose="020B0604020202020204" charset="0"/>
                <a:cs typeface="Times New Roman" panose="02020603050405020304" pitchFamily="18" charset="0"/>
              </a:rPr>
              <a:t>aij</a:t>
            </a:r>
            <a:r>
              <a:rPr lang="es-ES" sz="1600" dirty="0">
                <a:solidFill>
                  <a:schemeClr val="accent4"/>
                </a:solidFill>
                <a:latin typeface="Fira Sans Condensed Light" panose="020B0604020202020204" charset="0"/>
                <a:cs typeface="Times New Roman" panose="02020603050405020304" pitchFamily="18" charset="0"/>
              </a:rPr>
              <a:t>” al menor complementario anteponiendo:</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par.</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impar.</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098" name="Picture 2" descr="🥇▷【 ¿A qué llamamos adjunto o cofactor de un elemento de un determinante?  Ejercicio #47, 48 y 49 - Matrices y Determinantes 】">
            <a:extLst>
              <a:ext uri="{FF2B5EF4-FFF2-40B4-BE49-F238E27FC236}">
                <a16:creationId xmlns:a16="http://schemas.microsoft.com/office/drawing/2014/main" id="{B0CD4C1C-88CE-4CD2-780C-07A9C0CC00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98432"/>
            <a:ext cx="4432078" cy="1826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0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Adjunta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Adjunta</a:t>
            </a:r>
          </a:p>
          <a:p>
            <a:pPr algn="just"/>
            <a:r>
              <a:rPr lang="es-ES" sz="1600" dirty="0">
                <a:solidFill>
                  <a:schemeClr val="accent4"/>
                </a:solidFill>
                <a:latin typeface="Fira Sans Condensed Light" panose="020B0604020202020204" charset="0"/>
                <a:cs typeface="Times New Roman" panose="02020603050405020304" pitchFamily="18" charset="0"/>
              </a:rPr>
              <a:t>La </a:t>
            </a:r>
            <a:r>
              <a:rPr lang="es-ES" sz="1600" b="1" dirty="0">
                <a:solidFill>
                  <a:schemeClr val="accent4"/>
                </a:solidFill>
                <a:latin typeface="Fira Sans Condensed Light" panose="020B0604020202020204" charset="0"/>
                <a:cs typeface="Times New Roman" panose="02020603050405020304" pitchFamily="18" charset="0"/>
              </a:rPr>
              <a:t>matriz adjunta </a:t>
            </a:r>
            <a:r>
              <a:rPr lang="es-ES" sz="1600" dirty="0">
                <a:solidFill>
                  <a:schemeClr val="accent4"/>
                </a:solidFill>
                <a:latin typeface="Fira Sans Condensed Light" panose="020B0604020202020204" charset="0"/>
                <a:cs typeface="Times New Roman" panose="02020603050405020304" pitchFamily="18" charset="0"/>
              </a:rPr>
              <a:t>es aquella en la que cada elemento se sustituye por su adjunto. Se llama adjunto del elemento </a:t>
            </a:r>
            <a:r>
              <a:rPr lang="es-ES" sz="1600" dirty="0" err="1">
                <a:solidFill>
                  <a:schemeClr val="accent4"/>
                </a:solidFill>
                <a:latin typeface="Fira Sans Condensed Light" panose="020B0604020202020204" charset="0"/>
                <a:cs typeface="Times New Roman" panose="02020603050405020304" pitchFamily="18" charset="0"/>
              </a:rPr>
              <a:t>aij</a:t>
            </a:r>
            <a:r>
              <a:rPr lang="es-ES" sz="1600" dirty="0">
                <a:solidFill>
                  <a:schemeClr val="accent4"/>
                </a:solidFill>
                <a:latin typeface="Fira Sans Condensed Light" panose="020B0604020202020204" charset="0"/>
                <a:cs typeface="Times New Roman" panose="02020603050405020304" pitchFamily="18" charset="0"/>
              </a:rPr>
              <a:t> al menor complementario anteponiendo: </a:t>
            </a: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a:t>
            </a:r>
            <a:r>
              <a:rPr lang="es-ES" sz="1600" b="1" dirty="0">
                <a:solidFill>
                  <a:schemeClr val="accent4"/>
                </a:solidFill>
                <a:latin typeface="Fira Sans Condensed Light" panose="020B0604020202020204" charset="0"/>
                <a:cs typeface="Times New Roman" panose="02020603050405020304" pitchFamily="18" charset="0"/>
              </a:rPr>
              <a:t>par</a:t>
            </a:r>
            <a:r>
              <a:rPr lang="es-ES" sz="1600" dirty="0">
                <a:solidFill>
                  <a:schemeClr val="accent4"/>
                </a:solidFill>
                <a:latin typeface="Fira Sans Condensed Light" panose="020B0604020202020204" charset="0"/>
                <a:cs typeface="Times New Roman" panose="02020603050405020304" pitchFamily="18" charset="0"/>
              </a:rPr>
              <a:t>. </a:t>
            </a:r>
          </a:p>
          <a:p>
            <a:pPr algn="just"/>
            <a:r>
              <a:rPr lang="es-ES" sz="1600" dirty="0">
                <a:solidFill>
                  <a:schemeClr val="accent4"/>
                </a:solidFill>
                <a:latin typeface="Fira Sans Condensed Light" panose="020B0604020202020204" charset="0"/>
                <a:cs typeface="Times New Roman" panose="02020603050405020304" pitchFamily="18" charset="0"/>
              </a:rPr>
              <a:t>El signo es </a:t>
            </a:r>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 si </a:t>
            </a:r>
            <a:r>
              <a:rPr lang="es-ES" sz="1600" dirty="0" err="1">
                <a:solidFill>
                  <a:schemeClr val="accent4"/>
                </a:solidFill>
                <a:latin typeface="Fira Sans Condensed Light" panose="020B0604020202020204" charset="0"/>
                <a:cs typeface="Times New Roman" panose="02020603050405020304" pitchFamily="18" charset="0"/>
              </a:rPr>
              <a:t>i+j</a:t>
            </a:r>
            <a:r>
              <a:rPr lang="es-ES" sz="1600" dirty="0">
                <a:solidFill>
                  <a:schemeClr val="accent4"/>
                </a:solidFill>
                <a:latin typeface="Fira Sans Condensed Light" panose="020B0604020202020204" charset="0"/>
                <a:cs typeface="Times New Roman" panose="02020603050405020304" pitchFamily="18" charset="0"/>
              </a:rPr>
              <a:t> es </a:t>
            </a:r>
            <a:r>
              <a:rPr lang="es-ES" sz="1600" b="1" dirty="0">
                <a:solidFill>
                  <a:schemeClr val="accent4"/>
                </a:solidFill>
                <a:latin typeface="Fira Sans Condensed Light" panose="020B0604020202020204" charset="0"/>
                <a:cs typeface="Times New Roman" panose="02020603050405020304" pitchFamily="18" charset="0"/>
              </a:rPr>
              <a:t>impar</a:t>
            </a:r>
            <a:r>
              <a:rPr lang="es-ES" sz="1600" dirty="0">
                <a:solidFill>
                  <a:schemeClr val="accent4"/>
                </a:solidFill>
                <a:latin typeface="Fira Sans Condensed Light" panose="020B0604020202020204" charset="0"/>
                <a:cs typeface="Times New Roman" panose="02020603050405020304" pitchFamily="18" charset="0"/>
              </a:rPr>
              <a:t>.</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122" name="Picture 2" descr="Matriz adjunta - Matemática Informática y Educación">
            <a:extLst>
              <a:ext uri="{FF2B5EF4-FFF2-40B4-BE49-F238E27FC236}">
                <a16:creationId xmlns:a16="http://schemas.microsoft.com/office/drawing/2014/main" id="{EDE44193-8C3B-8056-9B5E-348BBC7A38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7437" y="1163678"/>
            <a:ext cx="3450002" cy="3759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94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Transpuesta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Transpuesta</a:t>
            </a:r>
          </a:p>
          <a:p>
            <a:pPr algn="just"/>
            <a:r>
              <a:rPr lang="es-ES" sz="1600" dirty="0">
                <a:solidFill>
                  <a:schemeClr val="accent4"/>
                </a:solidFill>
                <a:latin typeface="Fira Sans Condensed Light" panose="020B0604020202020204" charset="0"/>
                <a:cs typeface="Times New Roman" panose="02020603050405020304" pitchFamily="18" charset="0"/>
              </a:rPr>
              <a:t>Una </a:t>
            </a:r>
            <a:r>
              <a:rPr lang="es-ES" sz="1600" b="1" dirty="0">
                <a:solidFill>
                  <a:schemeClr val="accent4"/>
                </a:solidFill>
                <a:latin typeface="Fira Sans Condensed Light" panose="020B0604020202020204" charset="0"/>
                <a:cs typeface="Times New Roman" panose="02020603050405020304" pitchFamily="18" charset="0"/>
              </a:rPr>
              <a:t>matriz traspuesta </a:t>
            </a:r>
            <a:r>
              <a:rPr lang="es-ES" sz="1600" dirty="0">
                <a:solidFill>
                  <a:schemeClr val="accent4"/>
                </a:solidFill>
                <a:latin typeface="Fira Sans Condensed Light" panose="020B0604020202020204" charset="0"/>
                <a:cs typeface="Times New Roman" panose="02020603050405020304" pitchFamily="18" charset="0"/>
              </a:rPr>
              <a:t>es el resultado de reordenar la matriz original mediante el cambio de filas por columnas y las columnas por filas en una nueva matriz.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180" name="Picture 12" descr="Transpuesta de una matriz 3x3 y 2x3 | Álgebra lineal - YouTube">
            <a:extLst>
              <a:ext uri="{FF2B5EF4-FFF2-40B4-BE49-F238E27FC236}">
                <a16:creationId xmlns:a16="http://schemas.microsoft.com/office/drawing/2014/main" id="{6CB064A0-487A-B8F0-688B-EAEEAB83D5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769310"/>
            <a:ext cx="4169759" cy="234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08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Inversa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Inversa</a:t>
            </a:r>
          </a:p>
          <a:p>
            <a:pPr algn="just"/>
            <a:r>
              <a:rPr lang="es-ES" sz="1600" dirty="0">
                <a:solidFill>
                  <a:schemeClr val="accent4"/>
                </a:solidFill>
                <a:latin typeface="Fira Sans Condensed Light" panose="020B0604020202020204" charset="0"/>
                <a:cs typeface="Times New Roman" panose="02020603050405020304" pitchFamily="18" charset="0"/>
              </a:rPr>
              <a:t>Una matriz es </a:t>
            </a:r>
            <a:r>
              <a:rPr lang="es-ES" sz="1600" b="1" dirty="0">
                <a:solidFill>
                  <a:schemeClr val="accent4"/>
                </a:solidFill>
                <a:latin typeface="Fira Sans Condensed Light" panose="020B0604020202020204" charset="0"/>
                <a:cs typeface="Times New Roman" panose="02020603050405020304" pitchFamily="18" charset="0"/>
              </a:rPr>
              <a:t>inversa</a:t>
            </a:r>
            <a:r>
              <a:rPr lang="es-ES" sz="1600" dirty="0">
                <a:solidFill>
                  <a:schemeClr val="accent4"/>
                </a:solidFill>
                <a:latin typeface="Fira Sans Condensed Light" panose="020B0604020202020204" charset="0"/>
                <a:cs typeface="Times New Roman" panose="02020603050405020304" pitchFamily="18" charset="0"/>
              </a:rPr>
              <a:t> de otra cuando al multiplicar ambas (en cualquier orden) se obtiene la matriz identidad.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7170" name="Picture 2" descr="Cómo calcular una MATRIZ inversa - resumen fácil + VÍDEOS!">
            <a:extLst>
              <a:ext uri="{FF2B5EF4-FFF2-40B4-BE49-F238E27FC236}">
                <a16:creationId xmlns:a16="http://schemas.microsoft.com/office/drawing/2014/main" id="{7684C6B4-F7DD-C2FF-08AF-A0E65E876A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5435" y="1482385"/>
            <a:ext cx="3646425" cy="1354748"/>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omo calcular matriz inversa + 2 exemplos resolvidos">
            <a:extLst>
              <a:ext uri="{FF2B5EF4-FFF2-40B4-BE49-F238E27FC236}">
                <a16:creationId xmlns:a16="http://schemas.microsoft.com/office/drawing/2014/main" id="{8135FAA8-053B-62D6-9F7A-32C4568B23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399" b="54803"/>
          <a:stretch/>
        </p:blipFill>
        <p:spPr bwMode="auto">
          <a:xfrm>
            <a:off x="3909360" y="3334670"/>
            <a:ext cx="4762500" cy="1418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43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Inversa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accent4"/>
                </a:solidFill>
                <a:latin typeface="Fira Sans Condensed Light" panose="020B0604020202020204" charset="0"/>
                <a:cs typeface="Times New Roman" panose="02020603050405020304" pitchFamily="18" charset="0"/>
              </a:rPr>
              <a:t>Encuentra la </a:t>
            </a:r>
            <a:r>
              <a:rPr lang="es-ES" sz="1600" b="1" dirty="0">
                <a:solidFill>
                  <a:schemeClr val="accent4"/>
                </a:solidFill>
                <a:latin typeface="Fira Sans Condensed Light" panose="020B0604020202020204" charset="0"/>
                <a:cs typeface="Times New Roman" panose="02020603050405020304" pitchFamily="18" charset="0"/>
              </a:rPr>
              <a:t>inversa</a:t>
            </a:r>
            <a:r>
              <a:rPr lang="es-ES" sz="1600" dirty="0">
                <a:solidFill>
                  <a:schemeClr val="accent4"/>
                </a:solidFill>
                <a:latin typeface="Fira Sans Condensed Light" panose="020B0604020202020204" charset="0"/>
                <a:cs typeface="Times New Roman" panose="02020603050405020304" pitchFamily="18" charset="0"/>
              </a:rPr>
              <a:t> de la siguiente matriz y comprueba que el producto de ambas es la matriz identidad.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9218" name="Picture 2" descr="Como calcular matriz inversa + 2 exemplos resolvidos">
            <a:extLst>
              <a:ext uri="{FF2B5EF4-FFF2-40B4-BE49-F238E27FC236}">
                <a16:creationId xmlns:a16="http://schemas.microsoft.com/office/drawing/2014/main" id="{8135FAA8-053B-62D6-9F7A-32C4568B23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528" t="48324" r="54916" b="27764"/>
          <a:stretch/>
        </p:blipFill>
        <p:spPr bwMode="auto">
          <a:xfrm>
            <a:off x="3834483" y="3295324"/>
            <a:ext cx="1475033" cy="1232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26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Matriz Inversa</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96184" y="1858258"/>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accent4"/>
                </a:solidFill>
                <a:latin typeface="Fira Sans Condensed Light" panose="020B0604020202020204" charset="0"/>
                <a:cs typeface="Times New Roman" panose="02020603050405020304" pitchFamily="18" charset="0"/>
              </a:rPr>
              <a:t>Encuentra la </a:t>
            </a:r>
            <a:r>
              <a:rPr lang="es-ES" sz="1600" b="1" dirty="0">
                <a:solidFill>
                  <a:schemeClr val="accent4"/>
                </a:solidFill>
                <a:latin typeface="Fira Sans Condensed Light" panose="020B0604020202020204" charset="0"/>
                <a:cs typeface="Times New Roman" panose="02020603050405020304" pitchFamily="18" charset="0"/>
              </a:rPr>
              <a:t>inversa</a:t>
            </a:r>
            <a:r>
              <a:rPr lang="es-ES" sz="1600" dirty="0">
                <a:solidFill>
                  <a:schemeClr val="accent4"/>
                </a:solidFill>
                <a:latin typeface="Fira Sans Condensed Light" panose="020B0604020202020204" charset="0"/>
                <a:cs typeface="Times New Roman" panose="02020603050405020304" pitchFamily="18" charset="0"/>
              </a:rPr>
              <a:t> de la siguiente matriz y comprueba que el producto de ambas es la matriz identidad. </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9218" name="Picture 2" descr="Como calcular matriz inversa + 2 exemplos resolvidos">
            <a:extLst>
              <a:ext uri="{FF2B5EF4-FFF2-40B4-BE49-F238E27FC236}">
                <a16:creationId xmlns:a16="http://schemas.microsoft.com/office/drawing/2014/main" id="{8135FAA8-053B-62D6-9F7A-32C4568B23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39" t="48324" r="745" b="27764"/>
          <a:stretch/>
        </p:blipFill>
        <p:spPr bwMode="auto">
          <a:xfrm>
            <a:off x="1376974" y="3295324"/>
            <a:ext cx="6390052" cy="1232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14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indent="0">
              <a:buSzPts val="1300"/>
            </a:pPr>
            <a:r>
              <a:rPr lang="es-ES" dirty="0"/>
              <a:t>-Derivadas Parciales</a:t>
            </a:r>
          </a:p>
          <a:p>
            <a:pPr marL="146050" indent="0">
              <a:buSzPts val="1300"/>
            </a:pPr>
            <a:r>
              <a:rPr lang="es-ES" dirty="0"/>
              <a:t>-Velocidad Lineal</a:t>
            </a:r>
          </a:p>
          <a:p>
            <a:pPr marL="146050" indent="0">
              <a:buSzPts val="1300"/>
            </a:pPr>
            <a:r>
              <a:rPr lang="es-ES" dirty="0"/>
              <a:t>-Cinemática Directa y Jacobianos</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75295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373910" y="1234922"/>
            <a:ext cx="46670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Derivadas parciales</a:t>
            </a:r>
          </a:p>
          <a:p>
            <a:pPr algn="just"/>
            <a:r>
              <a:rPr lang="es-ES" sz="1600" dirty="0">
                <a:solidFill>
                  <a:schemeClr val="accent4"/>
                </a:solidFill>
                <a:latin typeface="Fira Sans Condensed Light" panose="020B0604020202020204" charset="0"/>
                <a:cs typeface="Times New Roman" panose="02020603050405020304" pitchFamily="18" charset="0"/>
              </a:rPr>
              <a:t>La </a:t>
            </a:r>
            <a:r>
              <a:rPr lang="es-ES" sz="1600" b="1" dirty="0">
                <a:solidFill>
                  <a:schemeClr val="accent4"/>
                </a:solidFill>
                <a:latin typeface="Fira Sans Condensed Light" panose="020B0604020202020204" charset="0"/>
                <a:cs typeface="Times New Roman" panose="02020603050405020304" pitchFamily="18" charset="0"/>
              </a:rPr>
              <a:t>derivada parcial </a:t>
            </a:r>
            <a:r>
              <a:rPr lang="es-ES" sz="1600" dirty="0">
                <a:solidFill>
                  <a:schemeClr val="accent4"/>
                </a:solidFill>
                <a:latin typeface="Fira Sans Condensed Light" panose="020B0604020202020204" charset="0"/>
                <a:cs typeface="Times New Roman" panose="02020603050405020304" pitchFamily="18" charset="0"/>
              </a:rPr>
              <a:t>de una función de varias variables es la derivada con respecto a cada una de esas variables manteniendo las otras como constantes. Las derivadas parciales son usadas en cálculo vectorial y geometría diferencial.</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6" name="Picture 2" descr="Derivadas parciales de orden superior | Ejemplo 3 - YouTube">
            <a:extLst>
              <a:ext uri="{FF2B5EF4-FFF2-40B4-BE49-F238E27FC236}">
                <a16:creationId xmlns:a16="http://schemas.microsoft.com/office/drawing/2014/main" id="{4306428D-68F5-765E-FC98-035EB69911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6769" y="3112092"/>
            <a:ext cx="3063630" cy="17232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rivadas parciales de orden superior con 3 variables | Ejemplo 1 - YouTube">
            <a:extLst>
              <a:ext uri="{FF2B5EF4-FFF2-40B4-BE49-F238E27FC236}">
                <a16:creationId xmlns:a16="http://schemas.microsoft.com/office/drawing/2014/main" id="{47CDDC21-2538-CAF8-0226-920FF26DA3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6769" y="1157257"/>
            <a:ext cx="3063630" cy="172329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erivadas parciales por regla de la cadena | Ejemplo 1 - YouTube">
            <a:extLst>
              <a:ext uri="{FF2B5EF4-FFF2-40B4-BE49-F238E27FC236}">
                <a16:creationId xmlns:a16="http://schemas.microsoft.com/office/drawing/2014/main" id="{52199FCA-87A5-110E-A06B-DCC25254AA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9755" y="2988317"/>
            <a:ext cx="3063630" cy="1723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26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72307" y="4147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92274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401968" y="1276607"/>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Ejemplos</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A6EC33D0-2C02-0B9B-7881-822C4F122548}"/>
              </a:ext>
            </a:extLst>
          </p:cNvPr>
          <p:cNvPicPr>
            <a:picLocks noChangeAspect="1"/>
          </p:cNvPicPr>
          <p:nvPr/>
        </p:nvPicPr>
        <p:blipFill rotWithShape="1">
          <a:blip r:embed="rId4"/>
          <a:srcRect b="24088"/>
          <a:stretch/>
        </p:blipFill>
        <p:spPr>
          <a:xfrm>
            <a:off x="472307" y="1709435"/>
            <a:ext cx="6151231" cy="869736"/>
          </a:xfrm>
          <a:prstGeom prst="rect">
            <a:avLst/>
          </a:prstGeom>
        </p:spPr>
      </p:pic>
      <p:pic>
        <p:nvPicPr>
          <p:cNvPr id="4" name="Imagen 3">
            <a:extLst>
              <a:ext uri="{FF2B5EF4-FFF2-40B4-BE49-F238E27FC236}">
                <a16:creationId xmlns:a16="http://schemas.microsoft.com/office/drawing/2014/main" id="{72D3A054-B3F1-97AF-506E-6B6379A6A4A5}"/>
              </a:ext>
            </a:extLst>
          </p:cNvPr>
          <p:cNvPicPr>
            <a:picLocks noChangeAspect="1"/>
          </p:cNvPicPr>
          <p:nvPr/>
        </p:nvPicPr>
        <p:blipFill rotWithShape="1">
          <a:blip r:embed="rId5"/>
          <a:srcRect r="2235"/>
          <a:stretch/>
        </p:blipFill>
        <p:spPr>
          <a:xfrm>
            <a:off x="2852090" y="2648338"/>
            <a:ext cx="6151231" cy="2115620"/>
          </a:xfrm>
          <a:prstGeom prst="rect">
            <a:avLst/>
          </a:prstGeom>
        </p:spPr>
      </p:pic>
    </p:spTree>
    <p:extLst>
      <p:ext uri="{BB962C8B-B14F-4D97-AF65-F5344CB8AC3E}">
        <p14:creationId xmlns:p14="http://schemas.microsoft.com/office/powerpoint/2010/main" val="283668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72307" y="4147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92274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401968" y="1276607"/>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Ejemplos</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A6EC33D0-2C02-0B9B-7881-822C4F122548}"/>
              </a:ext>
            </a:extLst>
          </p:cNvPr>
          <p:cNvPicPr>
            <a:picLocks noChangeAspect="1"/>
          </p:cNvPicPr>
          <p:nvPr/>
        </p:nvPicPr>
        <p:blipFill rotWithShape="1">
          <a:blip r:embed="rId4"/>
          <a:srcRect b="24088"/>
          <a:stretch/>
        </p:blipFill>
        <p:spPr>
          <a:xfrm>
            <a:off x="472306" y="1709434"/>
            <a:ext cx="7194585" cy="1017258"/>
          </a:xfrm>
          <a:prstGeom prst="rect">
            <a:avLst/>
          </a:prstGeom>
        </p:spPr>
      </p:pic>
      <p:pic>
        <p:nvPicPr>
          <p:cNvPr id="5" name="Imagen 4">
            <a:extLst>
              <a:ext uri="{FF2B5EF4-FFF2-40B4-BE49-F238E27FC236}">
                <a16:creationId xmlns:a16="http://schemas.microsoft.com/office/drawing/2014/main" id="{15819B95-BF07-4A70-EFE9-7ED705001109}"/>
              </a:ext>
            </a:extLst>
          </p:cNvPr>
          <p:cNvPicPr>
            <a:picLocks noChangeAspect="1"/>
          </p:cNvPicPr>
          <p:nvPr/>
        </p:nvPicPr>
        <p:blipFill>
          <a:blip r:embed="rId5"/>
          <a:stretch>
            <a:fillRect/>
          </a:stretch>
        </p:blipFill>
        <p:spPr>
          <a:xfrm>
            <a:off x="2556333" y="2889908"/>
            <a:ext cx="6378503" cy="1859900"/>
          </a:xfrm>
          <a:prstGeom prst="rect">
            <a:avLst/>
          </a:prstGeom>
        </p:spPr>
      </p:pic>
    </p:spTree>
    <p:extLst>
      <p:ext uri="{BB962C8B-B14F-4D97-AF65-F5344CB8AC3E}">
        <p14:creationId xmlns:p14="http://schemas.microsoft.com/office/powerpoint/2010/main" val="129024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72307" y="4147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92274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401968" y="1276607"/>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Ejemplos</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18F205E7-BA4F-5DBD-A5BB-A77A72955A4D}"/>
              </a:ext>
            </a:extLst>
          </p:cNvPr>
          <p:cNvPicPr>
            <a:picLocks noChangeAspect="1"/>
          </p:cNvPicPr>
          <p:nvPr/>
        </p:nvPicPr>
        <p:blipFill rotWithShape="1">
          <a:blip r:embed="rId4"/>
          <a:srcRect t="1" r="23067" b="1805"/>
          <a:stretch/>
        </p:blipFill>
        <p:spPr>
          <a:xfrm>
            <a:off x="472307" y="1791063"/>
            <a:ext cx="3688074" cy="397004"/>
          </a:xfrm>
          <a:prstGeom prst="rect">
            <a:avLst/>
          </a:prstGeom>
        </p:spPr>
      </p:pic>
      <p:pic>
        <p:nvPicPr>
          <p:cNvPr id="7" name="Imagen 6">
            <a:extLst>
              <a:ext uri="{FF2B5EF4-FFF2-40B4-BE49-F238E27FC236}">
                <a16:creationId xmlns:a16="http://schemas.microsoft.com/office/drawing/2014/main" id="{4733C5FF-B25A-EA23-1687-3872E72C0AF9}"/>
              </a:ext>
            </a:extLst>
          </p:cNvPr>
          <p:cNvPicPr>
            <a:picLocks noChangeAspect="1"/>
          </p:cNvPicPr>
          <p:nvPr/>
        </p:nvPicPr>
        <p:blipFill>
          <a:blip r:embed="rId5"/>
          <a:stretch>
            <a:fillRect/>
          </a:stretch>
        </p:blipFill>
        <p:spPr>
          <a:xfrm>
            <a:off x="2185722" y="2701224"/>
            <a:ext cx="4772555" cy="1672988"/>
          </a:xfrm>
          <a:prstGeom prst="rect">
            <a:avLst/>
          </a:prstGeom>
        </p:spPr>
      </p:pic>
    </p:spTree>
    <p:extLst>
      <p:ext uri="{BB962C8B-B14F-4D97-AF65-F5344CB8AC3E}">
        <p14:creationId xmlns:p14="http://schemas.microsoft.com/office/powerpoint/2010/main" val="173642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72307" y="4147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92274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401968" y="1276607"/>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Ejemplos</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18F205E7-BA4F-5DBD-A5BB-A77A72955A4D}"/>
              </a:ext>
            </a:extLst>
          </p:cNvPr>
          <p:cNvPicPr>
            <a:picLocks noChangeAspect="1"/>
          </p:cNvPicPr>
          <p:nvPr/>
        </p:nvPicPr>
        <p:blipFill rotWithShape="1">
          <a:blip r:embed="rId4"/>
          <a:srcRect t="1" r="23067" b="1805"/>
          <a:stretch/>
        </p:blipFill>
        <p:spPr>
          <a:xfrm>
            <a:off x="472307" y="1791063"/>
            <a:ext cx="3688074" cy="397004"/>
          </a:xfrm>
          <a:prstGeom prst="rect">
            <a:avLst/>
          </a:prstGeom>
        </p:spPr>
      </p:pic>
      <p:pic>
        <p:nvPicPr>
          <p:cNvPr id="2" name="Imagen 1">
            <a:extLst>
              <a:ext uri="{FF2B5EF4-FFF2-40B4-BE49-F238E27FC236}">
                <a16:creationId xmlns:a16="http://schemas.microsoft.com/office/drawing/2014/main" id="{EDF2EEC3-DC48-D626-F025-DEFFA5FC7261}"/>
              </a:ext>
            </a:extLst>
          </p:cNvPr>
          <p:cNvPicPr>
            <a:picLocks noChangeAspect="1"/>
          </p:cNvPicPr>
          <p:nvPr/>
        </p:nvPicPr>
        <p:blipFill>
          <a:blip r:embed="rId5"/>
          <a:stretch>
            <a:fillRect/>
          </a:stretch>
        </p:blipFill>
        <p:spPr>
          <a:xfrm>
            <a:off x="2095117" y="2702523"/>
            <a:ext cx="5170237" cy="1564677"/>
          </a:xfrm>
          <a:prstGeom prst="rect">
            <a:avLst/>
          </a:prstGeom>
        </p:spPr>
      </p:pic>
    </p:spTree>
    <p:extLst>
      <p:ext uri="{BB962C8B-B14F-4D97-AF65-F5344CB8AC3E}">
        <p14:creationId xmlns:p14="http://schemas.microsoft.com/office/powerpoint/2010/main" val="420776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72307" y="4147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922741"/>
            <a:ext cx="726300" cy="1588"/>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xmlns:a14="http://schemas.microsoft.com/office/drawing/2010/main">
        <mc:Choice Requires="a14">
          <p:sp>
            <p:nvSpPr>
              <p:cNvPr id="16" name="Google Shape;1603;p42"/>
              <p:cNvSpPr txBox="1"/>
              <p:nvPr/>
            </p:nvSpPr>
            <p:spPr>
              <a:xfrm>
                <a:off x="372113" y="1286685"/>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Ejercicios</a:t>
                </a:r>
              </a:p>
              <a:p>
                <a:pPr algn="just"/>
                <a:r>
                  <a:rPr lang="es-ES" sz="1600" dirty="0">
                    <a:solidFill>
                      <a:schemeClr val="tx2"/>
                    </a:solidFill>
                    <a:latin typeface="Fira Sans Condensed Light" panose="020B0604020202020204" charset="0"/>
                    <a:cs typeface="Times New Roman" panose="02020603050405020304" pitchFamily="18" charset="0"/>
                  </a:rPr>
                  <a:t>Calcule las derivadas parciales  </a:t>
                </a:r>
                <a14:m>
                  <m:oMath xmlns:m="http://schemas.openxmlformats.org/officeDocument/2006/math">
                    <m:f>
                      <m:fPr>
                        <m:ctrlPr>
                          <a:rPr lang="es-ES" sz="1600" b="1" i="1" smtClean="0">
                            <a:solidFill>
                              <a:schemeClr val="tx2"/>
                            </a:solidFill>
                            <a:latin typeface="Cambria Math" panose="02040503050406030204" pitchFamily="18" charset="0"/>
                            <a:cs typeface="Times New Roman" panose="02020603050405020304" pitchFamily="18" charset="0"/>
                          </a:rPr>
                        </m:ctrlPr>
                      </m:fPr>
                      <m:num>
                        <m:r>
                          <m:rPr>
                            <m:nor/>
                          </m:rPr>
                          <a:rPr lang="es-ES" sz="1600" b="1" dirty="0">
                            <a:solidFill>
                              <a:schemeClr val="tx2"/>
                            </a:solidFill>
                            <a:latin typeface="Fira Sans Condensed Light" panose="020B0604020202020204" charset="0"/>
                            <a:cs typeface="Times New Roman" panose="02020603050405020304" pitchFamily="18" charset="0"/>
                          </a:rPr>
                          <m:t>∂</m:t>
                        </m:r>
                        <m:r>
                          <m:rPr>
                            <m:nor/>
                          </m:rPr>
                          <a:rPr lang="es-ES" sz="1600" b="1" dirty="0">
                            <a:solidFill>
                              <a:schemeClr val="tx2"/>
                            </a:solidFill>
                            <a:latin typeface="Fira Sans Condensed Light" panose="020B0604020202020204" charset="0"/>
                            <a:cs typeface="Times New Roman" panose="02020603050405020304" pitchFamily="18" charset="0"/>
                          </a:rPr>
                          <m:t>f</m:t>
                        </m:r>
                      </m:num>
                      <m:den>
                        <m:r>
                          <m:rPr>
                            <m:nor/>
                          </m:rPr>
                          <a:rPr lang="es-ES" sz="1600" b="1" dirty="0">
                            <a:solidFill>
                              <a:schemeClr val="tx2"/>
                            </a:solidFill>
                            <a:latin typeface="Fira Sans Condensed Light" panose="020B0604020202020204" charset="0"/>
                            <a:cs typeface="Times New Roman" panose="02020603050405020304" pitchFamily="18" charset="0"/>
                          </a:rPr>
                          <m:t>∂</m:t>
                        </m:r>
                        <m:r>
                          <a:rPr lang="es-ES" sz="1600" b="1" i="1" dirty="0" smtClean="0">
                            <a:solidFill>
                              <a:schemeClr val="tx2"/>
                            </a:solidFill>
                            <a:latin typeface="Cambria Math" panose="02040503050406030204" pitchFamily="18" charset="0"/>
                            <a:cs typeface="Times New Roman" panose="02020603050405020304" pitchFamily="18" charset="0"/>
                          </a:rPr>
                          <m:t>𝒙</m:t>
                        </m:r>
                      </m:den>
                    </m:f>
                  </m:oMath>
                </a14:m>
                <a:r>
                  <a:rPr lang="es-ES" sz="1600" b="1" dirty="0">
                    <a:solidFill>
                      <a:schemeClr val="tx2"/>
                    </a:solidFill>
                    <a:latin typeface="Fira Sans Condensed Light" panose="020B0604020202020204" charset="0"/>
                    <a:cs typeface="Times New Roman" panose="02020603050405020304" pitchFamily="18" charset="0"/>
                  </a:rPr>
                  <a:t>, </a:t>
                </a:r>
                <a14:m>
                  <m:oMath xmlns:m="http://schemas.openxmlformats.org/officeDocument/2006/math">
                    <m:f>
                      <m:fPr>
                        <m:ctrlPr>
                          <a:rPr lang="es-ES" sz="1600" b="1" i="1">
                            <a:solidFill>
                              <a:schemeClr val="tx2"/>
                            </a:solidFill>
                            <a:latin typeface="Cambria Math" panose="02040503050406030204" pitchFamily="18" charset="0"/>
                            <a:cs typeface="Times New Roman" panose="02020603050405020304" pitchFamily="18" charset="0"/>
                          </a:rPr>
                        </m:ctrlPr>
                      </m:fPr>
                      <m:num>
                        <m:r>
                          <m:rPr>
                            <m:nor/>
                          </m:rPr>
                          <a:rPr lang="es-ES" sz="1600" b="1" dirty="0">
                            <a:solidFill>
                              <a:schemeClr val="tx2"/>
                            </a:solidFill>
                            <a:latin typeface="Fira Sans Condensed Light" panose="020B0604020202020204" charset="0"/>
                            <a:cs typeface="Times New Roman" panose="02020603050405020304" pitchFamily="18" charset="0"/>
                          </a:rPr>
                          <m:t>∂</m:t>
                        </m:r>
                        <m:r>
                          <m:rPr>
                            <m:nor/>
                          </m:rPr>
                          <a:rPr lang="es-ES" sz="1600" b="1" dirty="0">
                            <a:solidFill>
                              <a:schemeClr val="tx2"/>
                            </a:solidFill>
                            <a:latin typeface="Fira Sans Condensed Light" panose="020B0604020202020204" charset="0"/>
                            <a:cs typeface="Times New Roman" panose="02020603050405020304" pitchFamily="18" charset="0"/>
                          </a:rPr>
                          <m:t>f</m:t>
                        </m:r>
                      </m:num>
                      <m:den>
                        <m:r>
                          <m:rPr>
                            <m:nor/>
                          </m:rPr>
                          <a:rPr lang="es-ES" sz="1600" b="1" dirty="0">
                            <a:solidFill>
                              <a:schemeClr val="tx2"/>
                            </a:solidFill>
                            <a:latin typeface="Fira Sans Condensed Light" panose="020B0604020202020204" charset="0"/>
                            <a:cs typeface="Times New Roman" panose="02020603050405020304" pitchFamily="18" charset="0"/>
                          </a:rPr>
                          <m:t>∂</m:t>
                        </m:r>
                        <m:r>
                          <a:rPr lang="es-ES" sz="1600" b="1" i="1" dirty="0" smtClean="0">
                            <a:solidFill>
                              <a:schemeClr val="tx2"/>
                            </a:solidFill>
                            <a:latin typeface="Cambria Math" panose="02040503050406030204" pitchFamily="18" charset="0"/>
                            <a:cs typeface="Times New Roman" panose="02020603050405020304" pitchFamily="18" charset="0"/>
                          </a:rPr>
                          <m:t>𝒚</m:t>
                        </m:r>
                      </m:den>
                    </m:f>
                  </m:oMath>
                </a14:m>
                <a:r>
                  <a:rPr lang="es-ES" sz="1600" b="1" dirty="0">
                    <a:solidFill>
                      <a:schemeClr val="tx2"/>
                    </a:solidFill>
                    <a:latin typeface="Fira Sans Condensed Light" panose="020B0604020202020204" charset="0"/>
                    <a:cs typeface="Times New Roman" panose="02020603050405020304" pitchFamily="18" charset="0"/>
                  </a:rPr>
                  <a:t> y </a:t>
                </a:r>
                <a14:m>
                  <m:oMath xmlns:m="http://schemas.openxmlformats.org/officeDocument/2006/math">
                    <m:f>
                      <m:fPr>
                        <m:ctrlPr>
                          <a:rPr lang="es-ES" sz="1600" b="1" i="1">
                            <a:solidFill>
                              <a:schemeClr val="tx2"/>
                            </a:solidFill>
                            <a:latin typeface="Cambria Math" panose="02040503050406030204" pitchFamily="18" charset="0"/>
                            <a:cs typeface="Times New Roman" panose="02020603050405020304" pitchFamily="18" charset="0"/>
                          </a:rPr>
                        </m:ctrlPr>
                      </m:fPr>
                      <m:num>
                        <m:r>
                          <m:rPr>
                            <m:nor/>
                          </m:rPr>
                          <a:rPr lang="es-ES" sz="1600" b="1" dirty="0">
                            <a:solidFill>
                              <a:schemeClr val="tx2"/>
                            </a:solidFill>
                            <a:latin typeface="Fira Sans Condensed Light" panose="020B0604020202020204" charset="0"/>
                            <a:cs typeface="Times New Roman" panose="02020603050405020304" pitchFamily="18" charset="0"/>
                          </a:rPr>
                          <m:t>∂</m:t>
                        </m:r>
                        <m:r>
                          <m:rPr>
                            <m:nor/>
                          </m:rPr>
                          <a:rPr lang="es-ES" sz="1600" b="1" dirty="0">
                            <a:solidFill>
                              <a:schemeClr val="tx2"/>
                            </a:solidFill>
                            <a:latin typeface="Fira Sans Condensed Light" panose="020B0604020202020204" charset="0"/>
                            <a:cs typeface="Times New Roman" panose="02020603050405020304" pitchFamily="18" charset="0"/>
                          </a:rPr>
                          <m:t>f</m:t>
                        </m:r>
                      </m:num>
                      <m:den>
                        <m:r>
                          <m:rPr>
                            <m:nor/>
                          </m:rPr>
                          <a:rPr lang="es-ES" sz="1600" b="1" dirty="0">
                            <a:solidFill>
                              <a:schemeClr val="tx2"/>
                            </a:solidFill>
                            <a:latin typeface="Fira Sans Condensed Light" panose="020B0604020202020204" charset="0"/>
                            <a:cs typeface="Times New Roman" panose="02020603050405020304" pitchFamily="18" charset="0"/>
                          </a:rPr>
                          <m:t>∂</m:t>
                        </m:r>
                        <m:r>
                          <a:rPr lang="es-ES" sz="1600" b="1" i="1" dirty="0" smtClean="0">
                            <a:solidFill>
                              <a:schemeClr val="tx2"/>
                            </a:solidFill>
                            <a:latin typeface="Cambria Math" panose="02040503050406030204" pitchFamily="18" charset="0"/>
                            <a:cs typeface="Times New Roman" panose="02020603050405020304" pitchFamily="18" charset="0"/>
                          </a:rPr>
                          <m:t>𝒛</m:t>
                        </m:r>
                      </m:den>
                    </m:f>
                  </m:oMath>
                </a14:m>
                <a:r>
                  <a:rPr lang="es-ES" sz="1600" b="1" dirty="0">
                    <a:solidFill>
                      <a:schemeClr val="tx2"/>
                    </a:solidFill>
                    <a:latin typeface="Fira Sans Condensed Light" panose="020B0604020202020204" charset="0"/>
                    <a:cs typeface="Times New Roman" panose="02020603050405020304" pitchFamily="18" charset="0"/>
                  </a:rPr>
                  <a:t> </a:t>
                </a:r>
              </a:p>
            </p:txBody>
          </p:sp>
        </mc:Choice>
        <mc:Fallback xmlns="">
          <p:sp>
            <p:nvSpPr>
              <p:cNvPr id="16" name="Google Shape;1603;p42"/>
              <p:cNvSpPr txBox="1">
                <a:spLocks noRot="1" noChangeAspect="1" noMove="1" noResize="1" noEditPoints="1" noAdjustHandles="1" noChangeArrowheads="1" noChangeShapeType="1" noTextEdit="1"/>
              </p:cNvSpPr>
              <p:nvPr/>
            </p:nvSpPr>
            <p:spPr>
              <a:xfrm>
                <a:off x="372113" y="1286685"/>
                <a:ext cx="3758413" cy="813730"/>
              </a:xfrm>
              <a:prstGeom prst="rect">
                <a:avLst/>
              </a:prstGeom>
              <a:blipFill>
                <a:blip r:embed="rId4"/>
                <a:stretch>
                  <a:fillRect l="-810" b="-11940"/>
                </a:stretch>
              </a:blipFill>
              <a:ln>
                <a:noFill/>
              </a:ln>
            </p:spPr>
            <p:txBody>
              <a:bodyPr/>
              <a:lstStyle/>
              <a:p>
                <a:r>
                  <a:rPr lang="es-MX">
                    <a:noFill/>
                  </a:rPr>
                  <a:t> </a:t>
                </a:r>
              </a:p>
            </p:txBody>
          </p:sp>
        </mc:Fallback>
      </mc:AlternateContent>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Imagen 4">
            <a:extLst>
              <a:ext uri="{FF2B5EF4-FFF2-40B4-BE49-F238E27FC236}">
                <a16:creationId xmlns:a16="http://schemas.microsoft.com/office/drawing/2014/main" id="{652FA37C-CF13-1C0B-CB1B-666C76808290}"/>
              </a:ext>
            </a:extLst>
          </p:cNvPr>
          <p:cNvPicPr>
            <a:picLocks noChangeAspect="1"/>
          </p:cNvPicPr>
          <p:nvPr/>
        </p:nvPicPr>
        <p:blipFill>
          <a:blip r:embed="rId5"/>
          <a:stretch>
            <a:fillRect/>
          </a:stretch>
        </p:blipFill>
        <p:spPr>
          <a:xfrm>
            <a:off x="1694339" y="2621124"/>
            <a:ext cx="5685423" cy="494885"/>
          </a:xfrm>
          <a:prstGeom prst="rect">
            <a:avLst/>
          </a:prstGeom>
        </p:spPr>
      </p:pic>
    </p:spTree>
    <p:extLst>
      <p:ext uri="{BB962C8B-B14F-4D97-AF65-F5344CB8AC3E}">
        <p14:creationId xmlns:p14="http://schemas.microsoft.com/office/powerpoint/2010/main" val="63719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72307" y="4147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Derivadas Parciales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922741"/>
            <a:ext cx="726300" cy="1588"/>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xmlns:a14="http://schemas.microsoft.com/office/drawing/2010/main">
        <mc:Choice Requires="a14">
          <p:sp>
            <p:nvSpPr>
              <p:cNvPr id="16" name="Google Shape;1603;p42"/>
              <p:cNvSpPr txBox="1"/>
              <p:nvPr/>
            </p:nvSpPr>
            <p:spPr>
              <a:xfrm>
                <a:off x="372113" y="1286685"/>
                <a:ext cx="3758413"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 1</a:t>
                </a:r>
              </a:p>
              <a:p>
                <a:pPr algn="just"/>
                <a:r>
                  <a:rPr lang="es-ES" sz="1600" dirty="0">
                    <a:solidFill>
                      <a:schemeClr val="tx2"/>
                    </a:solidFill>
                    <a:latin typeface="Fira Sans Condensed Light" panose="020B0604020202020204" charset="0"/>
                    <a:cs typeface="Times New Roman" panose="02020603050405020304" pitchFamily="18" charset="0"/>
                  </a:rPr>
                  <a:t>Calcule las derivadas parciales  </a:t>
                </a:r>
                <a14:m>
                  <m:oMath xmlns:m="http://schemas.openxmlformats.org/officeDocument/2006/math">
                    <m:f>
                      <m:fPr>
                        <m:ctrlPr>
                          <a:rPr lang="es-ES" sz="1600" b="1" i="1" smtClean="0">
                            <a:solidFill>
                              <a:schemeClr val="tx2"/>
                            </a:solidFill>
                            <a:latin typeface="Cambria Math" panose="02040503050406030204" pitchFamily="18" charset="0"/>
                            <a:cs typeface="Times New Roman" panose="02020603050405020304" pitchFamily="18" charset="0"/>
                          </a:rPr>
                        </m:ctrlPr>
                      </m:fPr>
                      <m:num>
                        <m:r>
                          <m:rPr>
                            <m:nor/>
                          </m:rPr>
                          <a:rPr lang="es-ES" sz="1600" b="1" dirty="0">
                            <a:solidFill>
                              <a:schemeClr val="tx2"/>
                            </a:solidFill>
                            <a:latin typeface="Fira Sans Condensed Light" panose="020B0604020202020204" charset="0"/>
                            <a:cs typeface="Times New Roman" panose="02020603050405020304" pitchFamily="18" charset="0"/>
                          </a:rPr>
                          <m:t>∂</m:t>
                        </m:r>
                        <m:r>
                          <m:rPr>
                            <m:nor/>
                          </m:rPr>
                          <a:rPr lang="es-ES" sz="1600" b="1" dirty="0">
                            <a:solidFill>
                              <a:schemeClr val="tx2"/>
                            </a:solidFill>
                            <a:latin typeface="Fira Sans Condensed Light" panose="020B0604020202020204" charset="0"/>
                            <a:cs typeface="Times New Roman" panose="02020603050405020304" pitchFamily="18" charset="0"/>
                          </a:rPr>
                          <m:t>f</m:t>
                        </m:r>
                      </m:num>
                      <m:den>
                        <m:r>
                          <m:rPr>
                            <m:nor/>
                          </m:rPr>
                          <a:rPr lang="es-ES" sz="1600" b="1" dirty="0">
                            <a:solidFill>
                              <a:schemeClr val="tx2"/>
                            </a:solidFill>
                            <a:latin typeface="Fira Sans Condensed Light" panose="020B0604020202020204" charset="0"/>
                            <a:cs typeface="Times New Roman" panose="02020603050405020304" pitchFamily="18" charset="0"/>
                          </a:rPr>
                          <m:t>∂</m:t>
                        </m:r>
                        <m:r>
                          <a:rPr lang="es-ES" sz="1600" b="1" i="1" dirty="0" smtClean="0">
                            <a:solidFill>
                              <a:schemeClr val="tx2"/>
                            </a:solidFill>
                            <a:latin typeface="Cambria Math" panose="02040503050406030204" pitchFamily="18" charset="0"/>
                            <a:cs typeface="Times New Roman" panose="02020603050405020304" pitchFamily="18" charset="0"/>
                          </a:rPr>
                          <m:t>𝒙</m:t>
                        </m:r>
                      </m:den>
                    </m:f>
                  </m:oMath>
                </a14:m>
                <a:r>
                  <a:rPr lang="es-ES" sz="1600" b="1" dirty="0">
                    <a:solidFill>
                      <a:schemeClr val="tx2"/>
                    </a:solidFill>
                    <a:latin typeface="Fira Sans Condensed Light" panose="020B0604020202020204" charset="0"/>
                    <a:cs typeface="Times New Roman" panose="02020603050405020304" pitchFamily="18" charset="0"/>
                  </a:rPr>
                  <a:t>, </a:t>
                </a:r>
                <a14:m>
                  <m:oMath xmlns:m="http://schemas.openxmlformats.org/officeDocument/2006/math">
                    <m:f>
                      <m:fPr>
                        <m:ctrlPr>
                          <a:rPr lang="es-ES" sz="1600" b="1" i="1">
                            <a:solidFill>
                              <a:schemeClr val="tx2"/>
                            </a:solidFill>
                            <a:latin typeface="Cambria Math" panose="02040503050406030204" pitchFamily="18" charset="0"/>
                            <a:cs typeface="Times New Roman" panose="02020603050405020304" pitchFamily="18" charset="0"/>
                          </a:rPr>
                        </m:ctrlPr>
                      </m:fPr>
                      <m:num>
                        <m:r>
                          <m:rPr>
                            <m:nor/>
                          </m:rPr>
                          <a:rPr lang="es-ES" sz="1600" b="1" dirty="0">
                            <a:solidFill>
                              <a:schemeClr val="tx2"/>
                            </a:solidFill>
                            <a:latin typeface="Fira Sans Condensed Light" panose="020B0604020202020204" charset="0"/>
                            <a:cs typeface="Times New Roman" panose="02020603050405020304" pitchFamily="18" charset="0"/>
                          </a:rPr>
                          <m:t>∂</m:t>
                        </m:r>
                        <m:r>
                          <m:rPr>
                            <m:nor/>
                          </m:rPr>
                          <a:rPr lang="es-ES" sz="1600" b="1" dirty="0">
                            <a:solidFill>
                              <a:schemeClr val="tx2"/>
                            </a:solidFill>
                            <a:latin typeface="Fira Sans Condensed Light" panose="020B0604020202020204" charset="0"/>
                            <a:cs typeface="Times New Roman" panose="02020603050405020304" pitchFamily="18" charset="0"/>
                          </a:rPr>
                          <m:t>f</m:t>
                        </m:r>
                      </m:num>
                      <m:den>
                        <m:r>
                          <m:rPr>
                            <m:nor/>
                          </m:rPr>
                          <a:rPr lang="es-ES" sz="1600" b="1" dirty="0">
                            <a:solidFill>
                              <a:schemeClr val="tx2"/>
                            </a:solidFill>
                            <a:latin typeface="Fira Sans Condensed Light" panose="020B0604020202020204" charset="0"/>
                            <a:cs typeface="Times New Roman" panose="02020603050405020304" pitchFamily="18" charset="0"/>
                          </a:rPr>
                          <m:t>∂</m:t>
                        </m:r>
                        <m:r>
                          <a:rPr lang="es-ES" sz="1600" b="1" i="1" dirty="0" smtClean="0">
                            <a:solidFill>
                              <a:schemeClr val="tx2"/>
                            </a:solidFill>
                            <a:latin typeface="Cambria Math" panose="02040503050406030204" pitchFamily="18" charset="0"/>
                            <a:cs typeface="Times New Roman" panose="02020603050405020304" pitchFamily="18" charset="0"/>
                          </a:rPr>
                          <m:t>𝒚</m:t>
                        </m:r>
                      </m:den>
                    </m:f>
                  </m:oMath>
                </a14:m>
                <a:r>
                  <a:rPr lang="es-ES" sz="1600" b="1" dirty="0">
                    <a:solidFill>
                      <a:schemeClr val="tx2"/>
                    </a:solidFill>
                    <a:latin typeface="Fira Sans Condensed Light" panose="020B0604020202020204" charset="0"/>
                    <a:cs typeface="Times New Roman" panose="02020603050405020304" pitchFamily="18" charset="0"/>
                  </a:rPr>
                  <a:t> y </a:t>
                </a:r>
                <a14:m>
                  <m:oMath xmlns:m="http://schemas.openxmlformats.org/officeDocument/2006/math">
                    <m:f>
                      <m:fPr>
                        <m:ctrlPr>
                          <a:rPr lang="es-ES" sz="1600" b="1" i="1">
                            <a:solidFill>
                              <a:schemeClr val="tx2"/>
                            </a:solidFill>
                            <a:latin typeface="Cambria Math" panose="02040503050406030204" pitchFamily="18" charset="0"/>
                            <a:cs typeface="Times New Roman" panose="02020603050405020304" pitchFamily="18" charset="0"/>
                          </a:rPr>
                        </m:ctrlPr>
                      </m:fPr>
                      <m:num>
                        <m:r>
                          <m:rPr>
                            <m:nor/>
                          </m:rPr>
                          <a:rPr lang="es-ES" sz="1600" b="1" dirty="0">
                            <a:solidFill>
                              <a:schemeClr val="tx2"/>
                            </a:solidFill>
                            <a:latin typeface="Fira Sans Condensed Light" panose="020B0604020202020204" charset="0"/>
                            <a:cs typeface="Times New Roman" panose="02020603050405020304" pitchFamily="18" charset="0"/>
                          </a:rPr>
                          <m:t>∂</m:t>
                        </m:r>
                        <m:r>
                          <m:rPr>
                            <m:nor/>
                          </m:rPr>
                          <a:rPr lang="es-ES" sz="1600" b="1" dirty="0">
                            <a:solidFill>
                              <a:schemeClr val="tx2"/>
                            </a:solidFill>
                            <a:latin typeface="Fira Sans Condensed Light" panose="020B0604020202020204" charset="0"/>
                            <a:cs typeface="Times New Roman" panose="02020603050405020304" pitchFamily="18" charset="0"/>
                          </a:rPr>
                          <m:t>f</m:t>
                        </m:r>
                      </m:num>
                      <m:den>
                        <m:r>
                          <m:rPr>
                            <m:nor/>
                          </m:rPr>
                          <a:rPr lang="es-ES" sz="1600" b="1" dirty="0">
                            <a:solidFill>
                              <a:schemeClr val="tx2"/>
                            </a:solidFill>
                            <a:latin typeface="Fira Sans Condensed Light" panose="020B0604020202020204" charset="0"/>
                            <a:cs typeface="Times New Roman" panose="02020603050405020304" pitchFamily="18" charset="0"/>
                          </a:rPr>
                          <m:t>∂</m:t>
                        </m:r>
                        <m:r>
                          <a:rPr lang="es-ES" sz="1600" b="1" i="1" dirty="0" smtClean="0">
                            <a:solidFill>
                              <a:schemeClr val="tx2"/>
                            </a:solidFill>
                            <a:latin typeface="Cambria Math" panose="02040503050406030204" pitchFamily="18" charset="0"/>
                            <a:cs typeface="Times New Roman" panose="02020603050405020304" pitchFamily="18" charset="0"/>
                          </a:rPr>
                          <m:t>𝒛</m:t>
                        </m:r>
                      </m:den>
                    </m:f>
                  </m:oMath>
                </a14:m>
                <a:r>
                  <a:rPr lang="es-ES" sz="1600" b="1" dirty="0">
                    <a:solidFill>
                      <a:schemeClr val="tx2"/>
                    </a:solidFill>
                    <a:latin typeface="Fira Sans Condensed Light" panose="020B0604020202020204" charset="0"/>
                    <a:cs typeface="Times New Roman" panose="02020603050405020304" pitchFamily="18" charset="0"/>
                  </a:rPr>
                  <a:t> </a:t>
                </a:r>
              </a:p>
            </p:txBody>
          </p:sp>
        </mc:Choice>
        <mc:Fallback xmlns="">
          <p:sp>
            <p:nvSpPr>
              <p:cNvPr id="16" name="Google Shape;1603;p42"/>
              <p:cNvSpPr txBox="1">
                <a:spLocks noRot="1" noChangeAspect="1" noMove="1" noResize="1" noEditPoints="1" noAdjustHandles="1" noChangeArrowheads="1" noChangeShapeType="1" noTextEdit="1"/>
              </p:cNvSpPr>
              <p:nvPr/>
            </p:nvSpPr>
            <p:spPr>
              <a:xfrm>
                <a:off x="372113" y="1286685"/>
                <a:ext cx="3758413" cy="813730"/>
              </a:xfrm>
              <a:prstGeom prst="rect">
                <a:avLst/>
              </a:prstGeom>
              <a:blipFill>
                <a:blip r:embed="rId4"/>
                <a:stretch>
                  <a:fillRect l="-810" b="-11940"/>
                </a:stretch>
              </a:blipFill>
              <a:ln>
                <a:noFill/>
              </a:ln>
            </p:spPr>
            <p:txBody>
              <a:bodyPr/>
              <a:lstStyle/>
              <a:p>
                <a:r>
                  <a:rPr lang="es-MX">
                    <a:noFill/>
                  </a:rPr>
                  <a:t> </a:t>
                </a:r>
              </a:p>
            </p:txBody>
          </p:sp>
        </mc:Fallback>
      </mc:AlternateContent>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Imagen 4">
            <a:extLst>
              <a:ext uri="{FF2B5EF4-FFF2-40B4-BE49-F238E27FC236}">
                <a16:creationId xmlns:a16="http://schemas.microsoft.com/office/drawing/2014/main" id="{652FA37C-CF13-1C0B-CB1B-666C76808290}"/>
              </a:ext>
            </a:extLst>
          </p:cNvPr>
          <p:cNvPicPr>
            <a:picLocks noChangeAspect="1"/>
          </p:cNvPicPr>
          <p:nvPr/>
        </p:nvPicPr>
        <p:blipFill>
          <a:blip r:embed="rId5"/>
          <a:stretch>
            <a:fillRect/>
          </a:stretch>
        </p:blipFill>
        <p:spPr>
          <a:xfrm>
            <a:off x="1694339" y="2621124"/>
            <a:ext cx="5685423" cy="494885"/>
          </a:xfrm>
          <a:prstGeom prst="rect">
            <a:avLst/>
          </a:prstGeom>
        </p:spPr>
      </p:pic>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7BB16464-6089-CD63-C1EF-442F5D011C96}"/>
                  </a:ext>
                </a:extLst>
              </p:cNvPr>
              <p:cNvSpPr txBox="1"/>
              <p:nvPr/>
            </p:nvSpPr>
            <p:spPr>
              <a:xfrm>
                <a:off x="472307" y="4000600"/>
                <a:ext cx="638907" cy="5107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1400" b="1" i="1" smtClean="0">
                              <a:solidFill>
                                <a:schemeClr val="tx2"/>
                              </a:solidFill>
                              <a:latin typeface="Cambria Math" panose="02040503050406030204" pitchFamily="18" charset="0"/>
                              <a:cs typeface="Times New Roman" panose="02020603050405020304" pitchFamily="18" charset="0"/>
                            </a:rPr>
                          </m:ctrlPr>
                        </m:fPr>
                        <m:num>
                          <m:r>
                            <m:rPr>
                              <m:nor/>
                            </m:rPr>
                            <a:rPr lang="es-ES" sz="1400" b="1" dirty="0">
                              <a:solidFill>
                                <a:schemeClr val="tx2"/>
                              </a:solidFill>
                              <a:latin typeface="Fira Sans Condensed Light" panose="020B0604020202020204" charset="0"/>
                              <a:cs typeface="Times New Roman" panose="02020603050405020304" pitchFamily="18" charset="0"/>
                            </a:rPr>
                            <m:t>∂</m:t>
                          </m:r>
                          <m:r>
                            <m:rPr>
                              <m:nor/>
                            </m:rPr>
                            <a:rPr lang="es-ES" sz="1400" b="1" dirty="0">
                              <a:solidFill>
                                <a:schemeClr val="tx2"/>
                              </a:solidFill>
                              <a:latin typeface="Fira Sans Condensed Light" panose="020B0604020202020204" charset="0"/>
                              <a:cs typeface="Times New Roman" panose="02020603050405020304" pitchFamily="18" charset="0"/>
                            </a:rPr>
                            <m:t>f</m:t>
                          </m:r>
                        </m:num>
                        <m:den>
                          <m:r>
                            <m:rPr>
                              <m:nor/>
                            </m:rPr>
                            <a:rPr lang="es-ES" sz="1400" b="1" dirty="0">
                              <a:solidFill>
                                <a:schemeClr val="tx2"/>
                              </a:solidFill>
                              <a:latin typeface="Fira Sans Condensed Light" panose="020B0604020202020204" charset="0"/>
                              <a:cs typeface="Times New Roman" panose="02020603050405020304" pitchFamily="18" charset="0"/>
                            </a:rPr>
                            <m:t>∂</m:t>
                          </m:r>
                          <m:r>
                            <a:rPr lang="es-ES" sz="1400" b="1" i="1" dirty="0" smtClean="0">
                              <a:solidFill>
                                <a:schemeClr val="tx2"/>
                              </a:solidFill>
                              <a:latin typeface="Cambria Math" panose="02040503050406030204" pitchFamily="18" charset="0"/>
                              <a:cs typeface="Times New Roman" panose="02020603050405020304" pitchFamily="18" charset="0"/>
                            </a:rPr>
                            <m:t>𝒙</m:t>
                          </m:r>
                        </m:den>
                      </m:f>
                      <m:r>
                        <a:rPr lang="es-ES" sz="1400" b="1" i="1" dirty="0" smtClean="0">
                          <a:solidFill>
                            <a:schemeClr val="tx2"/>
                          </a:solidFill>
                          <a:latin typeface="Cambria Math" panose="02040503050406030204" pitchFamily="18" charset="0"/>
                          <a:cs typeface="Times New Roman" panose="02020603050405020304" pitchFamily="18" charset="0"/>
                        </a:rPr>
                        <m:t>=</m:t>
                      </m:r>
                    </m:oMath>
                  </m:oMathPara>
                </a14:m>
                <a:endParaRPr lang="es-MX" dirty="0"/>
              </a:p>
            </p:txBody>
          </p:sp>
        </mc:Choice>
        <mc:Fallback xmlns="">
          <p:sp>
            <p:nvSpPr>
              <p:cNvPr id="3" name="CuadroTexto 2">
                <a:extLst>
                  <a:ext uri="{FF2B5EF4-FFF2-40B4-BE49-F238E27FC236}">
                    <a16:creationId xmlns:a16="http://schemas.microsoft.com/office/drawing/2014/main" id="{7BB16464-6089-CD63-C1EF-442F5D011C96}"/>
                  </a:ext>
                </a:extLst>
              </p:cNvPr>
              <p:cNvSpPr txBox="1">
                <a:spLocks noRot="1" noChangeAspect="1" noMove="1" noResize="1" noEditPoints="1" noAdjustHandles="1" noChangeArrowheads="1" noChangeShapeType="1" noTextEdit="1"/>
              </p:cNvSpPr>
              <p:nvPr/>
            </p:nvSpPr>
            <p:spPr>
              <a:xfrm>
                <a:off x="472307" y="4000600"/>
                <a:ext cx="638907" cy="510781"/>
              </a:xfrm>
              <a:prstGeom prst="rect">
                <a:avLst/>
              </a:prstGeom>
              <a:blipFill>
                <a:blip r:embed="rId6"/>
                <a:stretch>
                  <a:fillRect b="-2381"/>
                </a:stretch>
              </a:blipFill>
            </p:spPr>
            <p:txBody>
              <a:bodyPr/>
              <a:lstStyle/>
              <a:p>
                <a:r>
                  <a:rPr lang="es-MX">
                    <a:noFill/>
                  </a:rPr>
                  <a:t> </a:t>
                </a:r>
              </a:p>
            </p:txBody>
          </p:sp>
        </mc:Fallback>
      </mc:AlternateContent>
      <p:pic>
        <p:nvPicPr>
          <p:cNvPr id="6" name="Imagen 5">
            <a:extLst>
              <a:ext uri="{FF2B5EF4-FFF2-40B4-BE49-F238E27FC236}">
                <a16:creationId xmlns:a16="http://schemas.microsoft.com/office/drawing/2014/main" id="{BDB28361-F365-F766-EB06-E5BC594ED46C}"/>
              </a:ext>
            </a:extLst>
          </p:cNvPr>
          <p:cNvPicPr>
            <a:picLocks noChangeAspect="1"/>
          </p:cNvPicPr>
          <p:nvPr/>
        </p:nvPicPr>
        <p:blipFill>
          <a:blip r:embed="rId7"/>
          <a:stretch>
            <a:fillRect/>
          </a:stretch>
        </p:blipFill>
        <p:spPr>
          <a:xfrm>
            <a:off x="1111214" y="4103590"/>
            <a:ext cx="1790700" cy="304800"/>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E3E919C-4AD8-B5F0-185B-694208DA7E38}"/>
                  </a:ext>
                </a:extLst>
              </p:cNvPr>
              <p:cNvSpPr txBox="1"/>
              <p:nvPr/>
            </p:nvSpPr>
            <p:spPr>
              <a:xfrm>
                <a:off x="3084466" y="3975150"/>
                <a:ext cx="1452584" cy="547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1400" b="1" i="1" smtClean="0">
                              <a:solidFill>
                                <a:schemeClr val="tx2"/>
                              </a:solidFill>
                              <a:latin typeface="Cambria Math" panose="02040503050406030204" pitchFamily="18" charset="0"/>
                              <a:cs typeface="Times New Roman" panose="02020603050405020304" pitchFamily="18" charset="0"/>
                            </a:rPr>
                          </m:ctrlPr>
                        </m:fPr>
                        <m:num>
                          <m:r>
                            <m:rPr>
                              <m:nor/>
                            </m:rPr>
                            <a:rPr lang="es-ES" sz="1400" b="1" dirty="0">
                              <a:solidFill>
                                <a:schemeClr val="tx2"/>
                              </a:solidFill>
                              <a:latin typeface="Fira Sans Condensed Light" panose="020B0604020202020204" charset="0"/>
                              <a:cs typeface="Times New Roman" panose="02020603050405020304" pitchFamily="18" charset="0"/>
                            </a:rPr>
                            <m:t>∂</m:t>
                          </m:r>
                          <m:r>
                            <m:rPr>
                              <m:nor/>
                            </m:rPr>
                            <a:rPr lang="es-ES" sz="1400" b="1" dirty="0">
                              <a:solidFill>
                                <a:schemeClr val="tx2"/>
                              </a:solidFill>
                              <a:latin typeface="Fira Sans Condensed Light" panose="020B0604020202020204" charset="0"/>
                              <a:cs typeface="Times New Roman" panose="02020603050405020304" pitchFamily="18" charset="0"/>
                            </a:rPr>
                            <m:t>f</m:t>
                          </m:r>
                        </m:num>
                        <m:den>
                          <m:r>
                            <m:rPr>
                              <m:nor/>
                            </m:rPr>
                            <a:rPr lang="es-ES" sz="1400" b="1" dirty="0">
                              <a:solidFill>
                                <a:schemeClr val="tx2"/>
                              </a:solidFill>
                              <a:latin typeface="Fira Sans Condensed Light" panose="020B0604020202020204" charset="0"/>
                              <a:cs typeface="Times New Roman" panose="02020603050405020304" pitchFamily="18" charset="0"/>
                            </a:rPr>
                            <m:t>∂</m:t>
                          </m:r>
                          <m:r>
                            <a:rPr lang="es-ES" sz="1400" b="1" i="1" dirty="0" smtClean="0">
                              <a:solidFill>
                                <a:schemeClr val="tx2"/>
                              </a:solidFill>
                              <a:latin typeface="Cambria Math" panose="02040503050406030204" pitchFamily="18" charset="0"/>
                              <a:cs typeface="Times New Roman" panose="02020603050405020304" pitchFamily="18" charset="0"/>
                            </a:rPr>
                            <m:t>𝒚</m:t>
                          </m:r>
                        </m:den>
                      </m:f>
                      <m:r>
                        <a:rPr lang="es-ES" sz="1400" b="1" i="1" dirty="0" smtClean="0">
                          <a:solidFill>
                            <a:schemeClr val="tx2"/>
                          </a:solidFill>
                          <a:latin typeface="Cambria Math" panose="02040503050406030204" pitchFamily="18" charset="0"/>
                          <a:cs typeface="Times New Roman" panose="02020603050405020304" pitchFamily="18" charset="0"/>
                        </a:rPr>
                        <m:t>=</m:t>
                      </m:r>
                    </m:oMath>
                  </m:oMathPara>
                </a14:m>
                <a:endParaRPr lang="es-MX" dirty="0"/>
              </a:p>
            </p:txBody>
          </p:sp>
        </mc:Choice>
        <mc:Fallback xmlns="">
          <p:sp>
            <p:nvSpPr>
              <p:cNvPr id="8" name="CuadroTexto 7">
                <a:extLst>
                  <a:ext uri="{FF2B5EF4-FFF2-40B4-BE49-F238E27FC236}">
                    <a16:creationId xmlns:a16="http://schemas.microsoft.com/office/drawing/2014/main" id="{8E3E919C-4AD8-B5F0-185B-694208DA7E38}"/>
                  </a:ext>
                </a:extLst>
              </p:cNvPr>
              <p:cNvSpPr txBox="1">
                <a:spLocks noRot="1" noChangeAspect="1" noMove="1" noResize="1" noEditPoints="1" noAdjustHandles="1" noChangeArrowheads="1" noChangeShapeType="1" noTextEdit="1"/>
              </p:cNvSpPr>
              <p:nvPr/>
            </p:nvSpPr>
            <p:spPr>
              <a:xfrm>
                <a:off x="3084466" y="3975150"/>
                <a:ext cx="1452584" cy="547201"/>
              </a:xfrm>
              <a:prstGeom prst="rect">
                <a:avLst/>
              </a:prstGeom>
              <a:blipFill>
                <a:blip r:embed="rId8"/>
                <a:stretch>
                  <a:fillRect b="-1111"/>
                </a:stretch>
              </a:blipFill>
            </p:spPr>
            <p:txBody>
              <a:bodyPr/>
              <a:lstStyle/>
              <a:p>
                <a:r>
                  <a:rPr lang="es-MX">
                    <a:noFill/>
                  </a:rPr>
                  <a:t> </a:t>
                </a:r>
              </a:p>
            </p:txBody>
          </p:sp>
        </mc:Fallback>
      </mc:AlternateContent>
      <p:pic>
        <p:nvPicPr>
          <p:cNvPr id="10" name="Imagen 9">
            <a:extLst>
              <a:ext uri="{FF2B5EF4-FFF2-40B4-BE49-F238E27FC236}">
                <a16:creationId xmlns:a16="http://schemas.microsoft.com/office/drawing/2014/main" id="{5D27E235-A83F-4672-154B-0D33BCBE09EE}"/>
              </a:ext>
            </a:extLst>
          </p:cNvPr>
          <p:cNvPicPr>
            <a:picLocks noChangeAspect="1"/>
          </p:cNvPicPr>
          <p:nvPr/>
        </p:nvPicPr>
        <p:blipFill>
          <a:blip r:embed="rId9"/>
          <a:stretch>
            <a:fillRect/>
          </a:stretch>
        </p:blipFill>
        <p:spPr>
          <a:xfrm>
            <a:off x="4130527" y="4103590"/>
            <a:ext cx="1791234" cy="323839"/>
          </a:xfrm>
          <a:prstGeom prst="rect">
            <a:avLst/>
          </a:prstGeom>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3E50097-CABD-F0C4-D555-2A4FB4784C37}"/>
                  </a:ext>
                </a:extLst>
              </p:cNvPr>
              <p:cNvSpPr txBox="1"/>
              <p:nvPr/>
            </p:nvSpPr>
            <p:spPr>
              <a:xfrm>
                <a:off x="6345568" y="3993359"/>
                <a:ext cx="638907" cy="5107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1400" b="1" i="1" smtClean="0">
                              <a:solidFill>
                                <a:schemeClr val="tx2"/>
                              </a:solidFill>
                              <a:latin typeface="Cambria Math" panose="02040503050406030204" pitchFamily="18" charset="0"/>
                              <a:cs typeface="Times New Roman" panose="02020603050405020304" pitchFamily="18" charset="0"/>
                            </a:rPr>
                          </m:ctrlPr>
                        </m:fPr>
                        <m:num>
                          <m:r>
                            <m:rPr>
                              <m:nor/>
                            </m:rPr>
                            <a:rPr lang="es-ES" sz="1400" b="1" dirty="0">
                              <a:solidFill>
                                <a:schemeClr val="tx2"/>
                              </a:solidFill>
                              <a:latin typeface="Fira Sans Condensed Light" panose="020B0604020202020204" charset="0"/>
                              <a:cs typeface="Times New Roman" panose="02020603050405020304" pitchFamily="18" charset="0"/>
                            </a:rPr>
                            <m:t>∂</m:t>
                          </m:r>
                          <m:r>
                            <m:rPr>
                              <m:nor/>
                            </m:rPr>
                            <a:rPr lang="es-ES" sz="1400" b="1" dirty="0">
                              <a:solidFill>
                                <a:schemeClr val="tx2"/>
                              </a:solidFill>
                              <a:latin typeface="Fira Sans Condensed Light" panose="020B0604020202020204" charset="0"/>
                              <a:cs typeface="Times New Roman" panose="02020603050405020304" pitchFamily="18" charset="0"/>
                            </a:rPr>
                            <m:t>f</m:t>
                          </m:r>
                        </m:num>
                        <m:den>
                          <m:r>
                            <m:rPr>
                              <m:nor/>
                            </m:rPr>
                            <a:rPr lang="es-ES" sz="1400" b="1" dirty="0">
                              <a:solidFill>
                                <a:schemeClr val="tx2"/>
                              </a:solidFill>
                              <a:latin typeface="Fira Sans Condensed Light" panose="020B0604020202020204" charset="0"/>
                              <a:cs typeface="Times New Roman" panose="02020603050405020304" pitchFamily="18" charset="0"/>
                            </a:rPr>
                            <m:t>∂</m:t>
                          </m:r>
                          <m:r>
                            <a:rPr lang="es-ES" sz="1400" b="1" i="1" dirty="0" smtClean="0">
                              <a:solidFill>
                                <a:schemeClr val="tx2"/>
                              </a:solidFill>
                              <a:latin typeface="Cambria Math" panose="02040503050406030204" pitchFamily="18" charset="0"/>
                              <a:cs typeface="Times New Roman" panose="02020603050405020304" pitchFamily="18" charset="0"/>
                            </a:rPr>
                            <m:t>𝒛</m:t>
                          </m:r>
                        </m:den>
                      </m:f>
                      <m:r>
                        <a:rPr lang="es-ES" sz="1400" b="1" i="1" dirty="0" smtClean="0">
                          <a:solidFill>
                            <a:schemeClr val="tx2"/>
                          </a:solidFill>
                          <a:latin typeface="Cambria Math" panose="02040503050406030204" pitchFamily="18" charset="0"/>
                          <a:cs typeface="Times New Roman" panose="02020603050405020304" pitchFamily="18" charset="0"/>
                        </a:rPr>
                        <m:t>=</m:t>
                      </m:r>
                    </m:oMath>
                  </m:oMathPara>
                </a14:m>
                <a:endParaRPr lang="es-MX" dirty="0"/>
              </a:p>
            </p:txBody>
          </p:sp>
        </mc:Choice>
        <mc:Fallback xmlns="">
          <p:sp>
            <p:nvSpPr>
              <p:cNvPr id="11" name="CuadroTexto 10">
                <a:extLst>
                  <a:ext uri="{FF2B5EF4-FFF2-40B4-BE49-F238E27FC236}">
                    <a16:creationId xmlns:a16="http://schemas.microsoft.com/office/drawing/2014/main" id="{13E50097-CABD-F0C4-D555-2A4FB4784C37}"/>
                  </a:ext>
                </a:extLst>
              </p:cNvPr>
              <p:cNvSpPr txBox="1">
                <a:spLocks noRot="1" noChangeAspect="1" noMove="1" noResize="1" noEditPoints="1" noAdjustHandles="1" noChangeArrowheads="1" noChangeShapeType="1" noTextEdit="1"/>
              </p:cNvSpPr>
              <p:nvPr/>
            </p:nvSpPr>
            <p:spPr>
              <a:xfrm>
                <a:off x="6345568" y="3993359"/>
                <a:ext cx="638907" cy="510781"/>
              </a:xfrm>
              <a:prstGeom prst="rect">
                <a:avLst/>
              </a:prstGeom>
              <a:blipFill>
                <a:blip r:embed="rId10"/>
                <a:stretch>
                  <a:fillRect b="-2381"/>
                </a:stretch>
              </a:blipFill>
            </p:spPr>
            <p:txBody>
              <a:bodyPr/>
              <a:lstStyle/>
              <a:p>
                <a:r>
                  <a:rPr lang="es-MX">
                    <a:noFill/>
                  </a:rPr>
                  <a:t> </a:t>
                </a:r>
              </a:p>
            </p:txBody>
          </p:sp>
        </mc:Fallback>
      </mc:AlternateContent>
      <p:pic>
        <p:nvPicPr>
          <p:cNvPr id="13" name="Imagen 12">
            <a:extLst>
              <a:ext uri="{FF2B5EF4-FFF2-40B4-BE49-F238E27FC236}">
                <a16:creationId xmlns:a16="http://schemas.microsoft.com/office/drawing/2014/main" id="{20D23D92-FF78-D267-9BA1-397697B6769B}"/>
              </a:ext>
            </a:extLst>
          </p:cNvPr>
          <p:cNvPicPr>
            <a:picLocks noChangeAspect="1"/>
          </p:cNvPicPr>
          <p:nvPr/>
        </p:nvPicPr>
        <p:blipFill>
          <a:blip r:embed="rId11"/>
          <a:stretch>
            <a:fillRect/>
          </a:stretch>
        </p:blipFill>
        <p:spPr>
          <a:xfrm>
            <a:off x="6928763" y="4103591"/>
            <a:ext cx="1468930" cy="316228"/>
          </a:xfrm>
          <a:prstGeom prst="rect">
            <a:avLst/>
          </a:prstGeom>
        </p:spPr>
      </p:pic>
    </p:spTree>
    <p:extLst>
      <p:ext uri="{BB962C8B-B14F-4D97-AF65-F5344CB8AC3E}">
        <p14:creationId xmlns:p14="http://schemas.microsoft.com/office/powerpoint/2010/main" val="175149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33234" y="1455357"/>
            <a:ext cx="4080859"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Concepto</a:t>
            </a:r>
          </a:p>
          <a:p>
            <a:pPr algn="just"/>
            <a:r>
              <a:rPr lang="es-ES" sz="1600" dirty="0">
                <a:solidFill>
                  <a:schemeClr val="accent4"/>
                </a:solidFill>
                <a:latin typeface="Fira Sans Condensed Light" panose="020B0604020202020204" charset="0"/>
                <a:cs typeface="Times New Roman" panose="02020603050405020304" pitchFamily="18" charset="0"/>
              </a:rPr>
              <a:t>La </a:t>
            </a:r>
            <a:r>
              <a:rPr lang="es-ES" sz="1600" b="1" dirty="0">
                <a:solidFill>
                  <a:schemeClr val="accent4"/>
                </a:solidFill>
                <a:latin typeface="Fira Sans Condensed Light" panose="020B0604020202020204" charset="0"/>
                <a:cs typeface="Times New Roman" panose="02020603050405020304" pitchFamily="18" charset="0"/>
              </a:rPr>
              <a:t>velocidad lineal </a:t>
            </a:r>
            <a:r>
              <a:rPr lang="es-ES" sz="1600" dirty="0">
                <a:solidFill>
                  <a:schemeClr val="accent4"/>
                </a:solidFill>
                <a:latin typeface="Fira Sans Condensed Light" panose="020B0604020202020204" charset="0"/>
                <a:cs typeface="Times New Roman" panose="02020603050405020304" pitchFamily="18" charset="0"/>
              </a:rPr>
              <a:t>se define como la tasa de cambio del desplazamiento lineal. El desplazamiento lineal de una partícula se puede dar de la siguiente manera:</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8388179B-EB1D-DC2C-5DDB-DCEA0F27C03B}"/>
              </a:ext>
            </a:extLst>
          </p:cNvPr>
          <p:cNvPicPr>
            <a:picLocks noChangeAspect="1"/>
          </p:cNvPicPr>
          <p:nvPr/>
        </p:nvPicPr>
        <p:blipFill>
          <a:blip r:embed="rId4"/>
          <a:stretch>
            <a:fillRect/>
          </a:stretch>
        </p:blipFill>
        <p:spPr>
          <a:xfrm>
            <a:off x="1254735" y="3362189"/>
            <a:ext cx="1335352" cy="1056542"/>
          </a:xfrm>
          <a:prstGeom prst="rect">
            <a:avLst/>
          </a:prstGeom>
        </p:spPr>
      </p:pic>
      <p:pic>
        <p:nvPicPr>
          <p:cNvPr id="5" name="Picture 4" descr="Relación entre las magnitudes angulares y lineales">
            <a:extLst>
              <a:ext uri="{FF2B5EF4-FFF2-40B4-BE49-F238E27FC236}">
                <a16:creationId xmlns:a16="http://schemas.microsoft.com/office/drawing/2014/main" id="{ECE3B850-C31C-B084-3332-D4FD00B740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7327" y="1835514"/>
            <a:ext cx="4047263" cy="2162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33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33234" y="1455357"/>
            <a:ext cx="4080859"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Concepto</a:t>
            </a:r>
          </a:p>
          <a:p>
            <a:pPr algn="just"/>
            <a:r>
              <a:rPr lang="es-ES" sz="1600" dirty="0">
                <a:solidFill>
                  <a:schemeClr val="accent4"/>
                </a:solidFill>
                <a:latin typeface="Fira Sans Condensed Light" panose="020B0604020202020204" charset="0"/>
                <a:cs typeface="Times New Roman" panose="02020603050405020304" pitchFamily="18" charset="0"/>
              </a:rPr>
              <a:t>La </a:t>
            </a:r>
            <a:r>
              <a:rPr lang="es-ES" sz="1600" b="1" dirty="0">
                <a:solidFill>
                  <a:schemeClr val="accent4"/>
                </a:solidFill>
                <a:latin typeface="Fira Sans Condensed Light" panose="020B0604020202020204" charset="0"/>
                <a:cs typeface="Times New Roman" panose="02020603050405020304" pitchFamily="18" charset="0"/>
              </a:rPr>
              <a:t>velocidad angular </a:t>
            </a:r>
            <a:r>
              <a:rPr lang="es-ES" sz="1600" dirty="0">
                <a:solidFill>
                  <a:schemeClr val="accent4"/>
                </a:solidFill>
                <a:latin typeface="Fira Sans Condensed Light" panose="020B0604020202020204" charset="0"/>
                <a:cs typeface="Times New Roman" panose="02020603050405020304" pitchFamily="18" charset="0"/>
              </a:rPr>
              <a:t>se define como la tasa a la que cambia su desplazamiento angular.</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D790FE65-BC34-1C87-5809-0AEABEE69402}"/>
              </a:ext>
            </a:extLst>
          </p:cNvPr>
          <p:cNvPicPr>
            <a:picLocks noChangeAspect="1"/>
          </p:cNvPicPr>
          <p:nvPr/>
        </p:nvPicPr>
        <p:blipFill>
          <a:blip r:embed="rId4"/>
          <a:stretch>
            <a:fillRect/>
          </a:stretch>
        </p:blipFill>
        <p:spPr>
          <a:xfrm>
            <a:off x="1278180" y="2586809"/>
            <a:ext cx="1472987" cy="1035947"/>
          </a:xfrm>
          <a:prstGeom prst="rect">
            <a:avLst/>
          </a:prstGeom>
        </p:spPr>
      </p:pic>
      <p:sp>
        <p:nvSpPr>
          <p:cNvPr id="6" name="Google Shape;1603;p42">
            <a:extLst>
              <a:ext uri="{FF2B5EF4-FFF2-40B4-BE49-F238E27FC236}">
                <a16:creationId xmlns:a16="http://schemas.microsoft.com/office/drawing/2014/main" id="{DFB6DDA2-A8A5-C1E2-FD53-1BB4CC1A00A2}"/>
              </a:ext>
            </a:extLst>
          </p:cNvPr>
          <p:cNvSpPr txBox="1"/>
          <p:nvPr/>
        </p:nvSpPr>
        <p:spPr>
          <a:xfrm>
            <a:off x="4314093" y="2487540"/>
            <a:ext cx="4080859"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Relación</a:t>
            </a:r>
          </a:p>
          <a:p>
            <a:pPr algn="just"/>
            <a:r>
              <a:rPr lang="es-ES" sz="1600" dirty="0">
                <a:solidFill>
                  <a:schemeClr val="accent4"/>
                </a:solidFill>
                <a:latin typeface="Fira Sans Condensed Light" panose="020B0604020202020204" charset="0"/>
                <a:cs typeface="Times New Roman" panose="02020603050405020304" pitchFamily="18" charset="0"/>
              </a:rPr>
              <a:t>La relación entre l</a:t>
            </a:r>
            <a:r>
              <a:rPr lang="es-ES" sz="1600" b="1" dirty="0">
                <a:solidFill>
                  <a:schemeClr val="accent4"/>
                </a:solidFill>
                <a:latin typeface="Fira Sans Condensed Light" panose="020B0604020202020204" charset="0"/>
                <a:cs typeface="Times New Roman" panose="02020603050405020304" pitchFamily="18" charset="0"/>
              </a:rPr>
              <a:t>a velocidad lineal y angular </a:t>
            </a:r>
            <a:r>
              <a:rPr lang="es-ES" sz="1600" dirty="0">
                <a:solidFill>
                  <a:schemeClr val="accent4"/>
                </a:solidFill>
                <a:latin typeface="Fira Sans Condensed Light" panose="020B0604020202020204" charset="0"/>
                <a:cs typeface="Times New Roman" panose="02020603050405020304" pitchFamily="18" charset="0"/>
              </a:rPr>
              <a:t>para un cuerpo que se mueve en una movimiento circular uniforme es dado por:</a:t>
            </a:r>
          </a:p>
        </p:txBody>
      </p:sp>
      <p:pic>
        <p:nvPicPr>
          <p:cNvPr id="8" name="Imagen 7">
            <a:extLst>
              <a:ext uri="{FF2B5EF4-FFF2-40B4-BE49-F238E27FC236}">
                <a16:creationId xmlns:a16="http://schemas.microsoft.com/office/drawing/2014/main" id="{BD883E5D-3AD6-1A39-AFD1-8B7F39C18BA5}"/>
              </a:ext>
            </a:extLst>
          </p:cNvPr>
          <p:cNvPicPr>
            <a:picLocks noChangeAspect="1"/>
          </p:cNvPicPr>
          <p:nvPr/>
        </p:nvPicPr>
        <p:blipFill>
          <a:blip r:embed="rId5"/>
          <a:stretch>
            <a:fillRect/>
          </a:stretch>
        </p:blipFill>
        <p:spPr>
          <a:xfrm>
            <a:off x="5534348" y="3996469"/>
            <a:ext cx="1124360" cy="508920"/>
          </a:xfrm>
          <a:prstGeom prst="rect">
            <a:avLst/>
          </a:prstGeom>
        </p:spPr>
      </p:pic>
    </p:spTree>
    <p:extLst>
      <p:ext uri="{BB962C8B-B14F-4D97-AF65-F5344CB8AC3E}">
        <p14:creationId xmlns:p14="http://schemas.microsoft.com/office/powerpoint/2010/main" val="774952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y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33234" y="1455357"/>
            <a:ext cx="8158542"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1</a:t>
            </a:r>
          </a:p>
          <a:p>
            <a:pPr algn="just"/>
            <a:r>
              <a:rPr lang="es-ES" sz="1600" dirty="0">
                <a:solidFill>
                  <a:schemeClr val="accent4"/>
                </a:solidFill>
                <a:latin typeface="Fira Sans Condensed Light" panose="020B0604020202020204" charset="0"/>
                <a:cs typeface="Times New Roman" panose="02020603050405020304" pitchFamily="18" charset="0"/>
              </a:rPr>
              <a:t>Las ruedas de un automóvil tienen </a:t>
            </a:r>
            <a:r>
              <a:rPr lang="es-ES" sz="1600" b="1" dirty="0">
                <a:solidFill>
                  <a:schemeClr val="accent4"/>
                </a:solidFill>
                <a:latin typeface="Fira Sans Condensed Light" panose="020B0604020202020204" charset="0"/>
                <a:cs typeface="Times New Roman" panose="02020603050405020304" pitchFamily="18" charset="0"/>
              </a:rPr>
              <a:t>60 cm de diámetro</a:t>
            </a:r>
            <a:r>
              <a:rPr lang="es-ES" sz="1600" dirty="0">
                <a:solidFill>
                  <a:schemeClr val="accent4"/>
                </a:solidFill>
                <a:latin typeface="Fira Sans Condensed Light" panose="020B0604020202020204" charset="0"/>
                <a:cs typeface="Times New Roman" panose="02020603050405020304" pitchFamily="18" charset="0"/>
              </a:rPr>
              <a:t>. Calcular con qué velocidad angular giran cuando el automóvil se desplaza a </a:t>
            </a:r>
            <a:r>
              <a:rPr lang="es-ES" sz="1600" b="1" dirty="0">
                <a:solidFill>
                  <a:schemeClr val="accent4"/>
                </a:solidFill>
                <a:latin typeface="Fira Sans Condensed Light" panose="020B0604020202020204" charset="0"/>
                <a:cs typeface="Times New Roman" panose="02020603050405020304" pitchFamily="18" charset="0"/>
              </a:rPr>
              <a:t>72 km/h</a:t>
            </a:r>
            <a:r>
              <a:rPr lang="es-ES" sz="1600" dirty="0">
                <a:solidFill>
                  <a:schemeClr val="accent4"/>
                </a:solidFill>
                <a:latin typeface="Fira Sans Condensed Light" panose="020B0604020202020204" charset="0"/>
                <a:cs typeface="Times New Roman" panose="02020603050405020304" pitchFamily="18" charset="0"/>
              </a:rPr>
              <a:t>.</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89642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A3274190-A82F-4C28-F670-6977CDE674EF}"/>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ED51C0F-8456-6811-75A3-E62878E393DC}"/>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17294A66-A7C8-5B47-50E9-87C823C28384}"/>
              </a:ext>
            </a:extLst>
          </p:cNvPr>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y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799E3B37-A40A-9E66-41EA-D2811A97BB16}"/>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a:extLst>
              <a:ext uri="{FF2B5EF4-FFF2-40B4-BE49-F238E27FC236}">
                <a16:creationId xmlns:a16="http://schemas.microsoft.com/office/drawing/2014/main" id="{2718EA09-9BA1-143B-C8DD-17938462747A}"/>
              </a:ext>
            </a:extLst>
          </p:cNvPr>
          <p:cNvSpPr txBox="1"/>
          <p:nvPr/>
        </p:nvSpPr>
        <p:spPr>
          <a:xfrm>
            <a:off x="233234" y="1455357"/>
            <a:ext cx="8158542"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1</a:t>
            </a:r>
          </a:p>
          <a:p>
            <a:pPr algn="just"/>
            <a:r>
              <a:rPr lang="es-ES" sz="1600" dirty="0">
                <a:solidFill>
                  <a:schemeClr val="accent4"/>
                </a:solidFill>
                <a:latin typeface="Fira Sans Condensed Light" panose="020B0604020202020204" charset="0"/>
                <a:cs typeface="Times New Roman" panose="02020603050405020304" pitchFamily="18" charset="0"/>
              </a:rPr>
              <a:t>Las ruedas de un automóvil tienen </a:t>
            </a:r>
            <a:r>
              <a:rPr lang="es-ES" sz="1600" b="1" dirty="0">
                <a:solidFill>
                  <a:schemeClr val="accent4"/>
                </a:solidFill>
                <a:latin typeface="Fira Sans Condensed Light" panose="020B0604020202020204" charset="0"/>
                <a:cs typeface="Times New Roman" panose="02020603050405020304" pitchFamily="18" charset="0"/>
              </a:rPr>
              <a:t>60 cm de diámetro</a:t>
            </a:r>
            <a:r>
              <a:rPr lang="es-ES" sz="1600" dirty="0">
                <a:solidFill>
                  <a:schemeClr val="accent4"/>
                </a:solidFill>
                <a:latin typeface="Fira Sans Condensed Light" panose="020B0604020202020204" charset="0"/>
                <a:cs typeface="Times New Roman" panose="02020603050405020304" pitchFamily="18" charset="0"/>
              </a:rPr>
              <a:t>. Calcular con qué velocidad angular giran cuando el automóvil se desplaza a </a:t>
            </a:r>
            <a:r>
              <a:rPr lang="es-ES" sz="1600" b="1" dirty="0">
                <a:solidFill>
                  <a:schemeClr val="accent4"/>
                </a:solidFill>
                <a:latin typeface="Fira Sans Condensed Light" panose="020B0604020202020204" charset="0"/>
                <a:cs typeface="Times New Roman" panose="02020603050405020304" pitchFamily="18" charset="0"/>
              </a:rPr>
              <a:t>72 km/h</a:t>
            </a:r>
            <a:r>
              <a:rPr lang="es-ES" sz="1600" dirty="0">
                <a:solidFill>
                  <a:schemeClr val="accent4"/>
                </a:solidFill>
                <a:latin typeface="Fira Sans Condensed Light" panose="020B0604020202020204" charset="0"/>
                <a:cs typeface="Times New Roman" panose="02020603050405020304" pitchFamily="18" charset="0"/>
              </a:rPr>
              <a:t>.</a:t>
            </a:r>
          </a:p>
        </p:txBody>
      </p:sp>
      <p:sp>
        <p:nvSpPr>
          <p:cNvPr id="17" name="Google Shape;136;p27">
            <a:extLst>
              <a:ext uri="{FF2B5EF4-FFF2-40B4-BE49-F238E27FC236}">
                <a16:creationId xmlns:a16="http://schemas.microsoft.com/office/drawing/2014/main" id="{7DFBFC1D-F102-C4B9-80DF-A61B44A327F8}"/>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D8E80820-8D5B-CC56-D0B8-F5C66154C1D9}"/>
              </a:ext>
            </a:extLst>
          </p:cNvPr>
          <p:cNvPicPr>
            <a:picLocks noChangeAspect="1"/>
          </p:cNvPicPr>
          <p:nvPr/>
        </p:nvPicPr>
        <p:blipFill>
          <a:blip r:embed="rId4"/>
          <a:stretch>
            <a:fillRect/>
          </a:stretch>
        </p:blipFill>
        <p:spPr>
          <a:xfrm>
            <a:off x="2316302" y="2460335"/>
            <a:ext cx="4119667" cy="2324841"/>
          </a:xfrm>
          <a:prstGeom prst="rect">
            <a:avLst/>
          </a:prstGeom>
        </p:spPr>
      </p:pic>
    </p:spTree>
    <p:extLst>
      <p:ext uri="{BB962C8B-B14F-4D97-AF65-F5344CB8AC3E}">
        <p14:creationId xmlns:p14="http://schemas.microsoft.com/office/powerpoint/2010/main" val="357523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y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33234" y="1455357"/>
            <a:ext cx="8158542"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2</a:t>
            </a:r>
          </a:p>
          <a:p>
            <a:pPr algn="just"/>
            <a:r>
              <a:rPr lang="es-ES" sz="1600" dirty="0">
                <a:solidFill>
                  <a:schemeClr val="accent4"/>
                </a:solidFill>
                <a:latin typeface="Fira Sans Condensed Light" panose="020B0604020202020204" charset="0"/>
                <a:cs typeface="Times New Roman" panose="02020603050405020304" pitchFamily="18" charset="0"/>
              </a:rPr>
              <a:t>Un automóvil recorre con velocidad constante una circunferencia de </a:t>
            </a:r>
            <a:r>
              <a:rPr lang="es-ES" sz="1600" b="1" dirty="0">
                <a:solidFill>
                  <a:schemeClr val="accent4"/>
                </a:solidFill>
                <a:latin typeface="Fira Sans Condensed Light" panose="020B0604020202020204" charset="0"/>
                <a:cs typeface="Times New Roman" panose="02020603050405020304" pitchFamily="18" charset="0"/>
              </a:rPr>
              <a:t>50cm de radio</a:t>
            </a:r>
            <a:r>
              <a:rPr lang="es-ES" sz="1600" dirty="0">
                <a:solidFill>
                  <a:schemeClr val="accent4"/>
                </a:solidFill>
                <a:latin typeface="Fira Sans Condensed Light" panose="020B0604020202020204" charset="0"/>
                <a:cs typeface="Times New Roman" panose="02020603050405020304" pitchFamily="18" charset="0"/>
              </a:rPr>
              <a:t>, con una </a:t>
            </a:r>
            <a:r>
              <a:rPr lang="es-ES" sz="1600" b="1" dirty="0">
                <a:solidFill>
                  <a:schemeClr val="accent4"/>
                </a:solidFill>
                <a:latin typeface="Fira Sans Condensed Light" panose="020B0604020202020204" charset="0"/>
                <a:cs typeface="Times New Roman" panose="02020603050405020304" pitchFamily="18" charset="0"/>
              </a:rPr>
              <a:t>frecuencia de 10Hz</a:t>
            </a:r>
            <a:r>
              <a:rPr lang="es-ES" sz="1600" dirty="0">
                <a:solidFill>
                  <a:schemeClr val="accent4"/>
                </a:solidFill>
                <a:latin typeface="Fira Sans Condensed Light" panose="020B0604020202020204" charset="0"/>
                <a:cs typeface="Times New Roman" panose="02020603050405020304" pitchFamily="18" charset="0"/>
              </a:rPr>
              <a:t>. Determina el periodo (T), la velocidad angular y la velocidad lineal</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7985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D040B9D4-1AFE-B638-4E09-CC0883E51651}"/>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CB299351-88EB-5749-22A3-D55D53E5EF71}"/>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4BEFFBE7-A7BD-6877-F007-A94A7C92C392}"/>
              </a:ext>
            </a:extLst>
          </p:cNvPr>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y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AA3FB3CD-C514-0361-5C35-AC7E4194EFA7}"/>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a:extLst>
              <a:ext uri="{FF2B5EF4-FFF2-40B4-BE49-F238E27FC236}">
                <a16:creationId xmlns:a16="http://schemas.microsoft.com/office/drawing/2014/main" id="{CB91BAC7-AA68-9B11-1AD6-13E7629A3CAA}"/>
              </a:ext>
            </a:extLst>
          </p:cNvPr>
          <p:cNvSpPr txBox="1"/>
          <p:nvPr/>
        </p:nvSpPr>
        <p:spPr>
          <a:xfrm>
            <a:off x="233234" y="1455357"/>
            <a:ext cx="8158542"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2</a:t>
            </a:r>
          </a:p>
          <a:p>
            <a:pPr algn="just"/>
            <a:r>
              <a:rPr lang="es-ES" sz="1600" dirty="0">
                <a:solidFill>
                  <a:schemeClr val="accent4"/>
                </a:solidFill>
                <a:latin typeface="Fira Sans Condensed Light" panose="020B0604020202020204" charset="0"/>
                <a:cs typeface="Times New Roman" panose="02020603050405020304" pitchFamily="18" charset="0"/>
              </a:rPr>
              <a:t>Un automóvil recorre con velocidad constante una circunferencia de </a:t>
            </a:r>
            <a:r>
              <a:rPr lang="es-ES" sz="1600" b="1" dirty="0">
                <a:solidFill>
                  <a:schemeClr val="accent4"/>
                </a:solidFill>
                <a:latin typeface="Fira Sans Condensed Light" panose="020B0604020202020204" charset="0"/>
                <a:cs typeface="Times New Roman" panose="02020603050405020304" pitchFamily="18" charset="0"/>
              </a:rPr>
              <a:t>50cm de radio</a:t>
            </a:r>
            <a:r>
              <a:rPr lang="es-ES" sz="1600" dirty="0">
                <a:solidFill>
                  <a:schemeClr val="accent4"/>
                </a:solidFill>
                <a:latin typeface="Fira Sans Condensed Light" panose="020B0604020202020204" charset="0"/>
                <a:cs typeface="Times New Roman" panose="02020603050405020304" pitchFamily="18" charset="0"/>
              </a:rPr>
              <a:t>, con una </a:t>
            </a:r>
            <a:r>
              <a:rPr lang="es-ES" sz="1600" b="1" dirty="0">
                <a:solidFill>
                  <a:schemeClr val="accent4"/>
                </a:solidFill>
                <a:latin typeface="Fira Sans Condensed Light" panose="020B0604020202020204" charset="0"/>
                <a:cs typeface="Times New Roman" panose="02020603050405020304" pitchFamily="18" charset="0"/>
              </a:rPr>
              <a:t>frecuencia de 10Hz</a:t>
            </a:r>
            <a:r>
              <a:rPr lang="es-ES" sz="1600" dirty="0">
                <a:solidFill>
                  <a:schemeClr val="accent4"/>
                </a:solidFill>
                <a:latin typeface="Fira Sans Condensed Light" panose="020B0604020202020204" charset="0"/>
                <a:cs typeface="Times New Roman" panose="02020603050405020304" pitchFamily="18" charset="0"/>
              </a:rPr>
              <a:t>. Determina el periodo (T), la velocidad angular y la velocidad lineal</a:t>
            </a:r>
          </a:p>
        </p:txBody>
      </p:sp>
      <p:sp>
        <p:nvSpPr>
          <p:cNvPr id="17" name="Google Shape;136;p27">
            <a:extLst>
              <a:ext uri="{FF2B5EF4-FFF2-40B4-BE49-F238E27FC236}">
                <a16:creationId xmlns:a16="http://schemas.microsoft.com/office/drawing/2014/main" id="{00CD8EF6-142F-691B-F62B-A8C867E78C58}"/>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030809F4-D047-B225-6E73-2212632DC36D}"/>
              </a:ext>
            </a:extLst>
          </p:cNvPr>
          <p:cNvPicPr>
            <a:picLocks noChangeAspect="1"/>
          </p:cNvPicPr>
          <p:nvPr/>
        </p:nvPicPr>
        <p:blipFill rotWithShape="1">
          <a:blip r:embed="rId4"/>
          <a:srcRect r="1190"/>
          <a:stretch/>
        </p:blipFill>
        <p:spPr>
          <a:xfrm>
            <a:off x="1257083" y="2755385"/>
            <a:ext cx="6629834" cy="1309866"/>
          </a:xfrm>
          <a:prstGeom prst="rect">
            <a:avLst/>
          </a:prstGeom>
        </p:spPr>
      </p:pic>
    </p:spTree>
    <p:extLst>
      <p:ext uri="{BB962C8B-B14F-4D97-AF65-F5344CB8AC3E}">
        <p14:creationId xmlns:p14="http://schemas.microsoft.com/office/powerpoint/2010/main" val="167913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y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33234" y="1455357"/>
            <a:ext cx="8158542"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 2</a:t>
            </a:r>
          </a:p>
          <a:p>
            <a:pPr algn="just"/>
            <a:r>
              <a:rPr lang="es-ES" sz="1600" dirty="0">
                <a:solidFill>
                  <a:schemeClr val="accent4"/>
                </a:solidFill>
                <a:latin typeface="Fira Sans Condensed Light" panose="020B0604020202020204" charset="0"/>
                <a:cs typeface="Times New Roman" panose="02020603050405020304" pitchFamily="18" charset="0"/>
              </a:rPr>
              <a:t>Una rueda de </a:t>
            </a:r>
            <a:r>
              <a:rPr lang="es-ES" sz="1600" b="1" dirty="0">
                <a:solidFill>
                  <a:schemeClr val="accent4"/>
                </a:solidFill>
                <a:latin typeface="Fira Sans Condensed Light" panose="020B0604020202020204" charset="0"/>
                <a:cs typeface="Times New Roman" panose="02020603050405020304" pitchFamily="18" charset="0"/>
              </a:rPr>
              <a:t>50cm de radio</a:t>
            </a:r>
            <a:r>
              <a:rPr lang="es-ES" sz="1600" dirty="0">
                <a:solidFill>
                  <a:schemeClr val="accent4"/>
                </a:solidFill>
                <a:latin typeface="Fira Sans Condensed Light" panose="020B0604020202020204" charset="0"/>
                <a:cs typeface="Times New Roman" panose="02020603050405020304" pitchFamily="18" charset="0"/>
              </a:rPr>
              <a:t>, gira a 180 r.p.m.. Calcula: </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 El módulo de la velocidad angular en rad/s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 El módulo de la velocidad lineal en su borde en m/s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 Su frecuencia</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77248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s-ES" sz="3000" b="1" dirty="0">
                <a:solidFill>
                  <a:schemeClr val="bg1">
                    <a:lumMod val="60000"/>
                    <a:lumOff val="40000"/>
                  </a:schemeClr>
                </a:solidFill>
                <a:latin typeface="Rajdhani"/>
                <a:ea typeface="Rajdhani"/>
                <a:cs typeface="Rajdhani"/>
                <a:sym typeface="Rajdhani"/>
              </a:rPr>
              <a:t>Velocidad Angular y lineal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p:cNvSpPr txBox="1"/>
          <p:nvPr/>
        </p:nvSpPr>
        <p:spPr>
          <a:xfrm>
            <a:off x="233234" y="1455357"/>
            <a:ext cx="8158542"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 1</a:t>
            </a:r>
          </a:p>
          <a:p>
            <a:pPr algn="just"/>
            <a:r>
              <a:rPr lang="es-ES" sz="1600" dirty="0">
                <a:solidFill>
                  <a:schemeClr val="accent4"/>
                </a:solidFill>
                <a:latin typeface="Fira Sans Condensed Light" panose="020B0604020202020204" charset="0"/>
                <a:cs typeface="Times New Roman" panose="02020603050405020304" pitchFamily="18" charset="0"/>
              </a:rPr>
              <a:t>Una rueda de </a:t>
            </a:r>
            <a:r>
              <a:rPr lang="es-ES" sz="1600" b="1" dirty="0">
                <a:solidFill>
                  <a:schemeClr val="accent4"/>
                </a:solidFill>
                <a:latin typeface="Fira Sans Condensed Light" panose="020B0604020202020204" charset="0"/>
                <a:cs typeface="Times New Roman" panose="02020603050405020304" pitchFamily="18" charset="0"/>
              </a:rPr>
              <a:t>50cm de radio</a:t>
            </a:r>
            <a:r>
              <a:rPr lang="es-ES" sz="1600" dirty="0">
                <a:solidFill>
                  <a:schemeClr val="accent4"/>
                </a:solidFill>
                <a:latin typeface="Fira Sans Condensed Light" panose="020B0604020202020204" charset="0"/>
                <a:cs typeface="Times New Roman" panose="02020603050405020304" pitchFamily="18" charset="0"/>
              </a:rPr>
              <a:t>, gira a 180 r.p.m.. Calcula: </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 El módulo de la velocidad angular en rad/s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B) El módulo de la velocidad lineal en su borde en m/s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 Su frecuencia</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 name="Imagen 1">
            <a:extLst>
              <a:ext uri="{FF2B5EF4-FFF2-40B4-BE49-F238E27FC236}">
                <a16:creationId xmlns:a16="http://schemas.microsoft.com/office/drawing/2014/main" id="{E58FFE99-57FD-D4C0-0690-A2F8BCA00A40}"/>
              </a:ext>
            </a:extLst>
          </p:cNvPr>
          <p:cNvPicPr>
            <a:picLocks noChangeAspect="1"/>
          </p:cNvPicPr>
          <p:nvPr/>
        </p:nvPicPr>
        <p:blipFill rotWithShape="1">
          <a:blip r:embed="rId4"/>
          <a:srcRect l="2839" t="13170"/>
          <a:stretch/>
        </p:blipFill>
        <p:spPr>
          <a:xfrm>
            <a:off x="373909" y="3622756"/>
            <a:ext cx="2580219" cy="908782"/>
          </a:xfrm>
          <a:prstGeom prst="rect">
            <a:avLst/>
          </a:prstGeom>
        </p:spPr>
      </p:pic>
    </p:spTree>
    <p:extLst>
      <p:ext uri="{BB962C8B-B14F-4D97-AF65-F5344CB8AC3E}">
        <p14:creationId xmlns:p14="http://schemas.microsoft.com/office/powerpoint/2010/main" val="249476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05CC267D-8B41-FE84-D98A-903660F8BB8E}"/>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A3F54FF3-58AD-6C79-3AA7-B3A2526FB7FB}"/>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2BE24611-512D-9D73-C0FE-D2CDCD0C0D5E}"/>
              </a:ext>
            </a:extLst>
          </p:cNvPr>
          <p:cNvSpPr txBox="1">
            <a:spLocks/>
          </p:cNvSpPr>
          <p:nvPr/>
        </p:nvSpPr>
        <p:spPr>
          <a:xfrm>
            <a:off x="373910" y="338754"/>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Conceptos Requeridos</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Actividad Evaluativa</a:t>
            </a:r>
          </a:p>
        </p:txBody>
      </p:sp>
      <p:cxnSp>
        <p:nvCxnSpPr>
          <p:cNvPr id="152" name="Google Shape;258;p31">
            <a:extLst>
              <a:ext uri="{FF2B5EF4-FFF2-40B4-BE49-F238E27FC236}">
                <a16:creationId xmlns:a16="http://schemas.microsoft.com/office/drawing/2014/main" id="{CC651629-BA1F-2D25-09F4-6BADBD99CB35}"/>
              </a:ext>
            </a:extLst>
          </p:cNvPr>
          <p:cNvCxnSpPr/>
          <p:nvPr/>
        </p:nvCxnSpPr>
        <p:spPr>
          <a:xfrm rot="5400000">
            <a:off x="11554" y="870978"/>
            <a:ext cx="726300" cy="1588"/>
          </a:xfrm>
          <a:prstGeom prst="straightConnector1">
            <a:avLst/>
          </a:prstGeom>
          <a:noFill/>
          <a:ln w="19050" cap="flat" cmpd="sng">
            <a:solidFill>
              <a:srgbClr val="F3F3F3"/>
            </a:solidFill>
            <a:prstDash val="solid"/>
            <a:round/>
            <a:headEnd type="oval" w="med" len="med"/>
            <a:tailEnd type="oval" w="med" len="med"/>
          </a:ln>
        </p:spPr>
      </p:cxnSp>
      <p:sp>
        <p:nvSpPr>
          <p:cNvPr id="16" name="Google Shape;1603;p42">
            <a:extLst>
              <a:ext uri="{FF2B5EF4-FFF2-40B4-BE49-F238E27FC236}">
                <a16:creationId xmlns:a16="http://schemas.microsoft.com/office/drawing/2014/main" id="{0DCBE948-7755-0159-2B66-84A329070A93}"/>
              </a:ext>
            </a:extLst>
          </p:cNvPr>
          <p:cNvSpPr txBox="1"/>
          <p:nvPr/>
        </p:nvSpPr>
        <p:spPr>
          <a:xfrm>
            <a:off x="233234" y="1455357"/>
            <a:ext cx="2612298"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 1</a:t>
            </a:r>
          </a:p>
          <a:p>
            <a:pPr algn="just"/>
            <a:r>
              <a:rPr lang="es-ES" sz="1600" dirty="0">
                <a:solidFill>
                  <a:schemeClr val="accent4"/>
                </a:solidFill>
                <a:latin typeface="Fira Sans Condensed Light" panose="020B0604020202020204" charset="0"/>
                <a:cs typeface="Times New Roman" panose="02020603050405020304" pitchFamily="18" charset="0"/>
              </a:rPr>
              <a:t>Calcula la matriz inversa de: </a:t>
            </a: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sp>
        <p:nvSpPr>
          <p:cNvPr id="17" name="Google Shape;136;p27">
            <a:extLst>
              <a:ext uri="{FF2B5EF4-FFF2-40B4-BE49-F238E27FC236}">
                <a16:creationId xmlns:a16="http://schemas.microsoft.com/office/drawing/2014/main" id="{763025F2-0EA3-AA19-63E5-171039736F3A}"/>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descr="Dibujo de una persona&#10;&#10;El contenido generado por IA puede ser incorrecto.">
            <a:extLst>
              <a:ext uri="{FF2B5EF4-FFF2-40B4-BE49-F238E27FC236}">
                <a16:creationId xmlns:a16="http://schemas.microsoft.com/office/drawing/2014/main" id="{055D2CA3-1749-7B11-C78E-E127D7C930AB}"/>
              </a:ext>
            </a:extLst>
          </p:cNvPr>
          <p:cNvPicPr>
            <a:picLocks noChangeAspect="1"/>
          </p:cNvPicPr>
          <p:nvPr/>
        </p:nvPicPr>
        <p:blipFill>
          <a:blip r:embed="rId4"/>
          <a:stretch>
            <a:fillRect/>
          </a:stretch>
        </p:blipFill>
        <p:spPr>
          <a:xfrm>
            <a:off x="517053" y="2391616"/>
            <a:ext cx="1750829" cy="1355481"/>
          </a:xfrm>
          <a:prstGeom prst="rect">
            <a:avLst/>
          </a:prstGeom>
        </p:spPr>
      </p:pic>
      <mc:AlternateContent xmlns:mc="http://schemas.openxmlformats.org/markup-compatibility/2006" xmlns:a14="http://schemas.microsoft.com/office/drawing/2010/main">
        <mc:Choice Requires="a14">
          <p:sp>
            <p:nvSpPr>
              <p:cNvPr id="5" name="Google Shape;1603;p42">
                <a:extLst>
                  <a:ext uri="{FF2B5EF4-FFF2-40B4-BE49-F238E27FC236}">
                    <a16:creationId xmlns:a16="http://schemas.microsoft.com/office/drawing/2014/main" id="{19F1DC70-0162-6EFF-4E1A-D6D074E14FAD}"/>
                  </a:ext>
                </a:extLst>
              </p:cNvPr>
              <p:cNvSpPr txBox="1"/>
              <p:nvPr/>
            </p:nvSpPr>
            <p:spPr>
              <a:xfrm>
                <a:off x="3247673" y="1445861"/>
                <a:ext cx="5604225"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 2</a:t>
                </a:r>
              </a:p>
              <a:p>
                <a:pPr algn="just"/>
                <a:r>
                  <a:rPr lang="es-ES" sz="1600" dirty="0">
                    <a:solidFill>
                      <a:schemeClr val="accent4"/>
                    </a:solidFill>
                    <a:latin typeface="Fira Sans Condensed Light" panose="020B0604020202020204" charset="0"/>
                    <a:cs typeface="Times New Roman" panose="02020603050405020304" pitchFamily="18" charset="0"/>
                  </a:rPr>
                  <a:t>Calcula las derivadas parciales </a:t>
                </a:r>
                <a14:m>
                  <m:oMath xmlns:m="http://schemas.openxmlformats.org/officeDocument/2006/math">
                    <m:f>
                      <m:fPr>
                        <m:ctrlPr>
                          <a:rPr lang="es-ES" sz="1600" i="1" smtClean="0">
                            <a:solidFill>
                              <a:schemeClr val="accent4"/>
                            </a:solidFill>
                            <a:latin typeface="Cambria Math" panose="02040503050406030204" pitchFamily="18" charset="0"/>
                            <a:cs typeface="Times New Roman" panose="02020603050405020304" pitchFamily="18" charset="0"/>
                          </a:rPr>
                        </m:ctrlPr>
                      </m:fPr>
                      <m:num>
                        <m:r>
                          <a:rPr lang="es-ES" sz="1600" i="1" smtClean="0">
                            <a:solidFill>
                              <a:schemeClr val="accent4"/>
                            </a:solidFill>
                            <a:latin typeface="Cambria Math" panose="02040503050406030204" pitchFamily="18" charset="0"/>
                            <a:cs typeface="Times New Roman" panose="02020603050405020304" pitchFamily="18" charset="0"/>
                          </a:rPr>
                          <m:t>𝜕</m:t>
                        </m:r>
                        <m:r>
                          <a:rPr lang="es-MX" sz="1600" b="0" i="1" smtClean="0">
                            <a:solidFill>
                              <a:schemeClr val="accent4"/>
                            </a:solidFill>
                            <a:latin typeface="Cambria Math" panose="02040503050406030204" pitchFamily="18" charset="0"/>
                            <a:cs typeface="Times New Roman" panose="02020603050405020304" pitchFamily="18" charset="0"/>
                          </a:rPr>
                          <m:t>𝑓</m:t>
                        </m:r>
                      </m:num>
                      <m:den>
                        <m:r>
                          <a:rPr lang="es-ES" sz="1600" i="1" smtClean="0">
                            <a:solidFill>
                              <a:schemeClr val="accent4"/>
                            </a:solidFill>
                            <a:latin typeface="Cambria Math" panose="02040503050406030204" pitchFamily="18" charset="0"/>
                            <a:cs typeface="Times New Roman" panose="02020603050405020304" pitchFamily="18" charset="0"/>
                          </a:rPr>
                          <m:t>𝜕</m:t>
                        </m:r>
                        <m:r>
                          <a:rPr lang="es-ES" sz="1600" i="1" smtClean="0">
                            <a:solidFill>
                              <a:schemeClr val="accent4"/>
                            </a:solidFill>
                            <a:latin typeface="Cambria Math" panose="02040503050406030204" pitchFamily="18" charset="0"/>
                            <a:cs typeface="Times New Roman" panose="02020603050405020304" pitchFamily="18" charset="0"/>
                          </a:rPr>
                          <m:t>𝑥</m:t>
                        </m:r>
                      </m:den>
                    </m:f>
                  </m:oMath>
                </a14:m>
                <a:r>
                  <a:rPr lang="es-ES" sz="1600" dirty="0">
                    <a:solidFill>
                      <a:schemeClr val="accent4"/>
                    </a:solidFill>
                    <a:latin typeface="Fira Sans Condensed Light" panose="020B0604020202020204" charset="0"/>
                    <a:cs typeface="Times New Roman" panose="02020603050405020304" pitchFamily="18" charset="0"/>
                  </a:rPr>
                  <a:t>, </a:t>
                </a:r>
                <a14:m>
                  <m:oMath xmlns:m="http://schemas.openxmlformats.org/officeDocument/2006/math">
                    <m:f>
                      <m:fPr>
                        <m:ctrlPr>
                          <a:rPr lang="es-ES" sz="1600" i="1">
                            <a:solidFill>
                              <a:schemeClr val="accent4"/>
                            </a:solidFill>
                            <a:latin typeface="Cambria Math" panose="02040503050406030204" pitchFamily="18" charset="0"/>
                            <a:cs typeface="Times New Roman" panose="02020603050405020304" pitchFamily="18" charset="0"/>
                          </a:rPr>
                        </m:ctrlPr>
                      </m:fPr>
                      <m:num>
                        <m:r>
                          <a:rPr lang="es-ES" sz="1600" i="1">
                            <a:solidFill>
                              <a:schemeClr val="accent4"/>
                            </a:solidFill>
                            <a:latin typeface="Cambria Math" panose="02040503050406030204" pitchFamily="18" charset="0"/>
                            <a:cs typeface="Times New Roman" panose="02020603050405020304" pitchFamily="18" charset="0"/>
                          </a:rPr>
                          <m:t>𝜕</m:t>
                        </m:r>
                        <m:r>
                          <a:rPr lang="es-MX" sz="1600" i="1">
                            <a:solidFill>
                              <a:schemeClr val="accent4"/>
                            </a:solidFill>
                            <a:latin typeface="Cambria Math" panose="02040503050406030204" pitchFamily="18" charset="0"/>
                            <a:cs typeface="Times New Roman" panose="02020603050405020304" pitchFamily="18" charset="0"/>
                          </a:rPr>
                          <m:t>𝑓</m:t>
                        </m:r>
                      </m:num>
                      <m:den>
                        <m:r>
                          <a:rPr lang="es-ES" sz="1600" i="1">
                            <a:solidFill>
                              <a:schemeClr val="accent4"/>
                            </a:solidFill>
                            <a:latin typeface="Cambria Math" panose="02040503050406030204" pitchFamily="18" charset="0"/>
                            <a:cs typeface="Times New Roman" panose="02020603050405020304" pitchFamily="18" charset="0"/>
                          </a:rPr>
                          <m:t>𝜕</m:t>
                        </m:r>
                        <m:r>
                          <a:rPr lang="es-MX" sz="1600" b="0" i="1" smtClean="0">
                            <a:solidFill>
                              <a:schemeClr val="accent4"/>
                            </a:solidFill>
                            <a:latin typeface="Cambria Math" panose="02040503050406030204" pitchFamily="18" charset="0"/>
                            <a:cs typeface="Times New Roman" panose="02020603050405020304" pitchFamily="18" charset="0"/>
                          </a:rPr>
                          <m:t>𝑦</m:t>
                        </m:r>
                      </m:den>
                    </m:f>
                    <m:r>
                      <a:rPr lang="es-ES" sz="1600" i="1">
                        <a:solidFill>
                          <a:schemeClr val="accent4"/>
                        </a:solidFill>
                        <a:latin typeface="Cambria Math" panose="02040503050406030204" pitchFamily="18" charset="0"/>
                        <a:cs typeface="Times New Roman" panose="02020603050405020304" pitchFamily="18" charset="0"/>
                      </a:rPr>
                      <m:t> </m:t>
                    </m:r>
                  </m:oMath>
                </a14:m>
                <a:r>
                  <a:rPr lang="es-ES" sz="1600" dirty="0">
                    <a:solidFill>
                      <a:schemeClr val="accent4"/>
                    </a:solidFill>
                    <a:latin typeface="Fira Sans Condensed Light" panose="020B0604020202020204" charset="0"/>
                    <a:cs typeface="Times New Roman" panose="02020603050405020304" pitchFamily="18" charset="0"/>
                  </a:rPr>
                  <a:t>y </a:t>
                </a:r>
                <a14:m>
                  <m:oMath xmlns:m="http://schemas.openxmlformats.org/officeDocument/2006/math">
                    <m:f>
                      <m:fPr>
                        <m:ctrlPr>
                          <a:rPr lang="es-ES" sz="1600" i="1">
                            <a:solidFill>
                              <a:schemeClr val="accent4"/>
                            </a:solidFill>
                            <a:latin typeface="Cambria Math" panose="02040503050406030204" pitchFamily="18" charset="0"/>
                            <a:cs typeface="Times New Roman" panose="02020603050405020304" pitchFamily="18" charset="0"/>
                          </a:rPr>
                        </m:ctrlPr>
                      </m:fPr>
                      <m:num>
                        <m:r>
                          <a:rPr lang="es-ES" sz="1600" i="1">
                            <a:solidFill>
                              <a:schemeClr val="accent4"/>
                            </a:solidFill>
                            <a:latin typeface="Cambria Math" panose="02040503050406030204" pitchFamily="18" charset="0"/>
                            <a:cs typeface="Times New Roman" panose="02020603050405020304" pitchFamily="18" charset="0"/>
                          </a:rPr>
                          <m:t>𝜕</m:t>
                        </m:r>
                        <m:r>
                          <a:rPr lang="es-MX" sz="1600" i="1">
                            <a:solidFill>
                              <a:schemeClr val="accent4"/>
                            </a:solidFill>
                            <a:latin typeface="Cambria Math" panose="02040503050406030204" pitchFamily="18" charset="0"/>
                            <a:cs typeface="Times New Roman" panose="02020603050405020304" pitchFamily="18" charset="0"/>
                          </a:rPr>
                          <m:t>𝑓</m:t>
                        </m:r>
                      </m:num>
                      <m:den>
                        <m:r>
                          <a:rPr lang="es-ES" sz="1600" i="1">
                            <a:solidFill>
                              <a:schemeClr val="accent4"/>
                            </a:solidFill>
                            <a:latin typeface="Cambria Math" panose="02040503050406030204" pitchFamily="18" charset="0"/>
                            <a:cs typeface="Times New Roman" panose="02020603050405020304" pitchFamily="18" charset="0"/>
                          </a:rPr>
                          <m:t>𝜕</m:t>
                        </m:r>
                        <m:r>
                          <a:rPr lang="es-MX" sz="1600" b="0" i="1" smtClean="0">
                            <a:solidFill>
                              <a:schemeClr val="accent4"/>
                            </a:solidFill>
                            <a:latin typeface="Cambria Math" panose="02040503050406030204" pitchFamily="18" charset="0"/>
                            <a:cs typeface="Times New Roman" panose="02020603050405020304" pitchFamily="18" charset="0"/>
                          </a:rPr>
                          <m:t>𝑧</m:t>
                        </m:r>
                      </m:den>
                    </m:f>
                    <m:r>
                      <a:rPr lang="es-ES" sz="1600" i="1">
                        <a:solidFill>
                          <a:schemeClr val="accent4"/>
                        </a:solidFill>
                        <a:latin typeface="Cambria Math" panose="02040503050406030204" pitchFamily="18" charset="0"/>
                        <a:cs typeface="Times New Roman" panose="02020603050405020304" pitchFamily="18" charset="0"/>
                      </a:rPr>
                      <m:t> </m:t>
                    </m:r>
                  </m:oMath>
                </a14:m>
                <a:r>
                  <a:rPr lang="es-ES" sz="1600" dirty="0">
                    <a:solidFill>
                      <a:schemeClr val="accent4"/>
                    </a:solidFill>
                    <a:latin typeface="Fira Sans Condensed Light" panose="020B0604020202020204" charset="0"/>
                    <a:cs typeface="Times New Roman" panose="02020603050405020304" pitchFamily="18" charset="0"/>
                  </a:rPr>
                  <a:t>de la siguiente función: </a:t>
                </a: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mc:Choice>
        <mc:Fallback xmlns="">
          <p:sp>
            <p:nvSpPr>
              <p:cNvPr id="5" name="Google Shape;1603;p42">
                <a:extLst>
                  <a:ext uri="{FF2B5EF4-FFF2-40B4-BE49-F238E27FC236}">
                    <a16:creationId xmlns:a16="http://schemas.microsoft.com/office/drawing/2014/main" id="{19F1DC70-0162-6EFF-4E1A-D6D074E14FAD}"/>
                  </a:ext>
                </a:extLst>
              </p:cNvPr>
              <p:cNvSpPr txBox="1">
                <a:spLocks noRot="1" noChangeAspect="1" noMove="1" noResize="1" noEditPoints="1" noAdjustHandles="1" noChangeArrowheads="1" noChangeShapeType="1" noTextEdit="1"/>
              </p:cNvSpPr>
              <p:nvPr/>
            </p:nvSpPr>
            <p:spPr>
              <a:xfrm>
                <a:off x="3247673" y="1445861"/>
                <a:ext cx="5604225" cy="1623496"/>
              </a:xfrm>
              <a:prstGeom prst="rect">
                <a:avLst/>
              </a:prstGeom>
              <a:blipFill>
                <a:blip r:embed="rId5"/>
                <a:stretch>
                  <a:fillRect l="-653"/>
                </a:stretch>
              </a:blipFill>
              <a:ln>
                <a:noFill/>
              </a:ln>
            </p:spPr>
            <p:txBody>
              <a:bodyPr/>
              <a:lstStyle/>
              <a:p>
                <a:r>
                  <a:rPr lang="es-MX">
                    <a:noFill/>
                  </a:rPr>
                  <a:t> </a:t>
                </a:r>
              </a:p>
            </p:txBody>
          </p:sp>
        </mc:Fallback>
      </mc:AlternateContent>
      <p:pic>
        <p:nvPicPr>
          <p:cNvPr id="7" name="Imagen 6">
            <a:extLst>
              <a:ext uri="{FF2B5EF4-FFF2-40B4-BE49-F238E27FC236}">
                <a16:creationId xmlns:a16="http://schemas.microsoft.com/office/drawing/2014/main" id="{D7799FEF-995A-9184-B2B6-C50A10EE01E0}"/>
              </a:ext>
            </a:extLst>
          </p:cNvPr>
          <p:cNvPicPr>
            <a:picLocks noChangeAspect="1"/>
          </p:cNvPicPr>
          <p:nvPr/>
        </p:nvPicPr>
        <p:blipFill>
          <a:blip r:embed="rId6"/>
          <a:stretch>
            <a:fillRect/>
          </a:stretch>
        </p:blipFill>
        <p:spPr>
          <a:xfrm>
            <a:off x="3352799" y="2546502"/>
            <a:ext cx="5499099" cy="456529"/>
          </a:xfrm>
          <a:prstGeom prst="rect">
            <a:avLst/>
          </a:prstGeom>
        </p:spPr>
      </p:pic>
      <p:sp>
        <p:nvSpPr>
          <p:cNvPr id="8" name="Google Shape;1603;p42">
            <a:extLst>
              <a:ext uri="{FF2B5EF4-FFF2-40B4-BE49-F238E27FC236}">
                <a16:creationId xmlns:a16="http://schemas.microsoft.com/office/drawing/2014/main" id="{03B87D88-37D9-D542-8EDC-042799550097}"/>
              </a:ext>
            </a:extLst>
          </p:cNvPr>
          <p:cNvSpPr txBox="1"/>
          <p:nvPr/>
        </p:nvSpPr>
        <p:spPr>
          <a:xfrm>
            <a:off x="3300235" y="3211888"/>
            <a:ext cx="5604225" cy="162349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Ejercicio 3</a:t>
            </a:r>
          </a:p>
          <a:p>
            <a:pPr algn="just"/>
            <a:r>
              <a:rPr lang="es-MX" sz="1600" dirty="0">
                <a:solidFill>
                  <a:schemeClr val="accent4"/>
                </a:solidFill>
                <a:latin typeface="Fira Sans Condensed Light" panose="020B0604020202020204" charset="0"/>
                <a:cs typeface="Times New Roman" panose="02020603050405020304" pitchFamily="18" charset="0"/>
              </a:rPr>
              <a:t>Una rueda de 40 cm de radio gira a 240 r.p.m.. Calcula:</a:t>
            </a:r>
            <a:endParaRPr lang="es-MX" sz="1600" dirty="0">
              <a:solidFill>
                <a:schemeClr val="tx2"/>
              </a:solidFill>
              <a:latin typeface="Fira Sans Condensed Light" panose="020B0604020202020204" charset="0"/>
              <a:cs typeface="Times New Roman" panose="02020603050405020304" pitchFamily="18" charset="0"/>
            </a:endParaRPr>
          </a:p>
          <a:p>
            <a:pPr algn="just"/>
            <a:r>
              <a:rPr lang="es-MX" sz="1600" b="1" dirty="0">
                <a:solidFill>
                  <a:schemeClr val="tx2"/>
                </a:solidFill>
                <a:latin typeface="Fira Sans Condensed Light" panose="020B0604020202020204" charset="0"/>
                <a:cs typeface="Times New Roman" panose="02020603050405020304" pitchFamily="18" charset="0"/>
              </a:rPr>
              <a:t>A) El módulo de la velocidad angular en rad/s</a:t>
            </a:r>
          </a:p>
          <a:p>
            <a:pPr algn="just"/>
            <a:r>
              <a:rPr lang="es-MX" sz="1600" b="1" dirty="0">
                <a:solidFill>
                  <a:schemeClr val="tx2"/>
                </a:solidFill>
                <a:latin typeface="Fira Sans Condensed Light" panose="020B0604020202020204" charset="0"/>
                <a:cs typeface="Times New Roman" panose="02020603050405020304" pitchFamily="18" charset="0"/>
              </a:rPr>
              <a:t>B) El módulo de la velocidad lineal en su borde en m/s</a:t>
            </a:r>
          </a:p>
          <a:p>
            <a:pPr algn="just"/>
            <a:r>
              <a:rPr lang="es-MX" sz="1600" b="1" dirty="0">
                <a:solidFill>
                  <a:schemeClr val="tx2"/>
                </a:solidFill>
                <a:latin typeface="Fira Sans Condensed Light" panose="020B0604020202020204" charset="0"/>
                <a:cs typeface="Times New Roman" panose="02020603050405020304" pitchFamily="18" charset="0"/>
              </a:rPr>
              <a:t>C) Su frecuencia en Hz</a:t>
            </a:r>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s-ES" sz="1600" dirty="0">
              <a:solidFill>
                <a:schemeClr val="accent4"/>
              </a:solidFill>
              <a:latin typeface="Fira Sans Condensed Light" panose="020B0604020202020204" charset="0"/>
              <a:cs typeface="Times New Roman" panose="02020603050405020304" pitchFamily="18" charset="0"/>
            </a:endParaRPr>
          </a:p>
        </p:txBody>
      </p:sp>
    </p:spTree>
    <p:extLst>
      <p:ext uri="{BB962C8B-B14F-4D97-AF65-F5344CB8AC3E}">
        <p14:creationId xmlns:p14="http://schemas.microsoft.com/office/powerpoint/2010/main" val="371497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10608</TotalTime>
  <Words>1467</Words>
  <Application>Microsoft Office PowerPoint</Application>
  <PresentationFormat>Presentación en pantalla (16:9)</PresentationFormat>
  <Paragraphs>279</Paragraphs>
  <Slides>34</Slides>
  <Notes>34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34</vt:i4>
      </vt:variant>
    </vt:vector>
  </HeadingPairs>
  <TitlesOfParts>
    <vt:vector size="41" baseType="lpstr">
      <vt:lpstr>Cambria Math</vt:lpstr>
      <vt:lpstr>Advent Pro Light</vt:lpstr>
      <vt:lpstr>Fira Sans Condensed Light</vt:lpstr>
      <vt:lpstr>Rajdhani</vt:lpstr>
      <vt:lpstr>Arial</vt:lpstr>
      <vt:lpstr>Anton</vt:lpstr>
      <vt:lpstr>Ai Tech Agency by Slidesgo</vt:lpstr>
      <vt:lpstr>Presentación de PowerPoint</vt:lpstr>
      <vt:lpstr>Bienvenida</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García Suárez</cp:lastModifiedBy>
  <cp:revision>256</cp:revision>
  <dcterms:modified xsi:type="dcterms:W3CDTF">2026-02-13T14:17:40Z</dcterms:modified>
</cp:coreProperties>
</file>