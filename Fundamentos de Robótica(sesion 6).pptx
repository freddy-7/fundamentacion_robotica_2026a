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25"/>
  </p:notesMasterIdLst>
  <p:sldIdLst>
    <p:sldId id="256" r:id="rId2"/>
    <p:sldId id="357" r:id="rId3"/>
    <p:sldId id="358" r:id="rId4"/>
    <p:sldId id="499" r:id="rId5"/>
    <p:sldId id="500" r:id="rId6"/>
    <p:sldId id="502" r:id="rId7"/>
    <p:sldId id="504" r:id="rId8"/>
    <p:sldId id="503" r:id="rId9"/>
    <p:sldId id="505" r:id="rId10"/>
    <p:sldId id="506" r:id="rId11"/>
    <p:sldId id="507" r:id="rId12"/>
    <p:sldId id="364" r:id="rId13"/>
    <p:sldId id="508" r:id="rId14"/>
    <p:sldId id="509" r:id="rId15"/>
    <p:sldId id="510" r:id="rId16"/>
    <p:sldId id="511" r:id="rId17"/>
    <p:sldId id="513" r:id="rId18"/>
    <p:sldId id="514" r:id="rId19"/>
    <p:sldId id="515" r:id="rId20"/>
    <p:sldId id="516" r:id="rId21"/>
    <p:sldId id="512" r:id="rId22"/>
    <p:sldId id="471" r:id="rId23"/>
    <p:sldId id="280" r:id="rId24"/>
  </p:sldIdLst>
  <p:sldSz cx="9144000" cy="5143500" type="screen16x9"/>
  <p:notesSz cx="6858000" cy="9144000"/>
  <p:embeddedFontLst>
    <p:embeddedFont>
      <p:font typeface="Advent Pro Light" panose="020B0604020202020204" charset="0"/>
      <p:regular r:id="rId26"/>
      <p:bold r:id="rId27"/>
    </p:embeddedFont>
    <p:embeddedFont>
      <p:font typeface="Anton" pitchFamily="2" charset="0"/>
      <p:regular r:id="rId28"/>
    </p:embeddedFont>
    <p:embeddedFont>
      <p:font typeface="Cambria Math" panose="02040503050406030204" pitchFamily="18" charset="0"/>
      <p:regular r:id="rId29"/>
    </p:embeddedFont>
    <p:embeddedFont>
      <p:font typeface="Fira Sans Condensed Light" panose="020B0403050000020004" pitchFamily="34" charset="0"/>
      <p:regular r:id="rId30"/>
      <p:bold r:id="rId31"/>
      <p:italic r:id="rId32"/>
      <p:boldItalic r:id="rId33"/>
    </p:embeddedFont>
    <p:embeddedFont>
      <p:font typeface="Rajdhani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F828"/>
    <a:srgbClr val="EAFEE8"/>
    <a:srgbClr val="E8F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397FE-706D-4E7D-AA01-638484C1D090}">
  <a:tblStyle styleId="{95E397FE-706D-4E7D-AA01-638484C1D0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0909" autoAdjust="0"/>
  </p:normalViewPr>
  <p:slideViewPr>
    <p:cSldViewPr snapToGrid="0">
      <p:cViewPr varScale="1">
        <p:scale>
          <a:sx n="82" d="100"/>
          <a:sy n="82" d="100"/>
        </p:scale>
        <p:origin x="106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7539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007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0665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0505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C0F74E3D-FF8A-6813-B87A-053188C23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7E477C0B-7F97-FB3E-2E19-0408EBFC6F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56DDCB62-FADA-E7E4-D02F-36162B83B0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4530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0E7C7534-8FE2-7141-38A9-AFA06D0A3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C63C10CD-B793-3E09-9900-E96AE214AE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64236986-902D-87A2-2B07-2A3039A63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15833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61048F49-05D9-FE96-1B19-80D835861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9349CCBA-0E28-ECF5-4272-9281D9B72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CA0FD950-E4B5-3903-9ECF-930BF295C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29965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25D74966-A2E8-67A9-1391-B14572162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BD0DC266-AE29-2CD0-E659-3FF132882E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0BD88E69-BE32-DAC8-086E-936B5C9D47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3547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3CC0AE9D-D6DB-0AA8-AEB6-D230D211E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36FAEF01-7147-5D52-68B9-7A6DB0C125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D165CF68-9100-284B-4B59-CA07DD5549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5944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FC0DF03C-98DA-03F9-936B-989DF2BBF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08C9744B-60DF-E8C8-8B8D-6EEF433723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DCD96A7D-9A74-316F-31BA-456F5060FC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74060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06656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D553AB94-0DE7-E62C-8B73-ABE5116F9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BD5961CF-9FC2-9778-6E3E-F893330B81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0A798D15-2B0B-D9ED-A414-80C162093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10096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F3E30476-8BD2-FFFE-6E1A-0AE0F649F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805763B8-FD1A-73A2-CA83-1FE2B0C086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752F6AA1-6A67-4A9E-C307-DCC366804D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6993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3B45CBEE-4275-2574-0458-EA883012E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1B788CB8-7C94-4406-8096-60CAFB41A0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995F7C0B-10B7-E7D2-A50A-80DDCC8C21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28460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707CB764-66EA-EC4F-A98D-235DACD1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299FEFBF-1303-8DB3-8DC9-2FE4FC3EE9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CB547095-7571-2C8D-9CC1-22ECBDD31B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72492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717337EA-99A0-110D-0A4C-2FD36C69D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CB245082-90B3-B3EB-0923-AF43662B7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FB9D119D-0E13-42C4-3DA4-C2F4D3895F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44130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7AC7AFBB-34C3-6BDF-99BF-2D263CD46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EEFEC906-70A1-F0D6-6B1F-34D4295D41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77329397-4544-A5ED-A89A-3D75E1DAB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86573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ED299DAD-9BAD-161F-9063-BDBD9CFDD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1455992F-9A2A-49C9-6823-A8E397DCAA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989041E9-3B9A-E474-89D8-6934102340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94228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B2815D27-522E-586B-2AAB-C074DAE8C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485869EA-B303-54C4-1191-3025879F0B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A67FFB35-66E9-3B99-EDEB-8D93F794C1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10944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25F1DC8E-D6A6-D950-74C4-62B128918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83CA5BF1-F970-FDBF-2D6D-B519A2A6FD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9DC5933D-19D1-5466-CFCD-B11213D0CD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22960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44706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7098bb5640_0_1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7098bb5640_0_1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581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139150"/>
            <a:ext cx="4404000" cy="25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>
                <a:solidFill>
                  <a:srgbClr val="F3F3F3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585075"/>
            <a:ext cx="33849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  <a:latin typeface="Advent Pro Light"/>
                <a:ea typeface="Advent Pro Light"/>
                <a:cs typeface="Advent Pro Light"/>
                <a:sym typeface="Advent Pr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solidFill>
            <a:srgbClr val="FFFFFF">
              <a:alpha val="4509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AutoNum type="arabicPeriod"/>
              <a:defRPr sz="1300">
                <a:solidFill>
                  <a:srgbClr val="F3F3F3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>
                <a:solidFill>
                  <a:srgbClr val="F3F3F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C343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9" r:id="rId4"/>
    <p:sldLayoutId id="2147483666" r:id="rId5"/>
    <p:sldLayoutId id="2147483667" r:id="rId6"/>
    <p:sldLayoutId id="2147483671" r:id="rId7"/>
    <p:sldLayoutId id="214748367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gif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lfredo.garcias@tec.m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4"/>
          <p:cNvSpPr txBox="1"/>
          <p:nvPr/>
        </p:nvSpPr>
        <p:spPr>
          <a:xfrm>
            <a:off x="745436" y="839354"/>
            <a:ext cx="8398564" cy="4299318"/>
          </a:xfrm>
          <a:prstGeom prst="rect">
            <a:avLst/>
          </a:prstGeom>
        </p:spPr>
        <p:txBody>
          <a:bodyPr vert="horz" wrap="square" lIns="0" tIns="13399" rIns="0" bIns="0" rtlCol="0">
            <a:spAutoFit/>
          </a:bodyPr>
          <a:lstStyle/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br>
              <a:rPr lang="es-MX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>
              <a:spcBef>
                <a:spcPts val="106"/>
              </a:spcBef>
            </a:pPr>
            <a:r>
              <a:rPr lang="es-ES" sz="1600" b="1" dirty="0">
                <a:solidFill>
                  <a:schemeClr val="bg1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TE3001B</a:t>
            </a:r>
            <a:br>
              <a:rPr lang="es-ES" sz="23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r>
              <a:rPr lang="es-ES" sz="27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Fundamentos de Robótica</a:t>
            </a:r>
          </a:p>
          <a:p>
            <a:pPr marL="14105" marR="5642">
              <a:spcBef>
                <a:spcPts val="106"/>
              </a:spcBef>
            </a:pPr>
            <a:endParaRPr lang="es-ES" sz="2000" b="1" dirty="0">
              <a:solidFill>
                <a:schemeClr val="bg1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                                                                 </a:t>
            </a: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							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19 de Febrero del 2026</a:t>
            </a: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MX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28" name="AutoShape 4" descr="Inicio | Título Electrónico Pueb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4340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cxnSp>
        <p:nvCxnSpPr>
          <p:cNvPr id="11" name="Google Shape;137;p27"/>
          <p:cNvCxnSpPr/>
          <p:nvPr/>
        </p:nvCxnSpPr>
        <p:spPr>
          <a:xfrm>
            <a:off x="599181" y="3300059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   </a:t>
            </a:r>
          </a:p>
          <a:p>
            <a:pPr algn="l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Facilitador: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PhD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 Alfredo García Suárez</a:t>
            </a:r>
          </a:p>
          <a:p>
            <a:pPr algn="l"/>
            <a:br>
              <a:rPr lang="es-ES"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8" name="Google Shape;135;p27"/>
          <p:cNvSpPr txBox="1">
            <a:spLocks noGrp="1"/>
          </p:cNvSpPr>
          <p:nvPr>
            <p:ph type="title"/>
          </p:nvPr>
        </p:nvSpPr>
        <p:spPr>
          <a:xfrm>
            <a:off x="4681549" y="1623442"/>
            <a:ext cx="3200181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Bienvenida</a:t>
            </a:r>
            <a:endParaRPr dirty="0"/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4" descr="Análisis del papel de la automatización de procesos industriales hoy y  mañana">
            <a:extLst>
              <a:ext uri="{FF2B5EF4-FFF2-40B4-BE49-F238E27FC236}">
                <a16:creationId xmlns:a16="http://schemas.microsoft.com/office/drawing/2014/main" id="{AC008B2B-6883-2457-17DE-D01F4ACEF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65" y="1264349"/>
            <a:ext cx="3931839" cy="281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4333462" y="1921615"/>
            <a:ext cx="3737113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     </a:t>
            </a:r>
          </a:p>
          <a:p>
            <a:pPr algn="l"/>
            <a:r>
              <a:rPr lang="es-ES" dirty="0"/>
              <a:t>     </a:t>
            </a:r>
            <a:r>
              <a:rPr lang="es-ES" b="1" dirty="0"/>
              <a:t>“Un modelo matemático de un sistema dinámico es un conjunto de ecuaciones que representan la dinámica del sistema con precisión.”   </a:t>
            </a:r>
          </a:p>
          <a:p>
            <a:pPr algn="l"/>
            <a:r>
              <a:rPr lang="es-ES" dirty="0"/>
              <a:t>       </a:t>
            </a:r>
          </a:p>
          <a:p>
            <a:pPr algn="l"/>
            <a:r>
              <a:rPr lang="es-ES" dirty="0"/>
              <a:t>                                               –</a:t>
            </a:r>
            <a:r>
              <a:rPr lang="es-ES" dirty="0" err="1"/>
              <a:t>Katsuhiko</a:t>
            </a:r>
            <a:r>
              <a:rPr lang="es-ES" dirty="0"/>
              <a:t> Ogata</a:t>
            </a:r>
          </a:p>
          <a:p>
            <a:pPr algn="l"/>
            <a:br>
              <a:rPr lang="es-ES" dirty="0"/>
            </a:br>
            <a:endParaRPr dirty="0"/>
          </a:p>
        </p:txBody>
      </p:sp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1026" name="Picture 2" descr="Robots industriales en cifras: así ha aumentado su stock mundial y densidad  por región · THE LOGISTICS WORLD | Conéctate e inspírate.">
            <a:extLst>
              <a:ext uri="{FF2B5EF4-FFF2-40B4-BE49-F238E27FC236}">
                <a16:creationId xmlns:a16="http://schemas.microsoft.com/office/drawing/2014/main" id="{2B53735F-DDFD-1DF0-302F-152E3F980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71" y="1468611"/>
            <a:ext cx="3935582" cy="2623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Anterior</a:t>
            </a:r>
            <a:endParaRPr sz="4000" dirty="0"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4917750" y="3290550"/>
            <a:ext cx="3175216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SzPts val="1300"/>
            </a:pPr>
            <a:r>
              <a:rPr lang="es-ES" dirty="0"/>
              <a:t>-Análisis de transformaciones rotacionales en robots manipuladores</a:t>
            </a:r>
          </a:p>
          <a:p>
            <a:pPr marL="146050" lvl="0" indent="0">
              <a:buSzPts val="1300"/>
            </a:pPr>
            <a:endParaRPr dirty="0"/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 idx="2"/>
          </p:nvPr>
        </p:nvSpPr>
        <p:spPr>
          <a:xfrm>
            <a:off x="4849169" y="1001125"/>
            <a:ext cx="2301907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cxnSp>
        <p:nvCxnSpPr>
          <p:cNvPr id="177" name="Google Shape;177;p30"/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476095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Transformaciones Rotacionales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2" name="Picture 8" descr="Sistema de Coordenadas WORLD - Learnchannel-TV.com">
            <a:extLst>
              <a:ext uri="{FF2B5EF4-FFF2-40B4-BE49-F238E27FC236}">
                <a16:creationId xmlns:a16="http://schemas.microsoft.com/office/drawing/2014/main" id="{FD335CB6-68B0-FBFD-06DA-07B8B90895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242"/>
          <a:stretch>
            <a:fillRect/>
          </a:stretch>
        </p:blipFill>
        <p:spPr bwMode="auto">
          <a:xfrm>
            <a:off x="4043729" y="1476611"/>
            <a:ext cx="4651618" cy="3495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E6D26148-5682-9211-A114-17112AAF0968}"/>
              </a:ext>
            </a:extLst>
          </p:cNvPr>
          <p:cNvSpPr txBox="1"/>
          <p:nvPr/>
        </p:nvSpPr>
        <p:spPr>
          <a:xfrm>
            <a:off x="237945" y="1435444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¿Qué es una Transformación Rotacional?</a:t>
            </a:r>
          </a:p>
          <a:p>
            <a:pPr algn="just"/>
            <a:r>
              <a:rPr lang="es-MX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 robótica, una transformación del eje de rotación es una herramienta matemática, generalmente representada por una matriz de rotación (3x3) o una matriz de transformación homogénea (4x4), </a:t>
            </a:r>
            <a:r>
              <a:rPr lang="es-MX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que define la nueva orientación y posición de un sistema de referencia local</a:t>
            </a:r>
            <a:r>
              <a:rPr lang="es-MX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(un eslabón o articulación del robot) con respecto a </a:t>
            </a:r>
            <a:r>
              <a:rPr lang="es-MX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 sistema de referencia fijo (la base o el mundo).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9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01CEBB6F-92BD-90D6-4304-3EB539161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9D46BFAB-AA42-F03A-1A87-7CCCBFBA4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FB925064-2AD4-A1A6-21BC-2CE302BDCA25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864968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Transformaciones Rotacionales</a:t>
            </a: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5FCC0C68-2CB5-21CB-0FA0-9B095E3987E8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35D2177F-1F29-2B72-814E-6E986574984D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1CD1D30C-BB8D-43F9-F280-4BCB13F1C8B3}"/>
              </a:ext>
            </a:extLst>
          </p:cNvPr>
          <p:cNvSpPr txBox="1"/>
          <p:nvPr/>
        </p:nvSpPr>
        <p:spPr>
          <a:xfrm>
            <a:off x="237945" y="1435444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Ejemplo:</a:t>
            </a:r>
          </a:p>
          <a:p>
            <a:pPr algn="just"/>
            <a:r>
              <a:rPr lang="es-MX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Realiza el análisis de transformaciones Rotacionales para el siguiente diagrama de alambre. 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622E74E-D00C-F595-8C22-E34DB3C65893}"/>
              </a:ext>
            </a:extLst>
          </p:cNvPr>
          <p:cNvCxnSpPr>
            <a:cxnSpLocks/>
          </p:cNvCxnSpPr>
          <p:nvPr/>
        </p:nvCxnSpPr>
        <p:spPr>
          <a:xfrm flipV="1">
            <a:off x="2903397" y="3933270"/>
            <a:ext cx="5608" cy="5370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ED8351D-2EA8-7C73-341F-9B501E83F1B3}"/>
              </a:ext>
            </a:extLst>
          </p:cNvPr>
          <p:cNvCxnSpPr>
            <a:cxnSpLocks/>
          </p:cNvCxnSpPr>
          <p:nvPr/>
        </p:nvCxnSpPr>
        <p:spPr>
          <a:xfrm flipV="1">
            <a:off x="2911864" y="4163903"/>
            <a:ext cx="373783" cy="316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8C6838F-EB0E-9ED8-502E-FE3FFEC983D6}"/>
              </a:ext>
            </a:extLst>
          </p:cNvPr>
          <p:cNvCxnSpPr>
            <a:cxnSpLocks/>
          </p:cNvCxnSpPr>
          <p:nvPr/>
        </p:nvCxnSpPr>
        <p:spPr>
          <a:xfrm>
            <a:off x="2922599" y="4474845"/>
            <a:ext cx="606251" cy="11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FE6C83C1-89F7-76F3-3C03-A986269C30A7}"/>
              </a:ext>
            </a:extLst>
          </p:cNvPr>
          <p:cNvSpPr txBox="1"/>
          <p:nvPr/>
        </p:nvSpPr>
        <p:spPr>
          <a:xfrm>
            <a:off x="3504446" y="4235870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0000"/>
                </a:highlight>
              </a:rPr>
              <a:t>x</a:t>
            </a:r>
            <a:r>
              <a:rPr lang="es-ES" sz="1000" dirty="0">
                <a:highlight>
                  <a:srgbClr val="FF0000"/>
                </a:highlight>
              </a:rPr>
              <a:t>0</a:t>
            </a:r>
            <a:endParaRPr lang="es-MX" dirty="0">
              <a:highlight>
                <a:srgbClr val="FF00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41134BB-2CF0-3584-B1F3-CA60D883D9EF}"/>
              </a:ext>
            </a:extLst>
          </p:cNvPr>
          <p:cNvSpPr txBox="1"/>
          <p:nvPr/>
        </p:nvSpPr>
        <p:spPr>
          <a:xfrm>
            <a:off x="3225724" y="3888131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y</a:t>
            </a:r>
            <a:r>
              <a:rPr lang="es-ES" sz="9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E91E636-CD0A-DC66-60D8-29D1541ECE10}"/>
              </a:ext>
            </a:extLst>
          </p:cNvPr>
          <p:cNvSpPr txBox="1"/>
          <p:nvPr/>
        </p:nvSpPr>
        <p:spPr>
          <a:xfrm>
            <a:off x="2563456" y="3790431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40C01716-6711-B31A-CF1D-37E860E5666D}"/>
              </a:ext>
            </a:extLst>
          </p:cNvPr>
          <p:cNvSpPr txBox="1"/>
          <p:nvPr/>
        </p:nvSpPr>
        <p:spPr>
          <a:xfrm>
            <a:off x="950936" y="3672494"/>
            <a:ext cx="1682217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SISTEMA DE REFERENCIA GLOBAL (Mundo)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904BF127-E220-6CC8-80F9-BD0E54FE1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98" y="1744107"/>
            <a:ext cx="4637893" cy="317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69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03C1A2F9-2017-0D06-F23F-D9E9DB64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CD8D7E3A-6CFC-C012-95B1-48F477077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ABCEF95E-E4F6-A719-A610-A9BD45A9B70E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Transformaciones Rotacionales</a:t>
            </a: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A885A482-2A08-A64D-9680-AC0FDB2C6EB7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43CC59F5-84BC-768D-E197-6F95679488A4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8A001D26-0914-F1A0-D606-AB1B75C4C03B}"/>
              </a:ext>
            </a:extLst>
          </p:cNvPr>
          <p:cNvSpPr txBox="1"/>
          <p:nvPr/>
        </p:nvSpPr>
        <p:spPr>
          <a:xfrm>
            <a:off x="1180247" y="2098082"/>
            <a:ext cx="2547383" cy="57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Regla de la mano derecha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EB99BB-3686-E9FC-EBFF-876D8E3C7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454" y="2574150"/>
            <a:ext cx="1321282" cy="1162005"/>
          </a:xfrm>
          <a:prstGeom prst="rect">
            <a:avLst/>
          </a:prstGeom>
        </p:spPr>
      </p:pic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03E4D34-23BA-394C-B2BB-47B921588068}"/>
              </a:ext>
            </a:extLst>
          </p:cNvPr>
          <p:cNvCxnSpPr>
            <a:cxnSpLocks/>
          </p:cNvCxnSpPr>
          <p:nvPr/>
        </p:nvCxnSpPr>
        <p:spPr>
          <a:xfrm flipV="1">
            <a:off x="6896587" y="2917845"/>
            <a:ext cx="0" cy="419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B7E06B4-2ACD-8B8C-38EB-A91E7C95A5B0}"/>
              </a:ext>
            </a:extLst>
          </p:cNvPr>
          <p:cNvCxnSpPr>
            <a:cxnSpLocks/>
            <a:endCxn id="18" idx="3"/>
          </p:cNvCxnSpPr>
          <p:nvPr/>
        </p:nvCxnSpPr>
        <p:spPr>
          <a:xfrm flipH="1">
            <a:off x="6503900" y="3339216"/>
            <a:ext cx="398295" cy="133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F84E1DA1-DFAD-F304-29C2-B399CDC5E6D6}"/>
              </a:ext>
            </a:extLst>
          </p:cNvPr>
          <p:cNvCxnSpPr>
            <a:cxnSpLocks/>
          </p:cNvCxnSpPr>
          <p:nvPr/>
        </p:nvCxnSpPr>
        <p:spPr>
          <a:xfrm>
            <a:off x="6891385" y="3337518"/>
            <a:ext cx="427539" cy="1305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BCE87A6-CF5A-7CD7-A3AA-807AE660EBCB}"/>
              </a:ext>
            </a:extLst>
          </p:cNvPr>
          <p:cNvSpPr txBox="1"/>
          <p:nvPr/>
        </p:nvSpPr>
        <p:spPr>
          <a:xfrm>
            <a:off x="7329064" y="3402775"/>
            <a:ext cx="5469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7A285BB-3462-58B3-7FAD-10E819A9FCA9}"/>
              </a:ext>
            </a:extLst>
          </p:cNvPr>
          <p:cNvSpPr txBox="1"/>
          <p:nvPr/>
        </p:nvSpPr>
        <p:spPr>
          <a:xfrm>
            <a:off x="6715708" y="2538104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6B996BE-F603-C687-51E6-8520EC6A8FD1}"/>
              </a:ext>
            </a:extLst>
          </p:cNvPr>
          <p:cNvSpPr txBox="1"/>
          <p:nvPr/>
        </p:nvSpPr>
        <p:spPr>
          <a:xfrm>
            <a:off x="6087171" y="3319252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19" name="Google Shape;1603;p42">
            <a:extLst>
              <a:ext uri="{FF2B5EF4-FFF2-40B4-BE49-F238E27FC236}">
                <a16:creationId xmlns:a16="http://schemas.microsoft.com/office/drawing/2014/main" id="{FD53E3CC-7DEC-D4C0-4B95-10D620955ACB}"/>
              </a:ext>
            </a:extLst>
          </p:cNvPr>
          <p:cNvSpPr txBox="1"/>
          <p:nvPr/>
        </p:nvSpPr>
        <p:spPr>
          <a:xfrm>
            <a:off x="5156952" y="2062677"/>
            <a:ext cx="2815668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Marco de referencia inercial</a:t>
            </a:r>
          </a:p>
          <a:p>
            <a:pPr algn="just"/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24" name="Picture 2" descr="Regla de la mano derecha | Tekla User Assistance">
            <a:extLst>
              <a:ext uri="{FF2B5EF4-FFF2-40B4-BE49-F238E27FC236}">
                <a16:creationId xmlns:a16="http://schemas.microsoft.com/office/drawing/2014/main" id="{D29EC7E3-9F83-C194-985E-79188E055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675" y="2581080"/>
            <a:ext cx="1126377" cy="115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446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FA4CF0E6-D55C-BBD1-52FB-AB9029EE2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E77FF2CC-7698-33D5-DECF-695FF4996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14FAEDE9-7E9C-45E1-FDA3-CED976362E0E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Transformaciones Rotacionales</a:t>
            </a: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EF5C5833-2E1F-CF30-8FFD-8176D1B0924E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CAD4DE3D-C43F-A335-1CD0-CF67F9F7A8BB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933D659E-8574-3EE9-1B77-504EEA0FA55E}"/>
              </a:ext>
            </a:extLst>
          </p:cNvPr>
          <p:cNvSpPr txBox="1"/>
          <p:nvPr/>
        </p:nvSpPr>
        <p:spPr>
          <a:xfrm>
            <a:off x="237945" y="1435444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1: Rotación de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S0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S1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20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“Rotación positiva de 90° alrededor del eje X0”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0FAC696A-8E28-3F08-E610-24DC6B0D6A39}"/>
              </a:ext>
            </a:extLst>
          </p:cNvPr>
          <p:cNvCxnSpPr>
            <a:cxnSpLocks/>
          </p:cNvCxnSpPr>
          <p:nvPr/>
        </p:nvCxnSpPr>
        <p:spPr>
          <a:xfrm flipV="1">
            <a:off x="2903397" y="3933270"/>
            <a:ext cx="5608" cy="5370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D7B52726-0AA1-86CF-0171-83D018A48A56}"/>
              </a:ext>
            </a:extLst>
          </p:cNvPr>
          <p:cNvCxnSpPr>
            <a:cxnSpLocks/>
          </p:cNvCxnSpPr>
          <p:nvPr/>
        </p:nvCxnSpPr>
        <p:spPr>
          <a:xfrm flipV="1">
            <a:off x="2911864" y="4163903"/>
            <a:ext cx="373783" cy="316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EEE3AA00-AF93-0E3F-B078-7B6C1F2B1645}"/>
              </a:ext>
            </a:extLst>
          </p:cNvPr>
          <p:cNvCxnSpPr>
            <a:cxnSpLocks/>
          </p:cNvCxnSpPr>
          <p:nvPr/>
        </p:nvCxnSpPr>
        <p:spPr>
          <a:xfrm>
            <a:off x="2922599" y="4474845"/>
            <a:ext cx="606251" cy="11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41AC65D3-8AD9-A7E4-6D15-CCA9ABF7C681}"/>
              </a:ext>
            </a:extLst>
          </p:cNvPr>
          <p:cNvSpPr txBox="1"/>
          <p:nvPr/>
        </p:nvSpPr>
        <p:spPr>
          <a:xfrm>
            <a:off x="3504446" y="4235870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0000"/>
                </a:highlight>
              </a:rPr>
              <a:t>x</a:t>
            </a:r>
            <a:r>
              <a:rPr lang="es-ES" sz="1000" dirty="0">
                <a:highlight>
                  <a:srgbClr val="FF0000"/>
                </a:highlight>
              </a:rPr>
              <a:t>0</a:t>
            </a:r>
            <a:endParaRPr lang="es-MX" dirty="0">
              <a:highlight>
                <a:srgbClr val="FF00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DC55EEB-10C1-F856-0B9B-68C8F293C6AA}"/>
              </a:ext>
            </a:extLst>
          </p:cNvPr>
          <p:cNvSpPr txBox="1"/>
          <p:nvPr/>
        </p:nvSpPr>
        <p:spPr>
          <a:xfrm>
            <a:off x="3225724" y="3888131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y</a:t>
            </a:r>
            <a:r>
              <a:rPr lang="es-ES" sz="9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14D9A56-CCEB-074C-415F-48F4ED936BBB}"/>
              </a:ext>
            </a:extLst>
          </p:cNvPr>
          <p:cNvSpPr txBox="1"/>
          <p:nvPr/>
        </p:nvSpPr>
        <p:spPr>
          <a:xfrm>
            <a:off x="2563456" y="3790431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AF1A7EE6-883D-9243-3420-FDB248261AF2}"/>
              </a:ext>
            </a:extLst>
          </p:cNvPr>
          <p:cNvSpPr txBox="1"/>
          <p:nvPr/>
        </p:nvSpPr>
        <p:spPr>
          <a:xfrm>
            <a:off x="950936" y="3672494"/>
            <a:ext cx="1682217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SISTEMA DE REFERENCIA GLOBAL (Mundo)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C1AD6288-E809-C06B-0BE1-79C6FA6C4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98" y="1744107"/>
            <a:ext cx="4637893" cy="3178677"/>
          </a:xfrm>
          <a:prstGeom prst="rect">
            <a:avLst/>
          </a:prstGeom>
        </p:spPr>
      </p:pic>
      <p:sp>
        <p:nvSpPr>
          <p:cNvPr id="12" name="Flecha: curvada hacia abajo 11">
            <a:extLst>
              <a:ext uri="{FF2B5EF4-FFF2-40B4-BE49-F238E27FC236}">
                <a16:creationId xmlns:a16="http://schemas.microsoft.com/office/drawing/2014/main" id="{3CA16D39-6AEF-9BD0-2782-BF97FCF1AB20}"/>
              </a:ext>
            </a:extLst>
          </p:cNvPr>
          <p:cNvSpPr/>
          <p:nvPr/>
        </p:nvSpPr>
        <p:spPr>
          <a:xfrm rot="16200000">
            <a:off x="3399893" y="3473613"/>
            <a:ext cx="1436027" cy="37378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52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8C02E552-BD07-E6FC-7ECF-D773C6E21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13AB841A-2DCF-70C0-46B8-DABE30E37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369B7D41-E87F-063C-F91F-540F4540BA79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Transformaciones Rotacionales</a:t>
            </a: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9E2687D0-F0F6-C674-1D79-1285BB4E41E5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52645F5E-F1E0-21EC-895B-43E990BA325F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A2622A86-C005-0C86-8503-D25B8CF49245}"/>
              </a:ext>
            </a:extLst>
          </p:cNvPr>
          <p:cNvSpPr txBox="1"/>
          <p:nvPr/>
        </p:nvSpPr>
        <p:spPr>
          <a:xfrm>
            <a:off x="237945" y="1435444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2: Rotación de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S1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S2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20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“No existe Transformación  de Rotación”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B4D6580-8943-3ACD-093B-16BE58C2FEE3}"/>
              </a:ext>
            </a:extLst>
          </p:cNvPr>
          <p:cNvCxnSpPr>
            <a:cxnSpLocks/>
          </p:cNvCxnSpPr>
          <p:nvPr/>
        </p:nvCxnSpPr>
        <p:spPr>
          <a:xfrm flipV="1">
            <a:off x="2903397" y="3933270"/>
            <a:ext cx="5608" cy="5370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905B72E4-5FCA-2D4E-5227-998625658DE7}"/>
              </a:ext>
            </a:extLst>
          </p:cNvPr>
          <p:cNvCxnSpPr>
            <a:cxnSpLocks/>
          </p:cNvCxnSpPr>
          <p:nvPr/>
        </p:nvCxnSpPr>
        <p:spPr>
          <a:xfrm flipV="1">
            <a:off x="2911864" y="4163903"/>
            <a:ext cx="373783" cy="316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F9D65D5-E423-227B-530D-1D1210857E83}"/>
              </a:ext>
            </a:extLst>
          </p:cNvPr>
          <p:cNvCxnSpPr>
            <a:cxnSpLocks/>
          </p:cNvCxnSpPr>
          <p:nvPr/>
        </p:nvCxnSpPr>
        <p:spPr>
          <a:xfrm>
            <a:off x="2922599" y="4474845"/>
            <a:ext cx="606251" cy="11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9D1CC56E-151E-EEEC-6B7A-5E1695A3E376}"/>
              </a:ext>
            </a:extLst>
          </p:cNvPr>
          <p:cNvSpPr txBox="1"/>
          <p:nvPr/>
        </p:nvSpPr>
        <p:spPr>
          <a:xfrm>
            <a:off x="3504446" y="4235870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0000"/>
                </a:highlight>
              </a:rPr>
              <a:t>x</a:t>
            </a:r>
            <a:r>
              <a:rPr lang="es-ES" sz="1000" dirty="0">
                <a:highlight>
                  <a:srgbClr val="FF0000"/>
                </a:highlight>
              </a:rPr>
              <a:t>0</a:t>
            </a:r>
            <a:endParaRPr lang="es-MX" dirty="0">
              <a:highlight>
                <a:srgbClr val="FF00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84E3F47-745E-2F24-92B9-B1460A9D4323}"/>
              </a:ext>
            </a:extLst>
          </p:cNvPr>
          <p:cNvSpPr txBox="1"/>
          <p:nvPr/>
        </p:nvSpPr>
        <p:spPr>
          <a:xfrm>
            <a:off x="3225724" y="3888131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y</a:t>
            </a:r>
            <a:r>
              <a:rPr lang="es-ES" sz="9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C1B0FD9-5A29-4BE9-692E-AAF39AE4E9FF}"/>
              </a:ext>
            </a:extLst>
          </p:cNvPr>
          <p:cNvSpPr txBox="1"/>
          <p:nvPr/>
        </p:nvSpPr>
        <p:spPr>
          <a:xfrm>
            <a:off x="2563456" y="3790431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5F34BC3D-2E8E-53E6-E365-C41CD5835885}"/>
              </a:ext>
            </a:extLst>
          </p:cNvPr>
          <p:cNvSpPr txBox="1"/>
          <p:nvPr/>
        </p:nvSpPr>
        <p:spPr>
          <a:xfrm>
            <a:off x="950936" y="3672494"/>
            <a:ext cx="1682217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SISTEMA DE REFERENCIA GLOBAL (Mundo)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F7C52778-0198-6197-7406-CB5678A74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98" y="1744107"/>
            <a:ext cx="4637893" cy="3178677"/>
          </a:xfrm>
          <a:prstGeom prst="rect">
            <a:avLst/>
          </a:prstGeom>
        </p:spPr>
      </p:pic>
      <p:sp>
        <p:nvSpPr>
          <p:cNvPr id="12" name="Flecha: curvada hacia abajo 11">
            <a:extLst>
              <a:ext uri="{FF2B5EF4-FFF2-40B4-BE49-F238E27FC236}">
                <a16:creationId xmlns:a16="http://schemas.microsoft.com/office/drawing/2014/main" id="{FEC78818-2088-6DF9-E962-624FF0081ED3}"/>
              </a:ext>
            </a:extLst>
          </p:cNvPr>
          <p:cNvSpPr/>
          <p:nvPr/>
        </p:nvSpPr>
        <p:spPr>
          <a:xfrm rot="18860255">
            <a:off x="4043767" y="2105068"/>
            <a:ext cx="1189981" cy="37378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61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95DEEA96-94A2-C414-13C4-47466B0E7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58B382FF-A18F-E8A5-1117-0EF5AC3A3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4A89CFCA-D10B-AE1B-499B-C224E6D1D6ED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Transformaciones Rotacionales</a:t>
            </a: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34663312-380E-ED46-4F24-F9624D0EC283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FC860E18-910A-5300-2689-D84E5861A4EA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9A1F1939-1A8C-A078-E137-F449C1BCA79E}"/>
              </a:ext>
            </a:extLst>
          </p:cNvPr>
          <p:cNvSpPr txBox="1"/>
          <p:nvPr/>
        </p:nvSpPr>
        <p:spPr>
          <a:xfrm>
            <a:off x="237945" y="1435444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3: Rotación de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S2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S3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20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“Rotación positiva de 90° alrededor del eje X2 </a:t>
            </a:r>
          </a:p>
          <a:p>
            <a:pPr algn="just"/>
            <a:r>
              <a:rPr lang="es-ES" sz="20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más </a:t>
            </a:r>
          </a:p>
          <a:p>
            <a:pPr algn="just"/>
            <a:r>
              <a:rPr lang="es-ES" sz="20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 positiva de 90° alrededor del eje Y2”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148E66C0-1B3B-2D53-DD1C-95C37A8B9BDC}"/>
              </a:ext>
            </a:extLst>
          </p:cNvPr>
          <p:cNvCxnSpPr>
            <a:cxnSpLocks/>
          </p:cNvCxnSpPr>
          <p:nvPr/>
        </p:nvCxnSpPr>
        <p:spPr>
          <a:xfrm flipV="1">
            <a:off x="2903397" y="3933270"/>
            <a:ext cx="5608" cy="5370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5C3540C5-4036-3DC4-5878-782EF02C976A}"/>
              </a:ext>
            </a:extLst>
          </p:cNvPr>
          <p:cNvCxnSpPr>
            <a:cxnSpLocks/>
          </p:cNvCxnSpPr>
          <p:nvPr/>
        </p:nvCxnSpPr>
        <p:spPr>
          <a:xfrm flipV="1">
            <a:off x="2911864" y="4163903"/>
            <a:ext cx="373783" cy="316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7EA92D1F-7B35-B500-F046-69126C068279}"/>
              </a:ext>
            </a:extLst>
          </p:cNvPr>
          <p:cNvCxnSpPr>
            <a:cxnSpLocks/>
          </p:cNvCxnSpPr>
          <p:nvPr/>
        </p:nvCxnSpPr>
        <p:spPr>
          <a:xfrm>
            <a:off x="2922599" y="4474845"/>
            <a:ext cx="606251" cy="11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32E3675D-80F7-D6EB-303F-808009F5FD4B}"/>
              </a:ext>
            </a:extLst>
          </p:cNvPr>
          <p:cNvSpPr txBox="1"/>
          <p:nvPr/>
        </p:nvSpPr>
        <p:spPr>
          <a:xfrm>
            <a:off x="3504446" y="4235870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0000"/>
                </a:highlight>
              </a:rPr>
              <a:t>x</a:t>
            </a:r>
            <a:r>
              <a:rPr lang="es-ES" sz="1000" dirty="0">
                <a:highlight>
                  <a:srgbClr val="FF0000"/>
                </a:highlight>
              </a:rPr>
              <a:t>0</a:t>
            </a:r>
            <a:endParaRPr lang="es-MX" dirty="0">
              <a:highlight>
                <a:srgbClr val="FF00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8D8E1A8-AB5D-8589-4688-99EC65887CC4}"/>
              </a:ext>
            </a:extLst>
          </p:cNvPr>
          <p:cNvSpPr txBox="1"/>
          <p:nvPr/>
        </p:nvSpPr>
        <p:spPr>
          <a:xfrm>
            <a:off x="3225724" y="3888131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y</a:t>
            </a:r>
            <a:r>
              <a:rPr lang="es-ES" sz="9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86C4A90-676C-8ED2-4C38-3DE430C4E095}"/>
              </a:ext>
            </a:extLst>
          </p:cNvPr>
          <p:cNvSpPr txBox="1"/>
          <p:nvPr/>
        </p:nvSpPr>
        <p:spPr>
          <a:xfrm>
            <a:off x="2563456" y="3790431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698C205B-48CC-0FC5-3D62-BF6E1D920032}"/>
              </a:ext>
            </a:extLst>
          </p:cNvPr>
          <p:cNvSpPr txBox="1"/>
          <p:nvPr/>
        </p:nvSpPr>
        <p:spPr>
          <a:xfrm>
            <a:off x="950936" y="3672494"/>
            <a:ext cx="1682217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SISTEMA DE REFERENCIA GLOBAL (Mundo)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8C5B8362-91AD-964F-6F19-AA67D8ABB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98" y="1744107"/>
            <a:ext cx="4637893" cy="3178677"/>
          </a:xfrm>
          <a:prstGeom prst="rect">
            <a:avLst/>
          </a:prstGeom>
        </p:spPr>
      </p:pic>
      <p:sp>
        <p:nvSpPr>
          <p:cNvPr id="12" name="Flecha: curvada hacia abajo 11">
            <a:extLst>
              <a:ext uri="{FF2B5EF4-FFF2-40B4-BE49-F238E27FC236}">
                <a16:creationId xmlns:a16="http://schemas.microsoft.com/office/drawing/2014/main" id="{0AD2118D-2857-88A6-6E78-37912865A2C5}"/>
              </a:ext>
            </a:extLst>
          </p:cNvPr>
          <p:cNvSpPr/>
          <p:nvPr/>
        </p:nvSpPr>
        <p:spPr>
          <a:xfrm rot="21362088">
            <a:off x="5293053" y="1557216"/>
            <a:ext cx="2216214" cy="37378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1"/>
              </a:solidFill>
            </a:endParaRP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1098C6BD-AD56-DAE2-6320-A9270E14E70A}"/>
              </a:ext>
            </a:extLst>
          </p:cNvPr>
          <p:cNvCxnSpPr>
            <a:cxnSpLocks/>
          </p:cNvCxnSpPr>
          <p:nvPr/>
        </p:nvCxnSpPr>
        <p:spPr>
          <a:xfrm>
            <a:off x="6323981" y="931352"/>
            <a:ext cx="0" cy="529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47D6F6A2-DBE9-68D9-7794-FA7AD81B490A}"/>
              </a:ext>
            </a:extLst>
          </p:cNvPr>
          <p:cNvCxnSpPr>
            <a:cxnSpLocks/>
          </p:cNvCxnSpPr>
          <p:nvPr/>
        </p:nvCxnSpPr>
        <p:spPr>
          <a:xfrm flipH="1">
            <a:off x="6033522" y="929668"/>
            <a:ext cx="298926" cy="2686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2FDACDF-6B58-5E37-6266-A7ABCD67DD28}"/>
              </a:ext>
            </a:extLst>
          </p:cNvPr>
          <p:cNvCxnSpPr>
            <a:cxnSpLocks/>
          </p:cNvCxnSpPr>
          <p:nvPr/>
        </p:nvCxnSpPr>
        <p:spPr>
          <a:xfrm>
            <a:off x="6343183" y="935853"/>
            <a:ext cx="606251" cy="11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4BD2EAE-09DD-28B5-DBF4-F2F19EE639C1}"/>
              </a:ext>
            </a:extLst>
          </p:cNvPr>
          <p:cNvSpPr txBox="1"/>
          <p:nvPr/>
        </p:nvSpPr>
        <p:spPr>
          <a:xfrm>
            <a:off x="6925988" y="822692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0000"/>
                </a:highlight>
              </a:rPr>
              <a:t>x</a:t>
            </a:r>
            <a:r>
              <a:rPr lang="es-ES" sz="1000" dirty="0">
                <a:highlight>
                  <a:srgbClr val="FF0000"/>
                </a:highlight>
              </a:rPr>
              <a:t>2</a:t>
            </a:r>
            <a:endParaRPr lang="es-MX" dirty="0">
              <a:highlight>
                <a:srgbClr val="FF0000"/>
              </a:highlight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8A75CF2-1005-E50D-7440-B69004F54D74}"/>
              </a:ext>
            </a:extLst>
          </p:cNvPr>
          <p:cNvSpPr txBox="1"/>
          <p:nvPr/>
        </p:nvSpPr>
        <p:spPr>
          <a:xfrm>
            <a:off x="5789977" y="1176891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y</a:t>
            </a:r>
            <a:r>
              <a:rPr lang="es-ES" sz="900" dirty="0">
                <a:highlight>
                  <a:srgbClr val="00FF00"/>
                </a:highlight>
              </a:rPr>
              <a:t>2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41A4D5B-DB40-B16B-1CFA-F2B546DA48AF}"/>
              </a:ext>
            </a:extLst>
          </p:cNvPr>
          <p:cNvSpPr txBox="1"/>
          <p:nvPr/>
        </p:nvSpPr>
        <p:spPr>
          <a:xfrm>
            <a:off x="6323981" y="1279383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2</a:t>
            </a:r>
            <a:endParaRPr lang="es-MX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90683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E832DEE2-3CD4-20C5-1CC5-67DFE2BD1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898993A2-1116-9777-F03B-D63FF243F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2D2E2C93-BDF8-26B9-1D77-8A306383376F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Transformaciones Rotacionales</a:t>
            </a: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B6E11AEE-C5FF-4C3D-3FD6-13657E615B42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C1C9DDF0-75B3-1D65-55B4-942989E298E0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389E7E93-A7F8-6E5B-AFEE-3529BB382474}"/>
              </a:ext>
            </a:extLst>
          </p:cNvPr>
          <p:cNvSpPr txBox="1"/>
          <p:nvPr/>
        </p:nvSpPr>
        <p:spPr>
          <a:xfrm>
            <a:off x="237945" y="1435444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4: Rotación de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S3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S4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20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“No existe Transformación  de Rotación”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67ECD389-9CFA-B062-A7C6-C147F1EA333A}"/>
              </a:ext>
            </a:extLst>
          </p:cNvPr>
          <p:cNvCxnSpPr>
            <a:cxnSpLocks/>
          </p:cNvCxnSpPr>
          <p:nvPr/>
        </p:nvCxnSpPr>
        <p:spPr>
          <a:xfrm flipV="1">
            <a:off x="2903397" y="3933270"/>
            <a:ext cx="5608" cy="5370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275B61C-FE65-ABA1-9418-0251CAAA4CD3}"/>
              </a:ext>
            </a:extLst>
          </p:cNvPr>
          <p:cNvCxnSpPr>
            <a:cxnSpLocks/>
          </p:cNvCxnSpPr>
          <p:nvPr/>
        </p:nvCxnSpPr>
        <p:spPr>
          <a:xfrm flipV="1">
            <a:off x="2911864" y="4163903"/>
            <a:ext cx="373783" cy="316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30C59E8-D249-69E1-ED75-DD3FB8DF09E9}"/>
              </a:ext>
            </a:extLst>
          </p:cNvPr>
          <p:cNvCxnSpPr>
            <a:cxnSpLocks/>
          </p:cNvCxnSpPr>
          <p:nvPr/>
        </p:nvCxnSpPr>
        <p:spPr>
          <a:xfrm>
            <a:off x="2922599" y="4474845"/>
            <a:ext cx="606251" cy="11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4EC44494-0899-E9F9-6B71-F3793539C33F}"/>
              </a:ext>
            </a:extLst>
          </p:cNvPr>
          <p:cNvSpPr txBox="1"/>
          <p:nvPr/>
        </p:nvSpPr>
        <p:spPr>
          <a:xfrm>
            <a:off x="3504446" y="4235870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0000"/>
                </a:highlight>
              </a:rPr>
              <a:t>x</a:t>
            </a:r>
            <a:r>
              <a:rPr lang="es-ES" sz="1000" dirty="0">
                <a:highlight>
                  <a:srgbClr val="FF0000"/>
                </a:highlight>
              </a:rPr>
              <a:t>0</a:t>
            </a:r>
            <a:endParaRPr lang="es-MX" dirty="0">
              <a:highlight>
                <a:srgbClr val="FF00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7563275-ED66-FBBE-F95F-E96CD0F36284}"/>
              </a:ext>
            </a:extLst>
          </p:cNvPr>
          <p:cNvSpPr txBox="1"/>
          <p:nvPr/>
        </p:nvSpPr>
        <p:spPr>
          <a:xfrm>
            <a:off x="3225724" y="3888131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y</a:t>
            </a:r>
            <a:r>
              <a:rPr lang="es-ES" sz="9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99CCB79-9EDF-B1BC-C0AC-2F825D18838F}"/>
              </a:ext>
            </a:extLst>
          </p:cNvPr>
          <p:cNvSpPr txBox="1"/>
          <p:nvPr/>
        </p:nvSpPr>
        <p:spPr>
          <a:xfrm>
            <a:off x="2563456" y="3790431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1A4BA788-2164-F370-5925-2675AB7A7B93}"/>
              </a:ext>
            </a:extLst>
          </p:cNvPr>
          <p:cNvSpPr txBox="1"/>
          <p:nvPr/>
        </p:nvSpPr>
        <p:spPr>
          <a:xfrm>
            <a:off x="950936" y="3672494"/>
            <a:ext cx="1682217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SISTEMA DE REFERENCIA GLOBAL (Mundo)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56128314-0F01-C169-A094-BA794B649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98" y="1744107"/>
            <a:ext cx="4637893" cy="3178677"/>
          </a:xfrm>
          <a:prstGeom prst="rect">
            <a:avLst/>
          </a:prstGeom>
        </p:spPr>
      </p:pic>
      <p:sp>
        <p:nvSpPr>
          <p:cNvPr id="12" name="Flecha: curvada hacia abajo 11">
            <a:extLst>
              <a:ext uri="{FF2B5EF4-FFF2-40B4-BE49-F238E27FC236}">
                <a16:creationId xmlns:a16="http://schemas.microsoft.com/office/drawing/2014/main" id="{484876B6-B07D-A337-F132-A486005EC837}"/>
              </a:ext>
            </a:extLst>
          </p:cNvPr>
          <p:cNvSpPr/>
          <p:nvPr/>
        </p:nvSpPr>
        <p:spPr>
          <a:xfrm rot="449282">
            <a:off x="7370494" y="1707592"/>
            <a:ext cx="1124206" cy="30840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597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Actual</a:t>
            </a:r>
            <a:endParaRPr sz="4000" dirty="0"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4917749" y="3290550"/>
            <a:ext cx="3509125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ES" dirty="0"/>
              <a:t>-Transformaciones Lineales (Traslaciones)</a:t>
            </a:r>
          </a:p>
          <a:p>
            <a:pPr marL="146050" indent="0">
              <a:buSzPts val="1300"/>
            </a:pPr>
            <a:r>
              <a:rPr lang="es-ES" dirty="0"/>
              <a:t>-Análisis de diferentes configuraciones de robots manipuladores</a:t>
            </a:r>
          </a:p>
          <a:p>
            <a:pPr marL="146050" lvl="0" indent="0">
              <a:buSzPts val="1300"/>
            </a:pPr>
            <a:endParaRPr dirty="0"/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 idx="2"/>
          </p:nvPr>
        </p:nvSpPr>
        <p:spPr>
          <a:xfrm>
            <a:off x="4849169" y="1001125"/>
            <a:ext cx="2301907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cxnSp>
        <p:nvCxnSpPr>
          <p:cNvPr id="177" name="Google Shape;177;p30"/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648536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42AB330D-52E9-5CEE-C2CA-06849B7F1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AD90C2DD-A3EF-954D-0A57-990FAC10C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099DC636-6FB5-1DF7-73F3-74B1B97A4C68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Transformaciones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Lineales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2D8DC71D-E92C-055B-5B84-519D2C9E8F61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2079CA92-7D94-F368-8F14-916B9054C3C7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77562446-5AE1-569E-F5DF-0BFCFFBD4352}"/>
              </a:ext>
            </a:extLst>
          </p:cNvPr>
          <p:cNvSpPr txBox="1"/>
          <p:nvPr/>
        </p:nvSpPr>
        <p:spPr>
          <a:xfrm>
            <a:off x="237945" y="1435444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¿Qué es una Transformación Lineal?</a:t>
            </a:r>
          </a:p>
          <a:p>
            <a:pPr algn="just"/>
            <a:r>
              <a:rPr lang="es-MX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Una transformación lineal en robótica es una función matemática, representada por </a:t>
            </a:r>
            <a:r>
              <a:rPr lang="es-MX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 vector de translación, que se mapea </a:t>
            </a:r>
            <a:r>
              <a:rPr lang="es-MX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 un espacio a otro para modelar movimientos geométricos como rotaciones, escalas y reflexiones de componentes robóticos. </a:t>
            </a:r>
            <a:r>
              <a:rPr lang="es-MX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Estas operaciones permiten calcular la cinemática, dinámica y orientación de robots. 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2" name="Picture 8" descr="Sistema de Coordenadas WORLD - Learnchannel-TV.com">
            <a:extLst>
              <a:ext uri="{FF2B5EF4-FFF2-40B4-BE49-F238E27FC236}">
                <a16:creationId xmlns:a16="http://schemas.microsoft.com/office/drawing/2014/main" id="{06EE365F-49FA-51FA-2B3C-09558E6298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242"/>
          <a:stretch>
            <a:fillRect/>
          </a:stretch>
        </p:blipFill>
        <p:spPr bwMode="auto">
          <a:xfrm>
            <a:off x="4043729" y="1476611"/>
            <a:ext cx="4651618" cy="3495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F5D72EDB-308A-FF71-3125-52EAE39D1D9F}"/>
              </a:ext>
            </a:extLst>
          </p:cNvPr>
          <p:cNvCxnSpPr>
            <a:cxnSpLocks/>
          </p:cNvCxnSpPr>
          <p:nvPr/>
        </p:nvCxnSpPr>
        <p:spPr>
          <a:xfrm>
            <a:off x="6367401" y="3829459"/>
            <a:ext cx="302447" cy="6414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BD4AE6C1-F289-24CF-DFE5-C4C0B9260C55}"/>
              </a:ext>
            </a:extLst>
          </p:cNvPr>
          <p:cNvSpPr txBox="1"/>
          <p:nvPr/>
        </p:nvSpPr>
        <p:spPr>
          <a:xfrm>
            <a:off x="6477070" y="3834294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1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5C25131-72F2-791C-8988-711BC6D80850}"/>
              </a:ext>
            </a:extLst>
          </p:cNvPr>
          <p:cNvSpPr txBox="1"/>
          <p:nvPr/>
        </p:nvSpPr>
        <p:spPr>
          <a:xfrm>
            <a:off x="6068475" y="3528096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1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F048F95-1ED1-E82B-236A-6107DFB8CFF7}"/>
              </a:ext>
            </a:extLst>
          </p:cNvPr>
          <p:cNvCxnSpPr>
            <a:cxnSpLocks/>
          </p:cNvCxnSpPr>
          <p:nvPr/>
        </p:nvCxnSpPr>
        <p:spPr>
          <a:xfrm flipH="1" flipV="1">
            <a:off x="6367401" y="3528096"/>
            <a:ext cx="13270" cy="301363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2ECC19E0-A546-59CE-F159-55066A135FE1}"/>
              </a:ext>
            </a:extLst>
          </p:cNvPr>
          <p:cNvCxnSpPr>
            <a:cxnSpLocks/>
          </p:cNvCxnSpPr>
          <p:nvPr/>
        </p:nvCxnSpPr>
        <p:spPr>
          <a:xfrm flipH="1">
            <a:off x="6245414" y="3828297"/>
            <a:ext cx="120716" cy="199805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368B0B88-0F17-FFA2-885F-BCD27FD08625}"/>
              </a:ext>
            </a:extLst>
          </p:cNvPr>
          <p:cNvSpPr txBox="1"/>
          <p:nvPr/>
        </p:nvSpPr>
        <p:spPr>
          <a:xfrm>
            <a:off x="5986862" y="3960198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1</a:t>
            </a:r>
            <a:endParaRPr lang="es-MX" dirty="0">
              <a:highlight>
                <a:srgbClr val="FFFF00"/>
              </a:highlight>
            </a:endParaRP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2F08BCED-8C80-7D96-552B-DAC58C5C8EEE}"/>
              </a:ext>
            </a:extLst>
          </p:cNvPr>
          <p:cNvCxnSpPr>
            <a:cxnSpLocks/>
          </p:cNvCxnSpPr>
          <p:nvPr/>
        </p:nvCxnSpPr>
        <p:spPr>
          <a:xfrm>
            <a:off x="6686706" y="3425342"/>
            <a:ext cx="302447" cy="6414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E89019C-2196-2533-E6AA-551F5309F388}"/>
              </a:ext>
            </a:extLst>
          </p:cNvPr>
          <p:cNvSpPr txBox="1"/>
          <p:nvPr/>
        </p:nvSpPr>
        <p:spPr>
          <a:xfrm>
            <a:off x="6938469" y="3228028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2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E66FEDC-AEAE-9CE3-1E53-C587EDCCF72F}"/>
              </a:ext>
            </a:extLst>
          </p:cNvPr>
          <p:cNvSpPr txBox="1"/>
          <p:nvPr/>
        </p:nvSpPr>
        <p:spPr>
          <a:xfrm>
            <a:off x="6387780" y="3123979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2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3F5A6E29-ABCA-9ADE-B16C-43DA27CE508F}"/>
              </a:ext>
            </a:extLst>
          </p:cNvPr>
          <p:cNvCxnSpPr>
            <a:cxnSpLocks/>
          </p:cNvCxnSpPr>
          <p:nvPr/>
        </p:nvCxnSpPr>
        <p:spPr>
          <a:xfrm flipH="1" flipV="1">
            <a:off x="6686706" y="3123979"/>
            <a:ext cx="13270" cy="301363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2A7DDE11-294F-6695-FC1E-CF16AC6CD9B7}"/>
              </a:ext>
            </a:extLst>
          </p:cNvPr>
          <p:cNvCxnSpPr>
            <a:cxnSpLocks/>
          </p:cNvCxnSpPr>
          <p:nvPr/>
        </p:nvCxnSpPr>
        <p:spPr>
          <a:xfrm flipH="1">
            <a:off x="6564719" y="3424180"/>
            <a:ext cx="120716" cy="199805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FD3D8F4-3FF6-E863-01E6-FA2B2AAC61AE}"/>
              </a:ext>
            </a:extLst>
          </p:cNvPr>
          <p:cNvSpPr txBox="1"/>
          <p:nvPr/>
        </p:nvSpPr>
        <p:spPr>
          <a:xfrm>
            <a:off x="6575766" y="353234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2</a:t>
            </a:r>
            <a:endParaRPr lang="es-MX" dirty="0">
              <a:highlight>
                <a:srgbClr val="FFFF00"/>
              </a:highlight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1A56365-C79A-E9B4-8260-44C047B4DDCB}"/>
              </a:ext>
            </a:extLst>
          </p:cNvPr>
          <p:cNvCxnSpPr>
            <a:cxnSpLocks/>
          </p:cNvCxnSpPr>
          <p:nvPr/>
        </p:nvCxnSpPr>
        <p:spPr>
          <a:xfrm>
            <a:off x="5993651" y="2540659"/>
            <a:ext cx="302447" cy="6414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8BFC10E-0C52-B20A-7BD0-0501A7860B58}"/>
              </a:ext>
            </a:extLst>
          </p:cNvPr>
          <p:cNvSpPr txBox="1"/>
          <p:nvPr/>
        </p:nvSpPr>
        <p:spPr>
          <a:xfrm>
            <a:off x="6245414" y="2343345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3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10245E7-1E57-8615-E6C4-802A3F1D3C84}"/>
              </a:ext>
            </a:extLst>
          </p:cNvPr>
          <p:cNvSpPr txBox="1"/>
          <p:nvPr/>
        </p:nvSpPr>
        <p:spPr>
          <a:xfrm>
            <a:off x="5694725" y="2239296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3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23D4C54A-B816-B30F-F59E-0F366BF9A2C4}"/>
              </a:ext>
            </a:extLst>
          </p:cNvPr>
          <p:cNvCxnSpPr>
            <a:cxnSpLocks/>
          </p:cNvCxnSpPr>
          <p:nvPr/>
        </p:nvCxnSpPr>
        <p:spPr>
          <a:xfrm flipH="1" flipV="1">
            <a:off x="5993651" y="2239296"/>
            <a:ext cx="13270" cy="301363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31662B09-4BDA-A9AF-77D6-BBE797957BB3}"/>
              </a:ext>
            </a:extLst>
          </p:cNvPr>
          <p:cNvCxnSpPr>
            <a:cxnSpLocks/>
          </p:cNvCxnSpPr>
          <p:nvPr/>
        </p:nvCxnSpPr>
        <p:spPr>
          <a:xfrm flipH="1">
            <a:off x="5871664" y="2539497"/>
            <a:ext cx="120716" cy="199805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DEAE7A5-9685-E532-C1AF-F205CCA5ED99}"/>
              </a:ext>
            </a:extLst>
          </p:cNvPr>
          <p:cNvSpPr txBox="1"/>
          <p:nvPr/>
        </p:nvSpPr>
        <p:spPr>
          <a:xfrm>
            <a:off x="5613112" y="2671398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3</a:t>
            </a:r>
            <a:endParaRPr lang="es-MX" dirty="0">
              <a:highlight>
                <a:srgbClr val="FFFF00"/>
              </a:highlight>
            </a:endParaRP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3BE1616C-9034-980A-3FFA-C33663B43D7C}"/>
              </a:ext>
            </a:extLst>
          </p:cNvPr>
          <p:cNvCxnSpPr>
            <a:cxnSpLocks/>
          </p:cNvCxnSpPr>
          <p:nvPr/>
        </p:nvCxnSpPr>
        <p:spPr>
          <a:xfrm>
            <a:off x="6359220" y="2118329"/>
            <a:ext cx="302447" cy="6414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4C6AF30-B2DF-7EA5-00E7-B5BBB60040F8}"/>
              </a:ext>
            </a:extLst>
          </p:cNvPr>
          <p:cNvSpPr txBox="1"/>
          <p:nvPr/>
        </p:nvSpPr>
        <p:spPr>
          <a:xfrm>
            <a:off x="6610983" y="1921015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4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4099FBD-D893-5D7B-B1EA-A1444C8F5AD6}"/>
              </a:ext>
            </a:extLst>
          </p:cNvPr>
          <p:cNvSpPr txBox="1"/>
          <p:nvPr/>
        </p:nvSpPr>
        <p:spPr>
          <a:xfrm>
            <a:off x="6209820" y="1558059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4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0D3D2DBE-8230-20B7-00B7-79CE85813C12}"/>
              </a:ext>
            </a:extLst>
          </p:cNvPr>
          <p:cNvCxnSpPr>
            <a:cxnSpLocks/>
          </p:cNvCxnSpPr>
          <p:nvPr/>
        </p:nvCxnSpPr>
        <p:spPr>
          <a:xfrm flipH="1" flipV="1">
            <a:off x="6359220" y="1816966"/>
            <a:ext cx="13270" cy="301363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266C4EE7-D535-3985-28FF-F608C63C4F26}"/>
              </a:ext>
            </a:extLst>
          </p:cNvPr>
          <p:cNvCxnSpPr>
            <a:cxnSpLocks/>
          </p:cNvCxnSpPr>
          <p:nvPr/>
        </p:nvCxnSpPr>
        <p:spPr>
          <a:xfrm flipH="1">
            <a:off x="6237233" y="2117167"/>
            <a:ext cx="120716" cy="199805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39082DF-F9F3-66F8-B8B4-BE712AA3D3B6}"/>
              </a:ext>
            </a:extLst>
          </p:cNvPr>
          <p:cNvSpPr txBox="1"/>
          <p:nvPr/>
        </p:nvSpPr>
        <p:spPr>
          <a:xfrm>
            <a:off x="6020836" y="1967150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4</a:t>
            </a:r>
            <a:endParaRPr lang="es-MX" dirty="0">
              <a:highlight>
                <a:srgbClr val="FFFF00"/>
              </a:highlight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87D1D959-A831-5E08-D644-B65614B3CBC0}"/>
              </a:ext>
            </a:extLst>
          </p:cNvPr>
          <p:cNvCxnSpPr>
            <a:cxnSpLocks/>
          </p:cNvCxnSpPr>
          <p:nvPr/>
        </p:nvCxnSpPr>
        <p:spPr>
          <a:xfrm>
            <a:off x="7246320" y="2118238"/>
            <a:ext cx="302447" cy="6414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85428C3-B7E8-DDD3-BAD8-16C9F8FFE637}"/>
              </a:ext>
            </a:extLst>
          </p:cNvPr>
          <p:cNvSpPr txBox="1"/>
          <p:nvPr/>
        </p:nvSpPr>
        <p:spPr>
          <a:xfrm>
            <a:off x="7357760" y="1837567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5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42C7571-3E8E-F468-EDD6-FAE5103C3979}"/>
              </a:ext>
            </a:extLst>
          </p:cNvPr>
          <p:cNvSpPr txBox="1"/>
          <p:nvPr/>
        </p:nvSpPr>
        <p:spPr>
          <a:xfrm>
            <a:off x="7097254" y="1558058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5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B65D6F1A-2A40-4F70-4A19-926AA041D8BF}"/>
              </a:ext>
            </a:extLst>
          </p:cNvPr>
          <p:cNvCxnSpPr>
            <a:cxnSpLocks/>
          </p:cNvCxnSpPr>
          <p:nvPr/>
        </p:nvCxnSpPr>
        <p:spPr>
          <a:xfrm flipH="1" flipV="1">
            <a:off x="7246320" y="1816875"/>
            <a:ext cx="13270" cy="301363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E19DCE51-E269-05D5-56A4-4E32066162C4}"/>
              </a:ext>
            </a:extLst>
          </p:cNvPr>
          <p:cNvCxnSpPr>
            <a:cxnSpLocks/>
          </p:cNvCxnSpPr>
          <p:nvPr/>
        </p:nvCxnSpPr>
        <p:spPr>
          <a:xfrm flipH="1">
            <a:off x="7124333" y="2117076"/>
            <a:ext cx="120716" cy="199805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807DE1F-D9D7-DED5-C987-D9970845B24C}"/>
              </a:ext>
            </a:extLst>
          </p:cNvPr>
          <p:cNvSpPr txBox="1"/>
          <p:nvPr/>
        </p:nvSpPr>
        <p:spPr>
          <a:xfrm>
            <a:off x="6865781" y="2248977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5</a:t>
            </a:r>
            <a:endParaRPr lang="es-MX" dirty="0">
              <a:highlight>
                <a:srgbClr val="FFFF00"/>
              </a:highlight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883789E7-E9A8-77D1-2F14-3E337314D6FF}"/>
              </a:ext>
            </a:extLst>
          </p:cNvPr>
          <p:cNvCxnSpPr>
            <a:cxnSpLocks/>
          </p:cNvCxnSpPr>
          <p:nvPr/>
        </p:nvCxnSpPr>
        <p:spPr>
          <a:xfrm>
            <a:off x="7775760" y="2128833"/>
            <a:ext cx="302447" cy="6414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EB3033B-C7B6-E17F-CAA8-124BB0E7C010}"/>
              </a:ext>
            </a:extLst>
          </p:cNvPr>
          <p:cNvSpPr txBox="1"/>
          <p:nvPr/>
        </p:nvSpPr>
        <p:spPr>
          <a:xfrm>
            <a:off x="8027523" y="1931519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6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DEE1EFA-B355-8DB5-6B1C-D87255EF7427}"/>
              </a:ext>
            </a:extLst>
          </p:cNvPr>
          <p:cNvSpPr txBox="1"/>
          <p:nvPr/>
        </p:nvSpPr>
        <p:spPr>
          <a:xfrm>
            <a:off x="7610297" y="1605920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6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DAB7AAA1-9B66-0060-2000-3BDBF7853DC8}"/>
              </a:ext>
            </a:extLst>
          </p:cNvPr>
          <p:cNvCxnSpPr>
            <a:cxnSpLocks/>
          </p:cNvCxnSpPr>
          <p:nvPr/>
        </p:nvCxnSpPr>
        <p:spPr>
          <a:xfrm flipH="1" flipV="1">
            <a:off x="7775760" y="1827470"/>
            <a:ext cx="13270" cy="301363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DF7F8CD3-0C79-4284-05BA-5A473ABB8D59}"/>
              </a:ext>
            </a:extLst>
          </p:cNvPr>
          <p:cNvCxnSpPr>
            <a:cxnSpLocks/>
          </p:cNvCxnSpPr>
          <p:nvPr/>
        </p:nvCxnSpPr>
        <p:spPr>
          <a:xfrm flipH="1">
            <a:off x="7653773" y="2127671"/>
            <a:ext cx="120716" cy="199805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018D1C06-0456-04CB-A9FD-4B4179754D61}"/>
              </a:ext>
            </a:extLst>
          </p:cNvPr>
          <p:cNvSpPr txBox="1"/>
          <p:nvPr/>
        </p:nvSpPr>
        <p:spPr>
          <a:xfrm>
            <a:off x="7395221" y="225957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6</a:t>
            </a:r>
            <a:endParaRPr lang="es-MX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9022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A8CA858C-231E-579A-0DC0-F84502B7C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6472F2BC-B0F7-34EE-76AE-0F8D33F2B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4376FCB5-3471-BB53-0932-C14102B5222E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864968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Transformaciones Rotacionales y Traslacionales</a:t>
            </a: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83BD22CF-6C17-33A9-4FEE-F6C5F9980E59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5CA38F1F-1ED3-DC69-0F5F-C2D3C7A9429A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04202B6A-06B3-5433-BA3C-4F5F65DE1740}"/>
              </a:ext>
            </a:extLst>
          </p:cNvPr>
          <p:cNvSpPr txBox="1"/>
          <p:nvPr/>
        </p:nvSpPr>
        <p:spPr>
          <a:xfrm>
            <a:off x="237945" y="1435444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Ejemplo:</a:t>
            </a:r>
          </a:p>
          <a:p>
            <a:pPr algn="just"/>
            <a:r>
              <a:rPr lang="es-MX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Realiza el análisis de transformaciones Rotacionales y Traslacionales para el siguiente diagrama de alambre. 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208A65C-A274-86FB-ADBF-8EF63D86CEA4}"/>
              </a:ext>
            </a:extLst>
          </p:cNvPr>
          <p:cNvCxnSpPr>
            <a:cxnSpLocks/>
          </p:cNvCxnSpPr>
          <p:nvPr/>
        </p:nvCxnSpPr>
        <p:spPr>
          <a:xfrm flipV="1">
            <a:off x="2903397" y="3933270"/>
            <a:ext cx="5608" cy="5370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C8C18D77-9AB0-2571-8B29-B899E863292E}"/>
              </a:ext>
            </a:extLst>
          </p:cNvPr>
          <p:cNvCxnSpPr>
            <a:cxnSpLocks/>
          </p:cNvCxnSpPr>
          <p:nvPr/>
        </p:nvCxnSpPr>
        <p:spPr>
          <a:xfrm flipV="1">
            <a:off x="2911864" y="4163903"/>
            <a:ext cx="373783" cy="316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61382E6-6839-44D9-5ACF-D8062657BE79}"/>
              </a:ext>
            </a:extLst>
          </p:cNvPr>
          <p:cNvCxnSpPr>
            <a:cxnSpLocks/>
          </p:cNvCxnSpPr>
          <p:nvPr/>
        </p:nvCxnSpPr>
        <p:spPr>
          <a:xfrm>
            <a:off x="2922599" y="4474845"/>
            <a:ext cx="606251" cy="11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C474F859-786F-791C-A7C9-DF65323FE568}"/>
              </a:ext>
            </a:extLst>
          </p:cNvPr>
          <p:cNvSpPr txBox="1"/>
          <p:nvPr/>
        </p:nvSpPr>
        <p:spPr>
          <a:xfrm>
            <a:off x="3504446" y="4235870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0000"/>
                </a:highlight>
              </a:rPr>
              <a:t>x</a:t>
            </a:r>
            <a:r>
              <a:rPr lang="es-ES" sz="1000" dirty="0">
                <a:highlight>
                  <a:srgbClr val="FF0000"/>
                </a:highlight>
              </a:rPr>
              <a:t>0</a:t>
            </a:r>
            <a:endParaRPr lang="es-MX" dirty="0">
              <a:highlight>
                <a:srgbClr val="FF00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E0EA073-FFFA-1554-0202-37AB0F65A865}"/>
              </a:ext>
            </a:extLst>
          </p:cNvPr>
          <p:cNvSpPr txBox="1"/>
          <p:nvPr/>
        </p:nvSpPr>
        <p:spPr>
          <a:xfrm>
            <a:off x="3225724" y="3888131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y</a:t>
            </a:r>
            <a:r>
              <a:rPr lang="es-ES" sz="9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B5CFA96-1EF3-3808-9A1E-2CE6732FDED6}"/>
              </a:ext>
            </a:extLst>
          </p:cNvPr>
          <p:cNvSpPr txBox="1"/>
          <p:nvPr/>
        </p:nvSpPr>
        <p:spPr>
          <a:xfrm>
            <a:off x="2563456" y="3790431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1C6FAA71-9FBD-88B9-118C-A2E9E43B2B3A}"/>
              </a:ext>
            </a:extLst>
          </p:cNvPr>
          <p:cNvSpPr txBox="1"/>
          <p:nvPr/>
        </p:nvSpPr>
        <p:spPr>
          <a:xfrm>
            <a:off x="950936" y="3672494"/>
            <a:ext cx="1682217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SISTEMA DE REFERENCIA GLOBAL (Mundo)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C8D48A33-7037-CB8E-4093-49487AE91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98" y="1744107"/>
            <a:ext cx="4637893" cy="317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2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D440E764-80AA-B7D9-D13F-BE8FE7ED8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BDD0D168-D576-C45C-54FC-9E2F00E78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1BD9314C-CBF7-B692-E4D2-78D26202E228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867312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lvl="0">
              <a:buClr>
                <a:srgbClr val="F3F3F3"/>
              </a:buClr>
              <a:buSzPts val="3000"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Transformaciones Rotacionales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y Traslacionales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845A717C-600C-E0F5-CF33-829D65625FA4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B4834BA0-A7F2-6266-4D4A-CEB1EECC4880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92233784-972D-3C89-2228-DC89BE84C19E}"/>
              </a:ext>
            </a:extLst>
          </p:cNvPr>
          <p:cNvSpPr txBox="1"/>
          <p:nvPr/>
        </p:nvSpPr>
        <p:spPr>
          <a:xfrm>
            <a:off x="242709" y="1432924"/>
            <a:ext cx="3609738" cy="1867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 de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S0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S1</a:t>
            </a: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“Rotación positiva de 90° alrededor del eje X0”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“Translación positiva de L1 sobre el eje Z0”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B2351FC6-5716-A422-B5C9-C160CA98205B}"/>
              </a:ext>
            </a:extLst>
          </p:cNvPr>
          <p:cNvCxnSpPr>
            <a:cxnSpLocks/>
          </p:cNvCxnSpPr>
          <p:nvPr/>
        </p:nvCxnSpPr>
        <p:spPr>
          <a:xfrm flipV="1">
            <a:off x="2903397" y="3933270"/>
            <a:ext cx="5608" cy="5370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6BD5CF36-DD1B-6039-E16D-27BC6F992F7B}"/>
              </a:ext>
            </a:extLst>
          </p:cNvPr>
          <p:cNvCxnSpPr>
            <a:cxnSpLocks/>
          </p:cNvCxnSpPr>
          <p:nvPr/>
        </p:nvCxnSpPr>
        <p:spPr>
          <a:xfrm flipV="1">
            <a:off x="2911864" y="4163903"/>
            <a:ext cx="373783" cy="316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06573692-10C3-C0E8-4B7F-6AEF541201A6}"/>
              </a:ext>
            </a:extLst>
          </p:cNvPr>
          <p:cNvCxnSpPr>
            <a:cxnSpLocks/>
          </p:cNvCxnSpPr>
          <p:nvPr/>
        </p:nvCxnSpPr>
        <p:spPr>
          <a:xfrm>
            <a:off x="2922599" y="4474845"/>
            <a:ext cx="606251" cy="11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6E98EC48-390E-F724-40E0-E95FA709022F}"/>
              </a:ext>
            </a:extLst>
          </p:cNvPr>
          <p:cNvSpPr txBox="1"/>
          <p:nvPr/>
        </p:nvSpPr>
        <p:spPr>
          <a:xfrm>
            <a:off x="3504446" y="4235870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0000"/>
                </a:highlight>
              </a:rPr>
              <a:t>x</a:t>
            </a:r>
            <a:r>
              <a:rPr lang="es-ES" sz="1000" dirty="0">
                <a:highlight>
                  <a:srgbClr val="FF0000"/>
                </a:highlight>
              </a:rPr>
              <a:t>0</a:t>
            </a:r>
            <a:endParaRPr lang="es-MX" dirty="0">
              <a:highlight>
                <a:srgbClr val="FF00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C8E8083-7ECF-C0ED-17FF-8BF5A8D6CBD3}"/>
              </a:ext>
            </a:extLst>
          </p:cNvPr>
          <p:cNvSpPr txBox="1"/>
          <p:nvPr/>
        </p:nvSpPr>
        <p:spPr>
          <a:xfrm>
            <a:off x="3225724" y="3888131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y</a:t>
            </a:r>
            <a:r>
              <a:rPr lang="es-ES" sz="9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41CBC9B-32C5-BFF4-EB09-A5B76FEE5B71}"/>
              </a:ext>
            </a:extLst>
          </p:cNvPr>
          <p:cNvSpPr txBox="1"/>
          <p:nvPr/>
        </p:nvSpPr>
        <p:spPr>
          <a:xfrm>
            <a:off x="2563456" y="3790431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352650D2-66AB-8601-C19D-1BBD58D2AEBD}"/>
              </a:ext>
            </a:extLst>
          </p:cNvPr>
          <p:cNvSpPr txBox="1"/>
          <p:nvPr/>
        </p:nvSpPr>
        <p:spPr>
          <a:xfrm>
            <a:off x="950936" y="3672494"/>
            <a:ext cx="1682217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SISTEMA DE REFERENCIA GLOBAL (Mundo)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45AF9749-FBF7-983A-4154-386493847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98" y="1744107"/>
            <a:ext cx="4637893" cy="3178677"/>
          </a:xfrm>
          <a:prstGeom prst="rect">
            <a:avLst/>
          </a:prstGeom>
        </p:spPr>
      </p:pic>
      <p:sp>
        <p:nvSpPr>
          <p:cNvPr id="12" name="Flecha: curvada hacia abajo 11">
            <a:extLst>
              <a:ext uri="{FF2B5EF4-FFF2-40B4-BE49-F238E27FC236}">
                <a16:creationId xmlns:a16="http://schemas.microsoft.com/office/drawing/2014/main" id="{FDDD1C8D-13D2-8BC8-54B8-5D7BFDC828F4}"/>
              </a:ext>
            </a:extLst>
          </p:cNvPr>
          <p:cNvSpPr/>
          <p:nvPr/>
        </p:nvSpPr>
        <p:spPr>
          <a:xfrm rot="16200000">
            <a:off x="3399893" y="3473613"/>
            <a:ext cx="1436027" cy="37378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76C9074-9272-4A93-16E7-09678E607115}"/>
              </a:ext>
            </a:extLst>
          </p:cNvPr>
          <p:cNvSpPr txBox="1"/>
          <p:nvPr/>
        </p:nvSpPr>
        <p:spPr>
          <a:xfrm>
            <a:off x="4950166" y="361113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33EF0D3-DD36-C603-AB70-DB1388AB9CA0}"/>
              </a:ext>
            </a:extLst>
          </p:cNvPr>
          <p:cNvSpPr txBox="1"/>
          <p:nvPr/>
        </p:nvSpPr>
        <p:spPr>
          <a:xfrm>
            <a:off x="5068391" y="246546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6458725-5E07-EFF3-137B-1E87C1059EFF}"/>
              </a:ext>
            </a:extLst>
          </p:cNvPr>
          <p:cNvSpPr txBox="1"/>
          <p:nvPr/>
        </p:nvSpPr>
        <p:spPr>
          <a:xfrm>
            <a:off x="6242752" y="208964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7AEFB1E-9F42-179A-2643-C72F1DA95DAE}"/>
              </a:ext>
            </a:extLst>
          </p:cNvPr>
          <p:cNvSpPr txBox="1"/>
          <p:nvPr/>
        </p:nvSpPr>
        <p:spPr>
          <a:xfrm>
            <a:off x="7530237" y="2500629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L4</a:t>
            </a:r>
          </a:p>
        </p:txBody>
      </p:sp>
    </p:spTree>
    <p:extLst>
      <p:ext uri="{BB962C8B-B14F-4D97-AF65-F5344CB8AC3E}">
        <p14:creationId xmlns:p14="http://schemas.microsoft.com/office/powerpoint/2010/main" val="100946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DD44A61D-805B-E130-3DD3-BDC9BAD87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2D540A17-F650-49FD-11F3-D094C92FD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D9E3D72E-B30A-6E10-7EEF-711919E39672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85809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lvl="0">
              <a:buClr>
                <a:srgbClr val="F3F3F3"/>
              </a:buClr>
              <a:buSzPts val="3000"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Transformaciones Rotacionales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y Traslacionales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CF39CE94-6A00-77A7-FDA6-733801D3F1F0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D23A2020-90C0-C04A-C2B4-0FD61CC51670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862E9494-4C20-D3F9-1973-7CCF24A67F23}"/>
              </a:ext>
            </a:extLst>
          </p:cNvPr>
          <p:cNvSpPr txBox="1"/>
          <p:nvPr/>
        </p:nvSpPr>
        <p:spPr>
          <a:xfrm>
            <a:off x="116417" y="1404790"/>
            <a:ext cx="2737745" cy="1867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 de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S0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S1</a:t>
            </a: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“Rotación positiva de 90° alrededor del eje X0”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“Translación positiva de L1 sobre el eje Z0”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EE81D6F9-4DD2-A635-B1DC-EDE23381613B}"/>
              </a:ext>
            </a:extLst>
          </p:cNvPr>
          <p:cNvSpPr txBox="1"/>
          <p:nvPr/>
        </p:nvSpPr>
        <p:spPr>
          <a:xfrm>
            <a:off x="4532746" y="1225047"/>
            <a:ext cx="2818845" cy="49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MATEMÁTICA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D9998B4-287A-68C3-2C22-18D4ED5D4668}"/>
              </a:ext>
            </a:extLst>
          </p:cNvPr>
          <p:cNvSpPr txBox="1"/>
          <p:nvPr/>
        </p:nvSpPr>
        <p:spPr>
          <a:xfrm>
            <a:off x="5691202" y="1696540"/>
            <a:ext cx="931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A54447BB-D581-ECCC-07D8-C5C16D593E96}"/>
                  </a:ext>
                </a:extLst>
              </p:cNvPr>
              <p:cNvSpPr txBox="1"/>
              <p:nvPr/>
            </p:nvSpPr>
            <p:spPr>
              <a:xfrm>
                <a:off x="3644257" y="2112770"/>
                <a:ext cx="2388795" cy="695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A54447BB-D581-ECCC-07D8-C5C16D593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257" y="2112770"/>
                <a:ext cx="2388795" cy="695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B16F3FFE-1EFF-D763-3CB9-5901472B1CB3}"/>
                  </a:ext>
                </a:extLst>
              </p:cNvPr>
              <p:cNvSpPr txBox="1"/>
              <p:nvPr/>
            </p:nvSpPr>
            <p:spPr>
              <a:xfrm>
                <a:off x="6157194" y="2112770"/>
                <a:ext cx="2333779" cy="782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B16F3FFE-1EFF-D763-3CB9-5901472B1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194" y="2112770"/>
                <a:ext cx="2333779" cy="7825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Google Shape;1603;p42">
            <a:extLst>
              <a:ext uri="{FF2B5EF4-FFF2-40B4-BE49-F238E27FC236}">
                <a16:creationId xmlns:a16="http://schemas.microsoft.com/office/drawing/2014/main" id="{94A6D664-A465-C0A9-E734-63AB9800876B}"/>
              </a:ext>
            </a:extLst>
          </p:cNvPr>
          <p:cNvSpPr txBox="1"/>
          <p:nvPr/>
        </p:nvSpPr>
        <p:spPr>
          <a:xfrm>
            <a:off x="3891111" y="2717265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Z0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3" name="Google Shape;1603;p42">
            <a:extLst>
              <a:ext uri="{FF2B5EF4-FFF2-40B4-BE49-F238E27FC236}">
                <a16:creationId xmlns:a16="http://schemas.microsoft.com/office/drawing/2014/main" id="{F29794A3-7A63-44D9-23EF-0F0927CF7D7E}"/>
              </a:ext>
            </a:extLst>
          </p:cNvPr>
          <p:cNvSpPr txBox="1"/>
          <p:nvPr/>
        </p:nvSpPr>
        <p:spPr>
          <a:xfrm>
            <a:off x="6439783" y="2717265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X0 Evaluada en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+90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5" name="Google Shape;1603;p42">
            <a:extLst>
              <a:ext uri="{FF2B5EF4-FFF2-40B4-BE49-F238E27FC236}">
                <a16:creationId xmlns:a16="http://schemas.microsoft.com/office/drawing/2014/main" id="{B89392FE-A387-4475-6363-5F555EF31C05}"/>
              </a:ext>
            </a:extLst>
          </p:cNvPr>
          <p:cNvSpPr txBox="1"/>
          <p:nvPr/>
        </p:nvSpPr>
        <p:spPr>
          <a:xfrm>
            <a:off x="5961653" y="2118602"/>
            <a:ext cx="301172" cy="66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x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5AFFF67-0FBF-F7E0-CBD2-3533F81AB31F}"/>
              </a:ext>
            </a:extLst>
          </p:cNvPr>
          <p:cNvSpPr txBox="1"/>
          <p:nvPr/>
        </p:nvSpPr>
        <p:spPr>
          <a:xfrm>
            <a:off x="5622709" y="3702205"/>
            <a:ext cx="1068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  <a:endParaRPr lang="es-ES" sz="14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FBF8EF4-1C05-6E24-FB93-30ABEBB5C63C}"/>
                  </a:ext>
                </a:extLst>
              </p:cNvPr>
              <p:cNvSpPr txBox="1"/>
              <p:nvPr/>
            </p:nvSpPr>
            <p:spPr>
              <a:xfrm>
                <a:off x="4994031" y="4133921"/>
                <a:ext cx="460318" cy="6708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FBF8EF4-1C05-6E24-FB93-30ABEBB5C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031" y="4133921"/>
                <a:ext cx="460318" cy="6708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Google Shape;1603;p42">
            <a:extLst>
              <a:ext uri="{FF2B5EF4-FFF2-40B4-BE49-F238E27FC236}">
                <a16:creationId xmlns:a16="http://schemas.microsoft.com/office/drawing/2014/main" id="{BADB3307-95EF-D0BA-21C5-208B7920BB66}"/>
              </a:ext>
            </a:extLst>
          </p:cNvPr>
          <p:cNvSpPr txBox="1"/>
          <p:nvPr/>
        </p:nvSpPr>
        <p:spPr>
          <a:xfrm>
            <a:off x="5820359" y="4017656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Traslación de 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S0 a S1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89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21" grpId="0"/>
      <p:bldP spid="23" grpId="0"/>
      <p:bldP spid="25" grpId="0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A827B02F-1A5B-9AB3-BCDE-732DEA882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5F2389DB-A3B9-7D25-6E25-786B46FF4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9C025192-8AE1-4EF2-A2F0-CF1EB87C31D6}"/>
              </a:ext>
            </a:extLst>
          </p:cNvPr>
          <p:cNvSpPr txBox="1">
            <a:spLocks/>
          </p:cNvSpPr>
          <p:nvPr/>
        </p:nvSpPr>
        <p:spPr>
          <a:xfrm>
            <a:off x="373909" y="338754"/>
            <a:ext cx="771501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lvl="0">
              <a:buClr>
                <a:srgbClr val="F3F3F3"/>
              </a:buClr>
              <a:buSzPts val="3000"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Transformaciones Rotacionales y Traslacionales</a:t>
            </a: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DFAFE34F-4B08-B046-1CA8-B97694907D47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491A5DA2-1E20-8DD5-0BDA-6360A3045D5F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E5868B47-0839-071E-5105-DB1A5484CA5A}"/>
                  </a:ext>
                </a:extLst>
              </p:cNvPr>
              <p:cNvSpPr txBox="1"/>
              <p:nvPr/>
            </p:nvSpPr>
            <p:spPr>
              <a:xfrm>
                <a:off x="237945" y="1435444"/>
                <a:ext cx="3609738" cy="7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Transformaciones de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S1</a:t>
                </a:r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a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S2</a:t>
                </a: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“No existe transformación de rotación”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Translación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positiva de L2*cos(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X1”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positiva de L2*sen(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Y1”</a:t>
                </a:r>
              </a:p>
              <a:p>
                <a:pPr algn="just"/>
                <a:endParaRPr lang="es-ES" sz="1600" b="1" dirty="0">
                  <a:solidFill>
                    <a:srgbClr val="FFFF00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E5868B47-0839-071E-5105-DB1A5484C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45" y="1435444"/>
                <a:ext cx="3609738" cy="726300"/>
              </a:xfrm>
              <a:prstGeom prst="rect">
                <a:avLst/>
              </a:prstGeom>
              <a:blipFill>
                <a:blip r:embed="rId4"/>
                <a:stretch>
                  <a:fillRect l="-845" r="-1014" b="-242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2527499-1338-03ED-4A46-3F439AADA244}"/>
              </a:ext>
            </a:extLst>
          </p:cNvPr>
          <p:cNvCxnSpPr>
            <a:cxnSpLocks/>
          </p:cNvCxnSpPr>
          <p:nvPr/>
        </p:nvCxnSpPr>
        <p:spPr>
          <a:xfrm flipV="1">
            <a:off x="2903397" y="3933270"/>
            <a:ext cx="5608" cy="5370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E613CD7F-7B74-1E0E-D80E-FFD325F8FF90}"/>
              </a:ext>
            </a:extLst>
          </p:cNvPr>
          <p:cNvCxnSpPr>
            <a:cxnSpLocks/>
          </p:cNvCxnSpPr>
          <p:nvPr/>
        </p:nvCxnSpPr>
        <p:spPr>
          <a:xfrm flipV="1">
            <a:off x="2911864" y="4163903"/>
            <a:ext cx="373783" cy="316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244B59C-37DB-E1CF-787D-D60158A28ABC}"/>
              </a:ext>
            </a:extLst>
          </p:cNvPr>
          <p:cNvCxnSpPr>
            <a:cxnSpLocks/>
          </p:cNvCxnSpPr>
          <p:nvPr/>
        </p:nvCxnSpPr>
        <p:spPr>
          <a:xfrm>
            <a:off x="2922599" y="4474845"/>
            <a:ext cx="606251" cy="11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B67422DF-09D0-673B-9721-567602AEAB6C}"/>
              </a:ext>
            </a:extLst>
          </p:cNvPr>
          <p:cNvSpPr txBox="1"/>
          <p:nvPr/>
        </p:nvSpPr>
        <p:spPr>
          <a:xfrm>
            <a:off x="3504446" y="4235870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0000"/>
                </a:highlight>
              </a:rPr>
              <a:t>x</a:t>
            </a:r>
            <a:r>
              <a:rPr lang="es-ES" sz="1000" dirty="0">
                <a:highlight>
                  <a:srgbClr val="FF0000"/>
                </a:highlight>
              </a:rPr>
              <a:t>0</a:t>
            </a:r>
            <a:endParaRPr lang="es-MX" dirty="0">
              <a:highlight>
                <a:srgbClr val="FF00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11AF4A9-A0DC-CE6C-29CC-D053C120FA78}"/>
              </a:ext>
            </a:extLst>
          </p:cNvPr>
          <p:cNvSpPr txBox="1"/>
          <p:nvPr/>
        </p:nvSpPr>
        <p:spPr>
          <a:xfrm>
            <a:off x="3225724" y="3888131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y</a:t>
            </a:r>
            <a:r>
              <a:rPr lang="es-ES" sz="9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C0E9C9A-D34C-0813-425E-66C7A627DC87}"/>
              </a:ext>
            </a:extLst>
          </p:cNvPr>
          <p:cNvSpPr txBox="1"/>
          <p:nvPr/>
        </p:nvSpPr>
        <p:spPr>
          <a:xfrm>
            <a:off x="2563456" y="3790431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1F9E9A8D-9280-5C97-2F55-74297CD62F91}"/>
              </a:ext>
            </a:extLst>
          </p:cNvPr>
          <p:cNvSpPr txBox="1"/>
          <p:nvPr/>
        </p:nvSpPr>
        <p:spPr>
          <a:xfrm>
            <a:off x="1341390" y="3817347"/>
            <a:ext cx="1682217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SISTEMA DE REFERENCIA GLOBAL (Mundo)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A8B7DF6D-AB55-4140-89B6-CF98BA3567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0698" y="1744107"/>
            <a:ext cx="4637893" cy="3178677"/>
          </a:xfrm>
          <a:prstGeom prst="rect">
            <a:avLst/>
          </a:prstGeom>
        </p:spPr>
      </p:pic>
      <p:sp>
        <p:nvSpPr>
          <p:cNvPr id="12" name="Flecha: curvada hacia abajo 11">
            <a:extLst>
              <a:ext uri="{FF2B5EF4-FFF2-40B4-BE49-F238E27FC236}">
                <a16:creationId xmlns:a16="http://schemas.microsoft.com/office/drawing/2014/main" id="{940317BD-B194-D733-903A-3DC3830BF850}"/>
              </a:ext>
            </a:extLst>
          </p:cNvPr>
          <p:cNvSpPr/>
          <p:nvPr/>
        </p:nvSpPr>
        <p:spPr>
          <a:xfrm rot="18860255">
            <a:off x="4043767" y="2105068"/>
            <a:ext cx="1189981" cy="37378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8BBF6D6-943F-B124-2B1D-92D224D7BC58}"/>
              </a:ext>
            </a:extLst>
          </p:cNvPr>
          <p:cNvSpPr txBox="1"/>
          <p:nvPr/>
        </p:nvSpPr>
        <p:spPr>
          <a:xfrm>
            <a:off x="4950166" y="361113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B8AE689-D7D2-8146-94FB-02AAA86176D6}"/>
              </a:ext>
            </a:extLst>
          </p:cNvPr>
          <p:cNvSpPr txBox="1"/>
          <p:nvPr/>
        </p:nvSpPr>
        <p:spPr>
          <a:xfrm>
            <a:off x="5068391" y="246546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CFCF2C1-A671-0410-CD1D-0A6EA36832BD}"/>
              </a:ext>
            </a:extLst>
          </p:cNvPr>
          <p:cNvSpPr txBox="1"/>
          <p:nvPr/>
        </p:nvSpPr>
        <p:spPr>
          <a:xfrm>
            <a:off x="6242752" y="208964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188B444-9A5E-D4C6-BEB9-85C12D7FA392}"/>
              </a:ext>
            </a:extLst>
          </p:cNvPr>
          <p:cNvSpPr txBox="1"/>
          <p:nvPr/>
        </p:nvSpPr>
        <p:spPr>
          <a:xfrm>
            <a:off x="7530237" y="2500629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L4</a:t>
            </a:r>
          </a:p>
        </p:txBody>
      </p:sp>
    </p:spTree>
    <p:extLst>
      <p:ext uri="{BB962C8B-B14F-4D97-AF65-F5344CB8AC3E}">
        <p14:creationId xmlns:p14="http://schemas.microsoft.com/office/powerpoint/2010/main" val="225559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8E2DA1FE-F767-500B-1255-B7BD89201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76F732DD-BE06-B8FE-4D5C-50B454767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73B8FF20-41E5-0B86-804C-09F35708BDEE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85809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lvl="0">
              <a:buClr>
                <a:srgbClr val="F3F3F3"/>
              </a:buClr>
              <a:buSzPts val="3000"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Transformaciones Rotacionales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y Traslacionales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D2BA107A-2089-2B40-549D-7A503D287F30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1A9136A2-109B-1545-7F51-B9F667883959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56F34690-9BC7-5FAF-9457-4D9D7B9105F6}"/>
                  </a:ext>
                </a:extLst>
              </p:cNvPr>
              <p:cNvSpPr txBox="1"/>
              <p:nvPr/>
            </p:nvSpPr>
            <p:spPr>
              <a:xfrm>
                <a:off x="615054" y="1576902"/>
                <a:ext cx="3494034" cy="18674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Transformaciones de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S1</a:t>
                </a:r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a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S2</a:t>
                </a: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“No existe transformación de rotación”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Translación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positiva de L2*cos(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X1”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positiva de L2*sen(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Y1”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56F34690-9BC7-5FAF-9457-4D9D7B910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54" y="1576902"/>
                <a:ext cx="3494034" cy="1867434"/>
              </a:xfrm>
              <a:prstGeom prst="rect">
                <a:avLst/>
              </a:prstGeom>
              <a:blipFill>
                <a:blip r:embed="rId4"/>
                <a:stretch>
                  <a:fillRect l="-1047" r="-873" b="-339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FDEAD9E0-621E-AE4D-8D1C-3C70B3314ACA}"/>
              </a:ext>
            </a:extLst>
          </p:cNvPr>
          <p:cNvSpPr txBox="1"/>
          <p:nvPr/>
        </p:nvSpPr>
        <p:spPr>
          <a:xfrm>
            <a:off x="4532746" y="1225047"/>
            <a:ext cx="2818845" cy="49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MATEMÁTICA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26FDA2A-995D-8A69-B391-5A6CFD72C667}"/>
              </a:ext>
            </a:extLst>
          </p:cNvPr>
          <p:cNvSpPr txBox="1"/>
          <p:nvPr/>
        </p:nvSpPr>
        <p:spPr>
          <a:xfrm>
            <a:off x="5691202" y="1696540"/>
            <a:ext cx="931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F47A441C-DA59-5C8F-C333-B2C0CCCFB894}"/>
                  </a:ext>
                </a:extLst>
              </p:cNvPr>
              <p:cNvSpPr txBox="1"/>
              <p:nvPr/>
            </p:nvSpPr>
            <p:spPr>
              <a:xfrm>
                <a:off x="5034913" y="2033525"/>
                <a:ext cx="2388795" cy="695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F47A441C-DA59-5C8F-C333-B2C0CCCFB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4913" y="2033525"/>
                <a:ext cx="2388795" cy="695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Google Shape;1603;p42">
            <a:extLst>
              <a:ext uri="{FF2B5EF4-FFF2-40B4-BE49-F238E27FC236}">
                <a16:creationId xmlns:a16="http://schemas.microsoft.com/office/drawing/2014/main" id="{4FBF6825-69B6-DA42-C425-1A3224F8B1B8}"/>
              </a:ext>
            </a:extLst>
          </p:cNvPr>
          <p:cNvSpPr txBox="1"/>
          <p:nvPr/>
        </p:nvSpPr>
        <p:spPr>
          <a:xfrm>
            <a:off x="5281767" y="2638020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Z1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BF6781F-3945-D73D-EDC4-404B746CA5CF}"/>
              </a:ext>
            </a:extLst>
          </p:cNvPr>
          <p:cNvSpPr txBox="1"/>
          <p:nvPr/>
        </p:nvSpPr>
        <p:spPr>
          <a:xfrm>
            <a:off x="5622709" y="3702205"/>
            <a:ext cx="1068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  <a:endParaRPr lang="es-ES" sz="14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CC90FBF7-79C1-87D2-AAAE-475AC87A104D}"/>
                  </a:ext>
                </a:extLst>
              </p:cNvPr>
              <p:cNvSpPr txBox="1"/>
              <p:nvPr/>
            </p:nvSpPr>
            <p:spPr>
              <a:xfrm>
                <a:off x="4835659" y="4123662"/>
                <a:ext cx="1449691" cy="681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𝒄𝒐𝒔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𝒔𝒆𝒏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CC90FBF7-79C1-87D2-AAAE-475AC87A1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659" y="4123662"/>
                <a:ext cx="1449691" cy="6810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Google Shape;1603;p42">
            <a:extLst>
              <a:ext uri="{FF2B5EF4-FFF2-40B4-BE49-F238E27FC236}">
                <a16:creationId xmlns:a16="http://schemas.microsoft.com/office/drawing/2014/main" id="{525929A3-5788-6356-5CBA-08CE7B411BBB}"/>
              </a:ext>
            </a:extLst>
          </p:cNvPr>
          <p:cNvSpPr txBox="1"/>
          <p:nvPr/>
        </p:nvSpPr>
        <p:spPr>
          <a:xfrm>
            <a:off x="6246391" y="4030323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Traslación de 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S1 a S2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79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21" grpId="0"/>
      <p:bldP spid="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7BBB3560-B800-BEBA-E8E0-157C91D8D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C02BDDDE-51A3-511E-5C8D-D21B80EE4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8144E36C-4B71-30D4-2526-385876CCA06D}"/>
              </a:ext>
            </a:extLst>
          </p:cNvPr>
          <p:cNvSpPr txBox="1">
            <a:spLocks/>
          </p:cNvSpPr>
          <p:nvPr/>
        </p:nvSpPr>
        <p:spPr>
          <a:xfrm>
            <a:off x="373909" y="338754"/>
            <a:ext cx="771501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lvl="0">
              <a:buClr>
                <a:srgbClr val="F3F3F3"/>
              </a:buClr>
              <a:buSzPts val="3000"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Transformaciones Rotacionales y Traslacionales</a:t>
            </a: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D13DB365-0EA3-F2D9-B2A4-026F8B563F01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52547DDF-66D7-524C-D322-B7B16B1A60CD}"/>
                  </a:ext>
                </a:extLst>
              </p:cNvPr>
              <p:cNvSpPr txBox="1"/>
              <p:nvPr/>
            </p:nvSpPr>
            <p:spPr>
              <a:xfrm>
                <a:off x="251482" y="1326153"/>
                <a:ext cx="3609738" cy="7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Transformaciones de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S2</a:t>
                </a:r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a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S3</a:t>
                </a: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“Rotación positiva de 90° alrededor del eje X2 más….. 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 positiva de 90° alrededor del eje Y2”</a:t>
                </a:r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Translación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positiva de L3*cos(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X2”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positiva de L3*sen(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Y2”</a:t>
                </a:r>
              </a:p>
              <a:p>
                <a:pPr algn="just"/>
                <a:endParaRPr lang="es-ES" sz="1600" b="1" dirty="0">
                  <a:solidFill>
                    <a:srgbClr val="FFFF00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52547DDF-66D7-524C-D322-B7B16B1A6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82" y="1326153"/>
                <a:ext cx="3609738" cy="726300"/>
              </a:xfrm>
              <a:prstGeom prst="rect">
                <a:avLst/>
              </a:prstGeom>
              <a:blipFill>
                <a:blip r:embed="rId4"/>
                <a:stretch>
                  <a:fillRect l="-845" r="-1014" b="-3117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C966467-3818-763D-7DB5-D3DF1003F591}"/>
              </a:ext>
            </a:extLst>
          </p:cNvPr>
          <p:cNvCxnSpPr>
            <a:cxnSpLocks/>
          </p:cNvCxnSpPr>
          <p:nvPr/>
        </p:nvCxnSpPr>
        <p:spPr>
          <a:xfrm flipV="1">
            <a:off x="3161648" y="4263171"/>
            <a:ext cx="5608" cy="5370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9E6F5CA-1621-4C20-4BD0-522BA20C7C95}"/>
              </a:ext>
            </a:extLst>
          </p:cNvPr>
          <p:cNvCxnSpPr>
            <a:cxnSpLocks/>
          </p:cNvCxnSpPr>
          <p:nvPr/>
        </p:nvCxnSpPr>
        <p:spPr>
          <a:xfrm flipV="1">
            <a:off x="3170115" y="4493804"/>
            <a:ext cx="373783" cy="316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D8B75FA-E857-F8C2-54B2-9C98F31FB1F7}"/>
              </a:ext>
            </a:extLst>
          </p:cNvPr>
          <p:cNvCxnSpPr>
            <a:cxnSpLocks/>
          </p:cNvCxnSpPr>
          <p:nvPr/>
        </p:nvCxnSpPr>
        <p:spPr>
          <a:xfrm>
            <a:off x="3180850" y="4804746"/>
            <a:ext cx="606251" cy="11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6D475938-6CC6-38E3-CF00-B9763E5869EB}"/>
              </a:ext>
            </a:extLst>
          </p:cNvPr>
          <p:cNvSpPr txBox="1"/>
          <p:nvPr/>
        </p:nvSpPr>
        <p:spPr>
          <a:xfrm>
            <a:off x="3762697" y="4565771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0000"/>
                </a:highlight>
              </a:rPr>
              <a:t>x</a:t>
            </a:r>
            <a:r>
              <a:rPr lang="es-ES" sz="1000" dirty="0">
                <a:highlight>
                  <a:srgbClr val="FF0000"/>
                </a:highlight>
              </a:rPr>
              <a:t>0</a:t>
            </a:r>
            <a:endParaRPr lang="es-MX" dirty="0">
              <a:highlight>
                <a:srgbClr val="FF00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92E8954-C470-AFF2-E070-12533D470738}"/>
              </a:ext>
            </a:extLst>
          </p:cNvPr>
          <p:cNvSpPr txBox="1"/>
          <p:nvPr/>
        </p:nvSpPr>
        <p:spPr>
          <a:xfrm>
            <a:off x="3483975" y="421803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y</a:t>
            </a:r>
            <a:r>
              <a:rPr lang="es-ES" sz="9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9A2DA02-F414-867A-FEDB-FEFEA0800867}"/>
              </a:ext>
            </a:extLst>
          </p:cNvPr>
          <p:cNvSpPr txBox="1"/>
          <p:nvPr/>
        </p:nvSpPr>
        <p:spPr>
          <a:xfrm>
            <a:off x="2821707" y="4120332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B641B8FA-B818-EE36-CE0D-EF871DFD1299}"/>
              </a:ext>
            </a:extLst>
          </p:cNvPr>
          <p:cNvSpPr txBox="1"/>
          <p:nvPr/>
        </p:nvSpPr>
        <p:spPr>
          <a:xfrm>
            <a:off x="1005389" y="4450262"/>
            <a:ext cx="2170094" cy="403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SISTEMA DE REFERENCIA GLOBAL (Mundo)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679DD7AC-76FE-611F-1C06-8025E6BA26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0698" y="1744107"/>
            <a:ext cx="4637893" cy="317867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3AC5B86-BC11-75F0-77A7-382868A40F36}"/>
              </a:ext>
            </a:extLst>
          </p:cNvPr>
          <p:cNvSpPr txBox="1"/>
          <p:nvPr/>
        </p:nvSpPr>
        <p:spPr>
          <a:xfrm>
            <a:off x="4950166" y="361113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B427AE5-A771-9A69-539E-B7E78522D281}"/>
              </a:ext>
            </a:extLst>
          </p:cNvPr>
          <p:cNvSpPr txBox="1"/>
          <p:nvPr/>
        </p:nvSpPr>
        <p:spPr>
          <a:xfrm>
            <a:off x="5068391" y="246546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46F0847-5AB3-9188-86A6-67861A33C9FD}"/>
              </a:ext>
            </a:extLst>
          </p:cNvPr>
          <p:cNvSpPr txBox="1"/>
          <p:nvPr/>
        </p:nvSpPr>
        <p:spPr>
          <a:xfrm>
            <a:off x="6242752" y="208964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ECC2334-4B2A-9FE2-9AF7-BCC5AB1C83AF}"/>
              </a:ext>
            </a:extLst>
          </p:cNvPr>
          <p:cNvSpPr txBox="1"/>
          <p:nvPr/>
        </p:nvSpPr>
        <p:spPr>
          <a:xfrm>
            <a:off x="7530237" y="2500629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L4</a:t>
            </a:r>
          </a:p>
        </p:txBody>
      </p:sp>
      <p:sp>
        <p:nvSpPr>
          <p:cNvPr id="15" name="Flecha: curvada hacia abajo 14">
            <a:extLst>
              <a:ext uri="{FF2B5EF4-FFF2-40B4-BE49-F238E27FC236}">
                <a16:creationId xmlns:a16="http://schemas.microsoft.com/office/drawing/2014/main" id="{99D7BB4C-DE24-F3BD-DCD0-3C158A08062A}"/>
              </a:ext>
            </a:extLst>
          </p:cNvPr>
          <p:cNvSpPr/>
          <p:nvPr/>
        </p:nvSpPr>
        <p:spPr>
          <a:xfrm rot="21362088">
            <a:off x="5293053" y="1557216"/>
            <a:ext cx="2216214" cy="37378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1"/>
              </a:solidFill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E374187-A8CB-0B23-84BC-C4B2AE0455CA}"/>
              </a:ext>
            </a:extLst>
          </p:cNvPr>
          <p:cNvCxnSpPr>
            <a:cxnSpLocks/>
          </p:cNvCxnSpPr>
          <p:nvPr/>
        </p:nvCxnSpPr>
        <p:spPr>
          <a:xfrm>
            <a:off x="6323981" y="931352"/>
            <a:ext cx="0" cy="529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49DEABA5-E41B-BB60-91E4-93E4D3BB8946}"/>
              </a:ext>
            </a:extLst>
          </p:cNvPr>
          <p:cNvCxnSpPr>
            <a:cxnSpLocks/>
          </p:cNvCxnSpPr>
          <p:nvPr/>
        </p:nvCxnSpPr>
        <p:spPr>
          <a:xfrm flipH="1">
            <a:off x="6033522" y="929668"/>
            <a:ext cx="298926" cy="2686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ABAB73AF-D2BD-A724-7D6B-F01B77FBA5DF}"/>
              </a:ext>
            </a:extLst>
          </p:cNvPr>
          <p:cNvCxnSpPr>
            <a:cxnSpLocks/>
          </p:cNvCxnSpPr>
          <p:nvPr/>
        </p:nvCxnSpPr>
        <p:spPr>
          <a:xfrm>
            <a:off x="6343183" y="935853"/>
            <a:ext cx="606251" cy="11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25A4652-C5FE-06D5-C1EC-ACBC60EAA933}"/>
              </a:ext>
            </a:extLst>
          </p:cNvPr>
          <p:cNvSpPr txBox="1"/>
          <p:nvPr/>
        </p:nvSpPr>
        <p:spPr>
          <a:xfrm>
            <a:off x="6925988" y="822692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0000"/>
                </a:highlight>
              </a:rPr>
              <a:t>x</a:t>
            </a:r>
            <a:r>
              <a:rPr lang="es-ES" sz="1000" dirty="0">
                <a:highlight>
                  <a:srgbClr val="FF0000"/>
                </a:highlight>
              </a:rPr>
              <a:t>2</a:t>
            </a:r>
            <a:endParaRPr lang="es-MX" dirty="0">
              <a:highlight>
                <a:srgbClr val="FF0000"/>
              </a:highlight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2D28047-4F2E-6FE3-948B-CBBA15A560FA}"/>
              </a:ext>
            </a:extLst>
          </p:cNvPr>
          <p:cNvSpPr txBox="1"/>
          <p:nvPr/>
        </p:nvSpPr>
        <p:spPr>
          <a:xfrm>
            <a:off x="5789977" y="1176891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y</a:t>
            </a:r>
            <a:r>
              <a:rPr lang="es-ES" sz="900" dirty="0">
                <a:highlight>
                  <a:srgbClr val="00FF00"/>
                </a:highlight>
              </a:rPr>
              <a:t>2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FDE7886-CD05-7952-E71E-0961C962233E}"/>
              </a:ext>
            </a:extLst>
          </p:cNvPr>
          <p:cNvSpPr txBox="1"/>
          <p:nvPr/>
        </p:nvSpPr>
        <p:spPr>
          <a:xfrm>
            <a:off x="6323981" y="1279383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2</a:t>
            </a:r>
            <a:endParaRPr lang="es-MX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6413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9E87CD38-139A-F85B-65F4-A140EE9A4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D8E5E57C-52F1-94D7-BFE9-686172FF1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7D6C850D-9B21-FC5A-7159-3DFA35A658F8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85809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lvl="0">
              <a:buClr>
                <a:srgbClr val="F3F3F3"/>
              </a:buClr>
              <a:buSzPts val="3000"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Transformaciones Rotacionales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y Traslacionales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B4C5C178-C111-5D0D-0F3C-DF80534DD150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EBFE9895-A895-ABA7-C3A2-97DDC6AF71BF}"/>
                  </a:ext>
                </a:extLst>
              </p:cNvPr>
              <p:cNvSpPr txBox="1"/>
              <p:nvPr/>
            </p:nvSpPr>
            <p:spPr>
              <a:xfrm>
                <a:off x="-7898" y="3267966"/>
                <a:ext cx="4810330" cy="1392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Transformaciones de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S2</a:t>
                </a:r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a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S3</a:t>
                </a: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“Rotación positiva de 90° alrededor del eje X2 más….. 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 positiva de 90° alrededor del eje Y2”</a:t>
                </a:r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Translación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positiva de L3*cos(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X2”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positiva de L3*sen(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Y2”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EBFE9895-A895-ABA7-C3A2-97DDC6AF7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98" y="3267966"/>
                <a:ext cx="4810330" cy="1392918"/>
              </a:xfrm>
              <a:prstGeom prst="rect">
                <a:avLst/>
              </a:prstGeom>
              <a:blipFill>
                <a:blip r:embed="rId4"/>
                <a:stretch>
                  <a:fillRect l="-760" b="-445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A6139834-064E-AD6C-E8D0-29F0AD894CF7}"/>
              </a:ext>
            </a:extLst>
          </p:cNvPr>
          <p:cNvSpPr txBox="1"/>
          <p:nvPr/>
        </p:nvSpPr>
        <p:spPr>
          <a:xfrm>
            <a:off x="3162577" y="1225038"/>
            <a:ext cx="2818845" cy="49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MATEMÁTICA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2DDE835-CAB0-40AF-370F-D8E31B38968C}"/>
              </a:ext>
            </a:extLst>
          </p:cNvPr>
          <p:cNvSpPr txBox="1"/>
          <p:nvPr/>
        </p:nvSpPr>
        <p:spPr>
          <a:xfrm>
            <a:off x="6665456" y="3731804"/>
            <a:ext cx="1068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  <a:endParaRPr lang="es-ES" sz="14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F8F19297-30F5-549D-09E8-8066AFF9C62B}"/>
                  </a:ext>
                </a:extLst>
              </p:cNvPr>
              <p:cNvSpPr txBox="1"/>
              <p:nvPr/>
            </p:nvSpPr>
            <p:spPr>
              <a:xfrm>
                <a:off x="5614862" y="4232827"/>
                <a:ext cx="1449691" cy="681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𝒄𝒐𝒔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𝒔𝒆𝒏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F8F19297-30F5-549D-09E8-8066AFF9C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862" y="4232827"/>
                <a:ext cx="1449691" cy="6810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Google Shape;1603;p42">
            <a:extLst>
              <a:ext uri="{FF2B5EF4-FFF2-40B4-BE49-F238E27FC236}">
                <a16:creationId xmlns:a16="http://schemas.microsoft.com/office/drawing/2014/main" id="{7CC6C4AF-96BD-7BA0-EA6A-73FF87E58037}"/>
              </a:ext>
            </a:extLst>
          </p:cNvPr>
          <p:cNvSpPr txBox="1"/>
          <p:nvPr/>
        </p:nvSpPr>
        <p:spPr>
          <a:xfrm>
            <a:off x="7025594" y="4139488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Traslación de 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S2 a S3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F7F4874-9554-3EAA-6F59-00AEE7460616}"/>
              </a:ext>
            </a:extLst>
          </p:cNvPr>
          <p:cNvSpPr txBox="1"/>
          <p:nvPr/>
        </p:nvSpPr>
        <p:spPr>
          <a:xfrm>
            <a:off x="4106007" y="1600792"/>
            <a:ext cx="931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320244E-9709-F6FF-12AC-681DD0B35921}"/>
                  </a:ext>
                </a:extLst>
              </p:cNvPr>
              <p:cNvSpPr txBox="1"/>
              <p:nvPr/>
            </p:nvSpPr>
            <p:spPr>
              <a:xfrm>
                <a:off x="1202870" y="1880884"/>
                <a:ext cx="2388795" cy="695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320244E-9709-F6FF-12AC-681DD0B35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870" y="1880884"/>
                <a:ext cx="2388795" cy="6958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416E636-140B-5C1D-5CE4-1A7E7C499E76}"/>
                  </a:ext>
                </a:extLst>
              </p:cNvPr>
              <p:cNvSpPr txBox="1"/>
              <p:nvPr/>
            </p:nvSpPr>
            <p:spPr>
              <a:xfrm>
                <a:off x="3645469" y="1880884"/>
                <a:ext cx="2333779" cy="782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416E636-140B-5C1D-5CE4-1A7E7C499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469" y="1880884"/>
                <a:ext cx="2333779" cy="7825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1603;p42">
            <a:extLst>
              <a:ext uri="{FF2B5EF4-FFF2-40B4-BE49-F238E27FC236}">
                <a16:creationId xmlns:a16="http://schemas.microsoft.com/office/drawing/2014/main" id="{F4814F3A-F9EE-2ED0-291D-DCECAB299E61}"/>
              </a:ext>
            </a:extLst>
          </p:cNvPr>
          <p:cNvSpPr txBox="1"/>
          <p:nvPr/>
        </p:nvSpPr>
        <p:spPr>
          <a:xfrm>
            <a:off x="1449724" y="2548257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Z2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1603;p42">
            <a:extLst>
              <a:ext uri="{FF2B5EF4-FFF2-40B4-BE49-F238E27FC236}">
                <a16:creationId xmlns:a16="http://schemas.microsoft.com/office/drawing/2014/main" id="{96924F0D-20F1-F952-C869-26D2B71EFBE3}"/>
              </a:ext>
            </a:extLst>
          </p:cNvPr>
          <p:cNvSpPr txBox="1"/>
          <p:nvPr/>
        </p:nvSpPr>
        <p:spPr>
          <a:xfrm>
            <a:off x="3892889" y="2532271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X2 Evaluada en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+90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96379F18-7241-4487-46A8-3E5E66D30D9E}"/>
              </a:ext>
            </a:extLst>
          </p:cNvPr>
          <p:cNvSpPr txBox="1"/>
          <p:nvPr/>
        </p:nvSpPr>
        <p:spPr>
          <a:xfrm>
            <a:off x="3458833" y="1898019"/>
            <a:ext cx="301172" cy="66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x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688013C3-C991-BF9F-4F99-77605D735BD5}"/>
              </a:ext>
            </a:extLst>
          </p:cNvPr>
          <p:cNvSpPr txBox="1"/>
          <p:nvPr/>
        </p:nvSpPr>
        <p:spPr>
          <a:xfrm>
            <a:off x="5866129" y="1923874"/>
            <a:ext cx="301172" cy="66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x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BD1ABB0-CBC1-F0CF-D143-CA5D379EE3AE}"/>
                  </a:ext>
                </a:extLst>
              </p:cNvPr>
              <p:cNvSpPr txBox="1"/>
              <p:nvPr/>
            </p:nvSpPr>
            <p:spPr>
              <a:xfrm>
                <a:off x="6033052" y="1897665"/>
                <a:ext cx="2421625" cy="782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BD1ABB0-CBC1-F0CF-D143-CA5D379EE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052" y="1897665"/>
                <a:ext cx="2421625" cy="7825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1603;p42">
            <a:extLst>
              <a:ext uri="{FF2B5EF4-FFF2-40B4-BE49-F238E27FC236}">
                <a16:creationId xmlns:a16="http://schemas.microsoft.com/office/drawing/2014/main" id="{191BE1A3-D7B4-6FC8-1C8B-064D89809418}"/>
              </a:ext>
            </a:extLst>
          </p:cNvPr>
          <p:cNvSpPr txBox="1"/>
          <p:nvPr/>
        </p:nvSpPr>
        <p:spPr>
          <a:xfrm>
            <a:off x="6302442" y="2548257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Y2 Evaluada en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+90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96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28" grpId="0"/>
      <p:bldP spid="6" grpId="0"/>
      <p:bldP spid="7" grpId="0"/>
      <p:bldP spid="8" grpId="0"/>
      <p:bldP spid="9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17503DAA-7997-6BBF-7E9A-5D1C1517E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693A0F3D-DFF9-94F3-1F7E-F85D9119C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08B4FB26-6F29-78E7-3307-1A429F7DEF46}"/>
              </a:ext>
            </a:extLst>
          </p:cNvPr>
          <p:cNvSpPr txBox="1">
            <a:spLocks/>
          </p:cNvSpPr>
          <p:nvPr/>
        </p:nvSpPr>
        <p:spPr>
          <a:xfrm>
            <a:off x="378521" y="768707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6576812B-F685-BF7B-8245-54B9156CAC3F}"/>
              </a:ext>
            </a:extLst>
          </p:cNvPr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405DB345-400E-AFCB-7059-98E86233F3A6}"/>
              </a:ext>
            </a:extLst>
          </p:cNvPr>
          <p:cNvSpPr txBox="1"/>
          <p:nvPr/>
        </p:nvSpPr>
        <p:spPr>
          <a:xfrm>
            <a:off x="293077" y="1263592"/>
            <a:ext cx="8763167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Utilizar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nombre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Actividad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2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Obtener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análisis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rotacionales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traslacionales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para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siguientes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configuraciones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</a:t>
            </a:r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678325D6-2E81-C701-D527-7EF8158EDBA0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6" name="Google Shape;1603;p42">
            <a:extLst>
              <a:ext uri="{FF2B5EF4-FFF2-40B4-BE49-F238E27FC236}">
                <a16:creationId xmlns:a16="http://schemas.microsoft.com/office/drawing/2014/main" id="{4230EC5B-355F-9E8D-E979-8416648FCD74}"/>
              </a:ext>
            </a:extLst>
          </p:cNvPr>
          <p:cNvSpPr txBox="1"/>
          <p:nvPr/>
        </p:nvSpPr>
        <p:spPr>
          <a:xfrm>
            <a:off x="1183072" y="4335309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Antropomórfico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42E09717-89F3-DA6E-719E-28F56DE3F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843" y="2536581"/>
            <a:ext cx="3009617" cy="1991872"/>
          </a:xfrm>
          <a:prstGeom prst="rect">
            <a:avLst/>
          </a:prstGeom>
        </p:spPr>
      </p:pic>
      <p:pic>
        <p:nvPicPr>
          <p:cNvPr id="3076" name="Picture 4" descr="Coordenadas de la articulación del robot o espacio de la articulación -  Learnchannel-TV.com">
            <a:extLst>
              <a:ext uri="{FF2B5EF4-FFF2-40B4-BE49-F238E27FC236}">
                <a16:creationId xmlns:a16="http://schemas.microsoft.com/office/drawing/2014/main" id="{03FE014F-8048-56CB-7D1B-62DC97D606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06"/>
          <a:stretch>
            <a:fillRect/>
          </a:stretch>
        </p:blipFill>
        <p:spPr bwMode="auto">
          <a:xfrm>
            <a:off x="4965455" y="2475982"/>
            <a:ext cx="2924175" cy="2199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72FA875D-6212-DB57-44FA-2443C6419CBF}"/>
              </a:ext>
            </a:extLst>
          </p:cNvPr>
          <p:cNvSpPr txBox="1"/>
          <p:nvPr/>
        </p:nvSpPr>
        <p:spPr>
          <a:xfrm>
            <a:off x="5270116" y="4630987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Industrial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88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1" y="768707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Análisis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298482" y="1583097"/>
            <a:ext cx="8763167" cy="1784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3.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Obtener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las matrices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vector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traslación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para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cada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Incluir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representación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del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procedimiento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matemático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4.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Generar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reporte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resultados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obtenidos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análisis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rotacionales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traslacionales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Incluir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diagrama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marcos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referencia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cada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5.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Subir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link del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CANVAS para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537592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68;p46"/>
          <p:cNvSpPr txBox="1">
            <a:spLocks/>
          </p:cNvSpPr>
          <p:nvPr/>
        </p:nvSpPr>
        <p:spPr>
          <a:xfrm>
            <a:off x="2562175" y="725400"/>
            <a:ext cx="4020000" cy="1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s-ES" dirty="0"/>
              <a:t>Fin de la Sesión</a:t>
            </a:r>
          </a:p>
        </p:txBody>
      </p:sp>
      <p:sp>
        <p:nvSpPr>
          <p:cNvPr id="7" name="Google Shape;1769;p46"/>
          <p:cNvSpPr txBox="1">
            <a:spLocks/>
          </p:cNvSpPr>
          <p:nvPr/>
        </p:nvSpPr>
        <p:spPr>
          <a:xfrm>
            <a:off x="2561975" y="2105100"/>
            <a:ext cx="4020000" cy="1203900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Fira Sans Condensed Light"/>
              <a:buAutoNum type="arabicPeriod"/>
              <a:defRPr sz="13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Preguntas?</a:t>
            </a:r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>
                <a:hlinkClick r:id="rId4"/>
              </a:rPr>
              <a:t>Alfredo.garcias@tec.mx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/>
              <a:t>https://itesm.zoom.us/j/9648719322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 </a:t>
            </a:r>
          </a:p>
        </p:txBody>
      </p:sp>
      <p:grpSp>
        <p:nvGrpSpPr>
          <p:cNvPr id="8" name="Google Shape;1771;p46"/>
          <p:cNvGrpSpPr/>
          <p:nvPr/>
        </p:nvGrpSpPr>
        <p:grpSpPr>
          <a:xfrm>
            <a:off x="3914560" y="3451633"/>
            <a:ext cx="268782" cy="268485"/>
            <a:chOff x="3303268" y="3817349"/>
            <a:chExt cx="346056" cy="345674"/>
          </a:xfrm>
        </p:grpSpPr>
        <p:sp>
          <p:nvSpPr>
            <p:cNvPr id="9" name="Google Shape;1772;p46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73;p46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74;p46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75;p46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776;p46"/>
          <p:cNvGrpSpPr/>
          <p:nvPr/>
        </p:nvGrpSpPr>
        <p:grpSpPr>
          <a:xfrm>
            <a:off x="4263368" y="3451633"/>
            <a:ext cx="268782" cy="268485"/>
            <a:chOff x="3752358" y="3817349"/>
            <a:chExt cx="346056" cy="345674"/>
          </a:xfrm>
        </p:grpSpPr>
        <p:sp>
          <p:nvSpPr>
            <p:cNvPr id="14" name="Google Shape;1777;p46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78;p46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79;p46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80;p46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781;p46"/>
          <p:cNvGrpSpPr/>
          <p:nvPr/>
        </p:nvGrpSpPr>
        <p:grpSpPr>
          <a:xfrm>
            <a:off x="4612176" y="3451633"/>
            <a:ext cx="268757" cy="268485"/>
            <a:chOff x="4201447" y="3817349"/>
            <a:chExt cx="346024" cy="345674"/>
          </a:xfrm>
        </p:grpSpPr>
        <p:sp>
          <p:nvSpPr>
            <p:cNvPr id="19" name="Google Shape;1782;p46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83;p46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784;p46"/>
          <p:cNvGrpSpPr/>
          <p:nvPr/>
        </p:nvGrpSpPr>
        <p:grpSpPr>
          <a:xfrm>
            <a:off x="4960939" y="3451633"/>
            <a:ext cx="268460" cy="268485"/>
            <a:chOff x="5549861" y="3817349"/>
            <a:chExt cx="345642" cy="345674"/>
          </a:xfrm>
        </p:grpSpPr>
        <p:sp>
          <p:nvSpPr>
            <p:cNvPr id="22" name="Google Shape;1785;p46"/>
            <p:cNvSpPr/>
            <p:nvPr/>
          </p:nvSpPr>
          <p:spPr>
            <a:xfrm>
              <a:off x="5549861" y="3817349"/>
              <a:ext cx="345642" cy="345674"/>
            </a:xfrm>
            <a:custGeom>
              <a:avLst/>
              <a:gdLst/>
              <a:ahLst/>
              <a:cxnLst/>
              <a:rect l="l" t="t" r="r" b="b"/>
              <a:pathLst>
                <a:path w="10859" h="10860" extrusionOk="0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86;p46"/>
            <p:cNvSpPr/>
            <p:nvPr/>
          </p:nvSpPr>
          <p:spPr>
            <a:xfrm>
              <a:off x="5590763" y="3890208"/>
              <a:ext cx="262661" cy="200052"/>
            </a:xfrm>
            <a:custGeom>
              <a:avLst/>
              <a:gdLst/>
              <a:ahLst/>
              <a:cxnLst/>
              <a:rect l="l" t="t" r="r" b="b"/>
              <a:pathLst>
                <a:path w="8252" h="6285" extrusionOk="0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87;p46"/>
            <p:cNvSpPr/>
            <p:nvPr/>
          </p:nvSpPr>
          <p:spPr>
            <a:xfrm>
              <a:off x="5680587" y="3935024"/>
              <a:ext cx="105389" cy="110514"/>
            </a:xfrm>
            <a:custGeom>
              <a:avLst/>
              <a:gdLst/>
              <a:ahLst/>
              <a:cxnLst/>
              <a:rect l="l" t="t" r="r" b="b"/>
              <a:pathLst>
                <a:path w="3311" h="3472" extrusionOk="0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tabLst/>
              <a:defRPr/>
            </a:pP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3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  <a:b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3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Tech Agency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11104</TotalTime>
  <Words>1224</Words>
  <Application>Microsoft Office PowerPoint</Application>
  <PresentationFormat>Presentación en pantalla (16:9)</PresentationFormat>
  <Paragraphs>361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0" baseType="lpstr">
      <vt:lpstr>Advent Pro Light</vt:lpstr>
      <vt:lpstr>Rajdhani</vt:lpstr>
      <vt:lpstr>Arial</vt:lpstr>
      <vt:lpstr>Cambria Math</vt:lpstr>
      <vt:lpstr>Fira Sans Condensed Light</vt:lpstr>
      <vt:lpstr>Anton</vt:lpstr>
      <vt:lpstr>Ai Tech Agency by Slidesgo</vt:lpstr>
      <vt:lpstr>Presentación de PowerPoint</vt:lpstr>
      <vt:lpstr>Bienvenida</vt:lpstr>
      <vt:lpstr>Presentación de PowerPoint</vt:lpstr>
      <vt:lpstr>Clase Anterior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Clase Actual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DOCTORAL</dc:title>
  <dc:creator>Alfredo Garcia</dc:creator>
  <cp:lastModifiedBy>Alfredo García Suárez</cp:lastModifiedBy>
  <cp:revision>298</cp:revision>
  <dcterms:modified xsi:type="dcterms:W3CDTF">2026-02-19T16:58:29Z</dcterms:modified>
</cp:coreProperties>
</file>