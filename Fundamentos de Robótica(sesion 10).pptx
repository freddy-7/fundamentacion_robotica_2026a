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1"/>
  </p:notesMasterIdLst>
  <p:sldIdLst>
    <p:sldId id="256" r:id="rId2"/>
    <p:sldId id="357" r:id="rId3"/>
    <p:sldId id="358" r:id="rId4"/>
    <p:sldId id="532" r:id="rId5"/>
    <p:sldId id="512" r:id="rId6"/>
    <p:sldId id="533" r:id="rId7"/>
    <p:sldId id="534" r:id="rId8"/>
    <p:sldId id="535" r:id="rId9"/>
    <p:sldId id="536" r:id="rId10"/>
    <p:sldId id="516" r:id="rId11"/>
    <p:sldId id="521" r:id="rId12"/>
    <p:sldId id="517" r:id="rId13"/>
    <p:sldId id="518" r:id="rId14"/>
    <p:sldId id="503" r:id="rId15"/>
    <p:sldId id="519" r:id="rId16"/>
    <p:sldId id="422" r:id="rId17"/>
    <p:sldId id="504" r:id="rId18"/>
    <p:sldId id="520" r:id="rId19"/>
    <p:sldId id="280" r:id="rId20"/>
  </p:sldIdLst>
  <p:sldSz cx="9144000" cy="5143500" type="screen16x9"/>
  <p:notesSz cx="6858000" cy="9144000"/>
  <p:embeddedFontLst>
    <p:embeddedFont>
      <p:font typeface="Advent Pro Light" panose="020B0604020202020204" charset="0"/>
      <p:regular r:id="rId22"/>
      <p:bold r:id="rId23"/>
    </p:embeddedFont>
    <p:embeddedFont>
      <p:font typeface="Anton" pitchFamily="2" charset="0"/>
      <p:regular r:id="rId24"/>
    </p:embeddedFont>
    <p:embeddedFont>
      <p:font typeface="Cambria Math" panose="02040503050406030204" pitchFamily="18" charset="0"/>
      <p:regular r:id="rId25"/>
    </p:embeddedFont>
    <p:embeddedFont>
      <p:font typeface="Fira Sans Condensed Light" panose="020B0403050000020004" pitchFamily="34" charset="0"/>
      <p:regular r:id="rId26"/>
      <p:bold r:id="rId27"/>
      <p:italic r:id="rId28"/>
      <p:boldItalic r:id="rId29"/>
    </p:embeddedFont>
    <p:embeddedFont>
      <p:font typeface="Rajdhani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F828"/>
    <a:srgbClr val="EAFEE8"/>
    <a:srgbClr val="E8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6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F5F55874-763C-3C8B-5987-33D0BB55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4978390B-CDC7-8AC2-574E-E31A183EF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16DE3C87-8061-4B8F-4948-546573B705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0019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25F1DC8E-D6A6-D950-74C4-62B12891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3CA5BF1-F970-FDBF-2D6D-B519A2A6F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DC5933D-19D1-5466-CFCD-B11213D0C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96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1E036A64-8290-64EE-8B90-4C9E8E10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30653B82-A51D-D9D4-7D7A-4D3970F50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FB7CC0C8-EDBE-72B8-FE39-4C4B4EB07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3252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588638C4-287A-BAF1-133B-79E5A34A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DDFD9449-DD05-8900-36B1-F78602F2B4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138CB611-4975-5059-AE97-5AF7A8FB7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309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154C2033-1870-4815-23B0-0F4C7590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8DAFC9A-AA5B-0CE8-FA97-F25A949E5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8CB5CFC9-1A0E-87BD-E115-F7EB866B3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0931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E45DF9D-77BD-16CE-918F-1990C6FD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420509E-19F4-95D1-364D-21ADFB0FD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E3DFE20-30A1-915E-9F44-FF1509888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6250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6B505C6C-EC42-9AD3-BBAA-9BAC6CDD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314E0BF4-89DC-96A1-A3D3-986872376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3FE56505-1783-0A7F-9599-11F8D66B0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9936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C488B3CC-F311-97C8-486D-A0D15528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9E966AC0-9B92-11A6-577B-ED9858FCB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CD7BB577-CCB3-E1BF-8F24-E679CD482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1875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6006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4609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8919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586A8E5F-49CF-4138-A87F-C514372D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7257739E-09EE-E33F-8883-DB061AE5E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380497B-69C1-7FF1-8E92-9FD5EAB7C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523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0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44706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TE3001B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Fundamentos de Robótica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03 de Marzo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“Un modelo matemático de un sistema dinámico es un conjunto de ecuaciones que representan la dinámica del sistema con precisión.”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Robots industriales en cifras: así ha aumentado su stock mundial y densidad  por región · THE LOGISTICS WORLD | Conéctate e inspírate.">
            <a:extLst>
              <a:ext uri="{FF2B5EF4-FFF2-40B4-BE49-F238E27FC236}">
                <a16:creationId xmlns:a16="http://schemas.microsoft.com/office/drawing/2014/main" id="{2B53735F-DDFD-1DF0-302F-152E3F980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1" y="1468611"/>
            <a:ext cx="3935582" cy="262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4B10987-31FD-E0C5-51CC-CBC63917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53DAE15E-CB84-C175-62C7-039BF2DB8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E2B823D5-15FD-A2CA-14B1-F18F6F2D68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49" y="3290550"/>
            <a:ext cx="3509125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SzPts val="1300"/>
            </a:pPr>
            <a:r>
              <a:rPr lang="es-ES" dirty="0"/>
              <a:t>- Análisis de marcos de referencia en robots cartesianos y angulares</a:t>
            </a:r>
          </a:p>
          <a:p>
            <a:pPr marL="146050" indent="0">
              <a:buSzPts val="1300"/>
            </a:pPr>
            <a:endParaRPr lang="es-ES" dirty="0"/>
          </a:p>
          <a:p>
            <a:pPr marL="146050" indent="0">
              <a:buSzPts val="1300"/>
            </a:pPr>
            <a:endParaRPr lang="es-ES" dirty="0"/>
          </a:p>
          <a:p>
            <a:pPr marL="146050" indent="0">
              <a:buSzPts val="1300"/>
            </a:pPr>
            <a:endParaRPr lang="es-ES" dirty="0"/>
          </a:p>
          <a:p>
            <a:pPr marL="146050" lvl="0" indent="0">
              <a:buSzPts val="1300"/>
            </a:pPr>
            <a:endParaRPr dirty="0"/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0D50F9B3-BE89-0F06-A9C3-59598C8ADB4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A68759F8-FAAC-B753-9136-5D59F12CFA50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549FFAED-F4A1-94DE-7096-79BBA3A2F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9988E058-0AB9-A0E4-E5E2-F908003F20D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949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17503DAA-7997-6BBF-7E9A-5D1C1517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693A0F3D-DFF9-94F3-1F7E-F85D9119C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08B4FB26-6F29-78E7-3307-1A429F7DEF46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576812B-F685-BF7B-8245-54B9156CAC3F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405DB345-400E-AFCB-7059-98E86233F3A6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678325D6-2E81-C701-D527-7EF8158EDBA0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03FE014F-8048-56CB-7D1B-62DC97D60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72FA875D-6212-DB57-44FA-2443C6419CBF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F9C3B688-B8E2-F2A7-B449-9AFB5966BB4C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C31392A-A509-5FF5-0669-298D2777019F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27F0544-3E39-0BD7-64EF-7A65103806D5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3550405-AA20-F153-C9BA-2F9097FC63BB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DA491A-D6C2-9DAE-27C3-7B9C27E7EA70}"/>
              </a:ext>
            </a:extLst>
          </p:cNvPr>
          <p:cNvSpPr txBox="1"/>
          <p:nvPr/>
        </p:nvSpPr>
        <p:spPr>
          <a:xfrm>
            <a:off x="2908326" y="3615565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CA16D62-AF61-A2F4-01AF-F97897FE9AD6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A52ACDB-4F9F-9C1E-03FE-7E433C0C9E08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E9B2AEB-0E0D-5998-7C8D-98795F2EA7D1}"/>
              </a:ext>
            </a:extLst>
          </p:cNvPr>
          <p:cNvCxnSpPr>
            <a:cxnSpLocks/>
          </p:cNvCxnSpPr>
          <p:nvPr/>
        </p:nvCxnSpPr>
        <p:spPr>
          <a:xfrm flipV="1">
            <a:off x="6554283" y="2726876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50D3906-A533-F71A-9056-5B4C08081AF7}"/>
              </a:ext>
            </a:extLst>
          </p:cNvPr>
          <p:cNvCxnSpPr>
            <a:cxnSpLocks/>
          </p:cNvCxnSpPr>
          <p:nvPr/>
        </p:nvCxnSpPr>
        <p:spPr>
          <a:xfrm flipV="1">
            <a:off x="6571952" y="3264354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03FCD89D-9C5E-94A5-CCCD-CCB6C7F5D557}"/>
              </a:ext>
            </a:extLst>
          </p:cNvPr>
          <p:cNvCxnSpPr>
            <a:cxnSpLocks/>
          </p:cNvCxnSpPr>
          <p:nvPr/>
        </p:nvCxnSpPr>
        <p:spPr>
          <a:xfrm>
            <a:off x="6560229" y="3407783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6A40CC0-86F5-3A1A-8896-D10F449D1AB9}"/>
              </a:ext>
            </a:extLst>
          </p:cNvPr>
          <p:cNvSpPr txBox="1"/>
          <p:nvPr/>
        </p:nvSpPr>
        <p:spPr>
          <a:xfrm>
            <a:off x="6416969" y="3823348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D142083-C238-9DCF-95E1-9983C6E9E484}"/>
              </a:ext>
            </a:extLst>
          </p:cNvPr>
          <p:cNvSpPr txBox="1"/>
          <p:nvPr/>
        </p:nvSpPr>
        <p:spPr>
          <a:xfrm>
            <a:off x="7180034" y="3307788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A944241-B4E4-6DF9-1B5E-ADE79C1F7CCD}"/>
              </a:ext>
            </a:extLst>
          </p:cNvPr>
          <p:cNvSpPr txBox="1"/>
          <p:nvPr/>
        </p:nvSpPr>
        <p:spPr>
          <a:xfrm>
            <a:off x="6235674" y="2505166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B1658E5E-367B-A3EC-F6A5-B1EF04BE1CD7}"/>
              </a:ext>
            </a:extLst>
          </p:cNvPr>
          <p:cNvSpPr/>
          <p:nvPr/>
        </p:nvSpPr>
        <p:spPr>
          <a:xfrm rot="21448468" flipH="1">
            <a:off x="6184265" y="3152129"/>
            <a:ext cx="904533" cy="49991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0D9D5556-2E61-2F5C-98A7-788E2F8DB61C}"/>
              </a:ext>
            </a:extLst>
          </p:cNvPr>
          <p:cNvCxnSpPr>
            <a:cxnSpLocks/>
          </p:cNvCxnSpPr>
          <p:nvPr/>
        </p:nvCxnSpPr>
        <p:spPr>
          <a:xfrm flipV="1">
            <a:off x="6571952" y="3045222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4CCD0F5-57EB-0F42-42D1-F71EC222D336}"/>
              </a:ext>
            </a:extLst>
          </p:cNvPr>
          <p:cNvSpPr txBox="1"/>
          <p:nvPr/>
        </p:nvSpPr>
        <p:spPr>
          <a:xfrm>
            <a:off x="2414293" y="316555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D8285D0-C654-A9C3-6D79-8789D8EC3DB9}"/>
              </a:ext>
            </a:extLst>
          </p:cNvPr>
          <p:cNvSpPr txBox="1"/>
          <p:nvPr/>
        </p:nvSpPr>
        <p:spPr>
          <a:xfrm>
            <a:off x="6598079" y="2843721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80238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7B4A1E1-22C4-848B-7D74-4DE72DD0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5D3B685B-78E3-00FB-7EA0-1B9BEE7C1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0B6D8104-B87C-8A57-EF53-21ECCF8B6A50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ED3F355-9410-3614-C6C6-1C0A1F1793F0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F1E12677-15DC-673C-832E-F8DE17CD8B3E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236130E2-E5BE-0849-8A09-2A4B122FD609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68DC2DA9-3C8B-2EFF-1447-84BEB0604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568F4D27-1AC5-0E11-9B59-CFF82384C62C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E945D92D-A69B-A6D0-25B8-19BA17F787A6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9C198F9F-A5AC-9755-477E-92609A6D126E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649F0817-B0E1-C53B-24FA-739AD6F5E37D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C1076795-BE69-D607-5F16-40EE3664C080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B1BAEB1-43FF-5992-316B-4B55C481BEE4}"/>
              </a:ext>
            </a:extLst>
          </p:cNvPr>
          <p:cNvSpPr txBox="1"/>
          <p:nvPr/>
        </p:nvSpPr>
        <p:spPr>
          <a:xfrm>
            <a:off x="3023017" y="353349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E02372D-7EDC-FB4C-A08C-F173607CF310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6F11BB6-04E3-493E-55E6-F043321BD66D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3F80C76B-F59E-C514-C063-104795DD8804}"/>
              </a:ext>
            </a:extLst>
          </p:cNvPr>
          <p:cNvCxnSpPr>
            <a:cxnSpLocks/>
          </p:cNvCxnSpPr>
          <p:nvPr/>
        </p:nvCxnSpPr>
        <p:spPr>
          <a:xfrm flipV="1">
            <a:off x="6554283" y="2726876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4182ADB9-0326-3C3C-158D-BDE7D71AED2F}"/>
              </a:ext>
            </a:extLst>
          </p:cNvPr>
          <p:cNvCxnSpPr>
            <a:cxnSpLocks/>
          </p:cNvCxnSpPr>
          <p:nvPr/>
        </p:nvCxnSpPr>
        <p:spPr>
          <a:xfrm flipV="1">
            <a:off x="6571952" y="3264354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8B0615C-7C1B-B360-B575-08EE1D9D9E86}"/>
              </a:ext>
            </a:extLst>
          </p:cNvPr>
          <p:cNvCxnSpPr>
            <a:cxnSpLocks/>
          </p:cNvCxnSpPr>
          <p:nvPr/>
        </p:nvCxnSpPr>
        <p:spPr>
          <a:xfrm>
            <a:off x="6560229" y="3407783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6B0F0B2-6A0A-1E06-B983-2F8E0679AC05}"/>
              </a:ext>
            </a:extLst>
          </p:cNvPr>
          <p:cNvSpPr txBox="1"/>
          <p:nvPr/>
        </p:nvSpPr>
        <p:spPr>
          <a:xfrm>
            <a:off x="6416969" y="3823348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66FF1BC-4790-3290-35A4-DFE6648F5E9E}"/>
              </a:ext>
            </a:extLst>
          </p:cNvPr>
          <p:cNvSpPr txBox="1"/>
          <p:nvPr/>
        </p:nvSpPr>
        <p:spPr>
          <a:xfrm>
            <a:off x="7234413" y="299403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A7E5D5E-98AF-F62B-1B23-E5E84303976C}"/>
              </a:ext>
            </a:extLst>
          </p:cNvPr>
          <p:cNvSpPr txBox="1"/>
          <p:nvPr/>
        </p:nvSpPr>
        <p:spPr>
          <a:xfrm>
            <a:off x="6235674" y="2505166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CF52F28-9FEC-5307-77AF-36DE9318E95D}"/>
              </a:ext>
            </a:extLst>
          </p:cNvPr>
          <p:cNvCxnSpPr>
            <a:cxnSpLocks/>
          </p:cNvCxnSpPr>
          <p:nvPr/>
        </p:nvCxnSpPr>
        <p:spPr>
          <a:xfrm flipV="1">
            <a:off x="6571952" y="3045222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664A555A-1E54-F6F3-2504-D124D55EABE0}"/>
              </a:ext>
            </a:extLst>
          </p:cNvPr>
          <p:cNvCxnSpPr/>
          <p:nvPr/>
        </p:nvCxnSpPr>
        <p:spPr>
          <a:xfrm>
            <a:off x="6951680" y="3120720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2192148-C990-891E-F1B4-D1509E1B7167}"/>
              </a:ext>
            </a:extLst>
          </p:cNvPr>
          <p:cNvCxnSpPr/>
          <p:nvPr/>
        </p:nvCxnSpPr>
        <p:spPr>
          <a:xfrm>
            <a:off x="2668144" y="338985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236721C-E4C2-1BBD-0DFC-DD530FF578A8}"/>
              </a:ext>
            </a:extLst>
          </p:cNvPr>
          <p:cNvCxnSpPr>
            <a:cxnSpLocks/>
          </p:cNvCxnSpPr>
          <p:nvPr/>
        </p:nvCxnSpPr>
        <p:spPr>
          <a:xfrm>
            <a:off x="6571952" y="3416776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CA99E20-5708-BDBB-ECE6-1A6437EA2B9E}"/>
              </a:ext>
            </a:extLst>
          </p:cNvPr>
          <p:cNvCxnSpPr>
            <a:cxnSpLocks/>
          </p:cNvCxnSpPr>
          <p:nvPr/>
        </p:nvCxnSpPr>
        <p:spPr>
          <a:xfrm>
            <a:off x="2282671" y="3711173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11AECEB-30FF-CBC2-9941-8EB4D398CCBB}"/>
              </a:ext>
            </a:extLst>
          </p:cNvPr>
          <p:cNvSpPr txBox="1"/>
          <p:nvPr/>
        </p:nvSpPr>
        <p:spPr>
          <a:xfrm>
            <a:off x="2414293" y="315443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4DBB212-B854-CC62-C324-08D6A3C56E28}"/>
              </a:ext>
            </a:extLst>
          </p:cNvPr>
          <p:cNvSpPr txBox="1"/>
          <p:nvPr/>
        </p:nvSpPr>
        <p:spPr>
          <a:xfrm>
            <a:off x="6654686" y="2828435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042F82-6C4C-8CE3-2A28-FBA2F798D745}"/>
              </a:ext>
            </a:extLst>
          </p:cNvPr>
          <p:cNvSpPr txBox="1"/>
          <p:nvPr/>
        </p:nvSpPr>
        <p:spPr>
          <a:xfrm>
            <a:off x="6901166" y="3262705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4965A7D-16B0-CA88-9955-51B8235E1FC4}"/>
              </a:ext>
            </a:extLst>
          </p:cNvPr>
          <p:cNvSpPr txBox="1"/>
          <p:nvPr/>
        </p:nvSpPr>
        <p:spPr>
          <a:xfrm>
            <a:off x="2612315" y="338043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46032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149ED29-10B0-5DDD-4132-0222240A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B7CAB9DD-C722-A39B-73B7-F7F6463E4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949C7070-759D-0938-A1DA-8D01957345D6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5A84F26-17F7-B51A-C52D-0619EB15CAF5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E3473431-B8DF-D913-88F6-D0565E58571C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F9A9B8BD-5B9A-F49C-70DE-D6CBBA5CD935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F1330ECA-A84E-E15B-1CF5-CCB2BD41C7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B4A87A0F-92FF-B7B9-93D1-44A1BF57D849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48421C5D-B116-EB9C-82D7-62AF5C94981E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07DECB95-13DE-FD3E-DCC2-4BB4CE071682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7FA0E39-65AF-18F7-9F72-DE29F2A816F6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83B4FAD-15AB-2547-55FB-EB4E9888DBEF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E997306-32FB-36B7-484A-0C2FF9D8ECB2}"/>
              </a:ext>
            </a:extLst>
          </p:cNvPr>
          <p:cNvSpPr txBox="1"/>
          <p:nvPr/>
        </p:nvSpPr>
        <p:spPr>
          <a:xfrm>
            <a:off x="3023017" y="353349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98A0D8E-877C-E1C1-CB08-A0AE74A6CE56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F1DD4E64-AE98-A8B1-39F1-4AB828E830F3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1990C0B5-478D-7EA4-57B1-C4FD09071864}"/>
              </a:ext>
            </a:extLst>
          </p:cNvPr>
          <p:cNvCxnSpPr>
            <a:cxnSpLocks/>
          </p:cNvCxnSpPr>
          <p:nvPr/>
        </p:nvCxnSpPr>
        <p:spPr>
          <a:xfrm flipV="1">
            <a:off x="6737344" y="1746095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C4B99DFD-6B6F-5FA8-AD9C-BEF9B32B6B03}"/>
              </a:ext>
            </a:extLst>
          </p:cNvPr>
          <p:cNvCxnSpPr>
            <a:cxnSpLocks/>
          </p:cNvCxnSpPr>
          <p:nvPr/>
        </p:nvCxnSpPr>
        <p:spPr>
          <a:xfrm flipV="1">
            <a:off x="6755013" y="2283573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3552132-8380-C8C0-2108-8CC058D7D26E}"/>
              </a:ext>
            </a:extLst>
          </p:cNvPr>
          <p:cNvCxnSpPr>
            <a:cxnSpLocks/>
          </p:cNvCxnSpPr>
          <p:nvPr/>
        </p:nvCxnSpPr>
        <p:spPr>
          <a:xfrm>
            <a:off x="6743290" y="2427002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90F80C9-9294-C703-DB07-F75C1B52C6E7}"/>
              </a:ext>
            </a:extLst>
          </p:cNvPr>
          <p:cNvSpPr txBox="1"/>
          <p:nvPr/>
        </p:nvSpPr>
        <p:spPr>
          <a:xfrm>
            <a:off x="6600030" y="2842567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556A36A-A3FD-2FD5-C395-26A627AB8A64}"/>
              </a:ext>
            </a:extLst>
          </p:cNvPr>
          <p:cNvSpPr txBox="1"/>
          <p:nvPr/>
        </p:nvSpPr>
        <p:spPr>
          <a:xfrm>
            <a:off x="7417474" y="2013252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43336F0-7391-8A4C-546F-0D8928315B5B}"/>
              </a:ext>
            </a:extLst>
          </p:cNvPr>
          <p:cNvSpPr txBox="1"/>
          <p:nvPr/>
        </p:nvSpPr>
        <p:spPr>
          <a:xfrm>
            <a:off x="6418735" y="1524385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AC854642-8514-064D-E417-08F25BDCB44C}"/>
              </a:ext>
            </a:extLst>
          </p:cNvPr>
          <p:cNvCxnSpPr>
            <a:cxnSpLocks/>
          </p:cNvCxnSpPr>
          <p:nvPr/>
        </p:nvCxnSpPr>
        <p:spPr>
          <a:xfrm flipV="1">
            <a:off x="6755013" y="2064441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4146A979-25CA-193E-72AE-93C8D26DE488}"/>
              </a:ext>
            </a:extLst>
          </p:cNvPr>
          <p:cNvCxnSpPr/>
          <p:nvPr/>
        </p:nvCxnSpPr>
        <p:spPr>
          <a:xfrm>
            <a:off x="7134741" y="213993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53720E1-3AC6-B341-F61D-5F9BF20003E6}"/>
              </a:ext>
            </a:extLst>
          </p:cNvPr>
          <p:cNvCxnSpPr/>
          <p:nvPr/>
        </p:nvCxnSpPr>
        <p:spPr>
          <a:xfrm>
            <a:off x="2668144" y="338985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CF4224A-2B12-4DB0-B02B-193084E9D99F}"/>
              </a:ext>
            </a:extLst>
          </p:cNvPr>
          <p:cNvCxnSpPr>
            <a:cxnSpLocks/>
          </p:cNvCxnSpPr>
          <p:nvPr/>
        </p:nvCxnSpPr>
        <p:spPr>
          <a:xfrm>
            <a:off x="6755013" y="2435995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46350A7-AFA2-9CF1-14CA-BAC07E633966}"/>
              </a:ext>
            </a:extLst>
          </p:cNvPr>
          <p:cNvCxnSpPr>
            <a:cxnSpLocks/>
          </p:cNvCxnSpPr>
          <p:nvPr/>
        </p:nvCxnSpPr>
        <p:spPr>
          <a:xfrm>
            <a:off x="2282671" y="3711173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A5CE61B-B02D-B8B5-7DE8-BDDCACD400A0}"/>
              </a:ext>
            </a:extLst>
          </p:cNvPr>
          <p:cNvSpPr txBox="1"/>
          <p:nvPr/>
        </p:nvSpPr>
        <p:spPr>
          <a:xfrm>
            <a:off x="2414293" y="315443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32A3BAC-1216-D2D9-3E29-124A420C801D}"/>
              </a:ext>
            </a:extLst>
          </p:cNvPr>
          <p:cNvSpPr txBox="1"/>
          <p:nvPr/>
        </p:nvSpPr>
        <p:spPr>
          <a:xfrm>
            <a:off x="6837747" y="184765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8F4BCD5-263B-0BEC-D67E-BB2530F71BB7}"/>
              </a:ext>
            </a:extLst>
          </p:cNvPr>
          <p:cNvSpPr txBox="1"/>
          <p:nvPr/>
        </p:nvSpPr>
        <p:spPr>
          <a:xfrm>
            <a:off x="7084227" y="228192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9A2093-FD80-4B1F-83CA-97EF88D6BAAA}"/>
              </a:ext>
            </a:extLst>
          </p:cNvPr>
          <p:cNvSpPr txBox="1"/>
          <p:nvPr/>
        </p:nvSpPr>
        <p:spPr>
          <a:xfrm>
            <a:off x="2612315" y="338043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FEA1178-355A-2EBE-A57D-B1DA20854C18}"/>
              </a:ext>
            </a:extLst>
          </p:cNvPr>
          <p:cNvSpPr txBox="1"/>
          <p:nvPr/>
        </p:nvSpPr>
        <p:spPr>
          <a:xfrm>
            <a:off x="6775509" y="2588426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5849F32-13C6-8413-CBAA-91F5E43ADB72}"/>
              </a:ext>
            </a:extLst>
          </p:cNvPr>
          <p:cNvSpPr txBox="1"/>
          <p:nvPr/>
        </p:nvSpPr>
        <p:spPr>
          <a:xfrm>
            <a:off x="2271332" y="3824244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76B15D43-C466-AA95-9105-30F5FC7A9484}"/>
              </a:ext>
            </a:extLst>
          </p:cNvPr>
          <p:cNvSpPr txBox="1"/>
          <p:nvPr/>
        </p:nvSpPr>
        <p:spPr>
          <a:xfrm>
            <a:off x="5690150" y="3191117"/>
            <a:ext cx="2973204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 Teorema de Pitágoras obtenemos SL1: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C8E3A12-7755-3F23-55CD-1679F3C28A77}"/>
                  </a:ext>
                </a:extLst>
              </p:cNvPr>
              <p:cNvSpPr txBox="1"/>
              <p:nvPr/>
            </p:nvSpPr>
            <p:spPr>
              <a:xfrm>
                <a:off x="6033052" y="4145104"/>
                <a:ext cx="2243628" cy="4176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MX" sz="2400" dirty="0">
                    <a:solidFill>
                      <a:schemeClr val="tx2"/>
                    </a:solidFill>
                  </a:rPr>
                  <a:t>SL1=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MX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MX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s-MX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s-MX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C8E3A12-7755-3F23-55CD-1679F3C28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052" y="4145104"/>
                <a:ext cx="2243628" cy="417615"/>
              </a:xfrm>
              <a:prstGeom prst="rect">
                <a:avLst/>
              </a:prstGeom>
              <a:blipFill>
                <a:blip r:embed="rId5"/>
                <a:stretch>
                  <a:fillRect l="-8424" t="-10294" b="-4558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7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F23DAA5D-986C-7360-17DC-946D6E06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3C387398-4EB2-7375-C798-AB26CC352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9C1F5541-B803-5A48-0588-A85BF99A0969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1654080-6275-079E-98F3-F2659A498260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BB4300C7-26C9-FE6D-E8B0-5C963539AF9A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3C4E13CF-ED67-E5D0-41C1-65CF4700AF16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4722D2A4-59AF-EA5C-916F-340866F630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85812E85-E050-4387-EB49-482D94C0409F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0F5B4347-725E-3549-2F8A-BF0CC81E135E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DFEEE59-CC04-229E-38F3-8E4B146C6E2C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3F465DA-0EF4-8D7B-9709-A30B9D149B3A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B3ADAEF-C675-DEBA-296E-BE791FF51A0A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A8E123-8691-A63C-8F4D-EEEE2A3F1AB0}"/>
              </a:ext>
            </a:extLst>
          </p:cNvPr>
          <p:cNvSpPr txBox="1"/>
          <p:nvPr/>
        </p:nvSpPr>
        <p:spPr>
          <a:xfrm>
            <a:off x="3023017" y="353349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A914A1-4AB7-3064-E406-23D5C20CA9AD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7B8CA47-CC2D-1DE9-F443-B0611F341F73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87611B67-033B-226B-A3B9-FAB6F2C367D2}"/>
              </a:ext>
            </a:extLst>
          </p:cNvPr>
          <p:cNvCxnSpPr>
            <a:cxnSpLocks/>
          </p:cNvCxnSpPr>
          <p:nvPr/>
        </p:nvCxnSpPr>
        <p:spPr>
          <a:xfrm flipV="1">
            <a:off x="6737344" y="1319375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E4F9FC3-BFC5-94B9-C8B3-8C56155BF5FC}"/>
              </a:ext>
            </a:extLst>
          </p:cNvPr>
          <p:cNvCxnSpPr>
            <a:cxnSpLocks/>
          </p:cNvCxnSpPr>
          <p:nvPr/>
        </p:nvCxnSpPr>
        <p:spPr>
          <a:xfrm flipV="1">
            <a:off x="6755013" y="1856853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6FE13B70-9D3F-E14B-4FF4-33FBFB6B56CC}"/>
              </a:ext>
            </a:extLst>
          </p:cNvPr>
          <p:cNvCxnSpPr>
            <a:cxnSpLocks/>
          </p:cNvCxnSpPr>
          <p:nvPr/>
        </p:nvCxnSpPr>
        <p:spPr>
          <a:xfrm>
            <a:off x="6743290" y="2000282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41C811D-49E6-E635-AB8A-68ADF92AF2E7}"/>
              </a:ext>
            </a:extLst>
          </p:cNvPr>
          <p:cNvSpPr txBox="1"/>
          <p:nvPr/>
        </p:nvSpPr>
        <p:spPr>
          <a:xfrm>
            <a:off x="6600030" y="2415847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76779F0-00A6-B0BD-13BC-3AD6841B7390}"/>
              </a:ext>
            </a:extLst>
          </p:cNvPr>
          <p:cNvSpPr txBox="1"/>
          <p:nvPr/>
        </p:nvSpPr>
        <p:spPr>
          <a:xfrm>
            <a:off x="7417474" y="1586532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53EE2AA-8AB0-4C82-08BA-2E4B4CB801AC}"/>
              </a:ext>
            </a:extLst>
          </p:cNvPr>
          <p:cNvSpPr txBox="1"/>
          <p:nvPr/>
        </p:nvSpPr>
        <p:spPr>
          <a:xfrm>
            <a:off x="6418735" y="1097665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5D8DB7E7-B15D-7066-5B2E-69C9FE132948}"/>
              </a:ext>
            </a:extLst>
          </p:cNvPr>
          <p:cNvCxnSpPr>
            <a:cxnSpLocks/>
          </p:cNvCxnSpPr>
          <p:nvPr/>
        </p:nvCxnSpPr>
        <p:spPr>
          <a:xfrm flipV="1">
            <a:off x="6755013" y="1637721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B6E9C105-CE4C-B7C4-E20F-79CB15F9921F}"/>
              </a:ext>
            </a:extLst>
          </p:cNvPr>
          <p:cNvCxnSpPr/>
          <p:nvPr/>
        </p:nvCxnSpPr>
        <p:spPr>
          <a:xfrm>
            <a:off x="7134741" y="171321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F3D272F-9F0E-1A79-DCD3-4F53791CB2B7}"/>
              </a:ext>
            </a:extLst>
          </p:cNvPr>
          <p:cNvCxnSpPr/>
          <p:nvPr/>
        </p:nvCxnSpPr>
        <p:spPr>
          <a:xfrm>
            <a:off x="2668144" y="338985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C091BC4-1335-00CF-6538-D9D1AEB2DEDA}"/>
              </a:ext>
            </a:extLst>
          </p:cNvPr>
          <p:cNvCxnSpPr>
            <a:cxnSpLocks/>
          </p:cNvCxnSpPr>
          <p:nvPr/>
        </p:nvCxnSpPr>
        <p:spPr>
          <a:xfrm>
            <a:off x="6755013" y="2009275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DACDCA9-F022-7116-2FB4-84E0DA785CCA}"/>
              </a:ext>
            </a:extLst>
          </p:cNvPr>
          <p:cNvCxnSpPr>
            <a:cxnSpLocks/>
          </p:cNvCxnSpPr>
          <p:nvPr/>
        </p:nvCxnSpPr>
        <p:spPr>
          <a:xfrm>
            <a:off x="2282671" y="3711173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3962006-70E4-CB4E-CBFF-558CCF4B6A91}"/>
              </a:ext>
            </a:extLst>
          </p:cNvPr>
          <p:cNvSpPr txBox="1"/>
          <p:nvPr/>
        </p:nvSpPr>
        <p:spPr>
          <a:xfrm>
            <a:off x="2414293" y="315443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B94D2DD-3705-92ED-5083-7A97E63C6DF4}"/>
              </a:ext>
            </a:extLst>
          </p:cNvPr>
          <p:cNvSpPr txBox="1"/>
          <p:nvPr/>
        </p:nvSpPr>
        <p:spPr>
          <a:xfrm>
            <a:off x="6731488" y="145626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6C9BD17-5B1C-2706-4434-81E40D204359}"/>
              </a:ext>
            </a:extLst>
          </p:cNvPr>
          <p:cNvSpPr txBox="1"/>
          <p:nvPr/>
        </p:nvSpPr>
        <p:spPr>
          <a:xfrm>
            <a:off x="7084227" y="185520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C975896-2360-335C-3C67-3500A8E62702}"/>
              </a:ext>
            </a:extLst>
          </p:cNvPr>
          <p:cNvSpPr txBox="1"/>
          <p:nvPr/>
        </p:nvSpPr>
        <p:spPr>
          <a:xfrm>
            <a:off x="2612315" y="338043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CF464F5-1E05-81F3-1953-D72680D560FB}"/>
              </a:ext>
            </a:extLst>
          </p:cNvPr>
          <p:cNvSpPr txBox="1"/>
          <p:nvPr/>
        </p:nvSpPr>
        <p:spPr>
          <a:xfrm>
            <a:off x="7024638" y="2161554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29FD2A8-37BD-1E41-5350-8C88CE1BA42B}"/>
              </a:ext>
            </a:extLst>
          </p:cNvPr>
          <p:cNvSpPr txBox="1"/>
          <p:nvPr/>
        </p:nvSpPr>
        <p:spPr>
          <a:xfrm>
            <a:off x="2271332" y="3824244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EC904742-B304-7724-CB21-6529BEBF150A}"/>
              </a:ext>
            </a:extLst>
          </p:cNvPr>
          <p:cNvSpPr txBox="1"/>
          <p:nvPr/>
        </p:nvSpPr>
        <p:spPr>
          <a:xfrm>
            <a:off x="5377052" y="2767794"/>
            <a:ext cx="3605964" cy="46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 razones trigonométricas obtenemos la proyección en “x”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C588F10-1203-95C0-61D4-6170B17D1550}"/>
                  </a:ext>
                </a:extLst>
              </p:cNvPr>
              <p:cNvSpPr txBox="1"/>
              <p:nvPr/>
            </p:nvSpPr>
            <p:spPr>
              <a:xfrm>
                <a:off x="6075770" y="3583846"/>
                <a:ext cx="2000548" cy="394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𝐶𝑂𝑆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18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𝐶𝑎</m:t>
                        </m:r>
                      </m:num>
                      <m:den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𝑆𝐿</m:t>
                        </m:r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FC588F10-1203-95C0-61D4-6170B17D1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770" y="3583846"/>
                <a:ext cx="2000548" cy="394916"/>
              </a:xfrm>
              <a:prstGeom prst="rect">
                <a:avLst/>
              </a:prstGeom>
              <a:blipFill>
                <a:blip r:embed="rId5"/>
                <a:stretch>
                  <a:fillRect l="-4268" t="-6154" b="-1846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E735871-8BD0-83CA-A4F5-1F9D5931F33C}"/>
                  </a:ext>
                </a:extLst>
              </p:cNvPr>
              <p:cNvSpPr txBox="1"/>
              <p:nvPr/>
            </p:nvSpPr>
            <p:spPr>
              <a:xfrm>
                <a:off x="6780450" y="2099574"/>
                <a:ext cx="3614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Ɵ</m:t>
                          </m:r>
                        </m:e>
                        <m:sub>
                          <m:r>
                            <a:rPr lang="es-MX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E735871-8BD0-83CA-A4F5-1F9D5931F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450" y="2099574"/>
                <a:ext cx="36148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o 24">
            <a:extLst>
              <a:ext uri="{FF2B5EF4-FFF2-40B4-BE49-F238E27FC236}">
                <a16:creationId xmlns:a16="http://schemas.microsoft.com/office/drawing/2014/main" id="{66591A82-3FCC-E4F7-87FE-7B42F3132F97}"/>
              </a:ext>
            </a:extLst>
          </p:cNvPr>
          <p:cNvSpPr/>
          <p:nvPr/>
        </p:nvSpPr>
        <p:spPr>
          <a:xfrm rot="20352824">
            <a:off x="6555044" y="1631490"/>
            <a:ext cx="361485" cy="562765"/>
          </a:xfrm>
          <a:prstGeom prst="arc">
            <a:avLst>
              <a:gd name="adj1" fmla="val 3995380"/>
              <a:gd name="adj2" fmla="val 5860104"/>
            </a:avLst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9C872C5-C35B-3416-54F3-DEF60024E5EC}"/>
                  </a:ext>
                </a:extLst>
              </p:cNvPr>
              <p:cNvSpPr txBox="1"/>
              <p:nvPr/>
            </p:nvSpPr>
            <p:spPr>
              <a:xfrm>
                <a:off x="5982217" y="4110847"/>
                <a:ext cx="21632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SL</m:t>
                    </m:r>
                    <m: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1∗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𝐶𝑂𝑆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9C872C5-C35B-3416-54F3-DEF60024E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17" y="4110847"/>
                <a:ext cx="2163273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FFDCD6D-37A1-B74D-E88E-A887968A4FEA}"/>
                  </a:ext>
                </a:extLst>
              </p:cNvPr>
              <p:cNvSpPr txBox="1"/>
              <p:nvPr/>
            </p:nvSpPr>
            <p:spPr>
              <a:xfrm>
                <a:off x="5633735" y="4542327"/>
                <a:ext cx="2884619" cy="405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𝐶𝑂𝑆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FFDCD6D-37A1-B74D-E88E-A887968A4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735" y="4542327"/>
                <a:ext cx="2884619" cy="405560"/>
              </a:xfrm>
              <a:prstGeom prst="rect">
                <a:avLst/>
              </a:prstGeom>
              <a:blipFill>
                <a:blip r:embed="rId8"/>
                <a:stretch>
                  <a:fillRect b="-2238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92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615AF37C-6F55-059A-5DC3-D4AD627B1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AA5F7174-5D0C-4008-D190-8E1E22AA8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19DE71F-2CE3-49EF-7C31-B4B9A76454FC}"/>
              </a:ext>
            </a:extLst>
          </p:cNvPr>
          <p:cNvSpPr txBox="1">
            <a:spLocks/>
          </p:cNvSpPr>
          <p:nvPr/>
        </p:nvSpPr>
        <p:spPr>
          <a:xfrm>
            <a:off x="393701" y="543508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2 (T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ransformaciones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82A03785-E266-E6EF-3439-BE0C3C1D7DA6}"/>
              </a:ext>
            </a:extLst>
          </p:cNvPr>
          <p:cNvCxnSpPr/>
          <p:nvPr/>
        </p:nvCxnSpPr>
        <p:spPr>
          <a:xfrm rot="5400000">
            <a:off x="221838" y="83746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0F70702B-6032-99A5-A73B-A23E98C91E41}"/>
              </a:ext>
            </a:extLst>
          </p:cNvPr>
          <p:cNvSpPr txBox="1"/>
          <p:nvPr/>
        </p:nvSpPr>
        <p:spPr>
          <a:xfrm>
            <a:off x="293077" y="1263592"/>
            <a:ext cx="4454769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4413ABA3-FD7A-1CAF-484D-BDD41B994653}"/>
              </a:ext>
            </a:extLst>
          </p:cNvPr>
          <p:cNvSpPr txBox="1">
            <a:spLocks/>
          </p:cNvSpPr>
          <p:nvPr/>
        </p:nvSpPr>
        <p:spPr>
          <a:xfrm>
            <a:off x="-46892" y="504001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6" name="Picture 4" descr="Coordenadas de la articulación del robot o espacio de la articulación -  Learnchannel-TV.com">
            <a:extLst>
              <a:ext uri="{FF2B5EF4-FFF2-40B4-BE49-F238E27FC236}">
                <a16:creationId xmlns:a16="http://schemas.microsoft.com/office/drawing/2014/main" id="{87A1007B-C43D-EB34-1CA8-0430AC90F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6"/>
          <a:stretch>
            <a:fillRect/>
          </a:stretch>
        </p:blipFill>
        <p:spPr bwMode="auto">
          <a:xfrm>
            <a:off x="168031" y="1116208"/>
            <a:ext cx="4650463" cy="34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78B107B4-339B-15F4-24E4-C892295F5FCB}"/>
              </a:ext>
            </a:extLst>
          </p:cNvPr>
          <p:cNvSpPr txBox="1"/>
          <p:nvPr/>
        </p:nvSpPr>
        <p:spPr>
          <a:xfrm>
            <a:off x="87756" y="4429909"/>
            <a:ext cx="2755061" cy="40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Industrial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(6GDL)</a:t>
            </a:r>
            <a:endParaRPr lang="es-ES" sz="16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98059E99-443C-6BD4-6417-EC8FBB7B8560}"/>
              </a:ext>
            </a:extLst>
          </p:cNvPr>
          <p:cNvCxnSpPr>
            <a:cxnSpLocks/>
          </p:cNvCxnSpPr>
          <p:nvPr/>
        </p:nvCxnSpPr>
        <p:spPr>
          <a:xfrm flipV="1">
            <a:off x="2282575" y="3034653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5CCDA9E6-91DF-587D-0D09-5288CC8D0B63}"/>
              </a:ext>
            </a:extLst>
          </p:cNvPr>
          <p:cNvCxnSpPr>
            <a:cxnSpLocks/>
          </p:cNvCxnSpPr>
          <p:nvPr/>
        </p:nvCxnSpPr>
        <p:spPr>
          <a:xfrm flipV="1">
            <a:off x="2300244" y="3572131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620BB98C-08BD-8B7F-AADD-42E77402140F}"/>
              </a:ext>
            </a:extLst>
          </p:cNvPr>
          <p:cNvCxnSpPr>
            <a:cxnSpLocks/>
          </p:cNvCxnSpPr>
          <p:nvPr/>
        </p:nvCxnSpPr>
        <p:spPr>
          <a:xfrm>
            <a:off x="2288521" y="3715560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4756F96-66C8-BE26-F6C6-2DCE64672B6A}"/>
              </a:ext>
            </a:extLst>
          </p:cNvPr>
          <p:cNvSpPr txBox="1"/>
          <p:nvPr/>
        </p:nvSpPr>
        <p:spPr>
          <a:xfrm>
            <a:off x="2145261" y="4131125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72E6450-ADBE-FD52-3DEF-BA1CF244F6B5}"/>
              </a:ext>
            </a:extLst>
          </p:cNvPr>
          <p:cNvSpPr txBox="1"/>
          <p:nvPr/>
        </p:nvSpPr>
        <p:spPr>
          <a:xfrm>
            <a:off x="3023017" y="3533493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C3E07A-FB94-AA3A-39E6-5AB133A4EA86}"/>
              </a:ext>
            </a:extLst>
          </p:cNvPr>
          <p:cNvSpPr txBox="1"/>
          <p:nvPr/>
        </p:nvSpPr>
        <p:spPr>
          <a:xfrm>
            <a:off x="1963966" y="2812943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B5BE829-B1C8-D7B6-1280-F5E24FC1E5E8}"/>
              </a:ext>
            </a:extLst>
          </p:cNvPr>
          <p:cNvCxnSpPr>
            <a:cxnSpLocks/>
          </p:cNvCxnSpPr>
          <p:nvPr/>
        </p:nvCxnSpPr>
        <p:spPr>
          <a:xfrm flipV="1">
            <a:off x="2300244" y="3352999"/>
            <a:ext cx="379728" cy="358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3C90FD34-BBA1-A25A-8FC2-2601FD35A868}"/>
              </a:ext>
            </a:extLst>
          </p:cNvPr>
          <p:cNvCxnSpPr>
            <a:cxnSpLocks/>
          </p:cNvCxnSpPr>
          <p:nvPr/>
        </p:nvCxnSpPr>
        <p:spPr>
          <a:xfrm flipV="1">
            <a:off x="6737344" y="1319375"/>
            <a:ext cx="0" cy="680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E300AC5D-3A4E-75D2-1BC8-9E421475A000}"/>
              </a:ext>
            </a:extLst>
          </p:cNvPr>
          <p:cNvCxnSpPr>
            <a:cxnSpLocks/>
          </p:cNvCxnSpPr>
          <p:nvPr/>
        </p:nvCxnSpPr>
        <p:spPr>
          <a:xfrm flipV="1">
            <a:off x="6755013" y="1856853"/>
            <a:ext cx="724310" cy="152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3006542B-A084-52A0-C4DB-EF4362DC54BA}"/>
              </a:ext>
            </a:extLst>
          </p:cNvPr>
          <p:cNvCxnSpPr>
            <a:cxnSpLocks/>
          </p:cNvCxnSpPr>
          <p:nvPr/>
        </p:nvCxnSpPr>
        <p:spPr>
          <a:xfrm>
            <a:off x="6743290" y="2000282"/>
            <a:ext cx="222409" cy="557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DA4FB61-7837-BD16-0727-123C87AF25B9}"/>
              </a:ext>
            </a:extLst>
          </p:cNvPr>
          <p:cNvSpPr txBox="1"/>
          <p:nvPr/>
        </p:nvSpPr>
        <p:spPr>
          <a:xfrm>
            <a:off x="6600030" y="2415847"/>
            <a:ext cx="34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r>
              <a:rPr lang="es-ES" sz="1000" dirty="0">
                <a:highlight>
                  <a:srgbClr val="00FF00"/>
                </a:highlight>
              </a:rPr>
              <a:t>0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26FDD20-38A5-338D-72AE-3DCD88428593}"/>
              </a:ext>
            </a:extLst>
          </p:cNvPr>
          <p:cNvSpPr txBox="1"/>
          <p:nvPr/>
        </p:nvSpPr>
        <p:spPr>
          <a:xfrm>
            <a:off x="7417474" y="1586532"/>
            <a:ext cx="393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r>
              <a:rPr lang="es-ES" sz="900" dirty="0">
                <a:highlight>
                  <a:srgbClr val="FFFF00"/>
                </a:highlight>
              </a:rPr>
              <a:t>0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64E526A-D02A-B541-5F31-2E704185B1FC}"/>
              </a:ext>
            </a:extLst>
          </p:cNvPr>
          <p:cNvSpPr txBox="1"/>
          <p:nvPr/>
        </p:nvSpPr>
        <p:spPr>
          <a:xfrm>
            <a:off x="6418735" y="1097665"/>
            <a:ext cx="336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r>
              <a:rPr lang="es-ES" sz="900" dirty="0">
                <a:highlight>
                  <a:srgbClr val="00FFFF"/>
                </a:highlight>
              </a:rPr>
              <a:t>0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FC5F6B34-08D3-A172-1DCD-A16885DB34B3}"/>
              </a:ext>
            </a:extLst>
          </p:cNvPr>
          <p:cNvCxnSpPr>
            <a:cxnSpLocks/>
          </p:cNvCxnSpPr>
          <p:nvPr/>
        </p:nvCxnSpPr>
        <p:spPr>
          <a:xfrm flipV="1">
            <a:off x="6755013" y="1460690"/>
            <a:ext cx="522889" cy="535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B4F9DDAD-9624-4C4E-A66A-0A9A3BEB1E3A}"/>
              </a:ext>
            </a:extLst>
          </p:cNvPr>
          <p:cNvCxnSpPr>
            <a:cxnSpLocks/>
          </p:cNvCxnSpPr>
          <p:nvPr/>
        </p:nvCxnSpPr>
        <p:spPr>
          <a:xfrm>
            <a:off x="7277902" y="1557864"/>
            <a:ext cx="0" cy="7843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E232FC1-B54E-EEA3-780E-8D73A94AD9CA}"/>
              </a:ext>
            </a:extLst>
          </p:cNvPr>
          <p:cNvCxnSpPr/>
          <p:nvPr/>
        </p:nvCxnSpPr>
        <p:spPr>
          <a:xfrm>
            <a:off x="2668144" y="3389859"/>
            <a:ext cx="0" cy="45141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CAADC92-EE3A-CB88-A929-440515829384}"/>
              </a:ext>
            </a:extLst>
          </p:cNvPr>
          <p:cNvCxnSpPr>
            <a:cxnSpLocks/>
          </p:cNvCxnSpPr>
          <p:nvPr/>
        </p:nvCxnSpPr>
        <p:spPr>
          <a:xfrm>
            <a:off x="6755013" y="2009275"/>
            <a:ext cx="522889" cy="2929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7DBEE78-4D37-FA7D-51BF-65DB6C0F2368}"/>
              </a:ext>
            </a:extLst>
          </p:cNvPr>
          <p:cNvCxnSpPr>
            <a:cxnSpLocks/>
          </p:cNvCxnSpPr>
          <p:nvPr/>
        </p:nvCxnSpPr>
        <p:spPr>
          <a:xfrm>
            <a:off x="2282671" y="3711173"/>
            <a:ext cx="379728" cy="1987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98C7AA-A431-629D-C044-B7B3A495F4BD}"/>
              </a:ext>
            </a:extLst>
          </p:cNvPr>
          <p:cNvSpPr txBox="1"/>
          <p:nvPr/>
        </p:nvSpPr>
        <p:spPr>
          <a:xfrm>
            <a:off x="2414293" y="3154439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2BA0061-E19C-684B-31DD-56C44B8C1E76}"/>
              </a:ext>
            </a:extLst>
          </p:cNvPr>
          <p:cNvSpPr txBox="1"/>
          <p:nvPr/>
        </p:nvSpPr>
        <p:spPr>
          <a:xfrm>
            <a:off x="6731488" y="1456264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9907C94-4733-0284-7124-E1570A768619}"/>
              </a:ext>
            </a:extLst>
          </p:cNvPr>
          <p:cNvSpPr txBox="1"/>
          <p:nvPr/>
        </p:nvSpPr>
        <p:spPr>
          <a:xfrm>
            <a:off x="7215258" y="1891074"/>
            <a:ext cx="29803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7337039-3427-45FF-6142-79221CF8D195}"/>
              </a:ext>
            </a:extLst>
          </p:cNvPr>
          <p:cNvSpPr txBox="1"/>
          <p:nvPr/>
        </p:nvSpPr>
        <p:spPr>
          <a:xfrm>
            <a:off x="2612315" y="3380438"/>
            <a:ext cx="37378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2694CE6-22F2-7F6E-BF24-76292090C6AD}"/>
              </a:ext>
            </a:extLst>
          </p:cNvPr>
          <p:cNvSpPr txBox="1"/>
          <p:nvPr/>
        </p:nvSpPr>
        <p:spPr>
          <a:xfrm>
            <a:off x="7154235" y="2292736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869A49-2717-2BFD-F309-18F52C2AEED8}"/>
              </a:ext>
            </a:extLst>
          </p:cNvPr>
          <p:cNvSpPr txBox="1"/>
          <p:nvPr/>
        </p:nvSpPr>
        <p:spPr>
          <a:xfrm>
            <a:off x="2271332" y="3824244"/>
            <a:ext cx="4982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SL1</a:t>
            </a:r>
          </a:p>
        </p:txBody>
      </p:sp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3AB04954-4901-BA82-E276-F060C48B650B}"/>
              </a:ext>
            </a:extLst>
          </p:cNvPr>
          <p:cNvSpPr txBox="1"/>
          <p:nvPr/>
        </p:nvSpPr>
        <p:spPr>
          <a:xfrm>
            <a:off x="5377052" y="2767794"/>
            <a:ext cx="3605964" cy="46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 razones trigonométricas obtenemos la proyección en “Y”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8811564-3DCF-0969-987A-C586B5F23187}"/>
                  </a:ext>
                </a:extLst>
              </p:cNvPr>
              <p:cNvSpPr txBox="1"/>
              <p:nvPr/>
            </p:nvSpPr>
            <p:spPr>
              <a:xfrm>
                <a:off x="6075770" y="3583846"/>
                <a:ext cx="2032159" cy="394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𝑆𝐸𝑁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18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𝐶𝑂</m:t>
                        </m:r>
                      </m:num>
                      <m:den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𝑆𝐿</m:t>
                        </m:r>
                        <m:r>
                          <a:rPr lang="es-MX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8811564-3DCF-0969-987A-C586B5F23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770" y="3583846"/>
                <a:ext cx="2032159" cy="394916"/>
              </a:xfrm>
              <a:prstGeom prst="rect">
                <a:avLst/>
              </a:prstGeom>
              <a:blipFill>
                <a:blip r:embed="rId5"/>
                <a:stretch>
                  <a:fillRect l="-4204" t="-6154" b="-1846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585FA5C-35FF-EB72-EDE8-D71173705866}"/>
                  </a:ext>
                </a:extLst>
              </p:cNvPr>
              <p:cNvSpPr txBox="1"/>
              <p:nvPr/>
            </p:nvSpPr>
            <p:spPr>
              <a:xfrm flipH="1">
                <a:off x="6784469" y="2074969"/>
                <a:ext cx="36171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Ɵ</m:t>
                          </m:r>
                        </m:e>
                        <m:sub>
                          <m:r>
                            <a:rPr lang="es-MX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585FA5C-35FF-EB72-EDE8-D71173705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84469" y="2074969"/>
                <a:ext cx="36171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o 24">
            <a:extLst>
              <a:ext uri="{FF2B5EF4-FFF2-40B4-BE49-F238E27FC236}">
                <a16:creationId xmlns:a16="http://schemas.microsoft.com/office/drawing/2014/main" id="{658FBAC7-1FC3-F465-2DB2-F9E460AC2139}"/>
              </a:ext>
            </a:extLst>
          </p:cNvPr>
          <p:cNvSpPr/>
          <p:nvPr/>
        </p:nvSpPr>
        <p:spPr>
          <a:xfrm rot="20352824">
            <a:off x="6555044" y="1631490"/>
            <a:ext cx="361485" cy="562765"/>
          </a:xfrm>
          <a:prstGeom prst="arc">
            <a:avLst>
              <a:gd name="adj1" fmla="val 3995380"/>
              <a:gd name="adj2" fmla="val 5860104"/>
            </a:avLst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D151C57-6D34-9A5B-29BC-D7B3393477C8}"/>
                  </a:ext>
                </a:extLst>
              </p:cNvPr>
              <p:cNvSpPr txBox="1"/>
              <p:nvPr/>
            </p:nvSpPr>
            <p:spPr>
              <a:xfrm>
                <a:off x="5982217" y="4110847"/>
                <a:ext cx="21632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SL</m:t>
                    </m:r>
                    <m: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1∗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𝑆𝐸𝑁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D151C57-6D34-9A5B-29BC-D7B33934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17" y="4110847"/>
                <a:ext cx="2163273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582E65-4228-32C5-4BE3-EEA27D9E6446}"/>
                  </a:ext>
                </a:extLst>
              </p:cNvPr>
              <p:cNvSpPr txBox="1"/>
              <p:nvPr/>
            </p:nvSpPr>
            <p:spPr>
              <a:xfrm>
                <a:off x="5633735" y="4542327"/>
                <a:ext cx="2884619" cy="405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MX" sz="1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s-MX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MX" sz="1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s-MX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𝑆𝐸𝑁</m:t>
                    </m:r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Ɵ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chemeClr val="tx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4582E65-4228-32C5-4BE3-EEA27D9E6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735" y="4542327"/>
                <a:ext cx="2884619" cy="405560"/>
              </a:xfrm>
              <a:prstGeom prst="rect">
                <a:avLst/>
              </a:prstGeom>
              <a:blipFill>
                <a:blip r:embed="rId8"/>
                <a:stretch>
                  <a:fillRect b="-2238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D50C2FF-A3CA-1725-C1FD-AA15D2F1C265}"/>
              </a:ext>
            </a:extLst>
          </p:cNvPr>
          <p:cNvCxnSpPr>
            <a:cxnSpLocks/>
          </p:cNvCxnSpPr>
          <p:nvPr/>
        </p:nvCxnSpPr>
        <p:spPr>
          <a:xfrm flipV="1">
            <a:off x="6965326" y="2325704"/>
            <a:ext cx="312576" cy="69234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17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72CDEF3-55D4-7942-BE29-CCE3F6C6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81ABEC86-A533-F153-5FCA-7E60F8A0B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DFD1C8A0-480A-9B24-F12F-34D5D5953F00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78423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Angular 3GDL y Robot Cartesiano 3GDL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496B8C14-FF3D-B61F-D721-1CD42EE31590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18187681-4367-526D-BF1C-DE5FAFE4EE94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84C3E41D-DE9D-7AFA-46F5-85D2567ACEE9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Angular 3GDL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9F3F19-F167-20EF-52B9-849AD6A58A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22" r="7013" b="24319"/>
          <a:stretch/>
        </p:blipFill>
        <p:spPr>
          <a:xfrm>
            <a:off x="324869" y="1993142"/>
            <a:ext cx="3027930" cy="264300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CBC8D83-0BF2-E726-0CFF-5C2287DC15A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02" t="23996" r="58094" b="6566"/>
          <a:stretch/>
        </p:blipFill>
        <p:spPr>
          <a:xfrm>
            <a:off x="6245219" y="1978431"/>
            <a:ext cx="2660836" cy="2643002"/>
          </a:xfrm>
          <a:prstGeom prst="rect">
            <a:avLst/>
          </a:prstGeom>
        </p:spPr>
      </p:pic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49A2BFBA-DD91-BB20-DA21-A51D1E43E837}"/>
              </a:ext>
            </a:extLst>
          </p:cNvPr>
          <p:cNvSpPr txBox="1"/>
          <p:nvPr/>
        </p:nvSpPr>
        <p:spPr>
          <a:xfrm>
            <a:off x="6168783" y="133731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 3GDL</a:t>
            </a:r>
          </a:p>
        </p:txBody>
      </p:sp>
      <p:sp>
        <p:nvSpPr>
          <p:cNvPr id="15" name="Google Shape;1603;p42">
            <a:extLst>
              <a:ext uri="{FF2B5EF4-FFF2-40B4-BE49-F238E27FC236}">
                <a16:creationId xmlns:a16="http://schemas.microsoft.com/office/drawing/2014/main" id="{50C9088D-DD52-8C47-D7EE-18C34097A418}"/>
              </a:ext>
            </a:extLst>
          </p:cNvPr>
          <p:cNvSpPr txBox="1"/>
          <p:nvPr/>
        </p:nvSpPr>
        <p:spPr>
          <a:xfrm>
            <a:off x="3525317" y="1435443"/>
            <a:ext cx="2547383" cy="294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 4.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 General</a:t>
            </a:r>
          </a:p>
          <a:p>
            <a:pPr algn="just"/>
            <a:endParaRPr lang="es-E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 la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 directa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cada robot, describiendo las matrices de transformación homogéneas locales y globales.</a:t>
            </a: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 la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 diferencial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 cada robot, describiendo los vectores resultantes de la velocidad lineal y la velocidad angular</a:t>
            </a: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8B44A2A-ABDC-B442-20A4-62D5839ED28E}"/>
              </a:ext>
            </a:extLst>
          </p:cNvPr>
          <p:cNvCxnSpPr>
            <a:cxnSpLocks/>
          </p:cNvCxnSpPr>
          <p:nvPr/>
        </p:nvCxnSpPr>
        <p:spPr>
          <a:xfrm flipH="1" flipV="1">
            <a:off x="1477108" y="3543146"/>
            <a:ext cx="426677" cy="252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4B0B6AE-D488-F93A-BD97-A3147F58F382}"/>
              </a:ext>
            </a:extLst>
          </p:cNvPr>
          <p:cNvCxnSpPr>
            <a:cxnSpLocks/>
          </p:cNvCxnSpPr>
          <p:nvPr/>
        </p:nvCxnSpPr>
        <p:spPr>
          <a:xfrm flipV="1">
            <a:off x="1896629" y="3543147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ED89B06-872D-B99E-8D95-7194769A3730}"/>
              </a:ext>
            </a:extLst>
          </p:cNvPr>
          <p:cNvCxnSpPr>
            <a:cxnSpLocks/>
          </p:cNvCxnSpPr>
          <p:nvPr/>
        </p:nvCxnSpPr>
        <p:spPr>
          <a:xfrm flipV="1">
            <a:off x="1903785" y="3324990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C3B4CF5-198F-08E4-5CBD-1BC4CB9B6A6D}"/>
              </a:ext>
            </a:extLst>
          </p:cNvPr>
          <p:cNvSpPr txBox="1"/>
          <p:nvPr/>
        </p:nvSpPr>
        <p:spPr>
          <a:xfrm>
            <a:off x="2321698" y="323696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304D34-BFAC-9290-0DE0-949EC00DAC8F}"/>
              </a:ext>
            </a:extLst>
          </p:cNvPr>
          <p:cNvSpPr txBox="1"/>
          <p:nvPr/>
        </p:nvSpPr>
        <p:spPr>
          <a:xfrm>
            <a:off x="1253741" y="3295568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A0D6BA7-6192-53B3-D9FB-86BDC2606E94}"/>
              </a:ext>
            </a:extLst>
          </p:cNvPr>
          <p:cNvSpPr txBox="1"/>
          <p:nvPr/>
        </p:nvSpPr>
        <p:spPr>
          <a:xfrm>
            <a:off x="1791440" y="300548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3872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9CD6C007-5E9A-61BF-00EC-2613E81F3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D6520666-835F-A395-8FA2-DB17A20E2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84F7D1A4-516C-E768-532E-81E00B9C23AA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78423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Angular 3GDL y Robot Cartesiano 3GDL 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EF670010-2646-EF3A-A17A-CDD66816A3AD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295AA830-5FEF-94D3-83EB-96DCC123CEC9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BB134ADE-CFD9-D8A3-2134-6F1E325CC18F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Angular 3GDL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ED3C7DE-CA4F-9300-A856-E64A7BDE50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2" t="23996" r="58094" b="6566"/>
          <a:stretch/>
        </p:blipFill>
        <p:spPr>
          <a:xfrm>
            <a:off x="6245219" y="1978431"/>
            <a:ext cx="2660836" cy="2643002"/>
          </a:xfrm>
          <a:prstGeom prst="rect">
            <a:avLst/>
          </a:prstGeom>
        </p:spPr>
      </p:pic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50201BE9-3E3D-3458-76FC-B2C4847F272F}"/>
              </a:ext>
            </a:extLst>
          </p:cNvPr>
          <p:cNvSpPr txBox="1"/>
          <p:nvPr/>
        </p:nvSpPr>
        <p:spPr>
          <a:xfrm>
            <a:off x="6168783" y="133731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 3GDL</a:t>
            </a:r>
          </a:p>
        </p:txBody>
      </p:sp>
      <p:sp>
        <p:nvSpPr>
          <p:cNvPr id="15" name="Google Shape;1603;p42">
            <a:extLst>
              <a:ext uri="{FF2B5EF4-FFF2-40B4-BE49-F238E27FC236}">
                <a16:creationId xmlns:a16="http://schemas.microsoft.com/office/drawing/2014/main" id="{9C1DAE57-9BE5-19C2-55D3-528CC8244312}"/>
              </a:ext>
            </a:extLst>
          </p:cNvPr>
          <p:cNvSpPr txBox="1"/>
          <p:nvPr/>
        </p:nvSpPr>
        <p:spPr>
          <a:xfrm>
            <a:off x="3487099" y="1536998"/>
            <a:ext cx="2547383" cy="294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pasos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uno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lineales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angulares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describiendo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matrices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homogeneas locales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globales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MATLAB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6580860-3C64-206B-E9E0-26C34D3D99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522" r="7013" b="24319"/>
          <a:stretch/>
        </p:blipFill>
        <p:spPr>
          <a:xfrm>
            <a:off x="324869" y="1993142"/>
            <a:ext cx="3027930" cy="2643002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D433877-C4A8-F412-55AC-F2D2650EEBFC}"/>
              </a:ext>
            </a:extLst>
          </p:cNvPr>
          <p:cNvCxnSpPr>
            <a:cxnSpLocks/>
          </p:cNvCxnSpPr>
          <p:nvPr/>
        </p:nvCxnSpPr>
        <p:spPr>
          <a:xfrm flipH="1" flipV="1">
            <a:off x="1477108" y="3543146"/>
            <a:ext cx="426677" cy="252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6B8E613-10EC-3130-634E-ED08961A2A60}"/>
              </a:ext>
            </a:extLst>
          </p:cNvPr>
          <p:cNvCxnSpPr>
            <a:cxnSpLocks/>
          </p:cNvCxnSpPr>
          <p:nvPr/>
        </p:nvCxnSpPr>
        <p:spPr>
          <a:xfrm flipV="1">
            <a:off x="1896629" y="3543147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F79C554-E4BD-C6EA-8B5D-0F4F781EF1FD}"/>
              </a:ext>
            </a:extLst>
          </p:cNvPr>
          <p:cNvCxnSpPr>
            <a:cxnSpLocks/>
          </p:cNvCxnSpPr>
          <p:nvPr/>
        </p:nvCxnSpPr>
        <p:spPr>
          <a:xfrm flipV="1">
            <a:off x="1903785" y="3324990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217169D-FA34-96C5-0072-87F0D790C285}"/>
              </a:ext>
            </a:extLst>
          </p:cNvPr>
          <p:cNvSpPr txBox="1"/>
          <p:nvPr/>
        </p:nvSpPr>
        <p:spPr>
          <a:xfrm>
            <a:off x="2321698" y="323696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C3BFAD-285D-3E3C-40AB-0A23F38B437A}"/>
              </a:ext>
            </a:extLst>
          </p:cNvPr>
          <p:cNvSpPr txBox="1"/>
          <p:nvPr/>
        </p:nvSpPr>
        <p:spPr>
          <a:xfrm>
            <a:off x="1253741" y="3295568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FB118E0-68CF-EA7B-3093-8DE1D5B01AE0}"/>
              </a:ext>
            </a:extLst>
          </p:cNvPr>
          <p:cNvSpPr txBox="1"/>
          <p:nvPr/>
        </p:nvSpPr>
        <p:spPr>
          <a:xfrm>
            <a:off x="1791440" y="300548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7694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Angular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Reto. Robot Angular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9644DE-5E78-9FBA-0A87-B3361A31D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029" y="1740627"/>
            <a:ext cx="3261098" cy="3064119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30C82748-C109-06E1-426E-B258CC8B111F}"/>
              </a:ext>
            </a:extLst>
          </p:cNvPr>
          <p:cNvCxnSpPr>
            <a:cxnSpLocks/>
          </p:cNvCxnSpPr>
          <p:nvPr/>
        </p:nvCxnSpPr>
        <p:spPr>
          <a:xfrm flipH="1" flipV="1">
            <a:off x="6793699" y="3363884"/>
            <a:ext cx="338578" cy="34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76BBBDAB-3685-6E6A-1A86-57B161140AF7}"/>
              </a:ext>
            </a:extLst>
          </p:cNvPr>
          <p:cNvCxnSpPr>
            <a:cxnSpLocks/>
          </p:cNvCxnSpPr>
          <p:nvPr/>
        </p:nvCxnSpPr>
        <p:spPr>
          <a:xfrm flipV="1">
            <a:off x="7125121" y="3471575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8DCA2A4-B508-A8D9-DA6C-5553FE25929E}"/>
              </a:ext>
            </a:extLst>
          </p:cNvPr>
          <p:cNvCxnSpPr>
            <a:cxnSpLocks/>
          </p:cNvCxnSpPr>
          <p:nvPr/>
        </p:nvCxnSpPr>
        <p:spPr>
          <a:xfrm flipV="1">
            <a:off x="7132277" y="3253418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2F20918-4DB7-5DB0-1E11-753B58CFD13C}"/>
              </a:ext>
            </a:extLst>
          </p:cNvPr>
          <p:cNvSpPr txBox="1"/>
          <p:nvPr/>
        </p:nvSpPr>
        <p:spPr>
          <a:xfrm>
            <a:off x="7550190" y="316539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4F0AA83-A75D-5546-D305-9663CC0C2CE5}"/>
              </a:ext>
            </a:extLst>
          </p:cNvPr>
          <p:cNvSpPr txBox="1"/>
          <p:nvPr/>
        </p:nvSpPr>
        <p:spPr>
          <a:xfrm>
            <a:off x="6531618" y="3033411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B632712-171E-3B47-0A8A-8C1A95DC405B}"/>
              </a:ext>
            </a:extLst>
          </p:cNvPr>
          <p:cNvSpPr txBox="1"/>
          <p:nvPr/>
        </p:nvSpPr>
        <p:spPr>
          <a:xfrm>
            <a:off x="7019932" y="293391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1894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Angular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Angular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9644DE-5E78-9FBA-0A87-B3361A31D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560" y="1768506"/>
            <a:ext cx="3261098" cy="3064119"/>
          </a:xfrm>
          <a:prstGeom prst="rect">
            <a:avLst/>
          </a:prstGeom>
        </p:spPr>
      </p:pic>
      <p:sp>
        <p:nvSpPr>
          <p:cNvPr id="10" name="Google Shape;1603;p42">
            <a:extLst>
              <a:ext uri="{FF2B5EF4-FFF2-40B4-BE49-F238E27FC236}">
                <a16:creationId xmlns:a16="http://schemas.microsoft.com/office/drawing/2014/main" id="{B6AF135A-A7A6-5A21-F085-0F622BC44B05}"/>
              </a:ext>
            </a:extLst>
          </p:cNvPr>
          <p:cNvSpPr txBox="1"/>
          <p:nvPr/>
        </p:nvSpPr>
        <p:spPr>
          <a:xfrm>
            <a:off x="6319483" y="1726157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1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negativa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9F99651-5804-C403-9E26-F8631274B7BC}"/>
              </a:ext>
            </a:extLst>
          </p:cNvPr>
          <p:cNvCxnSpPr>
            <a:cxnSpLocks/>
          </p:cNvCxnSpPr>
          <p:nvPr/>
        </p:nvCxnSpPr>
        <p:spPr>
          <a:xfrm flipH="1" flipV="1">
            <a:off x="7092155" y="3323684"/>
            <a:ext cx="338578" cy="34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28D26E7-C244-9BD2-63E3-F99DC3BE90E4}"/>
              </a:ext>
            </a:extLst>
          </p:cNvPr>
          <p:cNvCxnSpPr>
            <a:cxnSpLocks/>
          </p:cNvCxnSpPr>
          <p:nvPr/>
        </p:nvCxnSpPr>
        <p:spPr>
          <a:xfrm flipH="1">
            <a:off x="7075281" y="3680628"/>
            <a:ext cx="348296" cy="234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73D1DE0-8F24-6BAA-0E81-BD497A9C7638}"/>
              </a:ext>
            </a:extLst>
          </p:cNvPr>
          <p:cNvCxnSpPr>
            <a:cxnSpLocks/>
          </p:cNvCxnSpPr>
          <p:nvPr/>
        </p:nvCxnSpPr>
        <p:spPr>
          <a:xfrm flipV="1">
            <a:off x="7430733" y="3213218"/>
            <a:ext cx="16874" cy="481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98DB6CA-6092-FF09-76E6-47354C7B3F2D}"/>
              </a:ext>
            </a:extLst>
          </p:cNvPr>
          <p:cNvSpPr txBox="1"/>
          <p:nvPr/>
        </p:nvSpPr>
        <p:spPr>
          <a:xfrm>
            <a:off x="7302038" y="282608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19E7B7C-B806-050D-A81A-729D008D9499}"/>
              </a:ext>
            </a:extLst>
          </p:cNvPr>
          <p:cNvSpPr txBox="1"/>
          <p:nvPr/>
        </p:nvSpPr>
        <p:spPr>
          <a:xfrm>
            <a:off x="6830074" y="2993211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733F209-BE48-A1EA-9F96-94442F2E8236}"/>
              </a:ext>
            </a:extLst>
          </p:cNvPr>
          <p:cNvSpPr txBox="1"/>
          <p:nvPr/>
        </p:nvSpPr>
        <p:spPr>
          <a:xfrm>
            <a:off x="6773023" y="3798068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F59986B-3B1A-F514-6BD6-1105821BAE7A}"/>
              </a:ext>
            </a:extLst>
          </p:cNvPr>
          <p:cNvCxnSpPr>
            <a:cxnSpLocks/>
          </p:cNvCxnSpPr>
          <p:nvPr/>
        </p:nvCxnSpPr>
        <p:spPr>
          <a:xfrm flipH="1" flipV="1">
            <a:off x="928344" y="3315261"/>
            <a:ext cx="338578" cy="34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1DBEC136-7828-09F8-2815-A32B311ECB04}"/>
              </a:ext>
            </a:extLst>
          </p:cNvPr>
          <p:cNvCxnSpPr>
            <a:cxnSpLocks/>
          </p:cNvCxnSpPr>
          <p:nvPr/>
        </p:nvCxnSpPr>
        <p:spPr>
          <a:xfrm flipV="1">
            <a:off x="1259766" y="3422952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8F1712F-7D7A-EF7A-FC15-6C043E28C1A6}"/>
              </a:ext>
            </a:extLst>
          </p:cNvPr>
          <p:cNvCxnSpPr>
            <a:cxnSpLocks/>
          </p:cNvCxnSpPr>
          <p:nvPr/>
        </p:nvCxnSpPr>
        <p:spPr>
          <a:xfrm flipV="1">
            <a:off x="1266922" y="3204795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31F63B3-D7D1-3CB0-F29B-BD6DE0E08D08}"/>
              </a:ext>
            </a:extLst>
          </p:cNvPr>
          <p:cNvSpPr txBox="1"/>
          <p:nvPr/>
        </p:nvSpPr>
        <p:spPr>
          <a:xfrm>
            <a:off x="1684835" y="311677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FBF12AD-5A55-805D-4936-00C8B3209196}"/>
              </a:ext>
            </a:extLst>
          </p:cNvPr>
          <p:cNvSpPr txBox="1"/>
          <p:nvPr/>
        </p:nvSpPr>
        <p:spPr>
          <a:xfrm>
            <a:off x="666263" y="2984788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E9FF0A0-9116-627D-9820-6A748AB667D5}"/>
              </a:ext>
            </a:extLst>
          </p:cNvPr>
          <p:cNvSpPr txBox="1"/>
          <p:nvPr/>
        </p:nvSpPr>
        <p:spPr>
          <a:xfrm>
            <a:off x="1154577" y="288529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2764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Cartesiano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96FEA3B8-573B-6452-2ACA-728E21BB251D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79B34EC-8848-A22D-7764-CD8347F1AD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2" t="23996" r="58094" b="6566"/>
          <a:stretch/>
        </p:blipFill>
        <p:spPr>
          <a:xfrm>
            <a:off x="209910" y="2044513"/>
            <a:ext cx="2771217" cy="2673640"/>
          </a:xfrm>
          <a:prstGeom prst="rect">
            <a:avLst/>
          </a:prstGeom>
        </p:spPr>
      </p:pic>
      <p:sp>
        <p:nvSpPr>
          <p:cNvPr id="2" name="Google Shape;1603;p42">
            <a:extLst>
              <a:ext uri="{FF2B5EF4-FFF2-40B4-BE49-F238E27FC236}">
                <a16:creationId xmlns:a16="http://schemas.microsoft.com/office/drawing/2014/main" id="{886109B4-ACBD-4747-FD68-114B5F20312C}"/>
              </a:ext>
            </a:extLst>
          </p:cNvPr>
          <p:cNvSpPr txBox="1"/>
          <p:nvPr/>
        </p:nvSpPr>
        <p:spPr>
          <a:xfrm>
            <a:off x="3695875" y="1570488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1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AE1A732-E1AE-5BCB-8565-C1BA6B84066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524295" y="3609595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6F3C30F-12A8-1FDB-44F4-F79957E1D834}"/>
              </a:ext>
            </a:extLst>
          </p:cNvPr>
          <p:cNvCxnSpPr>
            <a:cxnSpLocks/>
          </p:cNvCxnSpPr>
          <p:nvPr/>
        </p:nvCxnSpPr>
        <p:spPr>
          <a:xfrm flipV="1">
            <a:off x="3519340" y="3356394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E02CDB5C-E61F-41FF-7DFE-4A8CA2BE01C5}"/>
              </a:ext>
            </a:extLst>
          </p:cNvPr>
          <p:cNvCxnSpPr>
            <a:cxnSpLocks/>
          </p:cNvCxnSpPr>
          <p:nvPr/>
        </p:nvCxnSpPr>
        <p:spPr>
          <a:xfrm flipV="1">
            <a:off x="3515860" y="3162697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C6E924B-65D5-004A-E8E2-B28014ACA245}"/>
              </a:ext>
            </a:extLst>
          </p:cNvPr>
          <p:cNvSpPr txBox="1"/>
          <p:nvPr/>
        </p:nvSpPr>
        <p:spPr>
          <a:xfrm>
            <a:off x="3359421" y="2773300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49A3EF7-4710-AE39-F287-57CA9F6CA42E}"/>
              </a:ext>
            </a:extLst>
          </p:cNvPr>
          <p:cNvSpPr txBox="1"/>
          <p:nvPr/>
        </p:nvSpPr>
        <p:spPr>
          <a:xfrm>
            <a:off x="3895832" y="379934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99FC97-C8C7-5532-AE89-E9BD6AC5CA2C}"/>
              </a:ext>
            </a:extLst>
          </p:cNvPr>
          <p:cNvSpPr txBox="1"/>
          <p:nvPr/>
        </p:nvSpPr>
        <p:spPr>
          <a:xfrm>
            <a:off x="3994042" y="307151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15" name="Flecha: a la derecha con bandas 14">
            <a:extLst>
              <a:ext uri="{FF2B5EF4-FFF2-40B4-BE49-F238E27FC236}">
                <a16:creationId xmlns:a16="http://schemas.microsoft.com/office/drawing/2014/main" id="{F1A40DA5-6CCF-5035-39B4-268F4AD41094}"/>
              </a:ext>
            </a:extLst>
          </p:cNvPr>
          <p:cNvSpPr/>
          <p:nvPr/>
        </p:nvSpPr>
        <p:spPr>
          <a:xfrm>
            <a:off x="4584910" y="3126513"/>
            <a:ext cx="678413" cy="548795"/>
          </a:xfrm>
          <a:prstGeom prst="stripedRightArrow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00E5DAC-0A8A-37E0-2FB5-158FA59019FD}"/>
              </a:ext>
            </a:extLst>
          </p:cNvPr>
          <p:cNvCxnSpPr>
            <a:cxnSpLocks/>
          </p:cNvCxnSpPr>
          <p:nvPr/>
        </p:nvCxnSpPr>
        <p:spPr>
          <a:xfrm>
            <a:off x="5916976" y="3645779"/>
            <a:ext cx="489551" cy="264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86B2400-8431-FCC5-3F3F-5D070C7B0359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5515101" y="3641831"/>
            <a:ext cx="396920" cy="286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1B3C4B4-6FA7-20F3-92BC-BF8CFEC0B670}"/>
              </a:ext>
            </a:extLst>
          </p:cNvPr>
          <p:cNvCxnSpPr>
            <a:cxnSpLocks/>
          </p:cNvCxnSpPr>
          <p:nvPr/>
        </p:nvCxnSpPr>
        <p:spPr>
          <a:xfrm flipV="1">
            <a:off x="5908541" y="3198881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8A5FC34-5156-BEB2-EC8B-1DF7D2D85F50}"/>
              </a:ext>
            </a:extLst>
          </p:cNvPr>
          <p:cNvSpPr txBox="1"/>
          <p:nvPr/>
        </p:nvSpPr>
        <p:spPr>
          <a:xfrm>
            <a:off x="5223964" y="377430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9FADF75-7082-C712-56DE-2E6F43DCE6CA}"/>
              </a:ext>
            </a:extLst>
          </p:cNvPr>
          <p:cNvSpPr txBox="1"/>
          <p:nvPr/>
        </p:nvSpPr>
        <p:spPr>
          <a:xfrm>
            <a:off x="6418250" y="389461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03981A0-C669-AA21-AE9D-F9A9A311806D}"/>
              </a:ext>
            </a:extLst>
          </p:cNvPr>
          <p:cNvSpPr txBox="1"/>
          <p:nvPr/>
        </p:nvSpPr>
        <p:spPr>
          <a:xfrm>
            <a:off x="5761235" y="281306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34" name="Google Shape;1603;p42">
            <a:extLst>
              <a:ext uri="{FF2B5EF4-FFF2-40B4-BE49-F238E27FC236}">
                <a16:creationId xmlns:a16="http://schemas.microsoft.com/office/drawing/2014/main" id="{CD14EC27-623A-EE5C-4218-C8EB810F6116}"/>
              </a:ext>
            </a:extLst>
          </p:cNvPr>
          <p:cNvSpPr txBox="1"/>
          <p:nvPr/>
        </p:nvSpPr>
        <p:spPr>
          <a:xfrm>
            <a:off x="6498205" y="1513425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1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35" name="Flecha: a la derecha con bandas 34">
            <a:extLst>
              <a:ext uri="{FF2B5EF4-FFF2-40B4-BE49-F238E27FC236}">
                <a16:creationId xmlns:a16="http://schemas.microsoft.com/office/drawing/2014/main" id="{7FFD1DA7-521C-F13F-67F8-C0FEE65E839E}"/>
              </a:ext>
            </a:extLst>
          </p:cNvPr>
          <p:cNvSpPr/>
          <p:nvPr/>
        </p:nvSpPr>
        <p:spPr>
          <a:xfrm>
            <a:off x="6633308" y="3162697"/>
            <a:ext cx="678413" cy="548795"/>
          </a:xfrm>
          <a:prstGeom prst="stripedRightArrow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7AB4854-E9F9-77AE-E41B-56A9946B8215}"/>
              </a:ext>
            </a:extLst>
          </p:cNvPr>
          <p:cNvCxnSpPr>
            <a:cxnSpLocks/>
          </p:cNvCxnSpPr>
          <p:nvPr/>
        </p:nvCxnSpPr>
        <p:spPr>
          <a:xfrm>
            <a:off x="7825569" y="3609595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00ED3E3-663A-7681-1626-BFA21F18E3C8}"/>
              </a:ext>
            </a:extLst>
          </p:cNvPr>
          <p:cNvCxnSpPr>
            <a:cxnSpLocks/>
          </p:cNvCxnSpPr>
          <p:nvPr/>
        </p:nvCxnSpPr>
        <p:spPr>
          <a:xfrm flipV="1">
            <a:off x="7829049" y="3392578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219B61F5-CEEF-8050-50BE-90049AA84033}"/>
              </a:ext>
            </a:extLst>
          </p:cNvPr>
          <p:cNvCxnSpPr>
            <a:cxnSpLocks/>
          </p:cNvCxnSpPr>
          <p:nvPr/>
        </p:nvCxnSpPr>
        <p:spPr>
          <a:xfrm flipV="1">
            <a:off x="7825569" y="3198881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7E254BA0-4F96-87A0-6390-40E8D7850962}"/>
              </a:ext>
            </a:extLst>
          </p:cNvPr>
          <p:cNvSpPr txBox="1"/>
          <p:nvPr/>
        </p:nvSpPr>
        <p:spPr>
          <a:xfrm>
            <a:off x="8134651" y="4016361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4182838-431B-E8CF-3379-DF702C217EBA}"/>
              </a:ext>
            </a:extLst>
          </p:cNvPr>
          <p:cNvSpPr txBox="1"/>
          <p:nvPr/>
        </p:nvSpPr>
        <p:spPr>
          <a:xfrm>
            <a:off x="8356291" y="3198881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9BB3ACD-2717-7C98-4227-4DD1D380359A}"/>
              </a:ext>
            </a:extLst>
          </p:cNvPr>
          <p:cNvSpPr txBox="1"/>
          <p:nvPr/>
        </p:nvSpPr>
        <p:spPr>
          <a:xfrm>
            <a:off x="7707593" y="281306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1359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04136A4C-B143-C96D-0947-26C12F5C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DAD5D113-0B8F-469E-FB1B-300DEE740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7FB95EB0-FC2C-B3E9-1973-681B1B6B680D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Introducción a Dinámica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Robot Cartesiano</a:t>
            </a: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3GDL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94572E1E-8109-6282-A8C7-A3AA0696927E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0BB10B41-73C1-693D-40DB-5B7D9BE7821D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1984661B-C910-96DD-03CD-FFBEEA213E52}"/>
              </a:ext>
            </a:extLst>
          </p:cNvPr>
          <p:cNvSpPr txBox="1"/>
          <p:nvPr/>
        </p:nvSpPr>
        <p:spPr>
          <a:xfrm>
            <a:off x="237945" y="1435444"/>
            <a:ext cx="2547383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Cartesiano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DE9F560-84E3-5665-0524-1034E4F0F2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2" t="23996" r="58094" b="6566"/>
          <a:stretch/>
        </p:blipFill>
        <p:spPr>
          <a:xfrm>
            <a:off x="209910" y="2044513"/>
            <a:ext cx="2771217" cy="2673640"/>
          </a:xfrm>
          <a:prstGeom prst="rect">
            <a:avLst/>
          </a:prstGeom>
        </p:spPr>
      </p:pic>
      <p:sp>
        <p:nvSpPr>
          <p:cNvPr id="2" name="Google Shape;1603;p42">
            <a:extLst>
              <a:ext uri="{FF2B5EF4-FFF2-40B4-BE49-F238E27FC236}">
                <a16:creationId xmlns:a16="http://schemas.microsoft.com/office/drawing/2014/main" id="{4DAAD1F5-F048-C1AA-9160-5AEFD57E7F67}"/>
              </a:ext>
            </a:extLst>
          </p:cNvPr>
          <p:cNvSpPr txBox="1"/>
          <p:nvPr/>
        </p:nvSpPr>
        <p:spPr>
          <a:xfrm>
            <a:off x="3695875" y="1570488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2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87610351-9A46-8F9E-51C6-0D59EB204432}"/>
              </a:ext>
            </a:extLst>
          </p:cNvPr>
          <p:cNvCxnSpPr>
            <a:cxnSpLocks/>
          </p:cNvCxnSpPr>
          <p:nvPr/>
        </p:nvCxnSpPr>
        <p:spPr>
          <a:xfrm>
            <a:off x="5625111" y="3238831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42D47EFE-15DF-FFF1-8996-AF5DB1CDD8CD}"/>
              </a:ext>
            </a:extLst>
          </p:cNvPr>
          <p:cNvCxnSpPr>
            <a:cxnSpLocks/>
          </p:cNvCxnSpPr>
          <p:nvPr/>
        </p:nvCxnSpPr>
        <p:spPr>
          <a:xfrm flipV="1">
            <a:off x="5642934" y="2996214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DFAD457-0871-04C2-4C45-EB12A21D60B3}"/>
              </a:ext>
            </a:extLst>
          </p:cNvPr>
          <p:cNvCxnSpPr>
            <a:cxnSpLocks/>
          </p:cNvCxnSpPr>
          <p:nvPr/>
        </p:nvCxnSpPr>
        <p:spPr>
          <a:xfrm>
            <a:off x="5639454" y="3238831"/>
            <a:ext cx="0" cy="449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67DAF25-4B3A-C284-C749-174CD058D5F4}"/>
              </a:ext>
            </a:extLst>
          </p:cNvPr>
          <p:cNvSpPr txBox="1"/>
          <p:nvPr/>
        </p:nvSpPr>
        <p:spPr>
          <a:xfrm>
            <a:off x="5480377" y="381006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624B4B-0020-F291-13A5-3296375270FF}"/>
              </a:ext>
            </a:extLst>
          </p:cNvPr>
          <p:cNvSpPr txBox="1"/>
          <p:nvPr/>
        </p:nvSpPr>
        <p:spPr>
          <a:xfrm>
            <a:off x="6111928" y="273698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D3ABEA1-E835-A92D-FE95-E4380EADB972}"/>
              </a:ext>
            </a:extLst>
          </p:cNvPr>
          <p:cNvSpPr txBox="1"/>
          <p:nvPr/>
        </p:nvSpPr>
        <p:spPr>
          <a:xfrm>
            <a:off x="5996648" y="3593053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15" name="Flecha: a la derecha con bandas 14">
            <a:extLst>
              <a:ext uri="{FF2B5EF4-FFF2-40B4-BE49-F238E27FC236}">
                <a16:creationId xmlns:a16="http://schemas.microsoft.com/office/drawing/2014/main" id="{CAF185A8-CCB1-A10D-5E1A-03E93596C11F}"/>
              </a:ext>
            </a:extLst>
          </p:cNvPr>
          <p:cNvSpPr/>
          <p:nvPr/>
        </p:nvSpPr>
        <p:spPr>
          <a:xfrm>
            <a:off x="4584910" y="3126513"/>
            <a:ext cx="678413" cy="548795"/>
          </a:xfrm>
          <a:prstGeom prst="stripedRightArrow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Google Shape;1603;p42">
            <a:extLst>
              <a:ext uri="{FF2B5EF4-FFF2-40B4-BE49-F238E27FC236}">
                <a16:creationId xmlns:a16="http://schemas.microsoft.com/office/drawing/2014/main" id="{0413CF81-CC6D-F3C9-3E35-11F863EE01C3}"/>
              </a:ext>
            </a:extLst>
          </p:cNvPr>
          <p:cNvSpPr txBox="1"/>
          <p:nvPr/>
        </p:nvSpPr>
        <p:spPr>
          <a:xfrm>
            <a:off x="6498205" y="1513425"/>
            <a:ext cx="2547383" cy="5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 2 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positiva de 90 grados alrededor del eje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35" name="Flecha: a la derecha con bandas 34">
            <a:extLst>
              <a:ext uri="{FF2B5EF4-FFF2-40B4-BE49-F238E27FC236}">
                <a16:creationId xmlns:a16="http://schemas.microsoft.com/office/drawing/2014/main" id="{6B13F0AF-0560-612E-FE12-21F30A265AA4}"/>
              </a:ext>
            </a:extLst>
          </p:cNvPr>
          <p:cNvSpPr/>
          <p:nvPr/>
        </p:nvSpPr>
        <p:spPr>
          <a:xfrm>
            <a:off x="6633308" y="3162697"/>
            <a:ext cx="678413" cy="548795"/>
          </a:xfrm>
          <a:prstGeom prst="stripedRightArrow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837566DC-C2C9-F68C-75CB-231BC6BA9D6C}"/>
              </a:ext>
            </a:extLst>
          </p:cNvPr>
          <p:cNvCxnSpPr>
            <a:cxnSpLocks/>
          </p:cNvCxnSpPr>
          <p:nvPr/>
        </p:nvCxnSpPr>
        <p:spPr>
          <a:xfrm>
            <a:off x="3638306" y="3550233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EF707ABF-D147-031F-4076-EE55F60BC960}"/>
              </a:ext>
            </a:extLst>
          </p:cNvPr>
          <p:cNvCxnSpPr>
            <a:cxnSpLocks/>
          </p:cNvCxnSpPr>
          <p:nvPr/>
        </p:nvCxnSpPr>
        <p:spPr>
          <a:xfrm flipV="1">
            <a:off x="3641786" y="3333216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817DF0B-27D3-B493-896B-851922AD084A}"/>
              </a:ext>
            </a:extLst>
          </p:cNvPr>
          <p:cNvCxnSpPr>
            <a:cxnSpLocks/>
          </p:cNvCxnSpPr>
          <p:nvPr/>
        </p:nvCxnSpPr>
        <p:spPr>
          <a:xfrm flipV="1">
            <a:off x="3638306" y="3139519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ADFAE50-03F0-19FF-997E-B0C251B733E5}"/>
              </a:ext>
            </a:extLst>
          </p:cNvPr>
          <p:cNvSpPr txBox="1"/>
          <p:nvPr/>
        </p:nvSpPr>
        <p:spPr>
          <a:xfrm>
            <a:off x="3947388" y="395699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EA5422B-7FA7-1081-5BA7-04C1C99A16C3}"/>
              </a:ext>
            </a:extLst>
          </p:cNvPr>
          <p:cNvSpPr txBox="1"/>
          <p:nvPr/>
        </p:nvSpPr>
        <p:spPr>
          <a:xfrm>
            <a:off x="4169028" y="3139519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5E3E8B8-B687-C957-C1D8-BC7052A91F09}"/>
              </a:ext>
            </a:extLst>
          </p:cNvPr>
          <p:cNvSpPr txBox="1"/>
          <p:nvPr/>
        </p:nvSpPr>
        <p:spPr>
          <a:xfrm>
            <a:off x="3520330" y="2753702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ED3FE02-0FBD-5DB0-1931-2A95F653454A}"/>
              </a:ext>
            </a:extLst>
          </p:cNvPr>
          <p:cNvCxnSpPr>
            <a:cxnSpLocks/>
          </p:cNvCxnSpPr>
          <p:nvPr/>
        </p:nvCxnSpPr>
        <p:spPr>
          <a:xfrm>
            <a:off x="7939473" y="3455848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9B328C5-8BD9-57D5-0901-D119D23A0657}"/>
              </a:ext>
            </a:extLst>
          </p:cNvPr>
          <p:cNvCxnSpPr>
            <a:cxnSpLocks/>
          </p:cNvCxnSpPr>
          <p:nvPr/>
        </p:nvCxnSpPr>
        <p:spPr>
          <a:xfrm flipV="1">
            <a:off x="7942953" y="3238831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C39321A-0400-1A55-AE4E-CEB4E7417267}"/>
              </a:ext>
            </a:extLst>
          </p:cNvPr>
          <p:cNvCxnSpPr>
            <a:cxnSpLocks/>
          </p:cNvCxnSpPr>
          <p:nvPr/>
        </p:nvCxnSpPr>
        <p:spPr>
          <a:xfrm flipV="1">
            <a:off x="7939473" y="3045134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9721C5B-BE69-7262-267A-D7EC462E92FA}"/>
              </a:ext>
            </a:extLst>
          </p:cNvPr>
          <p:cNvSpPr txBox="1"/>
          <p:nvPr/>
        </p:nvSpPr>
        <p:spPr>
          <a:xfrm>
            <a:off x="8438530" y="3033873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37D23A3-817C-6CBC-5607-FD714FD0DB25}"/>
              </a:ext>
            </a:extLst>
          </p:cNvPr>
          <p:cNvSpPr txBox="1"/>
          <p:nvPr/>
        </p:nvSpPr>
        <p:spPr>
          <a:xfrm>
            <a:off x="7771896" y="268031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3F9905B-36F2-0A47-BA77-DDCDC8221EC7}"/>
              </a:ext>
            </a:extLst>
          </p:cNvPr>
          <p:cNvSpPr txBox="1"/>
          <p:nvPr/>
        </p:nvSpPr>
        <p:spPr>
          <a:xfrm>
            <a:off x="8319213" y="3829602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3237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-Evaluación</a:t>
            </a:r>
          </a:p>
          <a:p>
            <a:pPr marL="146050" lvl="0" indent="0">
              <a:buSzPts val="1300"/>
            </a:pPr>
            <a:r>
              <a:rPr lang="es-ES" dirty="0"/>
              <a:t> </a:t>
            </a:r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266738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752952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51995" y="650103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4 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Evaluación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50167" y="925323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5" y="1121154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nuevo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4 (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vector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lineales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vector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angulares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robots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manipuladores</a:t>
            </a:r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7139353" y="4885577"/>
            <a:ext cx="2313052" cy="28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8" name="Picture 4" descr="1.4.- Grados de Libertad – Inteligencia Artificial">
            <a:extLst>
              <a:ext uri="{FF2B5EF4-FFF2-40B4-BE49-F238E27FC236}">
                <a16:creationId xmlns:a16="http://schemas.microsoft.com/office/drawing/2014/main" id="{43736345-5442-3556-FFD8-88EAD6CBC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258" y="2353896"/>
            <a:ext cx="1753066" cy="267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603;p42">
            <a:extLst>
              <a:ext uri="{FF2B5EF4-FFF2-40B4-BE49-F238E27FC236}">
                <a16:creationId xmlns:a16="http://schemas.microsoft.com/office/drawing/2014/main" id="{70F432FB-B8F0-B0ED-33A8-CE8DDEFA98CF}"/>
              </a:ext>
            </a:extLst>
          </p:cNvPr>
          <p:cNvSpPr txBox="1"/>
          <p:nvPr/>
        </p:nvSpPr>
        <p:spPr>
          <a:xfrm>
            <a:off x="1580278" y="3970218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7" name="Google Shape;1603;p42">
            <a:extLst>
              <a:ext uri="{FF2B5EF4-FFF2-40B4-BE49-F238E27FC236}">
                <a16:creationId xmlns:a16="http://schemas.microsoft.com/office/drawing/2014/main" id="{AAAB325D-FD99-5947-260E-C87FDD005215}"/>
              </a:ext>
            </a:extLst>
          </p:cNvPr>
          <p:cNvSpPr txBox="1"/>
          <p:nvPr/>
        </p:nvSpPr>
        <p:spPr>
          <a:xfrm>
            <a:off x="1405456" y="3064407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Google Shape;1603;p42">
            <a:extLst>
              <a:ext uri="{FF2B5EF4-FFF2-40B4-BE49-F238E27FC236}">
                <a16:creationId xmlns:a16="http://schemas.microsoft.com/office/drawing/2014/main" id="{E6A72D2A-EA61-DA54-0F78-BD3ADFB6F8CA}"/>
              </a:ext>
            </a:extLst>
          </p:cNvPr>
          <p:cNvSpPr txBox="1"/>
          <p:nvPr/>
        </p:nvSpPr>
        <p:spPr>
          <a:xfrm>
            <a:off x="1690129" y="2219050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7B7D95B-8006-CF78-946F-DD12951F1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118" y="2316741"/>
            <a:ext cx="2701139" cy="2709660"/>
          </a:xfrm>
          <a:prstGeom prst="rect">
            <a:avLst/>
          </a:prstGeom>
        </p:spPr>
      </p:pic>
      <p:sp>
        <p:nvSpPr>
          <p:cNvPr id="21" name="Google Shape;1603;p42">
            <a:extLst>
              <a:ext uri="{FF2B5EF4-FFF2-40B4-BE49-F238E27FC236}">
                <a16:creationId xmlns:a16="http://schemas.microsoft.com/office/drawing/2014/main" id="{9AA44764-60CA-6310-7BA3-42338A78A32D}"/>
              </a:ext>
            </a:extLst>
          </p:cNvPr>
          <p:cNvSpPr txBox="1"/>
          <p:nvPr/>
        </p:nvSpPr>
        <p:spPr>
          <a:xfrm>
            <a:off x="4953025" y="4353771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Google Shape;1603;p42">
            <a:extLst>
              <a:ext uri="{FF2B5EF4-FFF2-40B4-BE49-F238E27FC236}">
                <a16:creationId xmlns:a16="http://schemas.microsoft.com/office/drawing/2014/main" id="{C2E90091-ACC7-BF87-C8D9-E1C28495C9E7}"/>
              </a:ext>
            </a:extLst>
          </p:cNvPr>
          <p:cNvSpPr txBox="1"/>
          <p:nvPr/>
        </p:nvSpPr>
        <p:spPr>
          <a:xfrm>
            <a:off x="4830495" y="3565448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" name="Google Shape;1603;p42">
            <a:extLst>
              <a:ext uri="{FF2B5EF4-FFF2-40B4-BE49-F238E27FC236}">
                <a16:creationId xmlns:a16="http://schemas.microsoft.com/office/drawing/2014/main" id="{4A1C79FC-9975-F6E3-5953-1104D31228DB}"/>
              </a:ext>
            </a:extLst>
          </p:cNvPr>
          <p:cNvSpPr txBox="1"/>
          <p:nvPr/>
        </p:nvSpPr>
        <p:spPr>
          <a:xfrm>
            <a:off x="4636424" y="2440053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F0FD33F3-D5AB-E087-37E8-8BC5A94C349E}"/>
              </a:ext>
            </a:extLst>
          </p:cNvPr>
          <p:cNvSpPr txBox="1"/>
          <p:nvPr/>
        </p:nvSpPr>
        <p:spPr>
          <a:xfrm>
            <a:off x="5876218" y="2223733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" name="Google Shape;1603;p42">
            <a:extLst>
              <a:ext uri="{FF2B5EF4-FFF2-40B4-BE49-F238E27FC236}">
                <a16:creationId xmlns:a16="http://schemas.microsoft.com/office/drawing/2014/main" id="{64921427-B7D1-7480-BE46-B566CD9048CB}"/>
              </a:ext>
            </a:extLst>
          </p:cNvPr>
          <p:cNvSpPr txBox="1"/>
          <p:nvPr/>
        </p:nvSpPr>
        <p:spPr>
          <a:xfrm>
            <a:off x="6594116" y="2345989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" name="Google Shape;1603;p42">
            <a:extLst>
              <a:ext uri="{FF2B5EF4-FFF2-40B4-BE49-F238E27FC236}">
                <a16:creationId xmlns:a16="http://schemas.microsoft.com/office/drawing/2014/main" id="{BCDD03F9-BF67-B40F-074F-F57759B8B968}"/>
              </a:ext>
            </a:extLst>
          </p:cNvPr>
          <p:cNvSpPr txBox="1"/>
          <p:nvPr/>
        </p:nvSpPr>
        <p:spPr>
          <a:xfrm>
            <a:off x="6070289" y="3096975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" name="Google Shape;1603;p42">
            <a:extLst>
              <a:ext uri="{FF2B5EF4-FFF2-40B4-BE49-F238E27FC236}">
                <a16:creationId xmlns:a16="http://schemas.microsoft.com/office/drawing/2014/main" id="{FF723B77-E64E-3D7C-A54C-D649FCCD08EA}"/>
              </a:ext>
            </a:extLst>
          </p:cNvPr>
          <p:cNvSpPr txBox="1"/>
          <p:nvPr/>
        </p:nvSpPr>
        <p:spPr>
          <a:xfrm>
            <a:off x="2801397" y="2545685"/>
            <a:ext cx="388141" cy="5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C41937F-3F43-237C-0EA2-5D8AB1E76D70}"/>
              </a:ext>
            </a:extLst>
          </p:cNvPr>
          <p:cNvCxnSpPr>
            <a:cxnSpLocks/>
          </p:cNvCxnSpPr>
          <p:nvPr/>
        </p:nvCxnSpPr>
        <p:spPr>
          <a:xfrm>
            <a:off x="2187511" y="4311858"/>
            <a:ext cx="371537" cy="343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76EFCB5-1534-307F-7702-AAD380536FA9}"/>
              </a:ext>
            </a:extLst>
          </p:cNvPr>
          <p:cNvCxnSpPr>
            <a:cxnSpLocks/>
          </p:cNvCxnSpPr>
          <p:nvPr/>
        </p:nvCxnSpPr>
        <p:spPr>
          <a:xfrm flipV="1">
            <a:off x="2190991" y="4094841"/>
            <a:ext cx="451171" cy="24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12084D3-2F1D-86A6-26D8-DB2DEEAA171A}"/>
              </a:ext>
            </a:extLst>
          </p:cNvPr>
          <p:cNvCxnSpPr>
            <a:cxnSpLocks/>
          </p:cNvCxnSpPr>
          <p:nvPr/>
        </p:nvCxnSpPr>
        <p:spPr>
          <a:xfrm flipV="1">
            <a:off x="2187511" y="3901144"/>
            <a:ext cx="16874" cy="43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274FDEB-4DE0-AC84-1475-30BFB517D0D4}"/>
              </a:ext>
            </a:extLst>
          </p:cNvPr>
          <p:cNvSpPr txBox="1"/>
          <p:nvPr/>
        </p:nvSpPr>
        <p:spPr>
          <a:xfrm>
            <a:off x="2496593" y="471862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00"/>
                </a:highlight>
              </a:rPr>
              <a:t>x</a:t>
            </a:r>
            <a:endParaRPr lang="es-MX" dirty="0">
              <a:highlight>
                <a:srgbClr val="00FF00"/>
              </a:highlight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4E1B05C-007A-6B15-CA8F-5F8DB08F6754}"/>
              </a:ext>
            </a:extLst>
          </p:cNvPr>
          <p:cNvSpPr txBox="1"/>
          <p:nvPr/>
        </p:nvSpPr>
        <p:spPr>
          <a:xfrm>
            <a:off x="2718233" y="3901144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y</a:t>
            </a:r>
            <a:endParaRPr lang="es-MX" dirty="0">
              <a:highlight>
                <a:srgbClr val="FFFF00"/>
              </a:highlight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9C14CED-49E4-40F2-2BC8-68BD5FCAC551}"/>
              </a:ext>
            </a:extLst>
          </p:cNvPr>
          <p:cNvSpPr txBox="1"/>
          <p:nvPr/>
        </p:nvSpPr>
        <p:spPr>
          <a:xfrm>
            <a:off x="2069535" y="3515327"/>
            <a:ext cx="29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00FFFF"/>
                </a:highlight>
              </a:rPr>
              <a:t>z</a:t>
            </a:r>
            <a:endParaRPr lang="es-MX" dirty="0">
              <a:highlight>
                <a:srgbClr val="00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1" grpId="0"/>
      <p:bldP spid="19" grpId="0"/>
      <p:bldP spid="20" grpId="0"/>
      <p:bldP spid="8" grpId="0"/>
      <p:bldP spid="10" grpId="0"/>
      <p:bldP spid="12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5111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4 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Evaluación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8482" y="1583097"/>
            <a:ext cx="8763167" cy="178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pasos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directa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uno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lineales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angulares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 </a:t>
            </a:r>
            <a:r>
              <a:rPr lang="en-US" sz="160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diferencial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describiendo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matrices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transformación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homogeneas locales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globales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MATLAB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Subir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350249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11349</TotalTime>
  <Words>815</Words>
  <Application>Microsoft Office PowerPoint</Application>
  <PresentationFormat>Presentación en pantalla (16:9)</PresentationFormat>
  <Paragraphs>324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Anton</vt:lpstr>
      <vt:lpstr>Fira Sans Condensed Light</vt:lpstr>
      <vt:lpstr>Arial</vt:lpstr>
      <vt:lpstr>Rajdhani</vt:lpstr>
      <vt:lpstr>Cambria Math</vt:lpstr>
      <vt:lpstr>Advent Pro Light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García Suárez</cp:lastModifiedBy>
  <cp:revision>349</cp:revision>
  <dcterms:modified xsi:type="dcterms:W3CDTF">2026-03-03T04:56:59Z</dcterms:modified>
</cp:coreProperties>
</file>